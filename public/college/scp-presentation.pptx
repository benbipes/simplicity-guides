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10" r:id="rId16"/>
    <p:sldId id="31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iopuDPa31NK7E1WeCR1CiUKdOGV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6"/>
    <p:restoredTop sz="94645"/>
  </p:normalViewPr>
  <p:slideViewPr>
    <p:cSldViewPr snapToGrid="0">
      <p:cViewPr varScale="1">
        <p:scale>
          <a:sx n="128" d="100"/>
          <a:sy n="128" d="100"/>
        </p:scale>
        <p:origin x="5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66"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512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Welcome, everybody, to the Simplifying College Financial Planning presentation, where you’ll learn how to fund college for your child while preserving your retirement future.</a:t>
            </a:r>
            <a:endParaRPr dirty="0"/>
          </a:p>
          <a:p>
            <a:pPr marL="0" lvl="0" indent="0" algn="l" rtl="0">
              <a:spcBef>
                <a:spcPts val="0"/>
              </a:spcBef>
              <a:spcAft>
                <a:spcPts val="0"/>
              </a:spcAft>
              <a:buNone/>
            </a:pPr>
            <a:endParaRPr dirty="0"/>
          </a:p>
        </p:txBody>
      </p:sp>
      <p:sp>
        <p:nvSpPr>
          <p:cNvPr id="104" name="Google Shape;10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First, a little bit about me…</a:t>
            </a:r>
            <a:endParaRPr dirty="0"/>
          </a:p>
        </p:txBody>
      </p:sp>
      <p:sp>
        <p:nvSpPr>
          <p:cNvPr id="118" name="Google Shape;11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So here’s the reason we’re all here today. There are several topics that we could address for college planning, but these are the main ones we’ll touch on today.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Myth vs. Reality: How much of what you hear about college costs is true?</a:t>
            </a:r>
            <a:endParaRPr dirty="0"/>
          </a:p>
          <a:p>
            <a:pPr marL="0" lvl="0" indent="0" algn="l" rtl="0">
              <a:spcBef>
                <a:spcPts val="0"/>
              </a:spcBef>
              <a:spcAft>
                <a:spcPts val="0"/>
              </a:spcAft>
              <a:buNone/>
            </a:pPr>
            <a:r>
              <a:rPr lang="en-US" dirty="0"/>
              <a:t>Institutional Aid: What it is and how to use it to your advantage</a:t>
            </a:r>
            <a:endParaRPr dirty="0"/>
          </a:p>
          <a:p>
            <a:pPr marL="0" lvl="0" indent="0" algn="l" rtl="0">
              <a:spcBef>
                <a:spcPts val="0"/>
              </a:spcBef>
              <a:spcAft>
                <a:spcPts val="0"/>
              </a:spcAft>
              <a:buNone/>
            </a:pPr>
            <a:r>
              <a:rPr lang="en-US" dirty="0"/>
              <a:t>Long-Term Planning: How college financing and retirement planning work together</a:t>
            </a:r>
            <a:endParaRPr dirty="0"/>
          </a:p>
          <a:p>
            <a:pPr marL="0" lvl="0" indent="0" algn="l" rtl="0">
              <a:spcBef>
                <a:spcPts val="0"/>
              </a:spcBef>
              <a:spcAft>
                <a:spcPts val="0"/>
              </a:spcAft>
              <a:buNone/>
            </a:pPr>
            <a:r>
              <a:rPr lang="en-US" dirty="0"/>
              <a:t>Strategic Clarity: No more guessing, we’re here to provide you clarity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But before we jump into these, it’s important to address where college costs are at today….</a:t>
            </a:r>
            <a:endParaRPr dirty="0"/>
          </a:p>
        </p:txBody>
      </p:sp>
      <p:sp>
        <p:nvSpPr>
          <p:cNvPr id="128" name="Google Shape;12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When we look at the college landscape today, the first thing everyone notices is the cost. Since the early 1990s, the published price of tuition and fees has increased significantly faster than the price of nearly any other consumer good.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However, there is a massive misconception here: the "Sticker Price" isn’t always the final price. There may be a gap between the published cost and what families actually pay.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In addition, there is a misconception regarding different types of universities. Institutional aid, which we’ll get into more in a bit, is at an all-time high, which can make the cost of certain colleges significantly lower.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[CLICK] Overall, student debt may be a result of misunderstanding the aid process.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Let’s take a quick look at some data that supports this.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dirty="0"/>
              <a:t>According to the latest data, the average institutional discount rate for first-time, full-time students at private colleges has reached a record high of over 50%. This means that, on average, students are paying less than half of the published price.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47" name="Google Shape;14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dirty="0"/>
              <a:t>The growth of the system has created a massive gap between the published price and the net price. The takeaway here is that you cannot judge a school’s affordability by its website. In reality, the price depends on the applicant and what the school is looking for… so </a:t>
            </a:r>
            <a:r>
              <a:rPr lang="en-US" sz="1200" dirty="0">
                <a:solidFill>
                  <a:schemeClr val="dk1"/>
                </a:solidFill>
                <a:latin typeface="Arial"/>
                <a:ea typeface="Arial"/>
                <a:cs typeface="Arial"/>
                <a:sym typeface="Arial"/>
              </a:rPr>
              <a:t>you have to understand the aid system that underpins which students/why students get this aid. </a:t>
            </a:r>
            <a:endParaRPr dirty="0"/>
          </a:p>
        </p:txBody>
      </p:sp>
      <p:sp>
        <p:nvSpPr>
          <p:cNvPr id="156" name="Google Shape;15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key here is that admissions, aid, and financial strategy all go together.</a:t>
            </a:r>
            <a:endParaRPr dirty="0"/>
          </a:p>
          <a:p>
            <a:pPr marL="0" lvl="0" indent="0" algn="l" rtl="0">
              <a:spcBef>
                <a:spcPts val="0"/>
              </a:spcBef>
              <a:spcAft>
                <a:spcPts val="0"/>
              </a:spcAft>
              <a:buNone/>
            </a:pPr>
            <a:r>
              <a:rPr lang="en-US" dirty="0"/>
              <a:t> </a:t>
            </a:r>
            <a:endParaRPr dirty="0"/>
          </a:p>
          <a:p>
            <a:pPr marL="0" lvl="0" indent="0" algn="l" rtl="0">
              <a:spcBef>
                <a:spcPts val="0"/>
              </a:spcBef>
              <a:spcAft>
                <a:spcPts val="0"/>
              </a:spcAft>
              <a:buNone/>
            </a:pPr>
            <a:r>
              <a:rPr lang="en-US" dirty="0"/>
              <a:t>The financial aid system has grown into a multi-trillion-dollar landscape, and with that growth has come immense complexity. Today, there is over $275 billion in aid granted annually. What’s important for you as a parent is the </a:t>
            </a:r>
            <a:r>
              <a:rPr lang="en-US" i="1" dirty="0"/>
              <a:t>source</a:t>
            </a:r>
            <a:r>
              <a:rPr lang="en-US" dirty="0"/>
              <a:t> of that money.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While federal Pell Grants get all the headlines, the largest growth has actually come from </a:t>
            </a:r>
            <a:r>
              <a:rPr lang="en-US" b="1" dirty="0"/>
              <a:t>Institutional Grants</a:t>
            </a:r>
            <a:r>
              <a:rPr lang="en-US" dirty="0"/>
              <a:t>—money that colleges give out from their own pockets.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Schools now use sophisticated Strategic Enrollment Management, or SEM, processes, which include both quantitative and qualitative factors, to decide who gets a discount. They are looking for a specific </a:t>
            </a:r>
            <a:r>
              <a:rPr lang="en-US" b="1" dirty="0"/>
              <a:t>fit</a:t>
            </a:r>
            <a:r>
              <a:rPr lang="en-US" dirty="0"/>
              <a:t> for their incoming class that goes far beyond test scores and grades, and they will use their internal funds to attract those students.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However, the barrier to accessing this money is complexity. We have moved from a simple process to a world of FAFSA and CSS Profiles that ask for every detail of your financial life.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Navigating this system is no longer a nice-to-have—it is a key skill to help ensure you aren't leaving a significant amount of money on the table…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That’s why it’s key to understand how college planning actually fits into your six core retirement financial considerations.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65" name="Google Shape;16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6E6F71"/>
              </a:buClr>
              <a:buSzPts val="1200"/>
              <a:buFont typeface="Arial"/>
              <a:buNone/>
            </a:pPr>
            <a:r>
              <a:rPr lang="en-US" sz="1200" b="0" i="0" u="none" strike="noStrike" dirty="0">
                <a:solidFill>
                  <a:srgbClr val="6E6F71"/>
                </a:solidFill>
                <a:highlight>
                  <a:srgbClr val="FFFF00"/>
                </a:highlight>
                <a:latin typeface="Arial"/>
                <a:ea typeface="Arial"/>
                <a:cs typeface="Arial"/>
                <a:sym typeface="Arial"/>
              </a:rPr>
              <a:t>So now that we’ve set the stage, let’s look at the full financial picture. Not just retirement, not just college, but at your financial picture as a whole. I want to make sure you know that our approach is anchored to six fundamental considerations that impact </a:t>
            </a:r>
            <a:r>
              <a:rPr lang="en-US" sz="1200" b="0" i="1" u="none" strike="noStrike" dirty="0">
                <a:solidFill>
                  <a:srgbClr val="6E6F71"/>
                </a:solidFill>
                <a:highlight>
                  <a:srgbClr val="FFFF00"/>
                </a:highlight>
                <a:latin typeface="Arial"/>
                <a:ea typeface="Arial"/>
                <a:cs typeface="Arial"/>
                <a:sym typeface="Arial"/>
              </a:rPr>
              <a:t>you</a:t>
            </a:r>
            <a:r>
              <a:rPr lang="en-US" sz="1200" b="0" i="0" u="none" strike="noStrike" dirty="0">
                <a:solidFill>
                  <a:srgbClr val="6E6F71"/>
                </a:solidFill>
                <a:highlight>
                  <a:srgbClr val="FFFF00"/>
                </a:highlight>
                <a:latin typeface="Arial"/>
                <a:ea typeface="Arial"/>
                <a:cs typeface="Arial"/>
                <a:sym typeface="Arial"/>
              </a:rPr>
              <a:t>: </a:t>
            </a:r>
            <a:r>
              <a:rPr lang="en-US" sz="1200" b="1" i="0" u="none" strike="noStrike" dirty="0">
                <a:solidFill>
                  <a:srgbClr val="000000"/>
                </a:solidFill>
                <a:highlight>
                  <a:srgbClr val="FFFF00"/>
                </a:highlight>
                <a:latin typeface="Arial"/>
                <a:ea typeface="Arial"/>
                <a:cs typeface="Arial"/>
                <a:sym typeface="Arial"/>
              </a:rPr>
              <a:t>Longevity; Liquidity; Inflation; Market Risk; Mortality Risk; and Taxes. </a:t>
            </a:r>
            <a:r>
              <a:rPr lang="en-US" sz="1200" b="0" i="0" u="none" strike="noStrike" dirty="0">
                <a:solidFill>
                  <a:srgbClr val="6E6F71"/>
                </a:solidFill>
                <a:highlight>
                  <a:srgbClr val="FFFF00"/>
                </a:highlight>
                <a:latin typeface="Arial"/>
                <a:ea typeface="Arial"/>
                <a:cs typeface="Arial"/>
                <a:sym typeface="Arial"/>
              </a:rPr>
              <a:t>These considerations are interrelated and affect just about every person to varying degrees. Knowing that we’re considering these principles as our north star for addressing college and financial planning is paramount, because we know it’s not just about the subject matter knowledge we may have or the tools in our belt… it’s ultimately about how we can apply those tools to help you and your family.</a:t>
            </a:r>
            <a:endParaRPr dirty="0">
              <a:highlight>
                <a:srgbClr val="FFFF00"/>
              </a:highlight>
            </a:endParaRPr>
          </a:p>
          <a:p>
            <a:pPr marL="0" marR="0" lvl="0" indent="0" algn="l" rtl="0">
              <a:lnSpc>
                <a:spcPct val="100000"/>
              </a:lnSpc>
              <a:spcBef>
                <a:spcPts val="0"/>
              </a:spcBef>
              <a:spcAft>
                <a:spcPts val="0"/>
              </a:spcAft>
              <a:buClr>
                <a:srgbClr val="003359"/>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endParaRPr dirty="0"/>
          </a:p>
        </p:txBody>
      </p:sp>
      <p:sp>
        <p:nvSpPr>
          <p:cNvPr id="185" name="Google Shape;18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So, let’s look at how these </a:t>
            </a:r>
            <a:r>
              <a:rPr lang="en-US" b="1" dirty="0"/>
              <a:t>six core considerations</a:t>
            </a:r>
            <a:r>
              <a:rPr lang="en-US" dirty="0"/>
              <a:t> tie into a comprehensive college plan: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Longevity Risk:</a:t>
            </a:r>
            <a:r>
              <a:rPr lang="en-US" dirty="0"/>
              <a:t> Many retirement tools used to preserve longevity can also be strategically utilized to increase a student's aid eligibility.</a:t>
            </a:r>
            <a:endParaRPr dirty="0"/>
          </a:p>
          <a:p>
            <a:pPr marL="0" lvl="0" indent="0" algn="l" rtl="0">
              <a:spcBef>
                <a:spcPts val="0"/>
              </a:spcBef>
              <a:spcAft>
                <a:spcPts val="0"/>
              </a:spcAft>
              <a:buNone/>
            </a:pPr>
            <a:r>
              <a:rPr lang="en-US" dirty="0"/>
              <a:t>Without these proper insights, you may feel forced to choose between funding college or saving for retirement. However, with a tailored plan that leverages these strategies in the context of your specific financial situation, you can fund college cost-effectively while continuing to save for your future.</a:t>
            </a:r>
            <a:endParaRPr dirty="0"/>
          </a:p>
          <a:p>
            <a:pPr marL="0" lvl="0" indent="0" algn="l" rtl="0">
              <a:spcBef>
                <a:spcPts val="0"/>
              </a:spcBef>
              <a:spcAft>
                <a:spcPts val="0"/>
              </a:spcAft>
              <a:buNone/>
            </a:pPr>
            <a:r>
              <a:rPr lang="en-US" b="0" dirty="0"/>
              <a:t>[CLICK] </a:t>
            </a:r>
            <a:r>
              <a:rPr lang="en-US" b="1" dirty="0"/>
              <a:t>Liquidity:</a:t>
            </a:r>
            <a:r>
              <a:rPr lang="en-US" dirty="0"/>
              <a:t> Assets can be specifically positioned to increase aid eligibility while ensuring that funds remain accessible for your family's ongoing cash flow.</a:t>
            </a:r>
            <a:endParaRPr dirty="0"/>
          </a:p>
          <a:p>
            <a:pPr marL="0" lvl="0" indent="0" algn="l" rtl="0">
              <a:spcBef>
                <a:spcPts val="0"/>
              </a:spcBef>
              <a:spcAft>
                <a:spcPts val="0"/>
              </a:spcAft>
              <a:buNone/>
            </a:pPr>
            <a:r>
              <a:rPr lang="en-US" b="0" dirty="0"/>
              <a:t>[CLICK] </a:t>
            </a:r>
            <a:r>
              <a:rPr lang="en-US" b="1" dirty="0"/>
              <a:t>Inflation:</a:t>
            </a:r>
            <a:r>
              <a:rPr lang="en-US" dirty="0"/>
              <a:t> We must plan for the fact that college costs rise at a significantly faster rate than general inflation. Strategic planning helps mitigate the need for potentially burdensome debt, allowing you to preserve your retirement funds.</a:t>
            </a:r>
            <a:endParaRPr dirty="0"/>
          </a:p>
          <a:p>
            <a:pPr marL="0" lvl="0" indent="0" algn="l" rtl="0">
              <a:spcBef>
                <a:spcPts val="0"/>
              </a:spcBef>
              <a:spcAft>
                <a:spcPts val="0"/>
              </a:spcAft>
              <a:buNone/>
            </a:pPr>
            <a:r>
              <a:rPr lang="en-US" b="0" dirty="0"/>
              <a:t>[CLICK] </a:t>
            </a:r>
            <a:r>
              <a:rPr lang="en-US" b="1" dirty="0"/>
              <a:t>Market Risk:</a:t>
            </a:r>
            <a:r>
              <a:rPr lang="en-US" dirty="0"/>
              <a:t> We monitor market risk closely because investment timing has a direct impact on FAFSA reporting periods.</a:t>
            </a:r>
            <a:endParaRPr dirty="0"/>
          </a:p>
          <a:p>
            <a:pPr marL="0" lvl="0" indent="0" algn="l" rtl="0">
              <a:spcBef>
                <a:spcPts val="0"/>
              </a:spcBef>
              <a:spcAft>
                <a:spcPts val="0"/>
              </a:spcAft>
              <a:buNone/>
            </a:pPr>
            <a:r>
              <a:rPr lang="en-US" b="0" dirty="0"/>
              <a:t>[CLICK]</a:t>
            </a:r>
            <a:r>
              <a:rPr lang="en-US" b="1" dirty="0"/>
              <a:t> Mortality:</a:t>
            </a:r>
            <a:r>
              <a:rPr lang="en-US" dirty="0"/>
              <a:t> Your life insurance and estate planning for your family are not separate from your college plan; they can be deeply tied into your overall financial strategy.</a:t>
            </a:r>
            <a:endParaRPr dirty="0"/>
          </a:p>
          <a:p>
            <a:pPr marL="0" lvl="0" indent="0" algn="l" rtl="0">
              <a:spcBef>
                <a:spcPts val="0"/>
              </a:spcBef>
              <a:spcAft>
                <a:spcPts val="0"/>
              </a:spcAft>
              <a:buNone/>
            </a:pPr>
            <a:r>
              <a:rPr lang="en-US" b="0" dirty="0"/>
              <a:t>[CLICK] </a:t>
            </a:r>
            <a:r>
              <a:rPr lang="en-US" b="1" dirty="0"/>
              <a:t>Tax:</a:t>
            </a:r>
            <a:r>
              <a:rPr lang="en-US" dirty="0"/>
              <a:t> Proper tax strategies are vital because they directly affect your student's aid eligibility and the ultimate net cost of their education.</a:t>
            </a:r>
            <a:endParaRPr dirty="0"/>
          </a:p>
        </p:txBody>
      </p:sp>
      <p:sp>
        <p:nvSpPr>
          <p:cNvPr id="192" name="Google Shape;19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As we talk today, there will be a variety of topics, but all fall within these 3 pillars of college planning.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Pillar 1</a:t>
            </a:r>
            <a:r>
              <a:rPr lang="en-US" dirty="0"/>
              <a:t> First step to college planning – getting into college! We’ll talk through the admissions process and how to navigate different enrollment systems based on what your student is looking for.</a:t>
            </a:r>
            <a:endParaRPr dirty="0"/>
          </a:p>
          <a:p>
            <a:pPr marL="0" lvl="0" indent="0" algn="l" rtl="0">
              <a:spcBef>
                <a:spcPts val="0"/>
              </a:spcBef>
              <a:spcAft>
                <a:spcPts val="0"/>
              </a:spcAft>
              <a:buNone/>
            </a:pPr>
            <a:r>
              <a:rPr lang="en-US" b="1" dirty="0"/>
              <a:t>Pillar 2</a:t>
            </a:r>
            <a:r>
              <a:rPr lang="en-US" dirty="0"/>
              <a:t> Next, we’ll go over the financial aid system, including the forms you’ll need to fill out, what information to include, and deadlines. </a:t>
            </a:r>
            <a:endParaRPr dirty="0"/>
          </a:p>
          <a:p>
            <a:pPr marL="0" lvl="0" indent="0" algn="l" rtl="0">
              <a:spcBef>
                <a:spcPts val="0"/>
              </a:spcBef>
              <a:spcAft>
                <a:spcPts val="0"/>
              </a:spcAft>
              <a:buNone/>
            </a:pPr>
            <a:r>
              <a:rPr lang="en-US" b="1" dirty="0"/>
              <a:t>Pillar 3</a:t>
            </a:r>
            <a:r>
              <a:rPr lang="en-US" dirty="0"/>
              <a:t> And lastly, we’ll discuss what financial strategies can be used to help fund the cost of higher education while protecting your long-term financial goals. </a:t>
            </a:r>
            <a:endParaRPr dirty="0"/>
          </a:p>
          <a:p>
            <a:pPr marL="228600" lvl="0" indent="-15240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endParaRPr dirty="0"/>
          </a:p>
        </p:txBody>
      </p:sp>
      <p:sp>
        <p:nvSpPr>
          <p:cNvPr id="205" name="Google Shape;20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 system a majority of people do not know about is the Strategic Enrollment Management system. This is the internal, administrative system many colleges or universities use when accepting admissions during open-enrollment.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Understanding the college’s system can help us better position the student and your funding to match what they are looking for.</a:t>
            </a:r>
            <a:endParaRPr dirty="0"/>
          </a:p>
        </p:txBody>
      </p:sp>
      <p:sp>
        <p:nvSpPr>
          <p:cNvPr id="230" name="Google Shape;23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dirty="0"/>
              <a:t>When accepting applications, there are different factors a school may look at. </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College sees the student as…</a:t>
            </a:r>
            <a:endParaRPr dirty="0"/>
          </a:p>
          <a:p>
            <a:pPr marL="0" lvl="0" indent="0" algn="l" rtl="0">
              <a:spcBef>
                <a:spcPts val="0"/>
              </a:spcBef>
              <a:spcAft>
                <a:spcPts val="0"/>
              </a:spcAft>
              <a:buNone/>
            </a:pPr>
            <a:r>
              <a:rPr lang="en-US" b="1" dirty="0"/>
              <a:t>A Learner:</a:t>
            </a:r>
            <a:r>
              <a:rPr lang="en-US" dirty="0"/>
              <a:t> Colleges look for someone whose academic goals and interests match the academic mission of the college. </a:t>
            </a:r>
            <a:endParaRPr dirty="0"/>
          </a:p>
          <a:p>
            <a:pPr marL="0" lvl="0" indent="0" algn="l" rtl="0">
              <a:spcBef>
                <a:spcPts val="0"/>
              </a:spcBef>
              <a:spcAft>
                <a:spcPts val="0"/>
              </a:spcAft>
              <a:buNone/>
            </a:pPr>
            <a:r>
              <a:rPr lang="en-US"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37" name="Google Shape;23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DD40CE08-3276-3EDA-66D8-B311DDADF77E}"/>
            </a:ext>
          </a:extLst>
        </p:cNvPr>
        <p:cNvGrpSpPr/>
        <p:nvPr/>
      </p:nvGrpSpPr>
      <p:grpSpPr>
        <a:xfrm>
          <a:off x="0" y="0"/>
          <a:ext cx="0" cy="0"/>
          <a:chOff x="0" y="0"/>
          <a:chExt cx="0" cy="0"/>
        </a:xfrm>
      </p:grpSpPr>
      <p:sp>
        <p:nvSpPr>
          <p:cNvPr id="235" name="Google Shape;235;p14:notes">
            <a:extLst>
              <a:ext uri="{FF2B5EF4-FFF2-40B4-BE49-F238E27FC236}">
                <a16:creationId xmlns:a16="http://schemas.microsoft.com/office/drawing/2014/main" id="{41A97E1A-C304-E66E-EE85-C61CF59A32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4:notes">
            <a:extLst>
              <a:ext uri="{FF2B5EF4-FFF2-40B4-BE49-F238E27FC236}">
                <a16:creationId xmlns:a16="http://schemas.microsoft.com/office/drawing/2014/main" id="{3AA69CD4-C1B3-725C-8C32-33BE10076E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dirty="0"/>
              <a:t>When accepting applications, there are different factors a school may look at. </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College sees the student as…</a:t>
            </a:r>
            <a:endParaRPr dirty="0"/>
          </a:p>
          <a:p>
            <a:pPr marL="0" lvl="0" indent="0" algn="l" rtl="0">
              <a:spcBef>
                <a:spcPts val="0"/>
              </a:spcBef>
              <a:spcAft>
                <a:spcPts val="0"/>
              </a:spcAft>
              <a:buNone/>
            </a:pPr>
            <a:r>
              <a:rPr lang="en-US" b="1" dirty="0"/>
              <a:t>A Learner:</a:t>
            </a:r>
            <a:r>
              <a:rPr lang="en-US" dirty="0"/>
              <a:t> Colleges look for someone whose academic goals and interests match the academic mission of the college. </a:t>
            </a:r>
            <a:endParaRPr dirty="0"/>
          </a:p>
          <a:p>
            <a:pPr marL="0" lvl="0" indent="0" algn="l" rtl="0">
              <a:spcBef>
                <a:spcPts val="0"/>
              </a:spcBef>
              <a:spcAft>
                <a:spcPts val="0"/>
              </a:spcAft>
              <a:buNone/>
            </a:pPr>
            <a:r>
              <a:rPr lang="en-US"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37" name="Google Shape;237;p14:notes">
            <a:extLst>
              <a:ext uri="{FF2B5EF4-FFF2-40B4-BE49-F238E27FC236}">
                <a16:creationId xmlns:a16="http://schemas.microsoft.com/office/drawing/2014/main" id="{C7DC75CF-3613-AF92-8E87-44A90090B01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660295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B66818D0-9E7D-4AA5-842D-33A26FB8221F}"/>
            </a:ext>
          </a:extLst>
        </p:cNvPr>
        <p:cNvGrpSpPr/>
        <p:nvPr/>
      </p:nvGrpSpPr>
      <p:grpSpPr>
        <a:xfrm>
          <a:off x="0" y="0"/>
          <a:ext cx="0" cy="0"/>
          <a:chOff x="0" y="0"/>
          <a:chExt cx="0" cy="0"/>
        </a:xfrm>
      </p:grpSpPr>
      <p:sp>
        <p:nvSpPr>
          <p:cNvPr id="235" name="Google Shape;235;p14:notes">
            <a:extLst>
              <a:ext uri="{FF2B5EF4-FFF2-40B4-BE49-F238E27FC236}">
                <a16:creationId xmlns:a16="http://schemas.microsoft.com/office/drawing/2014/main" id="{E38932D7-0C3C-5EB8-0897-E8CA2D5C2C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4:notes">
            <a:extLst>
              <a:ext uri="{FF2B5EF4-FFF2-40B4-BE49-F238E27FC236}">
                <a16:creationId xmlns:a16="http://schemas.microsoft.com/office/drawing/2014/main" id="{F6C4BE7E-8A72-A6B6-820E-FC21A52295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dirty="0"/>
              <a:t>When accepting applications, there are different factors a school may look at. </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College sees the student as…</a:t>
            </a:r>
            <a:endParaRPr dirty="0"/>
          </a:p>
          <a:p>
            <a:pPr marL="0" lvl="0" indent="0" algn="l" rtl="0">
              <a:spcBef>
                <a:spcPts val="0"/>
              </a:spcBef>
              <a:spcAft>
                <a:spcPts val="0"/>
              </a:spcAft>
              <a:buNone/>
            </a:pPr>
            <a:r>
              <a:rPr lang="en-US" b="1" dirty="0"/>
              <a:t>A Learner:</a:t>
            </a:r>
            <a:r>
              <a:rPr lang="en-US" dirty="0"/>
              <a:t> Colleges look for someone whose academic goals and interests match the academic mission of the college. </a:t>
            </a:r>
            <a:endParaRPr dirty="0"/>
          </a:p>
          <a:p>
            <a:pPr marL="0" lvl="0" indent="0" algn="l" rtl="0">
              <a:spcBef>
                <a:spcPts val="0"/>
              </a:spcBef>
              <a:spcAft>
                <a:spcPts val="0"/>
              </a:spcAft>
              <a:buNone/>
            </a:pPr>
            <a:r>
              <a:rPr lang="en-US"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37" name="Google Shape;237;p14:notes">
            <a:extLst>
              <a:ext uri="{FF2B5EF4-FFF2-40B4-BE49-F238E27FC236}">
                <a16:creationId xmlns:a16="http://schemas.microsoft.com/office/drawing/2014/main" id="{B09FA18D-B820-D67C-B3D0-DD3BC4B600D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794700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A Learner:</a:t>
            </a:r>
            <a:r>
              <a:rPr lang="en-US" dirty="0"/>
              <a:t> </a:t>
            </a:r>
            <a:endParaRPr dirty="0"/>
          </a:p>
          <a:p>
            <a:pPr marL="0" lvl="0" indent="0" algn="l" rtl="0">
              <a:spcBef>
                <a:spcPts val="0"/>
              </a:spcBef>
              <a:spcAft>
                <a:spcPts val="0"/>
              </a:spcAft>
              <a:buNone/>
            </a:pPr>
            <a:r>
              <a:rPr lang="en-US" sz="1200" b="1" dirty="0"/>
              <a:t>Colleges target an academic match</a:t>
            </a:r>
            <a:r>
              <a:rPr lang="en-US" b="1" dirty="0"/>
              <a:t>:</a:t>
            </a:r>
            <a:r>
              <a:rPr lang="en-US" dirty="0"/>
              <a:t> Colleges don't just admit smart students. They admit a specific </a:t>
            </a:r>
            <a:r>
              <a:rPr lang="en-US" b="1" dirty="0"/>
              <a:t>type of learner</a:t>
            </a:r>
            <a:r>
              <a:rPr lang="en-US" dirty="0"/>
              <a:t> whose personal style of achievement matches the school's academic structure and mission.</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Why the School Cares:</a:t>
            </a:r>
            <a:endParaRPr dirty="0"/>
          </a:p>
          <a:p>
            <a:pPr marL="0" lvl="0" indent="0" algn="l" rtl="0">
              <a:spcBef>
                <a:spcPts val="0"/>
              </a:spcBef>
              <a:spcAft>
                <a:spcPts val="0"/>
              </a:spcAft>
              <a:buNone/>
            </a:pPr>
            <a:r>
              <a:rPr lang="en-US" b="1" dirty="0"/>
              <a:t>Student Success &amp; Retention:</a:t>
            </a:r>
            <a:r>
              <a:rPr lang="en-US" dirty="0"/>
              <a:t> A school's reputation depends on its students graduating and excelling. If a student who is looking for student-professor mentorship ends up at a program more focused on graduate research, they may struggle.</a:t>
            </a:r>
            <a:endParaRPr dirty="0"/>
          </a:p>
          <a:p>
            <a:pPr marL="0" lvl="0" indent="0" algn="l" rtl="0">
              <a:spcBef>
                <a:spcPts val="0"/>
              </a:spcBef>
              <a:spcAft>
                <a:spcPts val="0"/>
              </a:spcAft>
              <a:buNone/>
            </a:pPr>
            <a:r>
              <a:rPr lang="en-US" b="1" dirty="0"/>
              <a:t>Compatibility:</a:t>
            </a:r>
            <a:r>
              <a:rPr lang="en-US" dirty="0"/>
              <a:t> Colleges use the application to ensure the student's way of learning is compatible with the school's way of teaching.</a:t>
            </a:r>
            <a:endParaRPr dirty="0"/>
          </a:p>
          <a:p>
            <a:pPr marL="0" lvl="0" indent="0" algn="l" rtl="0">
              <a:spcBef>
                <a:spcPts val="0"/>
              </a:spcBef>
              <a:spcAft>
                <a:spcPts val="0"/>
              </a:spcAft>
              <a:buNone/>
            </a:pPr>
            <a:endParaRPr dirty="0"/>
          </a:p>
        </p:txBody>
      </p:sp>
      <p:sp>
        <p:nvSpPr>
          <p:cNvPr id="268" name="Google Shape;26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A Contributor:</a:t>
            </a:r>
            <a:r>
              <a:rPr lang="en-US" dirty="0"/>
              <a:t> </a:t>
            </a:r>
            <a:endParaRPr dirty="0"/>
          </a:p>
          <a:p>
            <a:pPr marL="0" lvl="0" indent="0" algn="l" rtl="0">
              <a:spcBef>
                <a:spcPts val="0"/>
              </a:spcBef>
              <a:spcAft>
                <a:spcPts val="0"/>
              </a:spcAft>
              <a:buNone/>
            </a:pPr>
            <a:r>
              <a:rPr lang="en-US" b="1" dirty="0"/>
              <a:t>Colleges want campus vibrancy:</a:t>
            </a:r>
            <a:r>
              <a:rPr lang="en-US" dirty="0"/>
              <a:t> Beyond academic performance, colleges are looking for engines of activity—students who will lead clubs, volunteer, and keep the campus alive and engaged after classes end.</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Why does the school care about this?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Brand Stewardship:</a:t>
            </a:r>
            <a:r>
              <a:rPr lang="en-US" dirty="0"/>
              <a:t> Schools must maintain a constant pipeline of successors to keep their reputation alive. For example, if a winning debate team stops winning because they lack new leaders, the school loses a significant marketing asset.</a:t>
            </a:r>
            <a:endParaRPr dirty="0"/>
          </a:p>
          <a:p>
            <a:pPr marL="0" lvl="0" indent="0" algn="l" rtl="0">
              <a:spcBef>
                <a:spcPts val="0"/>
              </a:spcBef>
              <a:spcAft>
                <a:spcPts val="0"/>
              </a:spcAft>
              <a:buNone/>
            </a:pPr>
            <a:r>
              <a:rPr lang="en-US" b="1" dirty="0"/>
              <a:t>Institutional Growth:</a:t>
            </a:r>
            <a:r>
              <a:rPr lang="en-US" dirty="0"/>
              <a:t> For any new initiatives, the school's financial and strategic success is tied directly to student participation. A student joining a new program protects the school’s investment in that program.</a:t>
            </a:r>
            <a:endParaRPr dirty="0"/>
          </a:p>
          <a:p>
            <a:pPr marL="0" lvl="0" indent="0" algn="l" rtl="0">
              <a:spcBef>
                <a:spcPts val="0"/>
              </a:spcBef>
              <a:spcAft>
                <a:spcPts val="0"/>
              </a:spcAft>
              <a:buNone/>
            </a:pPr>
            <a:r>
              <a:rPr lang="en-US" b="1" dirty="0"/>
              <a:t>Yield &amp; Retention:</a:t>
            </a:r>
            <a:r>
              <a:rPr lang="en-US" dirty="0"/>
              <a:t> Students who feel indispensable to a club or program are statistically much more likely to stay all four years. By admitting these contributors, the school is proactively protecting its retention rates.</a:t>
            </a:r>
            <a:endParaRPr dirty="0"/>
          </a:p>
          <a:p>
            <a:pPr marL="0" lvl="0" indent="0" algn="l" rtl="0">
              <a:spcBef>
                <a:spcPts val="0"/>
              </a:spcBef>
              <a:spcAft>
                <a:spcPts val="0"/>
              </a:spcAft>
              <a:buNone/>
            </a:pPr>
            <a:r>
              <a:rPr lang="en-US" b="1" dirty="0"/>
              <a:t>Alumni ROI:</a:t>
            </a:r>
            <a:r>
              <a:rPr lang="en-US" dirty="0"/>
              <a:t> A student who builds a community on campus is more likely to stay invested after graduation. These students become alumni who build the school’s network through donations, mentoring, and long-term reputation-building.</a:t>
            </a:r>
            <a:endParaRPr dirty="0"/>
          </a:p>
        </p:txBody>
      </p:sp>
      <p:sp>
        <p:nvSpPr>
          <p:cNvPr id="276" name="Google Shape;27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A Customer:</a:t>
            </a:r>
            <a:r>
              <a:rPr lang="en-US" dirty="0"/>
              <a:t> </a:t>
            </a:r>
            <a:endParaRPr dirty="0"/>
          </a:p>
          <a:p>
            <a:pPr marL="0" lvl="0" indent="0" algn="l" rtl="0">
              <a:spcBef>
                <a:spcPts val="0"/>
              </a:spcBef>
              <a:spcAft>
                <a:spcPts val="0"/>
              </a:spcAft>
              <a:buNone/>
            </a:pPr>
            <a:r>
              <a:rPr lang="en-US" b="1" dirty="0"/>
              <a:t>Tuition Revenue &amp; Strategic Enrollment Management (SEM) happens like this: Schools use a Discount Rate as a tool to secure a student’s enrollment:</a:t>
            </a:r>
            <a:r>
              <a:rPr lang="en-US" dirty="0"/>
              <a:t> Schools do not have a fixed price. Instead, they use </a:t>
            </a:r>
            <a:r>
              <a:rPr lang="en-US" b="1" dirty="0"/>
              <a:t>discounted tuition</a:t>
            </a:r>
            <a:r>
              <a:rPr lang="en-US" dirty="0"/>
              <a:t> (merit and institutional grants) as a financial lever to essentially buy the exact class profile they want. For example, if a school is looking to replace members of their journalism club who will graduate, they may offer prospective students with proven interest in their journalism club a </a:t>
            </a:r>
            <a:r>
              <a:rPr lang="en-US" b="1" dirty="0"/>
              <a:t>discount</a:t>
            </a:r>
            <a:r>
              <a:rPr lang="en-US" dirty="0"/>
              <a:t> to ensure their class profile goals are met.</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dirty="0"/>
              <a:t>T</a:t>
            </a:r>
            <a:r>
              <a:rPr lang="en-US" b="0" dirty="0"/>
              <a:t>uition </a:t>
            </a:r>
            <a:r>
              <a:rPr lang="en-US" dirty="0"/>
              <a:t>is both a revenue source and a tool for </a:t>
            </a:r>
            <a:r>
              <a:rPr lang="en-US" b="1" dirty="0"/>
              <a:t>balancing the class profile</a:t>
            </a:r>
            <a:r>
              <a:rPr lang="en-US" dirty="0"/>
              <a:t>. The school manages its revenue by charging some families more so they can afford to "buy" the specific learners and contributors needed to make the class prestigious and well-rounded.</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Aid is a key piece of this puzzle for them:</a:t>
            </a:r>
            <a:r>
              <a:rPr lang="en-US" dirty="0"/>
              <a:t> Without the right mix of customers paying various price points, the institution cannot fund its mission. They use </a:t>
            </a:r>
            <a:r>
              <a:rPr lang="en-US" b="1" dirty="0"/>
              <a:t>aid formulas</a:t>
            </a:r>
            <a:r>
              <a:rPr lang="en-US" dirty="0"/>
              <a:t> tailored to each applicant to determine exactly how much of a discount they must give to secure a student's enrollment without leaving money on the table.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84" name="Google Shape;28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Constructing an Admissions Portfolio:</a:t>
            </a:r>
            <a:r>
              <a:rPr lang="en-US" dirty="0"/>
              <a:t> To stand out in the application process, students must go beyond simply listing their activities. The goal is to explain the gap(s) the student fills for the college. When a student can demonstrate that they are the contributor needed for a program or can fill needs for multiple programs—especially ones currently in transition—their admission becomes a strategic necessity for the school's success, rather than just a personal preference.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Guide for Admissions Portfolio Construction:</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"Why This College" Essay:</a:t>
            </a:r>
            <a:r>
              <a:rPr lang="en-US" dirty="0"/>
              <a:t> In this critical narrative, the student should describe exactly </a:t>
            </a:r>
            <a:r>
              <a:rPr lang="en-US" i="1" dirty="0"/>
              <a:t>how</a:t>
            </a:r>
            <a:r>
              <a:rPr lang="en-US" dirty="0"/>
              <a:t> they learn. They should be specific about the environment they thrive in—for example, whether they want a professor who knows their name by Tuesday or access to a billion-dollar laboratory budget for independent exploration.</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Breadth vs. Depth:</a:t>
            </a:r>
            <a:r>
              <a:rPr lang="en-US" dirty="0"/>
              <a:t> Students should be honest about whether they are specialized contributors or multi-interested individuals. This transparency does two things: it helps the student refine their list to schools that actually fit their profile, and it allows admissions officers to clearly see how well the student will integrate into their specific academic architecture.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Further guidance on this can be found with a professional college planning service. But what you need to know is that a good-fit applicant can secure a lower cost for you in the form of institutional aid!</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92" name="Google Shape;29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Application Deadlines &amp; Outcomes:</a:t>
            </a:r>
            <a:endParaRPr sz="1200" dirty="0">
              <a:solidFill>
                <a:schemeClr val="dk1"/>
              </a:solidFill>
              <a:latin typeface="Arial"/>
              <a:ea typeface="Arial"/>
              <a:cs typeface="Arial"/>
              <a:sym typeface="Arial"/>
            </a:endParaRPr>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Timing is a critical lever in the admissions process. The earlier a student applies, the better their chances—not just for acceptance, but for financial positioning. Colleges want students who want to be there; applying early is the strongest way to demonstrate that interest. </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 Early Decision (ED):</a:t>
            </a:r>
            <a:r>
              <a:rPr lang="en-US" sz="1200" dirty="0">
                <a:solidFill>
                  <a:schemeClr val="dk1"/>
                </a:solidFill>
                <a:latin typeface="Arial"/>
                <a:ea typeface="Arial"/>
                <a:cs typeface="Arial"/>
                <a:sym typeface="Arial"/>
              </a:rPr>
              <a:t> This is a binding agreement and offers the highest acceptance rates. It is the best strategy for a student's #1 school choice.</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 Early Action (EA):</a:t>
            </a:r>
            <a:r>
              <a:rPr lang="en-US" sz="1200" dirty="0">
                <a:solidFill>
                  <a:schemeClr val="dk1"/>
                </a:solidFill>
                <a:latin typeface="Arial"/>
                <a:ea typeface="Arial"/>
                <a:cs typeface="Arial"/>
                <a:sym typeface="Arial"/>
              </a:rPr>
              <a:t> This is non-binding and allows students to apply to multiple schools early to secure an admission decision and a spot in the aid queue sooner. </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 Regular Decision (RD):</a:t>
            </a:r>
            <a:r>
              <a:rPr lang="en-US" sz="1200" dirty="0">
                <a:solidFill>
                  <a:schemeClr val="dk1"/>
                </a:solidFill>
                <a:latin typeface="Arial"/>
                <a:ea typeface="Arial"/>
                <a:cs typeface="Arial"/>
                <a:sym typeface="Arial"/>
              </a:rPr>
              <a:t> This is the most common path but carries the lowest statistical advantage for both admission and financial aid.</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The Financial Advantage of "Early":</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Beyond acceptance rates, the financial aid pool is often first-come, first-served. Applying early ensures the student is at the front of the line before institutional funds are fully committed. Because the school sees the student as a high-priority "customer" who is eager to enroll, they are often more motivated to secure that enrollment with a competitive aid package. </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Possible Outcomes:</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Accepted:</a:t>
            </a:r>
            <a:r>
              <a:rPr lang="en-US" sz="1200" dirty="0">
                <a:solidFill>
                  <a:schemeClr val="dk1"/>
                </a:solidFill>
                <a:latin typeface="Arial"/>
                <a:ea typeface="Arial"/>
                <a:cs typeface="Arial"/>
                <a:sym typeface="Arial"/>
              </a:rPr>
              <a:t> The goal of early timing.</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Deferred:</a:t>
            </a:r>
            <a:r>
              <a:rPr lang="en-US" sz="1200" dirty="0">
                <a:solidFill>
                  <a:schemeClr val="dk1"/>
                </a:solidFill>
                <a:latin typeface="Arial"/>
                <a:ea typeface="Arial"/>
                <a:cs typeface="Arial"/>
                <a:sym typeface="Arial"/>
              </a:rPr>
              <a:t> The application is moved to the Regular Decision pool for further review.</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Waitlisted:</a:t>
            </a:r>
            <a:r>
              <a:rPr lang="en-US" sz="1200" dirty="0">
                <a:solidFill>
                  <a:schemeClr val="dk1"/>
                </a:solidFill>
                <a:latin typeface="Arial"/>
                <a:ea typeface="Arial"/>
                <a:cs typeface="Arial"/>
                <a:sym typeface="Arial"/>
              </a:rPr>
              <a:t> The student is placed in a holding pattern.</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Denied:</a:t>
            </a:r>
            <a:r>
              <a:rPr lang="en-US" sz="1200" dirty="0">
                <a:solidFill>
                  <a:schemeClr val="dk1"/>
                </a:solidFill>
                <a:latin typeface="Arial"/>
                <a:ea typeface="Arial"/>
                <a:cs typeface="Arial"/>
                <a:sym typeface="Arial"/>
              </a:rPr>
              <a:t> A final decision of non-admission.</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311" name="Google Shape;31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dirty="0"/>
              <a:t>Now that we understand the college admissions and aid landscape a little better, let’s dig into how we can navigate the financial aid process.</a:t>
            </a:r>
            <a:endParaRPr dirty="0"/>
          </a:p>
          <a:p>
            <a:pPr marL="0" lvl="0" indent="0" algn="l" rtl="0">
              <a:spcBef>
                <a:spcPts val="0"/>
              </a:spcBef>
              <a:spcAft>
                <a:spcPts val="0"/>
              </a:spcAft>
              <a:buNone/>
            </a:pPr>
            <a:endParaRPr dirty="0"/>
          </a:p>
        </p:txBody>
      </p:sp>
      <p:sp>
        <p:nvSpPr>
          <p:cNvPr id="326" name="Google Shape;326;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dirty="0"/>
              <a:t>Every family has two buckets to fund college – assets and borrowing.</a:t>
            </a:r>
            <a:endParaRPr dirty="0"/>
          </a:p>
          <a:p>
            <a:pPr marL="0" lvl="0" indent="0" algn="l" rtl="0">
              <a:spcBef>
                <a:spcPts val="0"/>
              </a:spcBef>
              <a:spcAft>
                <a:spcPts val="0"/>
              </a:spcAft>
              <a:buNone/>
            </a:pPr>
            <a:endParaRPr b="0" dirty="0"/>
          </a:p>
          <a:p>
            <a:pPr marL="0" lvl="0" indent="0" algn="l" rtl="0">
              <a:spcBef>
                <a:spcPts val="0"/>
              </a:spcBef>
              <a:spcAft>
                <a:spcPts val="0"/>
              </a:spcAft>
              <a:buNone/>
            </a:pPr>
            <a:r>
              <a:rPr lang="en-US" b="1" dirty="0"/>
              <a:t>Assets and Borrowing Overview:</a:t>
            </a:r>
            <a:r>
              <a:rPr lang="en-US" dirty="0"/>
              <a:t> To fund the gap between your savings and the net price of a school, we evaluate two sides of the financial ledger: the assets you own and the debt you may incur.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Asset Categories:</a:t>
            </a:r>
            <a:endParaRPr dirty="0"/>
          </a:p>
          <a:p>
            <a:pPr marL="0" lvl="0" indent="0" algn="l" rtl="0">
              <a:spcBef>
                <a:spcPts val="0"/>
              </a:spcBef>
              <a:spcAft>
                <a:spcPts val="0"/>
              </a:spcAft>
              <a:buNone/>
            </a:pPr>
            <a:r>
              <a:rPr lang="en-US" b="1" dirty="0"/>
              <a:t>Traditional Vehicles:</a:t>
            </a:r>
            <a:r>
              <a:rPr lang="en-US" dirty="0"/>
              <a:t> This includes standard savings accounts, 529 plans, and brokerage investments.</a:t>
            </a:r>
            <a:endParaRPr dirty="0"/>
          </a:p>
          <a:p>
            <a:pPr marL="0" lvl="0" indent="0" algn="l" rtl="0">
              <a:spcBef>
                <a:spcPts val="0"/>
              </a:spcBef>
              <a:spcAft>
                <a:spcPts val="0"/>
              </a:spcAft>
              <a:buNone/>
            </a:pPr>
            <a:r>
              <a:rPr lang="en-US" b="1" dirty="0"/>
              <a:t>Positioning:</a:t>
            </a:r>
            <a:r>
              <a:rPr lang="en-US" dirty="0"/>
              <a:t> How these are titled and where they "live" (parent vs. student) significantly impacts your aid eligibility.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Borrowing Categories:</a:t>
            </a:r>
            <a:endParaRPr dirty="0"/>
          </a:p>
          <a:p>
            <a:pPr marL="0" lvl="0" indent="0" algn="l" rtl="0">
              <a:spcBef>
                <a:spcPts val="0"/>
              </a:spcBef>
              <a:spcAft>
                <a:spcPts val="0"/>
              </a:spcAft>
              <a:buNone/>
            </a:pPr>
            <a:r>
              <a:rPr lang="en-US" b="1" dirty="0"/>
              <a:t>Federal &amp; PLUS Loans:</a:t>
            </a:r>
            <a:r>
              <a:rPr lang="en-US" dirty="0"/>
              <a:t> These are often the first line of defense in borrowing due to federal protections and fixed rates.</a:t>
            </a:r>
            <a:endParaRPr dirty="0"/>
          </a:p>
          <a:p>
            <a:pPr marL="0" lvl="0" indent="0" algn="l" rtl="0">
              <a:spcBef>
                <a:spcPts val="0"/>
              </a:spcBef>
              <a:spcAft>
                <a:spcPts val="0"/>
              </a:spcAft>
              <a:buNone/>
            </a:pPr>
            <a:r>
              <a:rPr lang="en-US" b="1" dirty="0"/>
              <a:t>Private &amp; Equity Options:</a:t>
            </a:r>
            <a:r>
              <a:rPr lang="en-US" dirty="0"/>
              <a:t> This includes private student loans and utilizing home equity as a source of liquidity.</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Strategic Insight on Life Insurance:</a:t>
            </a:r>
            <a:r>
              <a:rPr lang="en-US" dirty="0"/>
              <a:t> Notice that Life Insurance is listed under both categories. Life insurance can be a powerful tool to fund college because it serves a dual purpose. As an asset, it can store wealth in a </a:t>
            </a:r>
            <a:r>
              <a:rPr lang="en-US" b="1" dirty="0"/>
              <a:t>way that is often invisible to or protected in many financial aid formulas</a:t>
            </a:r>
            <a:r>
              <a:rPr lang="en-US" dirty="0"/>
              <a:t>, helping to optimize aid eligibility. Simultaneously, it can act as a borrowing source via policy loans, providing a flexible alternative to traditional student debt. Integrating this tool requires a tailored plan to ensure it fits within your broader financial architecture.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333" name="Google Shape;333;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dirty="0"/>
              <a:t>I’m sure many of you have thought or said some of these statements on the left. But those are misconceptions in the space.</a:t>
            </a:r>
            <a:endParaRPr dirty="0"/>
          </a:p>
          <a:p>
            <a:pPr marL="0" lvl="0" indent="0" algn="l" rtl="0">
              <a:spcBef>
                <a:spcPts val="0"/>
              </a:spcBef>
              <a:spcAft>
                <a:spcPts val="0"/>
              </a:spcAft>
              <a:buNone/>
            </a:pPr>
            <a:endParaRPr b="0" dirty="0"/>
          </a:p>
          <a:p>
            <a:pPr marL="0" lvl="0" indent="0" algn="l" rtl="0">
              <a:spcBef>
                <a:spcPts val="0"/>
              </a:spcBef>
              <a:spcAft>
                <a:spcPts val="0"/>
              </a:spcAft>
              <a:buNone/>
            </a:pPr>
            <a:r>
              <a:rPr lang="en-US" b="1" dirty="0"/>
              <a:t>1. Income Levels and Aid Availability</a:t>
            </a:r>
            <a:endParaRPr dirty="0"/>
          </a:p>
          <a:p>
            <a:pPr marL="0" lvl="0" indent="0" algn="l" rtl="0">
              <a:spcBef>
                <a:spcPts val="0"/>
              </a:spcBef>
              <a:spcAft>
                <a:spcPts val="0"/>
              </a:spcAft>
              <a:buNone/>
            </a:pPr>
            <a:r>
              <a:rPr lang="en-US" b="1" dirty="0"/>
              <a:t>Misconception:</a:t>
            </a:r>
            <a:r>
              <a:rPr lang="en-US" dirty="0"/>
              <a:t> Many families assume, “Our income is too high for aid.”</a:t>
            </a:r>
            <a:endParaRPr dirty="0"/>
          </a:p>
          <a:p>
            <a:pPr marL="0" lvl="0" indent="0" algn="l" rtl="0">
              <a:spcBef>
                <a:spcPts val="0"/>
              </a:spcBef>
              <a:spcAft>
                <a:spcPts val="0"/>
              </a:spcAft>
              <a:buNone/>
            </a:pPr>
            <a:r>
              <a:rPr lang="en-US" b="1" dirty="0"/>
              <a:t>Truth:</a:t>
            </a:r>
            <a:r>
              <a:rPr lang="en-US" dirty="0"/>
              <a:t> In reality, high earners can still receive competitive tuition discounts through merit aid if they target the right schools. Furthermore, most families—regardless of their specific income bracket—qualify for some form of aid or discount.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2. Academic Performance and Merit Aid</a:t>
            </a:r>
            <a:endParaRPr dirty="0"/>
          </a:p>
          <a:p>
            <a:pPr marL="0" lvl="0" indent="0" algn="l" rtl="0">
              <a:spcBef>
                <a:spcPts val="0"/>
              </a:spcBef>
              <a:spcAft>
                <a:spcPts val="0"/>
              </a:spcAft>
              <a:buNone/>
            </a:pPr>
            <a:r>
              <a:rPr lang="en-US" b="1" dirty="0"/>
              <a:t>Misconception:</a:t>
            </a:r>
            <a:r>
              <a:rPr lang="en-US" dirty="0"/>
              <a:t> Parents often worry, “My child's grades are too low to receive financial support.”</a:t>
            </a:r>
            <a:endParaRPr dirty="0"/>
          </a:p>
          <a:p>
            <a:pPr marL="0" lvl="0" indent="0" algn="l" rtl="0">
              <a:spcBef>
                <a:spcPts val="0"/>
              </a:spcBef>
              <a:spcAft>
                <a:spcPts val="0"/>
              </a:spcAft>
              <a:buNone/>
            </a:pPr>
            <a:r>
              <a:rPr lang="en-US" b="1" dirty="0"/>
              <a:t>Truth:</a:t>
            </a:r>
            <a:r>
              <a:rPr lang="en-US" dirty="0"/>
              <a:t> Merit aid is frequently separate from GPA. While grades matter, the school fit and your specific application strategy actually matter most when institutions award these funds.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3. Homeownership and FAFSA</a:t>
            </a:r>
            <a:endParaRPr dirty="0"/>
          </a:p>
          <a:p>
            <a:pPr marL="0" lvl="0" indent="0" algn="l" rtl="0">
              <a:spcBef>
                <a:spcPts val="0"/>
              </a:spcBef>
              <a:spcAft>
                <a:spcPts val="0"/>
              </a:spcAft>
              <a:buNone/>
            </a:pPr>
            <a:r>
              <a:rPr lang="en-US" b="1" dirty="0"/>
              <a:t>Misconception:</a:t>
            </a:r>
            <a:r>
              <a:rPr lang="en-US" dirty="0"/>
              <a:t> There is a common belief that “We own a home, so we won't qualify.”</a:t>
            </a:r>
            <a:endParaRPr dirty="0"/>
          </a:p>
          <a:p>
            <a:pPr marL="0" lvl="0" indent="0" algn="l" rtl="0">
              <a:spcBef>
                <a:spcPts val="0"/>
              </a:spcBef>
              <a:spcAft>
                <a:spcPts val="0"/>
              </a:spcAft>
              <a:buNone/>
            </a:pPr>
            <a:r>
              <a:rPr lang="en-US" b="1" dirty="0"/>
              <a:t>Truth:</a:t>
            </a:r>
            <a:r>
              <a:rPr lang="en-US" dirty="0"/>
              <a:t> Home equity is actually not counted on the FAFSA. This is one of the single biggest missed opportunities for families who fail to plan because they assume their primary residence disqualifies them.</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4. Demographic Requirements</a:t>
            </a:r>
            <a:endParaRPr dirty="0"/>
          </a:p>
          <a:p>
            <a:pPr marL="0" lvl="0" indent="0" algn="l" rtl="0">
              <a:spcBef>
                <a:spcPts val="0"/>
              </a:spcBef>
              <a:spcAft>
                <a:spcPts val="0"/>
              </a:spcAft>
              <a:buNone/>
            </a:pPr>
            <a:r>
              <a:rPr lang="en-US" b="1" dirty="0"/>
              <a:t>Misconception:</a:t>
            </a:r>
            <a:r>
              <a:rPr lang="en-US" dirty="0"/>
              <a:t> Some believe that “Aid is only for special groups.”</a:t>
            </a:r>
            <a:endParaRPr dirty="0"/>
          </a:p>
          <a:p>
            <a:pPr marL="0" lvl="0" indent="0" algn="l" rtl="0">
              <a:spcBef>
                <a:spcPts val="0"/>
              </a:spcBef>
              <a:spcAft>
                <a:spcPts val="0"/>
              </a:spcAft>
              <a:buNone/>
            </a:pPr>
            <a:r>
              <a:rPr lang="en-US" b="1" dirty="0"/>
              <a:t>Truth:</a:t>
            </a:r>
            <a:r>
              <a:rPr lang="en-US" dirty="0"/>
              <a:t> This ties back to the fact that the vast majority of families qualify for some version of a discount or aid package, provided they navigate the system correctly.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5. Process Complexity and Professional Guidance</a:t>
            </a:r>
            <a:endParaRPr dirty="0"/>
          </a:p>
          <a:p>
            <a:pPr marL="0" lvl="0" indent="0" algn="l" rtl="0">
              <a:spcBef>
                <a:spcPts val="0"/>
              </a:spcBef>
              <a:spcAft>
                <a:spcPts val="0"/>
              </a:spcAft>
              <a:buNone/>
            </a:pPr>
            <a:r>
              <a:rPr lang="en-US" b="1" dirty="0"/>
              <a:t>Misconception:</a:t>
            </a:r>
            <a:r>
              <a:rPr lang="en-US" dirty="0"/>
              <a:t> It is easy to think, “The process is simple—I can do it myself.”</a:t>
            </a:r>
            <a:endParaRPr dirty="0"/>
          </a:p>
          <a:p>
            <a:pPr marL="0" lvl="0" indent="0" algn="l" rtl="0">
              <a:spcBef>
                <a:spcPts val="0"/>
              </a:spcBef>
              <a:spcAft>
                <a:spcPts val="0"/>
              </a:spcAft>
              <a:buNone/>
            </a:pPr>
            <a:r>
              <a:rPr lang="en-US" b="1" dirty="0"/>
              <a:t>Truth:</a:t>
            </a:r>
            <a:r>
              <a:rPr lang="en-US" dirty="0"/>
              <a:t> The aid process is intricate, and mistakes are both costly and often irreversible. This is why professional guidance now can make a major difference in the final net price you pay for education.</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10" name="Google Shape;410;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When we look at where the aid actually comes from to lower the sticker price, it helps to visualize it as three distinct aid banks. Understanding these sources allows us to be surgical in our approach to capturing funding.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[CLICK]</a:t>
            </a:r>
            <a:endParaRPr dirty="0"/>
          </a:p>
          <a:p>
            <a:pPr marL="0" lvl="0" indent="0" algn="l" rtl="0">
              <a:spcBef>
                <a:spcPts val="0"/>
              </a:spcBef>
              <a:spcAft>
                <a:spcPts val="0"/>
              </a:spcAft>
              <a:buNone/>
            </a:pPr>
            <a:r>
              <a:rPr lang="en-US" b="1" dirty="0"/>
              <a:t>The Federal &amp; State Bank (Need-Based):</a:t>
            </a:r>
            <a:r>
              <a:rPr lang="en-US" dirty="0"/>
              <a:t> This is the bank most people think of first. It is primarily funded by the government and determined by your FAFSA filing. It focuses on your need as defined by federal formulas.</a:t>
            </a:r>
            <a:endParaRPr dirty="0"/>
          </a:p>
          <a:p>
            <a:pPr marL="0" lvl="0" indent="0" algn="l" rtl="0">
              <a:spcBef>
                <a:spcPts val="0"/>
              </a:spcBef>
              <a:spcAft>
                <a:spcPts val="0"/>
              </a:spcAft>
              <a:buNone/>
            </a:pPr>
            <a:r>
              <a:rPr lang="en-US" dirty="0"/>
              <a:t>[CLICK]</a:t>
            </a:r>
            <a:endParaRPr dirty="0"/>
          </a:p>
          <a:p>
            <a:pPr marL="0" lvl="0" indent="0" algn="l" rtl="0">
              <a:spcBef>
                <a:spcPts val="0"/>
              </a:spcBef>
              <a:spcAft>
                <a:spcPts val="0"/>
              </a:spcAft>
              <a:buNone/>
            </a:pPr>
            <a:r>
              <a:rPr lang="en-US" b="1" dirty="0"/>
              <a:t>The Merit Bank (Student Profile):</a:t>
            </a:r>
            <a:r>
              <a:rPr lang="en-US" dirty="0"/>
              <a:t> Represented here by the trophy, this bank is where the school bids for the talent it wants. These funds are awarded based on the student’s academic profile, test scores, or specific talents. This is the "discount tool" colleges use to shape their class. </a:t>
            </a:r>
            <a:endParaRPr dirty="0"/>
          </a:p>
          <a:p>
            <a:pPr marL="0" lvl="0" indent="0" algn="l" rtl="0">
              <a:spcBef>
                <a:spcPts val="0"/>
              </a:spcBef>
              <a:spcAft>
                <a:spcPts val="0"/>
              </a:spcAft>
              <a:buNone/>
            </a:pPr>
            <a:r>
              <a:rPr lang="en-US" dirty="0"/>
              <a:t>[CLICK]</a:t>
            </a:r>
            <a:endParaRPr dirty="0"/>
          </a:p>
          <a:p>
            <a:pPr marL="0" lvl="0" indent="0" algn="l" rtl="0">
              <a:spcBef>
                <a:spcPts val="0"/>
              </a:spcBef>
              <a:spcAft>
                <a:spcPts val="0"/>
              </a:spcAft>
              <a:buNone/>
            </a:pPr>
            <a:r>
              <a:rPr lang="en-US" b="1" dirty="0"/>
              <a:t>The Institutional Bank (School Endowments):</a:t>
            </a:r>
            <a:r>
              <a:rPr lang="en-US" dirty="0"/>
              <a:t> This is often the largest pool of money, especially at private colleges. This is the school’s own private reserve. While this aid may not be fully visible until after the admission offer is made, it is the most powerful tool for reducing your final bill.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Strategic Insight:</a:t>
            </a:r>
            <a:r>
              <a:rPr lang="en-US" dirty="0"/>
              <a:t> Our goal is to target </a:t>
            </a:r>
            <a:r>
              <a:rPr lang="en-US" b="1" dirty="0"/>
              <a:t>gift aid</a:t>
            </a:r>
            <a:r>
              <a:rPr lang="en-US" dirty="0"/>
              <a:t> (the money you don’t pay back) from these banks first, followed by </a:t>
            </a:r>
            <a:r>
              <a:rPr lang="en-US" b="1" dirty="0"/>
              <a:t>merit aid</a:t>
            </a:r>
            <a:r>
              <a:rPr lang="en-US" dirty="0"/>
              <a:t>. By strategically tapping into these three sources, we can help reduce your reliance on loans and out-of-pocket spending. This is how we ensure that a college degree for your student doesn't come at the expense of your retirement security.</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22" name="Google Shape;42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a:t>
            </a:r>
            <a:r>
              <a:rPr lang="en-US" b="1" dirty="0"/>
              <a:t>FAFSA</a:t>
            </a:r>
            <a:r>
              <a:rPr lang="en-US" dirty="0"/>
              <a:t> is the foundational document for almost every family’s college funding strategy. It is the standard federal form required by all colleges to determine your eligibility for federal aid, including Pell Grants, work-study programs, and federal student loans.</a:t>
            </a:r>
            <a:endParaRPr dirty="0"/>
          </a:p>
          <a:p>
            <a:pPr marL="0" lvl="0" indent="0" algn="l" rtl="0">
              <a:spcBef>
                <a:spcPts val="0"/>
              </a:spcBef>
              <a:spcAft>
                <a:spcPts val="0"/>
              </a:spcAft>
              <a:buNone/>
            </a:pPr>
            <a:r>
              <a:rPr lang="en-US" dirty="0"/>
              <a:t>There are two critical timing components to understand when filing:</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Income Reporting:</a:t>
            </a:r>
            <a:r>
              <a:rPr lang="en-US" dirty="0"/>
              <a:t> The form uses your tax returns from </a:t>
            </a:r>
            <a:r>
              <a:rPr lang="en-US" b="1" dirty="0"/>
              <a:t>two years prior</a:t>
            </a:r>
            <a:r>
              <a:rPr lang="en-US" dirty="0"/>
              <a:t>. This is often referred to as the "prior-prior" year. For example, if you are filing for the 2026-2027 academic year, the form will look at your 2024 tax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Asset Reporting:</a:t>
            </a:r>
            <a:r>
              <a:rPr lang="en-US" dirty="0"/>
              <a:t> Unlike income, which looks backward, the FAFSA evaluates your </a:t>
            </a:r>
            <a:r>
              <a:rPr lang="en-US" b="1" dirty="0"/>
              <a:t>assets as of the day the form is filed</a:t>
            </a:r>
            <a:r>
              <a:rPr lang="en-US" dirty="0"/>
              <a:t>.</a:t>
            </a:r>
            <a:endParaRPr dirty="0"/>
          </a:p>
          <a:p>
            <a:pPr marL="0" lvl="0" indent="0" algn="l" rtl="0">
              <a:spcBef>
                <a:spcPts val="0"/>
              </a:spcBef>
              <a:spcAft>
                <a:spcPts val="0"/>
              </a:spcAft>
              <a:buNone/>
            </a:pPr>
            <a:r>
              <a:rPr lang="en-US" dirty="0"/>
              <a:t>This distinction is a vital part of asset positioning. Because the form takes a "snapshot" of your assets on a specific day, the timing of your filing can be just as important as the data itself. By providing professional clarity on these reporting rules, we can help you move from guesswork to a strategic plan that seeks to optimize your student's aid eligibility while protecting your core retirement resources.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Filing Importance</a:t>
            </a:r>
            <a:endParaRPr dirty="0"/>
          </a:p>
          <a:p>
            <a:pPr marL="0" lvl="0" indent="0" algn="l" rtl="0">
              <a:spcBef>
                <a:spcPts val="0"/>
              </a:spcBef>
              <a:spcAft>
                <a:spcPts val="0"/>
              </a:spcAft>
              <a:buNone/>
            </a:pPr>
            <a:r>
              <a:rPr lang="en-US" dirty="0"/>
              <a:t>A common mistake parents make is skipping the FAFSA because they assume their income is too high.</a:t>
            </a:r>
            <a:endParaRPr dirty="0"/>
          </a:p>
          <a:p>
            <a:pPr marL="0" lvl="0" indent="0" algn="l" rtl="0">
              <a:spcBef>
                <a:spcPts val="0"/>
              </a:spcBef>
              <a:spcAft>
                <a:spcPts val="0"/>
              </a:spcAft>
              <a:buNone/>
            </a:pPr>
            <a:r>
              <a:rPr lang="en-US" dirty="0"/>
              <a:t>In reality, you should file regardless of your perceived eligibility; many filers qualify for some form of aid, and even partial filers can unlock institutional opportunities that would otherwise be unavailable.</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Strategic Timing</a:t>
            </a:r>
            <a:endParaRPr dirty="0"/>
          </a:p>
          <a:p>
            <a:pPr marL="0" lvl="0" indent="0" algn="l" rtl="0">
              <a:spcBef>
                <a:spcPts val="0"/>
              </a:spcBef>
              <a:spcAft>
                <a:spcPts val="0"/>
              </a:spcAft>
              <a:buNone/>
            </a:pPr>
            <a:r>
              <a:rPr lang="en-US" dirty="0"/>
              <a:t>When it comes to college money, the "early bird" really does get the worm.</a:t>
            </a:r>
            <a:endParaRPr dirty="0"/>
          </a:p>
          <a:p>
            <a:pPr marL="0" lvl="0" indent="0" algn="l" rtl="0">
              <a:spcBef>
                <a:spcPts val="0"/>
              </a:spcBef>
              <a:spcAft>
                <a:spcPts val="0"/>
              </a:spcAft>
              <a:buNone/>
            </a:pPr>
            <a:r>
              <a:rPr lang="en-US" dirty="0"/>
              <a:t>Many grants are distributed on a strict </a:t>
            </a:r>
            <a:r>
              <a:rPr lang="en-US" b="1" dirty="0"/>
              <a:t>first-come, first-served basis</a:t>
            </a:r>
            <a:r>
              <a:rPr lang="en-US" dirty="0"/>
              <a:t>. Because these funds are finite, filing as early as possible is a critical tactic to ensure your student is at the front of the line before the pool is depleted.</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Asset Exclusions</a:t>
            </a:r>
            <a:endParaRPr dirty="0"/>
          </a:p>
          <a:p>
            <a:pPr marL="0" lvl="0" indent="0" algn="l" rtl="0">
              <a:spcBef>
                <a:spcPts val="0"/>
              </a:spcBef>
              <a:spcAft>
                <a:spcPts val="0"/>
              </a:spcAft>
              <a:buNone/>
            </a:pPr>
            <a:r>
              <a:rPr lang="en-US" dirty="0"/>
              <a:t>Understanding what the FAFSA </a:t>
            </a:r>
            <a:r>
              <a:rPr lang="en-US" i="1" dirty="0"/>
              <a:t>ignores</a:t>
            </a:r>
            <a:r>
              <a:rPr lang="en-US" dirty="0"/>
              <a:t> is just as important as what it reports.</a:t>
            </a:r>
            <a:endParaRPr dirty="0"/>
          </a:p>
          <a:p>
            <a:pPr marL="0" lvl="0" indent="0" algn="l" rtl="0">
              <a:spcBef>
                <a:spcPts val="0"/>
              </a:spcBef>
              <a:spcAft>
                <a:spcPts val="0"/>
              </a:spcAft>
              <a:buNone/>
            </a:pPr>
            <a:r>
              <a:rPr lang="en-US" dirty="0"/>
              <a:t>One of the biggest advantages is that </a:t>
            </a:r>
            <a:r>
              <a:rPr lang="en-US" b="1" dirty="0"/>
              <a:t>home equity</a:t>
            </a:r>
            <a:r>
              <a:rPr lang="en-US" dirty="0"/>
              <a:t> in your primary residence is not included in FAFSA calculations.</a:t>
            </a:r>
            <a:endParaRPr dirty="0"/>
          </a:p>
          <a:p>
            <a:pPr marL="0" lvl="0" indent="0" algn="l" rtl="0">
              <a:spcBef>
                <a:spcPts val="0"/>
              </a:spcBef>
              <a:spcAft>
                <a:spcPts val="0"/>
              </a:spcAft>
              <a:buNone/>
            </a:pPr>
            <a:r>
              <a:rPr lang="en-US" dirty="0"/>
              <a:t>Furthermore, </a:t>
            </a:r>
            <a:r>
              <a:rPr lang="en-US" b="1" dirty="0"/>
              <a:t>Life Insurance</a:t>
            </a:r>
            <a:r>
              <a:rPr lang="en-US" dirty="0"/>
              <a:t> is also excluded from these calculations. This creates a significant opportunity for asset positioning—moving wealth into these "protected" categories can reduce your reported financial strength and, in turn, increase your student’s eligibility for aid.</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52" name="Google Shape;45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FAFSA – Reported Factors</a:t>
            </a:r>
            <a:endParaRPr dirty="0"/>
          </a:p>
          <a:p>
            <a:pPr marL="0" lvl="0" indent="0" algn="l" rtl="0">
              <a:spcBef>
                <a:spcPts val="0"/>
              </a:spcBef>
              <a:spcAft>
                <a:spcPts val="0"/>
              </a:spcAft>
              <a:buNone/>
            </a:pPr>
            <a:r>
              <a:rPr lang="en-US" dirty="0"/>
              <a:t>[CLICK]</a:t>
            </a:r>
            <a:endParaRPr dirty="0"/>
          </a:p>
          <a:p>
            <a:pPr marL="0" lvl="0" indent="0" algn="l" rtl="0">
              <a:spcBef>
                <a:spcPts val="0"/>
              </a:spcBef>
              <a:spcAft>
                <a:spcPts val="0"/>
              </a:spcAft>
              <a:buNone/>
            </a:pPr>
            <a:r>
              <a:rPr lang="en-US" dirty="0"/>
              <a:t>FAFSA – Exempt Factors</a:t>
            </a:r>
            <a:endParaRPr dirty="0"/>
          </a:p>
        </p:txBody>
      </p:sp>
      <p:sp>
        <p:nvSpPr>
          <p:cNvPr id="459" name="Google Shape;45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Arial"/>
                <a:ea typeface="Arial"/>
                <a:cs typeface="Arial"/>
                <a:sym typeface="Arial"/>
              </a:rPr>
              <a:t>The primary result of filing your FAFSA is the generation of your </a:t>
            </a:r>
            <a:r>
              <a:rPr lang="en-US" sz="1200" b="1" dirty="0">
                <a:solidFill>
                  <a:schemeClr val="dk1"/>
                </a:solidFill>
                <a:latin typeface="Arial"/>
                <a:ea typeface="Arial"/>
                <a:cs typeface="Arial"/>
                <a:sym typeface="Arial"/>
              </a:rPr>
              <a:t>Student Aid Index</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SAI</a:t>
            </a:r>
            <a:r>
              <a:rPr lang="en-US" sz="1200" dirty="0">
                <a:solidFill>
                  <a:schemeClr val="dk1"/>
                </a:solidFill>
                <a:latin typeface="Arial"/>
                <a:ea typeface="Arial"/>
                <a:cs typeface="Arial"/>
                <a:sym typeface="Arial"/>
              </a:rPr>
              <a:t>. This is a calculated index number that ranges from negative 1,500 up to 999,999, and it is the single most important number in your financial aid journey. </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Sequentially, here is how it works: Once you submit your FAFSA, the government processes your income and assets to produce this index. Although it is called an "index," it is designed to be treated as a specific dollar amount that represents </a:t>
            </a:r>
            <a:r>
              <a:rPr lang="en-US" sz="1200" b="1" dirty="0">
                <a:solidFill>
                  <a:schemeClr val="dk1"/>
                </a:solidFill>
                <a:latin typeface="Arial"/>
                <a:ea typeface="Arial"/>
                <a:cs typeface="Arial"/>
                <a:sym typeface="Arial"/>
              </a:rPr>
              <a:t>your contribution</a:t>
            </a:r>
            <a:r>
              <a:rPr lang="en-US" sz="1200" dirty="0">
                <a:solidFill>
                  <a:schemeClr val="dk1"/>
                </a:solidFill>
                <a:latin typeface="Arial"/>
                <a:ea typeface="Arial"/>
                <a:cs typeface="Arial"/>
                <a:sym typeface="Arial"/>
              </a:rPr>
              <a:t> toward the cost of college for that academic year.</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Colleges then take this number and plug it into the </a:t>
            </a:r>
            <a:r>
              <a:rPr lang="en-US" sz="1200" b="1" dirty="0">
                <a:solidFill>
                  <a:schemeClr val="dk1"/>
                </a:solidFill>
                <a:latin typeface="Arial"/>
                <a:ea typeface="Arial"/>
                <a:cs typeface="Arial"/>
                <a:sym typeface="Arial"/>
              </a:rPr>
              <a:t>Federal Need Formula</a:t>
            </a:r>
            <a:r>
              <a:rPr lang="en-US" sz="1200" dirty="0">
                <a:solidFill>
                  <a:schemeClr val="dk1"/>
                </a:solidFill>
                <a:latin typeface="Arial"/>
                <a:ea typeface="Arial"/>
                <a:cs typeface="Arial"/>
                <a:sym typeface="Arial"/>
              </a:rPr>
              <a:t>. They take their total </a:t>
            </a:r>
            <a:r>
              <a:rPr lang="en-US" sz="1200" b="1" dirty="0">
                <a:solidFill>
                  <a:schemeClr val="dk1"/>
                </a:solidFill>
                <a:latin typeface="Arial"/>
                <a:ea typeface="Arial"/>
                <a:cs typeface="Arial"/>
                <a:sym typeface="Arial"/>
              </a:rPr>
              <a:t>Cost of Attendance (COA)</a:t>
            </a:r>
            <a:r>
              <a:rPr lang="en-US" sz="1200" dirty="0">
                <a:solidFill>
                  <a:schemeClr val="dk1"/>
                </a:solidFill>
                <a:latin typeface="Arial"/>
                <a:ea typeface="Arial"/>
                <a:cs typeface="Arial"/>
                <a:sym typeface="Arial"/>
              </a:rPr>
              <a:t>—which includes tuition, room, board, and fees—and subtract your </a:t>
            </a:r>
            <a:r>
              <a:rPr lang="en-US" sz="1200" b="1" dirty="0">
                <a:solidFill>
                  <a:schemeClr val="dk1"/>
                </a:solidFill>
                <a:latin typeface="Arial"/>
                <a:ea typeface="Arial"/>
                <a:cs typeface="Arial"/>
                <a:sym typeface="Arial"/>
              </a:rPr>
              <a:t>SAI</a:t>
            </a:r>
            <a:r>
              <a:rPr lang="en-US" sz="1200" dirty="0">
                <a:solidFill>
                  <a:schemeClr val="dk1"/>
                </a:solidFill>
                <a:latin typeface="Arial"/>
                <a:ea typeface="Arial"/>
                <a:cs typeface="Arial"/>
                <a:sym typeface="Arial"/>
              </a:rPr>
              <a:t>. The resulting figure is your "Federal Need.“</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The goal of our strategic planning is to legally position your assets to lower that SAI as much as possible. A lower SAI increases your calculated Federal Need, which opens the door to more grant and scholarship opportunities, directly reducing your out-of-pocket spending.</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71" name="Google Shape;47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Arial"/>
                <a:ea typeface="Arial"/>
                <a:cs typeface="Arial"/>
                <a:sym typeface="Arial"/>
              </a:rPr>
              <a:t>Let’s pivot from the FAFSA and discuss private school funding, as it can differ from public universities. </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Remember how we talked about the large amount of aid private colleges are now offering? Here’s how that works, and what you should take note of:</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Top-tier private colleges and universities require an additional, more comprehensive form called the </a:t>
            </a:r>
            <a:r>
              <a:rPr lang="en-US" sz="1200" b="1" dirty="0">
                <a:solidFill>
                  <a:schemeClr val="dk1"/>
                </a:solidFill>
                <a:latin typeface="Arial"/>
                <a:ea typeface="Arial"/>
                <a:cs typeface="Arial"/>
                <a:sym typeface="Arial"/>
              </a:rPr>
              <a:t>CSS Profile</a:t>
            </a:r>
            <a:r>
              <a:rPr lang="en-US" sz="1200" dirty="0">
                <a:solidFill>
                  <a:schemeClr val="dk1"/>
                </a:solidFill>
                <a:latin typeface="Arial"/>
                <a:ea typeface="Arial"/>
                <a:cs typeface="Arial"/>
                <a:sym typeface="Arial"/>
              </a:rPr>
              <a:t>. This form provides institutions with a much deeper look into a family's financial life than the FAFSA, allowing them to make highly specific decisions regarding generous institutional aid. </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Characteristics of CSS Profile Schools:</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Large Endowments:</a:t>
            </a:r>
            <a:r>
              <a:rPr lang="en-US" sz="1200" dirty="0">
                <a:solidFill>
                  <a:schemeClr val="dk1"/>
                </a:solidFill>
                <a:latin typeface="Arial"/>
                <a:ea typeface="Arial"/>
                <a:cs typeface="Arial"/>
                <a:sym typeface="Arial"/>
              </a:rPr>
              <a:t> These schools often have significant private wealth with massive allotments specifically set aside for financial aid to secure their desired class. </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Selectivity:</a:t>
            </a:r>
            <a:r>
              <a:rPr lang="en-US" sz="1200" dirty="0">
                <a:solidFill>
                  <a:schemeClr val="dk1"/>
                </a:solidFill>
                <a:latin typeface="Arial"/>
                <a:ea typeface="Arial"/>
                <a:cs typeface="Arial"/>
                <a:sym typeface="Arial"/>
              </a:rPr>
              <a:t> These institutions are typically selective and prestigious, using their own funds to attract top-tier learners and contributors. </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Detailed Review:</a:t>
            </a:r>
            <a:r>
              <a:rPr lang="en-US" sz="1200" dirty="0">
                <a:solidFill>
                  <a:schemeClr val="dk1"/>
                </a:solidFill>
                <a:latin typeface="Arial"/>
                <a:ea typeface="Arial"/>
                <a:cs typeface="Arial"/>
                <a:sym typeface="Arial"/>
              </a:rPr>
              <a:t> They look in great detail at your entire application and financial profile to determine exactly how much aid is needed to secure an enrollment.</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Key Takeaway — Don't Limit Your Options:</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Families often inadvertently limit their options by assuming a school is too expensive based on its website. If a "good-fit" selective school seems out of reach, remember that these are the very institutions with the most resources to offer generous aid packages. A high-sticker-price private school can often end up being more affordable than a public state school once the institutional aid is applied.</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91" name="Google Shape;49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Arial"/>
                <a:ea typeface="Arial"/>
                <a:cs typeface="Arial"/>
                <a:sym typeface="Arial"/>
              </a:rPr>
              <a:t>Let’s do a deeper dive into CSS.</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The </a:t>
            </a:r>
            <a:r>
              <a:rPr lang="en-US" sz="1200" b="1" dirty="0">
                <a:solidFill>
                  <a:schemeClr val="dk1"/>
                </a:solidFill>
                <a:latin typeface="Arial"/>
                <a:ea typeface="Arial"/>
                <a:cs typeface="Arial"/>
                <a:sym typeface="Arial"/>
              </a:rPr>
              <a:t>CSS Profile</a:t>
            </a:r>
            <a:r>
              <a:rPr lang="en-US" sz="1200" dirty="0">
                <a:solidFill>
                  <a:schemeClr val="dk1"/>
                </a:solidFill>
                <a:latin typeface="Arial"/>
                <a:ea typeface="Arial"/>
                <a:cs typeface="Arial"/>
                <a:sym typeface="Arial"/>
              </a:rPr>
              <a:t> is the gatekeeper for institutional aid at over 250 of the nation's most elite and prestigious private colleges. While the FAFSA is the standard for federal aid, the CSS Profile is what these schools use to determine how to distribute their own significant private endowments. </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Key Differences from the FAFSA:</a:t>
            </a:r>
            <a:endParaRPr sz="1200" dirty="0">
              <a:solidFill>
                <a:schemeClr val="dk1"/>
              </a:solidFill>
              <a:latin typeface="Arial"/>
              <a:ea typeface="Arial"/>
              <a:cs typeface="Arial"/>
              <a:sym typeface="Arial"/>
            </a:endParaRPr>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Comprehensiveness:</a:t>
            </a:r>
            <a:r>
              <a:rPr lang="en-US" sz="1200" dirty="0">
                <a:solidFill>
                  <a:schemeClr val="dk1"/>
                </a:solidFill>
                <a:latin typeface="Arial"/>
                <a:ea typeface="Arial"/>
                <a:cs typeface="Arial"/>
                <a:sym typeface="Arial"/>
              </a:rPr>
              <a:t> The CSS Profile is far more granular, with over 275 detailed questions designed to provide a comprehensive view of your financial health. </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Expanded Asset Scope:</a:t>
            </a:r>
            <a:r>
              <a:rPr lang="en-US" sz="1200" dirty="0">
                <a:solidFill>
                  <a:schemeClr val="dk1"/>
                </a:solidFill>
                <a:latin typeface="Arial"/>
                <a:ea typeface="Arial"/>
                <a:cs typeface="Arial"/>
                <a:sym typeface="Arial"/>
              </a:rPr>
              <a:t> This form looks at "everything." While the FAFSA excludes certain assets, the CSS Profile explicitly includes home equity, business assets, and even retirement accounts in its calculations. </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Supplemental Documentation:</a:t>
            </a:r>
            <a:r>
              <a:rPr lang="en-US" sz="1200" dirty="0">
                <a:solidFill>
                  <a:schemeClr val="dk1"/>
                </a:solidFill>
                <a:latin typeface="Arial"/>
                <a:ea typeface="Arial"/>
                <a:cs typeface="Arial"/>
                <a:sym typeface="Arial"/>
              </a:rPr>
              <a:t> Be aware that some schools may require students to fill out additional institution-specific financial assistance documentation alongside the profile.</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Strategic Note:</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Timing is even more complex here because, unlike the universal federal deadlines, CSS Profile deadlines vary by school. You must check each institution's requirements carefully to ensure you don’t miss the window for these generous aid packages. </a:t>
            </a:r>
            <a:endParaRPr dirty="0"/>
          </a:p>
          <a:p>
            <a:pPr marL="0" lvl="0" indent="0" algn="l" rtl="0">
              <a:spcBef>
                <a:spcPts val="0"/>
              </a:spcBef>
              <a:spcAft>
                <a:spcPts val="0"/>
              </a:spcAft>
              <a:buNone/>
            </a:pPr>
            <a:endParaRPr dirty="0"/>
          </a:p>
        </p:txBody>
      </p:sp>
      <p:sp>
        <p:nvSpPr>
          <p:cNvPr id="507" name="Google Shape;507;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Strategic Enrollment Management (SEM):</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While the FAFSA relies on a rigid federal formula, the CSS Profile allows schools to use </a:t>
            </a:r>
            <a:r>
              <a:rPr lang="en-US" sz="1200" b="1" dirty="0">
                <a:solidFill>
                  <a:schemeClr val="dk1"/>
                </a:solidFill>
                <a:latin typeface="Arial"/>
                <a:ea typeface="Arial"/>
                <a:cs typeface="Arial"/>
                <a:sym typeface="Arial"/>
              </a:rPr>
              <a:t>Strategic Enrollment Management</a:t>
            </a:r>
            <a:r>
              <a:rPr lang="en-US" sz="1200" dirty="0">
                <a:solidFill>
                  <a:schemeClr val="dk1"/>
                </a:solidFill>
                <a:latin typeface="Arial"/>
                <a:ea typeface="Arial"/>
                <a:cs typeface="Arial"/>
                <a:sym typeface="Arial"/>
              </a:rPr>
              <a:t> to decide how much they are willing to "pay" to have your student join their class. As part of this calculation, they consider several internal factors:</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171450" lvl="0" indent="-171450" algn="l" rtl="0">
              <a:spcBef>
                <a:spcPts val="0"/>
              </a:spcBef>
              <a:spcAft>
                <a:spcPts val="0"/>
              </a:spcAft>
              <a:buClr>
                <a:schemeClr val="dk1"/>
              </a:buClr>
              <a:buSzPts val="1200"/>
              <a:buFont typeface="Arial"/>
              <a:buChar char="-"/>
            </a:pPr>
            <a:r>
              <a:rPr lang="en-US" sz="1200" b="1" dirty="0">
                <a:solidFill>
                  <a:schemeClr val="dk1"/>
                </a:solidFill>
                <a:latin typeface="Arial"/>
                <a:ea typeface="Arial"/>
                <a:cs typeface="Arial"/>
                <a:sym typeface="Arial"/>
              </a:rPr>
              <a:t>Timing and Desirability:</a:t>
            </a:r>
            <a:r>
              <a:rPr lang="en-US" sz="1200" dirty="0">
                <a:solidFill>
                  <a:schemeClr val="dk1"/>
                </a:solidFill>
                <a:latin typeface="Arial"/>
                <a:ea typeface="Arial"/>
                <a:cs typeface="Arial"/>
                <a:sym typeface="Arial"/>
              </a:rPr>
              <a:t> They evaluate how greatly they would like the applicant to attend at that specific point in the admissions cycle.</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171450" lvl="0" indent="-171450" algn="l" rtl="0">
              <a:spcBef>
                <a:spcPts val="0"/>
              </a:spcBef>
              <a:spcAft>
                <a:spcPts val="0"/>
              </a:spcAft>
              <a:buClr>
                <a:schemeClr val="dk1"/>
              </a:buClr>
              <a:buSzPts val="1200"/>
              <a:buFont typeface="Arial"/>
              <a:buChar char="-"/>
            </a:pPr>
            <a:r>
              <a:rPr lang="en-US" sz="1200" b="1" dirty="0">
                <a:solidFill>
                  <a:schemeClr val="dk1"/>
                </a:solidFill>
                <a:latin typeface="Arial"/>
                <a:ea typeface="Arial"/>
                <a:cs typeface="Arial"/>
                <a:sym typeface="Arial"/>
              </a:rPr>
              <a:t>Budgetary Constraints:</a:t>
            </a:r>
            <a:r>
              <a:rPr lang="en-US" sz="1200" dirty="0">
                <a:solidFill>
                  <a:schemeClr val="dk1"/>
                </a:solidFill>
                <a:latin typeface="Arial"/>
                <a:ea typeface="Arial"/>
                <a:cs typeface="Arial"/>
                <a:sym typeface="Arial"/>
              </a:rPr>
              <a:t> Their budget for aid fluctuates depending on how much has already been committed to other students in the same pool.</a:t>
            </a:r>
            <a:endParaRPr dirty="0"/>
          </a:p>
          <a:p>
            <a:pPr marL="171450" lvl="0" indent="-9525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171450" lvl="0" indent="-171450" algn="l" rtl="0">
              <a:spcBef>
                <a:spcPts val="0"/>
              </a:spcBef>
              <a:spcAft>
                <a:spcPts val="0"/>
              </a:spcAft>
              <a:buClr>
                <a:schemeClr val="dk1"/>
              </a:buClr>
              <a:buSzPts val="1200"/>
              <a:buFont typeface="Arial"/>
              <a:buChar char="-"/>
            </a:pPr>
            <a:r>
              <a:rPr lang="en-US" sz="1200" b="1" dirty="0">
                <a:solidFill>
                  <a:schemeClr val="dk1"/>
                </a:solidFill>
                <a:latin typeface="Arial"/>
                <a:ea typeface="Arial"/>
                <a:cs typeface="Arial"/>
                <a:sym typeface="Arial"/>
              </a:rPr>
              <a:t>Aid Type Determination:</a:t>
            </a:r>
            <a:r>
              <a:rPr lang="en-US" sz="1200" dirty="0">
                <a:solidFill>
                  <a:schemeClr val="dk1"/>
                </a:solidFill>
                <a:latin typeface="Arial"/>
                <a:ea typeface="Arial"/>
                <a:cs typeface="Arial"/>
                <a:sym typeface="Arial"/>
              </a:rPr>
              <a:t> They decide whether they will offer </a:t>
            </a:r>
            <a:r>
              <a:rPr lang="en-US" sz="1200" b="1" dirty="0">
                <a:solidFill>
                  <a:schemeClr val="dk1"/>
                </a:solidFill>
                <a:latin typeface="Arial"/>
                <a:ea typeface="Arial"/>
                <a:cs typeface="Arial"/>
                <a:sym typeface="Arial"/>
              </a:rPr>
              <a:t>gift aid</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merit aid</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loan aid</a:t>
            </a:r>
            <a:r>
              <a:rPr lang="en-US" sz="1200" dirty="0">
                <a:solidFill>
                  <a:schemeClr val="dk1"/>
                </a:solidFill>
                <a:latin typeface="Arial"/>
                <a:ea typeface="Arial"/>
                <a:cs typeface="Arial"/>
                <a:sym typeface="Arial"/>
              </a:rPr>
              <a:t>, or a combination of all three to secure the enrollment.</a:t>
            </a:r>
            <a:endParaRPr dirty="0"/>
          </a:p>
          <a:p>
            <a:pPr marL="171450" lvl="0" indent="-9525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171450" lvl="0" indent="-171450" algn="l" rtl="0">
              <a:spcBef>
                <a:spcPts val="0"/>
              </a:spcBef>
              <a:spcAft>
                <a:spcPts val="0"/>
              </a:spcAft>
              <a:buClr>
                <a:schemeClr val="dk1"/>
              </a:buClr>
              <a:buSzPts val="1200"/>
              <a:buFont typeface="Arial"/>
              <a:buChar char="-"/>
            </a:pPr>
            <a:r>
              <a:rPr lang="en-US" sz="1200" b="1" dirty="0">
                <a:solidFill>
                  <a:schemeClr val="dk1"/>
                </a:solidFill>
                <a:latin typeface="Arial"/>
                <a:ea typeface="Arial"/>
                <a:cs typeface="Arial"/>
                <a:sym typeface="Arial"/>
              </a:rPr>
              <a:t>Negotiation Power:</a:t>
            </a:r>
            <a:r>
              <a:rPr lang="en-US" sz="1200" dirty="0">
                <a:solidFill>
                  <a:schemeClr val="dk1"/>
                </a:solidFill>
                <a:latin typeface="Arial"/>
                <a:ea typeface="Arial"/>
                <a:cs typeface="Arial"/>
                <a:sym typeface="Arial"/>
              </a:rPr>
              <a:t> Schools are aware of competing offers and may allow you to negotiate to meet a greater percentage of your student's need.</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Understanding the Disconnect:</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Remember, there are potentially three different versions of "Need" happening simultaneously. Your understanding of what you need, the government’s understanding of your need (SAI), and the school’s independent understanding of your need may all be different. Regardless of these different definitions, our goal remains the same: ensuring you pay the least amount possible for the best possible education.</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26" name="Google Shape;526;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dirty="0"/>
              <a:t>While the FAFSA and CSS Profile generally open on the same day (Oct. 1), their submission deadlines are often very different.</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First-Come, First-Served &amp; Submission Timelines:</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While the FAFSA and CSS Profile generally open on the same day (Oct. 1), their submission deadlines are often very different.</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Why the Priority Window is Key:</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 Limited Resource Allocation:</a:t>
            </a:r>
            <a:r>
              <a:rPr lang="en-US" sz="1200" dirty="0">
                <a:solidFill>
                  <a:schemeClr val="dk1"/>
                </a:solidFill>
                <a:latin typeface="Arial"/>
                <a:ea typeface="Arial"/>
                <a:cs typeface="Arial"/>
                <a:sym typeface="Arial"/>
              </a:rPr>
              <a:t> Many schools have a limited pot of institutional grant money. Because these funds are distributed on a first-come, first-served basis, the school's </a:t>
            </a:r>
            <a:r>
              <a:rPr lang="en-US" sz="1200" b="1" dirty="0">
                <a:solidFill>
                  <a:schemeClr val="dk1"/>
                </a:solidFill>
                <a:latin typeface="Arial"/>
                <a:ea typeface="Arial"/>
                <a:cs typeface="Arial"/>
                <a:sym typeface="Arial"/>
              </a:rPr>
              <a:t>priority filing date</a:t>
            </a:r>
            <a:r>
              <a:rPr lang="en-US" sz="1200" dirty="0">
                <a:solidFill>
                  <a:schemeClr val="dk1"/>
                </a:solidFill>
                <a:latin typeface="Arial"/>
                <a:ea typeface="Arial"/>
                <a:cs typeface="Arial"/>
                <a:sym typeface="Arial"/>
              </a:rPr>
              <a:t> is the real deadline if you want institutional money. This date is often the same for both FAFSA and CSS.</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 Early Decision/Action:</a:t>
            </a:r>
            <a:r>
              <a:rPr lang="en-US" sz="1200" dirty="0">
                <a:solidFill>
                  <a:schemeClr val="dk1"/>
                </a:solidFill>
                <a:latin typeface="Arial"/>
                <a:ea typeface="Arial"/>
                <a:cs typeface="Arial"/>
                <a:sym typeface="Arial"/>
              </a:rPr>
              <a:t> If your student is applying for Early Decision, the CSS Profile is almost always due in </a:t>
            </a:r>
            <a:r>
              <a:rPr lang="en-US" sz="1200" b="1" dirty="0">
                <a:solidFill>
                  <a:schemeClr val="dk1"/>
                </a:solidFill>
                <a:latin typeface="Arial"/>
                <a:ea typeface="Arial"/>
                <a:cs typeface="Arial"/>
                <a:sym typeface="Arial"/>
              </a:rPr>
              <a:t>November</a:t>
            </a:r>
            <a:r>
              <a:rPr lang="en-US" sz="1200" dirty="0">
                <a:solidFill>
                  <a:schemeClr val="dk1"/>
                </a:solidFill>
                <a:latin typeface="Arial"/>
                <a:ea typeface="Arial"/>
                <a:cs typeface="Arial"/>
                <a:sym typeface="Arial"/>
              </a:rPr>
              <a:t>. Some schools may allow the FAFSA to follow slightly later if there are federal system delays, but the priority window remains critical.</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 Consequences of Missing the Window:</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Because the CSS Profile is used to award a school's own money, they are much stricter about their deadlines than the federal government is about the FAFSA. Missing a CSS deadline by even a day could result in losing out on thousands in institutional grants that cannot be appealed later.</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200"/>
              <a:buFont typeface="Arial"/>
              <a:buNone/>
            </a:pPr>
            <a:r>
              <a:rPr lang="en-US" sz="1200" b="1" dirty="0">
                <a:solidFill>
                  <a:schemeClr val="accent5"/>
                </a:solidFill>
              </a:rPr>
              <a:t>Insight: </a:t>
            </a:r>
            <a:r>
              <a:rPr lang="en-US" sz="1200" dirty="0">
                <a:solidFill>
                  <a:schemeClr val="accent5"/>
                </a:solidFill>
              </a:rPr>
              <a:t>Because the CSS Profile is used to award a school's own money, they are much stricter about their deadlines.</a:t>
            </a:r>
            <a:endParaRPr sz="1200" dirty="0">
              <a:solidFill>
                <a:schemeClr val="accent5"/>
              </a:solidFill>
            </a:endParaRPr>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35" name="Google Shape;535;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Arial"/>
                <a:ea typeface="Arial"/>
                <a:cs typeface="Arial"/>
                <a:sym typeface="Arial"/>
              </a:rPr>
              <a:t>As we wrap up this section on financial aid, let's look at the critical “dos and don’ts” of the filing process, and then net on strategy and timing best practices.</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Income and Filing Assumption:</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One of the most common errors is the assumption that you earn too much to qualify. It’s essential to file, regardless of your income level… you may qualify for more aid than you think.</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Strategic Reporting Rules:</a:t>
            </a:r>
            <a:endParaRPr sz="1200" dirty="0">
              <a:solidFill>
                <a:schemeClr val="dk1"/>
              </a:solidFill>
              <a:latin typeface="Arial"/>
              <a:ea typeface="Arial"/>
              <a:cs typeface="Arial"/>
              <a:sym typeface="Arial"/>
            </a:endParaRPr>
          </a:p>
          <a:p>
            <a:pPr marL="171450" lvl="0" indent="-171450" algn="l" rtl="0">
              <a:spcBef>
                <a:spcPts val="0"/>
              </a:spcBef>
              <a:spcAft>
                <a:spcPts val="0"/>
              </a:spcAft>
              <a:buClr>
                <a:schemeClr val="dk1"/>
              </a:buClr>
              <a:buSzPts val="1200"/>
              <a:buFont typeface="Arial"/>
              <a:buChar char="-"/>
            </a:pPr>
            <a:r>
              <a:rPr lang="en-US" sz="1200" b="1" dirty="0">
                <a:solidFill>
                  <a:schemeClr val="dk1"/>
                </a:solidFill>
                <a:latin typeface="Arial"/>
                <a:ea typeface="Arial"/>
                <a:cs typeface="Arial"/>
                <a:sym typeface="Arial"/>
              </a:rPr>
              <a:t>Home Equity:</a:t>
            </a:r>
            <a:r>
              <a:rPr lang="en-US" sz="1200" dirty="0">
                <a:solidFill>
                  <a:schemeClr val="dk1"/>
                </a:solidFill>
                <a:latin typeface="Arial"/>
                <a:ea typeface="Arial"/>
                <a:cs typeface="Arial"/>
                <a:sym typeface="Arial"/>
              </a:rPr>
              <a:t> On the FAFSA, you must </a:t>
            </a:r>
            <a:r>
              <a:rPr lang="en-US" sz="1200" b="1" dirty="0">
                <a:solidFill>
                  <a:schemeClr val="dk1"/>
                </a:solidFill>
                <a:latin typeface="Arial"/>
                <a:ea typeface="Arial"/>
                <a:cs typeface="Arial"/>
                <a:sym typeface="Arial"/>
              </a:rPr>
              <a:t>exclude your primary residence equity</a:t>
            </a:r>
            <a:r>
              <a:rPr lang="en-US" sz="1200" dirty="0">
                <a:solidFill>
                  <a:schemeClr val="dk1"/>
                </a:solidFill>
                <a:latin typeface="Arial"/>
                <a:ea typeface="Arial"/>
                <a:cs typeface="Arial"/>
                <a:sym typeface="Arial"/>
              </a:rPr>
              <a:t>. It is not a required field, and reporting it can unnecessarily spike your Student Aid Index (SAI), making you look "wealthier" to the government than you are.</a:t>
            </a:r>
            <a:endParaRPr dirty="0"/>
          </a:p>
          <a:p>
            <a:pPr marL="171450" lvl="0" indent="-171450" algn="l" rtl="0">
              <a:spcBef>
                <a:spcPts val="0"/>
              </a:spcBef>
              <a:spcAft>
                <a:spcPts val="0"/>
              </a:spcAft>
              <a:buClr>
                <a:schemeClr val="dk1"/>
              </a:buClr>
              <a:buSzPts val="1200"/>
              <a:buFont typeface="Arial"/>
              <a:buChar char="-"/>
            </a:pPr>
            <a:r>
              <a:rPr lang="en-US" sz="1200" b="1" dirty="0">
                <a:solidFill>
                  <a:schemeClr val="dk1"/>
                </a:solidFill>
                <a:latin typeface="Arial"/>
                <a:ea typeface="Arial"/>
                <a:cs typeface="Arial"/>
                <a:sym typeface="Arial"/>
              </a:rPr>
              <a:t>AGI Baseline:</a:t>
            </a:r>
            <a:r>
              <a:rPr lang="en-US" sz="1200" dirty="0">
                <a:solidFill>
                  <a:schemeClr val="dk1"/>
                </a:solidFill>
                <a:latin typeface="Arial"/>
                <a:ea typeface="Arial"/>
                <a:cs typeface="Arial"/>
                <a:sym typeface="Arial"/>
              </a:rPr>
              <a:t> Always use your </a:t>
            </a:r>
            <a:r>
              <a:rPr lang="en-US" sz="1200" b="1" dirty="0">
                <a:solidFill>
                  <a:schemeClr val="dk1"/>
                </a:solidFill>
                <a:latin typeface="Arial"/>
                <a:ea typeface="Arial"/>
                <a:cs typeface="Arial"/>
                <a:sym typeface="Arial"/>
              </a:rPr>
              <a:t>Adjusted Gross Income (AGI)</a:t>
            </a:r>
            <a:r>
              <a:rPr lang="en-US" sz="1200" dirty="0">
                <a:solidFill>
                  <a:schemeClr val="dk1"/>
                </a:solidFill>
                <a:latin typeface="Arial"/>
                <a:ea typeface="Arial"/>
                <a:cs typeface="Arial"/>
                <a:sym typeface="Arial"/>
              </a:rPr>
              <a:t> from your tax returns rather than your total gross income. This ensures the federal formula uses your true taxable floor when determining your capacity to pay.</a:t>
            </a:r>
            <a:endParaRPr dirty="0"/>
          </a:p>
          <a:p>
            <a:pPr marL="171450" lvl="0" indent="-171450" algn="l" rtl="0">
              <a:spcBef>
                <a:spcPts val="0"/>
              </a:spcBef>
              <a:spcAft>
                <a:spcPts val="0"/>
              </a:spcAft>
              <a:buClr>
                <a:schemeClr val="dk1"/>
              </a:buClr>
              <a:buSzPts val="1200"/>
              <a:buFont typeface="Arial"/>
              <a:buChar char="-"/>
            </a:pPr>
            <a:r>
              <a:rPr lang="en-US" sz="1200" b="1" dirty="0">
                <a:solidFill>
                  <a:schemeClr val="dk1"/>
                </a:solidFill>
                <a:latin typeface="Arial"/>
                <a:ea typeface="Arial"/>
                <a:cs typeface="Arial"/>
                <a:sym typeface="Arial"/>
              </a:rPr>
              <a:t>Asset Classification: </a:t>
            </a:r>
            <a:r>
              <a:rPr lang="en-US" sz="1200" dirty="0">
                <a:solidFill>
                  <a:schemeClr val="dk1"/>
                </a:solidFill>
                <a:latin typeface="Arial"/>
                <a:ea typeface="Arial"/>
                <a:cs typeface="Arial"/>
                <a:sym typeface="Arial"/>
              </a:rPr>
              <a:t>It is vital to </a:t>
            </a:r>
            <a:r>
              <a:rPr lang="en-US" sz="1200" b="1" dirty="0">
                <a:solidFill>
                  <a:schemeClr val="dk1"/>
                </a:solidFill>
                <a:latin typeface="Arial"/>
                <a:ea typeface="Arial"/>
                <a:cs typeface="Arial"/>
                <a:sym typeface="Arial"/>
              </a:rPr>
              <a:t>audit your assets</a:t>
            </a:r>
            <a:r>
              <a:rPr lang="en-US" sz="1200" dirty="0">
                <a:solidFill>
                  <a:schemeClr val="dk1"/>
                </a:solidFill>
                <a:latin typeface="Arial"/>
                <a:ea typeface="Arial"/>
                <a:cs typeface="Arial"/>
                <a:sym typeface="Arial"/>
              </a:rPr>
              <a:t> before submission. A frequent mistake is reporting a parent-owned 529 plan as a student-owned asset. Because the formula assesses student assets at a much higher rate, this single reporting error can significantly hurt your aid eligibility.</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The Specialist Advantage:</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Navigating the differences between the FAFSA and the CSS Profile requires precision. Seeking </a:t>
            </a:r>
            <a:r>
              <a:rPr lang="en-US" sz="1200" b="1" dirty="0">
                <a:solidFill>
                  <a:schemeClr val="dk1"/>
                </a:solidFill>
                <a:latin typeface="Arial"/>
                <a:ea typeface="Arial"/>
                <a:cs typeface="Arial"/>
                <a:sym typeface="Arial"/>
              </a:rPr>
              <a:t>specialized aid guidance</a:t>
            </a:r>
            <a:r>
              <a:rPr lang="en-US" sz="1200" dirty="0">
                <a:solidFill>
                  <a:schemeClr val="dk1"/>
                </a:solidFill>
                <a:latin typeface="Arial"/>
                <a:ea typeface="Arial"/>
                <a:cs typeface="Arial"/>
                <a:sym typeface="Arial"/>
              </a:rPr>
              <a:t> by partnering with a college funding specialist can help you avoid these common mistakes and optimize your financial profile for the best possible outcome.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63" name="Google Shape;563;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Mastering the financial aid process can significantly help reduce your college funding costs. However, for most people, college isn’t free—you still have to pay for it somehow. That is why a long-term funding strategy is just as important as reducing the initial cost.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Understanding the Trade-offs:</a:t>
            </a:r>
            <a:r>
              <a:rPr lang="en-US" dirty="0"/>
              <a:t> It is important to recognize that some traditional saving strategies come with trade-offs. For example:</a:t>
            </a:r>
            <a:endParaRPr dirty="0"/>
          </a:p>
          <a:p>
            <a:pPr marL="0" lvl="0" indent="0" algn="l" rtl="0">
              <a:spcBef>
                <a:spcPts val="0"/>
              </a:spcBef>
              <a:spcAft>
                <a:spcPts val="0"/>
              </a:spcAft>
              <a:buNone/>
            </a:pPr>
            <a:r>
              <a:rPr lang="en-US" b="1" dirty="0"/>
              <a:t>- 529 Plans:</a:t>
            </a:r>
            <a:r>
              <a:rPr lang="en-US" dirty="0"/>
              <a:t> Growing a 529 account can actually increase your SAI (Student Aid Index), which in turn hurts your aid eligibility.</a:t>
            </a:r>
            <a:endParaRPr dirty="0"/>
          </a:p>
          <a:p>
            <a:pPr marL="0" lvl="0" indent="0" algn="l" rtl="0">
              <a:spcBef>
                <a:spcPts val="0"/>
              </a:spcBef>
              <a:spcAft>
                <a:spcPts val="0"/>
              </a:spcAft>
              <a:buNone/>
            </a:pPr>
            <a:r>
              <a:rPr lang="en-US" b="1" dirty="0"/>
              <a:t>- Strategic Alternatives:</a:t>
            </a:r>
            <a:r>
              <a:rPr lang="en-US" dirty="0"/>
              <a:t> Conversely, the strategic use of life insurance vehicles can help you fund college while optimizing your aid eligibility, depending on your individual situation.</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Bottom Line:</a:t>
            </a:r>
            <a:r>
              <a:rPr lang="en-US" dirty="0"/>
              <a:t> While reducing college costs is a key piece of the financial puzzle, having a comprehensive funding strategy to handle the actual out-of-pocket balance is a key step.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For those of you who have younger children and are beginning the college saving process and still have the financial flexibility to choose how to position your funds, take note for this next part.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577" name="Google Shape;577;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1" name="Google Shape;591;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dirty="0"/>
              <a:t>As we return to the funding options we touched on earlier, we are now looking at it through the lens of </a:t>
            </a:r>
            <a:r>
              <a:rPr lang="en-US" b="1" dirty="0"/>
              <a:t>optimization</a:t>
            </a:r>
            <a:r>
              <a:rPr lang="en-US" dirty="0"/>
              <a:t>. Now that we understand how the FAFSA and CSS Profile evaluate your financial life, we can be much more surgical about how we "Fill the Gap" between the aid you receive and the final bill. The gap is the specific dollar amount left over after a college subtracts your total financial aid package—including grants, scholarships, and even student loans—from the total cost of attendance. It is the final "bill" that your family is responsible for.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So how do we pay that bill? There are different options.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Refining Assets vs. Borrowing:</a:t>
            </a:r>
            <a:endParaRPr dirty="0"/>
          </a:p>
          <a:p>
            <a:pPr marL="171450" lvl="0" indent="-171450" algn="l" rtl="0">
              <a:spcBef>
                <a:spcPts val="0"/>
              </a:spcBef>
              <a:spcAft>
                <a:spcPts val="0"/>
              </a:spcAft>
              <a:buClr>
                <a:schemeClr val="dk1"/>
              </a:buClr>
              <a:buSzPts val="1200"/>
              <a:buFont typeface="Arial"/>
              <a:buChar char="-"/>
            </a:pPr>
            <a:r>
              <a:rPr lang="en-US" b="1" dirty="0"/>
              <a:t>Assets:</a:t>
            </a:r>
            <a:r>
              <a:rPr lang="en-US" dirty="0"/>
              <a:t> Earlier, we identified savings, investments, and life insurance as our primary tools. The key takeaway now is </a:t>
            </a:r>
            <a:r>
              <a:rPr lang="en-US" b="1" dirty="0"/>
              <a:t>positioning</a:t>
            </a:r>
            <a:r>
              <a:rPr lang="en-US" dirty="0"/>
              <a:t>. There are ways to position assets to better suit your college funding and retirement plans.</a:t>
            </a:r>
            <a:endParaRPr dirty="0"/>
          </a:p>
          <a:p>
            <a:pPr marL="171450" lvl="0" indent="-171450" algn="l" rtl="0">
              <a:spcBef>
                <a:spcPts val="0"/>
              </a:spcBef>
              <a:spcAft>
                <a:spcPts val="0"/>
              </a:spcAft>
              <a:buClr>
                <a:schemeClr val="dk1"/>
              </a:buClr>
              <a:buSzPts val="1200"/>
              <a:buFont typeface="Arial"/>
              <a:buChar char="-"/>
            </a:pPr>
            <a:r>
              <a:rPr lang="en-US" b="1" dirty="0"/>
              <a:t>Borrowing:</a:t>
            </a:r>
            <a:r>
              <a:rPr lang="en-US" dirty="0"/>
              <a:t> We know that debt should be a strategic choice, not a last resort. We want to look at federal options versus equity and policy loans to find the path of least resistance for your cash flow.</a:t>
            </a:r>
            <a:endParaRPr dirty="0"/>
          </a:p>
          <a:p>
            <a:pPr marL="628650" lvl="1" indent="-171450" algn="l" rtl="0">
              <a:spcBef>
                <a:spcPts val="0"/>
              </a:spcBef>
              <a:spcAft>
                <a:spcPts val="0"/>
              </a:spcAft>
              <a:buClr>
                <a:schemeClr val="dk1"/>
              </a:buClr>
              <a:buSzPts val="1200"/>
              <a:buFont typeface="Arial"/>
              <a:buChar char="-"/>
            </a:pPr>
            <a:r>
              <a:rPr lang="en-US" dirty="0"/>
              <a:t>Crucially, I’d like to note that under both the assets and borrowing categories, you’ll find life insurance. Why? It’s because life insurance, depending on the policy, can be tapped for cash value, kind of like an asset… and it can be borrowed against, also depending on the policy. But it’s important to note that this solution could have different configurations to help meet your needs.</a:t>
            </a:r>
            <a:endParaRPr dirty="0"/>
          </a:p>
          <a:p>
            <a:pPr marL="0" lvl="0" indent="0" algn="l" rtl="0">
              <a:spcBef>
                <a:spcPts val="0"/>
              </a:spcBef>
              <a:spcAft>
                <a:spcPts val="0"/>
              </a:spcAft>
              <a:buClr>
                <a:schemeClr val="dk1"/>
              </a:buClr>
              <a:buSzPts val="1200"/>
              <a:buFont typeface="Arial"/>
              <a:buNone/>
            </a:pPr>
            <a:endParaRPr dirty="0"/>
          </a:p>
          <a:p>
            <a:pPr marL="171450" lvl="0" indent="-171450" algn="l" rtl="0">
              <a:spcBef>
                <a:spcPts val="0"/>
              </a:spcBef>
              <a:spcAft>
                <a:spcPts val="0"/>
              </a:spcAft>
              <a:buClr>
                <a:schemeClr val="dk1"/>
              </a:buClr>
              <a:buSzPts val="1200"/>
              <a:buFont typeface="Arial"/>
              <a:buChar char="-"/>
            </a:pPr>
            <a:r>
              <a:rPr lang="en-US" b="1" dirty="0"/>
              <a:t>The 529 Strategy:</a:t>
            </a:r>
            <a:r>
              <a:rPr lang="en-US" dirty="0"/>
              <a:t> One other point here. Look at 529s. It’s understandable now to fear that 529 plans will hinder your student’s aid eligibility. While it's true that these accounts are counted, a financial professional can help you with the </a:t>
            </a:r>
            <a:r>
              <a:rPr lang="en-US" b="1" dirty="0"/>
              <a:t>qualified, strategic positioning</a:t>
            </a:r>
            <a:r>
              <a:rPr lang="en-US" dirty="0"/>
              <a:t> of those funds in new vehicles if potentially advantageous. There are ways to use these savings effectively without causing the inefficiencies that families often experience when they navigate the system alone.</a:t>
            </a:r>
            <a:endParaRPr dirty="0"/>
          </a:p>
          <a:p>
            <a:pPr marL="171450" lvl="0" indent="-171450" algn="l" rtl="0">
              <a:spcBef>
                <a:spcPts val="0"/>
              </a:spcBef>
              <a:spcAft>
                <a:spcPts val="0"/>
              </a:spcAft>
              <a:buClr>
                <a:schemeClr val="dk1"/>
              </a:buClr>
              <a:buSzPts val="1200"/>
              <a:buFont typeface="Arial"/>
              <a:buChar char="-"/>
            </a:pPr>
            <a:r>
              <a:rPr lang="en-US" dirty="0"/>
              <a:t>[CLICK]</a:t>
            </a:r>
            <a:endParaRPr dirty="0"/>
          </a:p>
          <a:p>
            <a:pPr marL="171450" lvl="0" indent="-9525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b="1" dirty="0"/>
              <a:t>The Professional Edge:</a:t>
            </a:r>
            <a:r>
              <a:rPr lang="en-US" dirty="0"/>
              <a:t> Ultimately, my role as a financial professional would be to help you both increase aid eligibility and identify long-term funding strategies for your kid’s college and your retirement, if applicable.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endParaRPr dirty="0"/>
          </a:p>
        </p:txBody>
      </p:sp>
      <p:sp>
        <p:nvSpPr>
          <p:cNvPr id="592" name="Google Shape;592;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9" name="Google Shape;669;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When it comes to college funding, a major decision your family will make is choosing between private and public institutions. We’ve talked a lot about the admissions process and aid differences between both, but here’s a quick recap on the pros and cons of private vs. public.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Private Colleges and Universities</a:t>
            </a:r>
            <a:endParaRPr dirty="0"/>
          </a:p>
          <a:p>
            <a:pPr marL="0" lvl="0" indent="0" algn="l" rtl="0">
              <a:spcBef>
                <a:spcPts val="0"/>
              </a:spcBef>
              <a:spcAft>
                <a:spcPts val="0"/>
              </a:spcAft>
              <a:buNone/>
            </a:pPr>
            <a:r>
              <a:rPr lang="en-US" b="1" dirty="0"/>
              <a:t>The Pros:</a:t>
            </a:r>
            <a:r>
              <a:rPr lang="en-US" dirty="0"/>
              <a:t> They often meet a very high percentage of a student's calculated need—sometimes reaching 100% for "good-fit" or Early Decision applicants. Because they use their own private reserves, their aid is often more flexible than federal funds, and families may have the option to negotiate offers between competing schools.</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Public Colleges and Universities</a:t>
            </a:r>
            <a:endParaRPr dirty="0"/>
          </a:p>
          <a:p>
            <a:pPr marL="0" lvl="0" indent="0" algn="l" rtl="0">
              <a:spcBef>
                <a:spcPts val="0"/>
              </a:spcBef>
              <a:spcAft>
                <a:spcPts val="0"/>
              </a:spcAft>
              <a:buNone/>
            </a:pPr>
            <a:r>
              <a:rPr lang="en-US" b="1" dirty="0"/>
              <a:t>The Pros:</a:t>
            </a:r>
            <a:r>
              <a:rPr lang="en-US" dirty="0"/>
              <a:t> The obvious advantage is a lower sticker price, especially for in-state residents. They typically only require the FAFSA, which means far less financial reporting and transparency is required from the family.</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670" name="Google Shape;670;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Private Colleges and Universities</a:t>
            </a:r>
            <a:endParaRPr dirty="0"/>
          </a:p>
          <a:p>
            <a:pPr marL="0" lvl="0" indent="0" algn="l" rtl="0">
              <a:spcBef>
                <a:spcPts val="0"/>
              </a:spcBef>
              <a:spcAft>
                <a:spcPts val="0"/>
              </a:spcAft>
              <a:buNone/>
            </a:pPr>
            <a:r>
              <a:rPr lang="en-US" b="1" dirty="0"/>
              <a:t>The Cons:</a:t>
            </a:r>
            <a:r>
              <a:rPr lang="en-US" dirty="0"/>
              <a:t> The primary hurdle is the administrative burden; these schools require the much more extensive CSS Profile to calculate that aid. Additionally, admissions are generally more competitive.</a:t>
            </a:r>
            <a:endParaRPr dirty="0"/>
          </a:p>
          <a:p>
            <a:pPr marL="0" marR="0" lvl="0" indent="0" algn="l" rtl="0">
              <a:lnSpc>
                <a:spcPct val="100000"/>
              </a:lnSpc>
              <a:spcBef>
                <a:spcPts val="0"/>
              </a:spcBef>
              <a:spcAft>
                <a:spcPts val="0"/>
              </a:spcAft>
              <a:buClr>
                <a:schemeClr val="dk1"/>
              </a:buClr>
              <a:buSzPts val="1200"/>
              <a:buFont typeface="Arial"/>
              <a:buNone/>
            </a:pPr>
            <a:endParaRPr b="1" dirty="0"/>
          </a:p>
          <a:p>
            <a:pPr marL="0" marR="0" lvl="0" indent="0" algn="l" rtl="0">
              <a:lnSpc>
                <a:spcPct val="100000"/>
              </a:lnSpc>
              <a:spcBef>
                <a:spcPts val="0"/>
              </a:spcBef>
              <a:spcAft>
                <a:spcPts val="0"/>
              </a:spcAft>
              <a:buClr>
                <a:schemeClr val="dk1"/>
              </a:buClr>
              <a:buSzPts val="1200"/>
              <a:buFont typeface="Arial"/>
              <a:buNone/>
            </a:pPr>
            <a:r>
              <a:rPr lang="en-US" b="1" dirty="0"/>
              <a:t>Public Colleges and Universities</a:t>
            </a:r>
            <a:endParaRPr dirty="0"/>
          </a:p>
          <a:p>
            <a:pPr marL="0" lvl="0" indent="0" algn="l" rtl="0">
              <a:spcBef>
                <a:spcPts val="0"/>
              </a:spcBef>
              <a:spcAft>
                <a:spcPts val="0"/>
              </a:spcAft>
              <a:buNone/>
            </a:pPr>
            <a:r>
              <a:rPr lang="en-US" b="1" dirty="0"/>
              <a:t>The Cons:</a:t>
            </a:r>
            <a:r>
              <a:rPr lang="en-US" dirty="0"/>
              <a:t> Public schools often have lower endowments, which may result in a lower percentage of your student's need being met.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Key Strategic Insight:</a:t>
            </a:r>
            <a:r>
              <a:rPr lang="en-US" dirty="0"/>
              <a:t> Each school responds differently to an applicant’s level of need. So it’s important to consider all factors when deciding whether public or private is the right choice for your family.</a:t>
            </a:r>
            <a:endParaRPr dirty="0"/>
          </a:p>
          <a:p>
            <a:pPr marL="0" lvl="0" indent="0" algn="l" rtl="0">
              <a:spcBef>
                <a:spcPts val="0"/>
              </a:spcBef>
              <a:spcAft>
                <a:spcPts val="0"/>
              </a:spcAft>
              <a:buNone/>
            </a:pPr>
            <a:endParaRPr dirty="0"/>
          </a:p>
        </p:txBody>
      </p:sp>
      <p:sp>
        <p:nvSpPr>
          <p:cNvPr id="682" name="Google Shape;682;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Now that we’ve gone through each of the pillars, let’s take a look at some real-life examples. </a:t>
            </a:r>
            <a:endParaRPr dirty="0"/>
          </a:p>
        </p:txBody>
      </p:sp>
      <p:sp>
        <p:nvSpPr>
          <p:cNvPr id="695" name="Google Shape;695;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case study brings together everything we have discussed regarding the sticker price illusion. When you look at the math, the results are often counterintuitive.</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Comparison:</a:t>
            </a:r>
            <a:r>
              <a:rPr lang="en-US" dirty="0"/>
              <a:t> In this example, the private school has a much higher initial </a:t>
            </a:r>
            <a:r>
              <a:rPr lang="en-US" b="1" dirty="0"/>
              <a:t>Sticker Price (COA)</a:t>
            </a:r>
            <a:r>
              <a:rPr lang="en-US" dirty="0"/>
              <a:t> of </a:t>
            </a:r>
            <a:r>
              <a:rPr lang="en-US" b="1" dirty="0"/>
              <a:t>$92,000 per year</a:t>
            </a:r>
            <a:r>
              <a:rPr lang="en-US" dirty="0"/>
              <a:t>, compared to just </a:t>
            </a:r>
            <a:r>
              <a:rPr lang="en-US" b="1" dirty="0"/>
              <a:t>$36,000</a:t>
            </a:r>
            <a:r>
              <a:rPr lang="en-US" dirty="0"/>
              <a:t> for the state school. However, because the private school is aggressively using its </a:t>
            </a:r>
            <a:r>
              <a:rPr lang="en-US" b="1" dirty="0"/>
              <a:t>endowment and flexible funding</a:t>
            </a:r>
            <a:r>
              <a:rPr lang="en-US" dirty="0"/>
              <a:t> to secure this specific student, they offer a </a:t>
            </a:r>
            <a:r>
              <a:rPr lang="en-US" b="1" dirty="0"/>
              <a:t>74% gift aid package</a:t>
            </a:r>
            <a:r>
              <a:rPr lang="en-US" dirty="0"/>
              <a:t>.</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Outcome:</a:t>
            </a:r>
            <a:r>
              <a:rPr lang="en-US" dirty="0"/>
              <a:t> The resulting </a:t>
            </a:r>
            <a:r>
              <a:rPr lang="en-US" b="1" dirty="0"/>
              <a:t>out-of-pocket cost</a:t>
            </a:r>
            <a:r>
              <a:rPr lang="en-US" dirty="0"/>
              <a:t> for the private school is </a:t>
            </a:r>
            <a:r>
              <a:rPr lang="en-US" b="1" dirty="0"/>
              <a:t>$24,000 per year</a:t>
            </a:r>
            <a:r>
              <a:rPr lang="en-US" dirty="0"/>
              <a:t>, which is actually </a:t>
            </a:r>
            <a:r>
              <a:rPr lang="en-US" b="1" dirty="0"/>
              <a:t>$6,000 less</a:t>
            </a:r>
            <a:r>
              <a:rPr lang="en-US" dirty="0"/>
              <a:t> than the state school's net price of $30,000. When you project this over four years, the family saves </a:t>
            </a:r>
            <a:r>
              <a:rPr lang="en-US" b="1" dirty="0"/>
              <a:t>$24,000 total</a:t>
            </a:r>
            <a:r>
              <a:rPr lang="en-US" dirty="0"/>
              <a:t> by choosing the school that appeared twice as expensive on the website.</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Why this Happens:</a:t>
            </a:r>
            <a:r>
              <a:rPr lang="en-US" dirty="0"/>
              <a:t> Remember, private schools essentially bid for the students they want to shape their class. Conversely, most state schools operate with </a:t>
            </a:r>
            <a:r>
              <a:rPr lang="en-US" b="1" dirty="0"/>
              <a:t>rigid budgets</a:t>
            </a:r>
            <a:r>
              <a:rPr lang="en-US" dirty="0"/>
              <a:t>. Because state institutions are so large, any one individual student’s enrollment doesn’t carry the same comparative weight, leading to a lack of </a:t>
            </a:r>
            <a:r>
              <a:rPr lang="en-US" b="1" dirty="0"/>
              <a:t>pricing flexibility</a:t>
            </a:r>
            <a:r>
              <a:rPr lang="en-US" dirty="0"/>
              <a:t> and smaller merit pools. By understanding this math, you can focus on the real cost of education rather than the advertised price.</a:t>
            </a:r>
            <a:endParaRPr dirty="0"/>
          </a:p>
          <a:p>
            <a:pPr marL="0" lvl="0" indent="0" algn="l" rtl="0">
              <a:spcBef>
                <a:spcPts val="0"/>
              </a:spcBef>
              <a:spcAft>
                <a:spcPts val="0"/>
              </a:spcAft>
              <a:buNone/>
            </a:pPr>
            <a:endParaRPr dirty="0"/>
          </a:p>
        </p:txBody>
      </p:sp>
      <p:sp>
        <p:nvSpPr>
          <p:cNvPr id="701" name="Google Shape;701;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The Situation:</a:t>
            </a:r>
            <a:r>
              <a:rPr lang="en-US" dirty="0"/>
              <a:t> In this hypothetical example, we’re looking at Robert who has divorced parents with an annual income of $55,000. The primary obstacle is that Robert has $23,500 held in his own name, which the federal aid formula penalizes, even though they might qualify for a high amount of federal aid. This significantly reduces their eligibility for aid to Robert’s target school… in this case, we’ll say it’s UCSD—a more expensive state school.</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Methodology:</a:t>
            </a:r>
            <a:r>
              <a:rPr lang="en-US" dirty="0"/>
              <a:t> Our strategy relied on a key rule regarding divorce: the SAI identifies the "contributing parent" as the one who provides the most financial support, regardless of which parent the student lives with. By repositioning the student's assets to the non-contributing parent during the critical reporting years, they’d be able to position those funds outside of what the aid calculation looks at.</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Outcome:</a:t>
            </a:r>
            <a:r>
              <a:rPr lang="en-US" dirty="0"/>
              <a:t> This strategic shift led to a dramatic drop in Robert’s expected contribution. Their SAI fell by over $12,000, which directly resulted in securing a $42,177 aid package at the University of San Diego. This illustrates how professional asset positioning can turn a high-cost situation into a fully funded success story.</a:t>
            </a:r>
            <a:endParaRPr dirty="0"/>
          </a:p>
          <a:p>
            <a:pPr marL="0" lvl="0" indent="0" algn="l" rtl="0">
              <a:spcBef>
                <a:spcPts val="0"/>
              </a:spcBef>
              <a:spcAft>
                <a:spcPts val="0"/>
              </a:spcAft>
              <a:buNone/>
            </a:pPr>
            <a:endParaRPr dirty="0"/>
          </a:p>
        </p:txBody>
      </p:sp>
      <p:sp>
        <p:nvSpPr>
          <p:cNvPr id="717" name="Google Shape;717;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The Situation:</a:t>
            </a:r>
            <a:r>
              <a:rPr lang="en-US" dirty="0"/>
              <a:t> Kevin’s family represents a common one: the high-income earner who assumes they are locked out of the financial aid system. With a household income of </a:t>
            </a:r>
            <a:r>
              <a:rPr lang="en-US" b="1" dirty="0"/>
              <a:t>$450,000</a:t>
            </a:r>
            <a:r>
              <a:rPr lang="en-US" dirty="0"/>
              <a:t> and </a:t>
            </a:r>
            <a:r>
              <a:rPr lang="en-US" b="1" dirty="0"/>
              <a:t>$1.1 million</a:t>
            </a:r>
            <a:r>
              <a:rPr lang="en-US" dirty="0"/>
              <a:t> in reportable assets, Kevin's initial net cost estimate was the full sticker price of </a:t>
            </a:r>
            <a:r>
              <a:rPr lang="en-US" b="1" dirty="0"/>
              <a:t>$78,452</a:t>
            </a:r>
            <a:r>
              <a:rPr lang="en-US" dirty="0"/>
              <a:t> per year.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The Strategy:</a:t>
            </a:r>
            <a:r>
              <a:rPr lang="en-US" dirty="0"/>
              <a:t> Our approach was two-pronged, focusing on both the tax return and the balance sheet:</a:t>
            </a:r>
            <a:endParaRPr dirty="0"/>
          </a:p>
          <a:p>
            <a:pPr marL="0" lvl="0" indent="0" algn="l" rtl="0">
              <a:spcBef>
                <a:spcPts val="0"/>
              </a:spcBef>
              <a:spcAft>
                <a:spcPts val="0"/>
              </a:spcAft>
              <a:buNone/>
            </a:pPr>
            <a:r>
              <a:rPr lang="en-US" b="1" dirty="0"/>
              <a:t>- Income Adjustment:</a:t>
            </a:r>
            <a:r>
              <a:rPr lang="en-US" dirty="0"/>
              <a:t> They lowered their </a:t>
            </a:r>
            <a:r>
              <a:rPr lang="en-US" b="1" dirty="0"/>
              <a:t>Adjusted Gross Income (AGI)</a:t>
            </a:r>
            <a:r>
              <a:rPr lang="en-US" dirty="0"/>
              <a:t> on the tax returns used for the FAFSA and CSS Profile. By maximizing income deferrals during the reporting years, they reduced the income strength the school would have otherwise seen during the base reporting years, and were able to adjust their spending to cover costs.</a:t>
            </a:r>
            <a:endParaRPr dirty="0"/>
          </a:p>
          <a:p>
            <a:pPr marL="0" lvl="0" indent="0" algn="l" rtl="0">
              <a:spcBef>
                <a:spcPts val="0"/>
              </a:spcBef>
              <a:spcAft>
                <a:spcPts val="0"/>
              </a:spcAft>
              <a:buNone/>
            </a:pPr>
            <a:r>
              <a:rPr lang="en-US" b="1" dirty="0"/>
              <a:t>- Asset Shielding:</a:t>
            </a:r>
            <a:r>
              <a:rPr lang="en-US" dirty="0"/>
              <a:t> This was the most impactful move. They repositioned their </a:t>
            </a:r>
            <a:r>
              <a:rPr lang="en-US" b="1" dirty="0"/>
              <a:t>$1.1 million</a:t>
            </a:r>
            <a:r>
              <a:rPr lang="en-US" dirty="0"/>
              <a:t> from reportable savings and brokerage accounts into </a:t>
            </a:r>
            <a:r>
              <a:rPr lang="en-US" b="1" dirty="0"/>
              <a:t>non-reportable vehicles</a:t>
            </a:r>
            <a:r>
              <a:rPr lang="en-US" dirty="0"/>
              <a:t>. Specifically, they could use non-qualified annuities and cash-value life insurance. By moving these funds out of the reportable column, they reduced expected contributions by a staggering </a:t>
            </a:r>
            <a:r>
              <a:rPr lang="en-US" b="1" dirty="0"/>
              <a:t>$67,000</a:t>
            </a:r>
            <a:r>
              <a:rPr lang="en-US" dirty="0"/>
              <a:t>.</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The Result:</a:t>
            </a:r>
            <a:r>
              <a:rPr lang="en-US" dirty="0"/>
              <a:t> By aligning Kevin’s family finances in accordance with FAFSA and CSS exemptions, they can drastically reduce their costs. They could secure an </a:t>
            </a:r>
            <a:r>
              <a:rPr lang="en-US" b="1" dirty="0"/>
              <a:t>annual aid package of $67,174</a:t>
            </a:r>
            <a:r>
              <a:rPr lang="en-US" dirty="0"/>
              <a:t>. This could bring the final net cost for a private education down to just over </a:t>
            </a:r>
            <a:r>
              <a:rPr lang="en-US" b="1" dirty="0"/>
              <a:t>$11,000 per year</a:t>
            </a:r>
            <a:r>
              <a:rPr lang="en-US" dirty="0"/>
              <a:t>—a massive ROI that protects his family’s long-term wealth while allowing him to attend Baylor.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But is it always likely that a family can easily adjust their lifestyle with the reduced income, even with extra savings in prior years? The answer is no. It’s possible, but it’s not always likely, and that’s not what we want to settle for… so what else can we do?</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732" name="Google Shape;732;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The Situation:</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As another hypothetical, let’s say Alice’s family situation is indicative of an upper middle-class family: With a combined income of $225,000, they earn too much to qualify for federal Pell grants, but writing a nearly $100k check every year for an elite private college… let’s say it’s Vassar College… is still a significant financial hurdle. Ten years before college, they already had $350,000 saved in a 529 plan.</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The Problem:</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While saving early is excellent, keeping large sums in </a:t>
            </a:r>
            <a:r>
              <a:rPr lang="en-US" sz="1200" b="1" dirty="0">
                <a:solidFill>
                  <a:schemeClr val="dk1"/>
                </a:solidFill>
                <a:latin typeface="Arial"/>
                <a:ea typeface="Arial"/>
                <a:cs typeface="Arial"/>
                <a:sym typeface="Arial"/>
              </a:rPr>
              <a:t>reportable accounts</a:t>
            </a:r>
            <a:r>
              <a:rPr lang="en-US" sz="1200" dirty="0">
                <a:solidFill>
                  <a:schemeClr val="dk1"/>
                </a:solidFill>
                <a:latin typeface="Arial"/>
                <a:ea typeface="Arial"/>
                <a:cs typeface="Arial"/>
                <a:sym typeface="Arial"/>
              </a:rPr>
              <a:t> like 529s can actually work against you. For Alice, these savings threatened to disqualify her from receiving institutional grant money. Without a strategy, her initial Student Aid Index (SAI) was projected at $77,300, resulting in zero aid secured.</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The Strategy:</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The family adopted a more efficient accumulation strategy, starting a full decade before college began.</a:t>
            </a:r>
            <a:endParaRPr dirty="0"/>
          </a:p>
          <a:p>
            <a:pPr marL="0" lvl="0" indent="0" algn="l" rtl="0">
              <a:spcBef>
                <a:spcPts val="0"/>
              </a:spcBef>
              <a:spcAft>
                <a:spcPts val="0"/>
              </a:spcAft>
              <a:buNone/>
            </a:pPr>
            <a:endParaRPr sz="1200" b="1"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Asset Migration:</a:t>
            </a:r>
            <a:r>
              <a:rPr lang="en-US" sz="1200" dirty="0">
                <a:solidFill>
                  <a:schemeClr val="dk1"/>
                </a:solidFill>
                <a:latin typeface="Arial"/>
                <a:ea typeface="Arial"/>
                <a:cs typeface="Arial"/>
                <a:sym typeface="Arial"/>
              </a:rPr>
              <a:t> They systematically moved the $350,000 from the reportable 529 into a structured </a:t>
            </a:r>
            <a:r>
              <a:rPr lang="en-US" sz="1200" b="1" dirty="0">
                <a:solidFill>
                  <a:schemeClr val="dk1"/>
                </a:solidFill>
                <a:latin typeface="Arial"/>
                <a:ea typeface="Arial"/>
                <a:cs typeface="Arial"/>
                <a:sym typeface="Arial"/>
              </a:rPr>
              <a:t>cash value life insurance policy</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Protected Growth:</a:t>
            </a:r>
            <a:r>
              <a:rPr lang="en-US" sz="1200" dirty="0">
                <a:solidFill>
                  <a:schemeClr val="dk1"/>
                </a:solidFill>
                <a:latin typeface="Arial"/>
                <a:ea typeface="Arial"/>
                <a:cs typeface="Arial"/>
                <a:sym typeface="Arial"/>
              </a:rPr>
              <a:t> This allowed the funds to grow tax-deferred with a guaranteed floor, shielding them from the stock market volatility that often impacts 529 investments.</a:t>
            </a:r>
            <a:endParaRPr dirty="0"/>
          </a:p>
          <a:p>
            <a:pPr marL="0" lvl="0" indent="0" algn="l" rtl="0">
              <a:spcBef>
                <a:spcPts val="0"/>
              </a:spcBef>
              <a:spcAft>
                <a:spcPts val="0"/>
              </a:spcAft>
              <a:buNone/>
            </a:pP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dirty="0">
                <a:solidFill>
                  <a:schemeClr val="dk1"/>
                </a:solidFill>
                <a:latin typeface="Arial"/>
                <a:ea typeface="Arial"/>
                <a:cs typeface="Arial"/>
                <a:sym typeface="Arial"/>
              </a:rPr>
              <a:t>Income Optimization:</a:t>
            </a:r>
            <a:r>
              <a:rPr lang="en-US" sz="1200" dirty="0">
                <a:solidFill>
                  <a:schemeClr val="dk1"/>
                </a:solidFill>
                <a:latin typeface="Arial"/>
                <a:ea typeface="Arial"/>
                <a:cs typeface="Arial"/>
                <a:sym typeface="Arial"/>
              </a:rPr>
              <a:t> Here’s where to find truly valuable benefits to this strategy: By utilizing cash value collateralized loans, the parents could defer income and maximize retirement contributions, all while covering their costs, reducing their reported Adjusted Gross Income (AGI) from $225,000 down to $175,000.</a:t>
            </a:r>
            <a:endParaRPr dirty="0"/>
          </a:p>
          <a:p>
            <a:pPr marL="0" lvl="0" indent="0" algn="l" rtl="0">
              <a:spcBef>
                <a:spcPts val="0"/>
              </a:spcBef>
              <a:spcAft>
                <a:spcPts val="0"/>
              </a:spcAft>
              <a:buNone/>
            </a:pPr>
            <a:endParaRPr b="1" dirty="0"/>
          </a:p>
          <a:p>
            <a:pPr marL="0" lvl="0" indent="0" algn="l" rtl="0">
              <a:spcBef>
                <a:spcPts val="0"/>
              </a:spcBef>
              <a:spcAft>
                <a:spcPts val="0"/>
              </a:spcAft>
              <a:buNone/>
            </a:pPr>
            <a:endParaRPr dirty="0"/>
          </a:p>
        </p:txBody>
      </p:sp>
      <p:sp>
        <p:nvSpPr>
          <p:cNvPr id="749" name="Google Shape;749;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[CLICK] </a:t>
            </a: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The Result:</a:t>
            </a:r>
            <a:endParaRPr sz="1200" dirty="0">
              <a:solidFill>
                <a:schemeClr val="dk1"/>
              </a:solidFill>
              <a:latin typeface="Arial"/>
              <a:ea typeface="Arial"/>
              <a:cs typeface="Arial"/>
              <a:sym typeface="Arial"/>
            </a:endParaRPr>
          </a:p>
          <a:p>
            <a:pPr marL="0" lvl="0" indent="0" algn="l" rtl="0">
              <a:spcBef>
                <a:spcPts val="0"/>
              </a:spcBef>
              <a:spcAft>
                <a:spcPts val="0"/>
              </a:spcAft>
              <a:buNone/>
            </a:pPr>
            <a:r>
              <a:rPr lang="en-US" sz="1200" dirty="0">
                <a:solidFill>
                  <a:schemeClr val="dk1"/>
                </a:solidFill>
                <a:latin typeface="Arial"/>
                <a:ea typeface="Arial"/>
                <a:cs typeface="Arial"/>
                <a:sym typeface="Arial"/>
              </a:rPr>
              <a:t>Because life insurance and these specific loans are </a:t>
            </a:r>
            <a:r>
              <a:rPr lang="en-US" sz="1200" b="1" dirty="0">
                <a:solidFill>
                  <a:schemeClr val="dk1"/>
                </a:solidFill>
                <a:latin typeface="Arial"/>
                <a:ea typeface="Arial"/>
                <a:cs typeface="Arial"/>
                <a:sym typeface="Arial"/>
              </a:rPr>
              <a:t>non-reportable assets</a:t>
            </a:r>
            <a:r>
              <a:rPr lang="en-US" sz="1200" dirty="0">
                <a:solidFill>
                  <a:schemeClr val="dk1"/>
                </a:solidFill>
                <a:latin typeface="Arial"/>
                <a:ea typeface="Arial"/>
                <a:cs typeface="Arial"/>
                <a:sym typeface="Arial"/>
              </a:rPr>
              <a:t> on the FAFSA and most CSS Profile formulas, the family's counted assets dropped from $750,000 to zero. The impact was transformative: Alice’s SAI dropped to just $18,400, ultimately securing </a:t>
            </a:r>
            <a:r>
              <a:rPr lang="en-US" sz="1200" b="1" dirty="0">
                <a:solidFill>
                  <a:schemeClr val="dk1"/>
                </a:solidFill>
                <a:latin typeface="Arial"/>
                <a:ea typeface="Arial"/>
                <a:cs typeface="Arial"/>
                <a:sym typeface="Arial"/>
              </a:rPr>
              <a:t>$242,400 in total four-year aid, </a:t>
            </a:r>
            <a:r>
              <a:rPr lang="en-US" sz="1200" b="0" dirty="0">
                <a:solidFill>
                  <a:schemeClr val="dk1"/>
                </a:solidFill>
                <a:latin typeface="Arial"/>
                <a:ea typeface="Arial"/>
                <a:cs typeface="Arial"/>
                <a:sym typeface="Arial"/>
              </a:rPr>
              <a:t>making Vassar affordable if she gets in</a:t>
            </a:r>
            <a:r>
              <a:rPr lang="en-US" sz="1200" dirty="0">
                <a:solidFill>
                  <a:schemeClr val="dk1"/>
                </a:solidFill>
                <a:latin typeface="Arial"/>
                <a:ea typeface="Arial"/>
                <a:cs typeface="Arial"/>
                <a:sym typeface="Arial"/>
              </a:rPr>
              <a:t>. By utilizing a long-term runway, the family positioned their wealth so that their expected contribution was based on reduced income and non-reported assets, rather than their total accumulated savings and full taxable income.</a:t>
            </a:r>
            <a:endParaRPr dirty="0"/>
          </a:p>
          <a:p>
            <a:pPr marL="0" lvl="0" indent="0" algn="l" rtl="0">
              <a:spcBef>
                <a:spcPts val="0"/>
              </a:spcBef>
              <a:spcAft>
                <a:spcPts val="0"/>
              </a:spcAft>
              <a:buNone/>
            </a:pPr>
            <a:endParaRPr b="1" dirty="0"/>
          </a:p>
          <a:p>
            <a:pPr marL="0" lvl="0" indent="0" algn="l" rtl="0">
              <a:spcBef>
                <a:spcPts val="0"/>
              </a:spcBef>
              <a:spcAft>
                <a:spcPts val="0"/>
              </a:spcAft>
              <a:buNone/>
            </a:pPr>
            <a:endParaRPr dirty="0"/>
          </a:p>
        </p:txBody>
      </p:sp>
      <p:sp>
        <p:nvSpPr>
          <p:cNvPr id="763" name="Google Shape;763;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So to wrap up our time together…</a:t>
            </a:r>
            <a:endParaRPr dirty="0"/>
          </a:p>
        </p:txBody>
      </p:sp>
      <p:sp>
        <p:nvSpPr>
          <p:cNvPr id="778" name="Google Shape;778;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1"/>
              </a:buClr>
              <a:buSzPts val="1200"/>
              <a:buFont typeface="Arial"/>
              <a:buNone/>
            </a:pPr>
            <a:r>
              <a:rPr lang="en-US" sz="1200" b="1" dirty="0">
                <a:solidFill>
                  <a:schemeClr val="accent1"/>
                </a:solidFill>
              </a:rPr>
              <a:t>Today we’ve learned…</a:t>
            </a:r>
            <a:endParaRPr dirty="0"/>
          </a:p>
          <a:p>
            <a:pPr marL="0" lvl="0" indent="0" algn="l" rtl="0">
              <a:lnSpc>
                <a:spcPct val="100000"/>
              </a:lnSpc>
              <a:spcBef>
                <a:spcPts val="0"/>
              </a:spcBef>
              <a:spcAft>
                <a:spcPts val="0"/>
              </a:spcAft>
              <a:buClr>
                <a:schemeClr val="dk1"/>
              </a:buClr>
              <a:buSzPts val="1200"/>
              <a:buFont typeface="Arial"/>
              <a:buNone/>
            </a:pPr>
            <a:r>
              <a:rPr lang="en-US" sz="1200" dirty="0"/>
              <a:t>- The importance of fit in the college admissions and aid process.</a:t>
            </a:r>
            <a:endParaRPr dirty="0"/>
          </a:p>
          <a:p>
            <a:pPr marL="0" lvl="0" indent="0" algn="l" rtl="0">
              <a:lnSpc>
                <a:spcPct val="100000"/>
              </a:lnSpc>
              <a:spcBef>
                <a:spcPts val="0"/>
              </a:spcBef>
              <a:spcAft>
                <a:spcPts val="0"/>
              </a:spcAft>
              <a:buClr>
                <a:schemeClr val="dk1"/>
              </a:buClr>
              <a:buSzPts val="1200"/>
              <a:buFont typeface="Arial"/>
              <a:buNone/>
            </a:pPr>
            <a:r>
              <a:rPr lang="en-US" sz="1200" dirty="0"/>
              <a:t>- The key forms, how they work, and timelines for qualifying for aid.</a:t>
            </a:r>
            <a:endParaRPr dirty="0"/>
          </a:p>
          <a:p>
            <a:pPr marL="0" lvl="0" indent="0" algn="l" rtl="0">
              <a:lnSpc>
                <a:spcPct val="100000"/>
              </a:lnSpc>
              <a:spcBef>
                <a:spcPts val="0"/>
              </a:spcBef>
              <a:spcAft>
                <a:spcPts val="0"/>
              </a:spcAft>
              <a:buClr>
                <a:schemeClr val="dk1"/>
              </a:buClr>
              <a:buSzPts val="1200"/>
              <a:buFont typeface="Arial"/>
              <a:buNone/>
            </a:pPr>
            <a:r>
              <a:rPr lang="en-US" sz="1200" dirty="0"/>
              <a:t>- The tools and scenarios that show it’s possible to fund college, maximize aid eligibility, and plan for retirement.</a:t>
            </a:r>
            <a:endParaRPr dirty="0"/>
          </a:p>
          <a:p>
            <a:pPr marL="171450" lvl="0" indent="-95250" algn="l" rtl="0">
              <a:lnSpc>
                <a:spcPct val="100000"/>
              </a:lnSpc>
              <a:spcBef>
                <a:spcPts val="0"/>
              </a:spcBef>
              <a:spcAft>
                <a:spcPts val="0"/>
              </a:spcAft>
              <a:buClr>
                <a:schemeClr val="dk1"/>
              </a:buClr>
              <a:buSzPts val="1200"/>
              <a:buFont typeface="Arial"/>
              <a:buNone/>
            </a:pPr>
            <a:endParaRPr sz="1200" dirty="0"/>
          </a:p>
          <a:p>
            <a:pPr marL="0" lvl="0" indent="0" algn="l" rtl="0">
              <a:lnSpc>
                <a:spcPct val="100000"/>
              </a:lnSpc>
              <a:spcBef>
                <a:spcPts val="0"/>
              </a:spcBef>
              <a:spcAft>
                <a:spcPts val="0"/>
              </a:spcAft>
              <a:buClr>
                <a:schemeClr val="dk1"/>
              </a:buClr>
              <a:buSzPts val="1200"/>
              <a:buFont typeface="Arial"/>
              <a:buNone/>
            </a:pPr>
            <a:r>
              <a:rPr lang="en-US" sz="1200" dirty="0"/>
              <a:t>But one thing to keep in mind is that every student and family is unique. </a:t>
            </a:r>
            <a:endParaRPr dirty="0"/>
          </a:p>
          <a:p>
            <a:pPr marL="0" lvl="0" indent="0" algn="l" rtl="0">
              <a:spcBef>
                <a:spcPts val="0"/>
              </a:spcBef>
              <a:spcAft>
                <a:spcPts val="0"/>
              </a:spcAft>
              <a:buNone/>
            </a:pPr>
            <a:endParaRPr dirty="0"/>
          </a:p>
          <a:p>
            <a:pPr marL="0" lvl="0" indent="0" algn="l" rtl="0">
              <a:lnSpc>
                <a:spcPct val="100000"/>
              </a:lnSpc>
              <a:spcBef>
                <a:spcPts val="0"/>
              </a:spcBef>
              <a:spcAft>
                <a:spcPts val="0"/>
              </a:spcAft>
              <a:buClr>
                <a:schemeClr val="dk1"/>
              </a:buClr>
              <a:buSzPts val="1200"/>
              <a:buFont typeface="Arial"/>
              <a:buNone/>
            </a:pPr>
            <a:endParaRPr sz="1200" dirty="0"/>
          </a:p>
          <a:p>
            <a:pPr marL="0" lvl="0" indent="0" algn="l" rtl="0">
              <a:spcBef>
                <a:spcPts val="0"/>
              </a:spcBef>
              <a:spcAft>
                <a:spcPts val="0"/>
              </a:spcAft>
              <a:buNone/>
            </a:pPr>
            <a:endParaRPr dirty="0"/>
          </a:p>
        </p:txBody>
      </p:sp>
      <p:sp>
        <p:nvSpPr>
          <p:cNvPr id="784" name="Google Shape;784;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2" name="Google Shape;792;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3" name="Google Shape;803;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9" name="Google Shape;80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Placeholder</a:t>
            </a:r>
            <a:endParaRPr dirty="0"/>
          </a:p>
        </p:txBody>
      </p:sp>
      <p:sp>
        <p:nvSpPr>
          <p:cNvPr id="816" name="Google Shape;816;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Placeholder</a:t>
            </a:r>
            <a:endParaRPr dirty="0"/>
          </a:p>
        </p:txBody>
      </p:sp>
      <p:sp>
        <p:nvSpPr>
          <p:cNvPr id="823" name="Google Shape;823;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Placeholder</a:t>
            </a:r>
            <a:endParaRPr dirty="0"/>
          </a:p>
        </p:txBody>
      </p:sp>
      <p:sp>
        <p:nvSpPr>
          <p:cNvPr id="830" name="Google Shape;830;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spTree>
      <p:nvGrpSpPr>
        <p:cNvPr id="1" name="Shape 12"/>
        <p:cNvGrpSpPr/>
        <p:nvPr/>
      </p:nvGrpSpPr>
      <p:grpSpPr>
        <a:xfrm>
          <a:off x="0" y="0"/>
          <a:ext cx="0" cy="0"/>
          <a:chOff x="0" y="0"/>
          <a:chExt cx="0" cy="0"/>
        </a:xfrm>
      </p:grpSpPr>
      <p:sp>
        <p:nvSpPr>
          <p:cNvPr id="13" name="Google Shape;13;p56"/>
          <p:cNvSpPr/>
          <p:nvPr/>
        </p:nvSpPr>
        <p:spPr>
          <a:xfrm>
            <a:off x="-17" y="105"/>
            <a:ext cx="12192026" cy="3273017"/>
          </a:xfrm>
          <a:prstGeom prst="rect">
            <a:avLst/>
          </a:prstGeom>
          <a:solidFill>
            <a:schemeClr val="accent1"/>
          </a:solidFill>
          <a:ln>
            <a:noFill/>
          </a:ln>
        </p:spPr>
        <p:txBody>
          <a:bodyPr spcFirstLastPara="1" wrap="square" lIns="64275" tIns="32125" rIns="64275" bIns="32125" anchor="ctr" anchorCtr="0">
            <a:noAutofit/>
          </a:bodyPr>
          <a:lstStyle/>
          <a:p>
            <a:pPr marL="0" marR="0" lvl="0" indent="0" algn="ctr" rtl="0">
              <a:spcBef>
                <a:spcPts val="0"/>
              </a:spcBef>
              <a:spcAft>
                <a:spcPts val="0"/>
              </a:spcAft>
              <a:buNone/>
            </a:pPr>
            <a:endParaRPr sz="2531" b="0" i="0" u="none" strike="noStrike" cap="none">
              <a:solidFill>
                <a:schemeClr val="lt1"/>
              </a:solidFill>
              <a:latin typeface="Arial"/>
              <a:ea typeface="Arial"/>
              <a:cs typeface="Arial"/>
              <a:sym typeface="Arial"/>
            </a:endParaRPr>
          </a:p>
        </p:txBody>
      </p:sp>
      <p:sp>
        <p:nvSpPr>
          <p:cNvPr id="14" name="Google Shape;14;p56"/>
          <p:cNvSpPr txBox="1"/>
          <p:nvPr/>
        </p:nvSpPr>
        <p:spPr>
          <a:xfrm>
            <a:off x="3004642" y="3551672"/>
            <a:ext cx="6182715" cy="389468"/>
          </a:xfrm>
          <a:prstGeom prst="rect">
            <a:avLst/>
          </a:prstGeom>
          <a:noFill/>
          <a:ln>
            <a:noFill/>
          </a:ln>
        </p:spPr>
        <p:txBody>
          <a:bodyPr spcFirstLastPara="1" wrap="square" lIns="64275" tIns="32125" rIns="64275" bIns="32125" anchor="t" anchorCtr="0">
            <a:spAutoFit/>
          </a:bodyPr>
          <a:lstStyle/>
          <a:p>
            <a:pPr marL="0" marR="0" lvl="0" indent="0" algn="ctr" rtl="0">
              <a:spcBef>
                <a:spcPts val="0"/>
              </a:spcBef>
              <a:spcAft>
                <a:spcPts val="0"/>
              </a:spcAft>
              <a:buNone/>
            </a:pPr>
            <a:r>
              <a:rPr lang="en-US" sz="2109" b="0" i="0" u="none" strike="noStrike" cap="none">
                <a:solidFill>
                  <a:schemeClr val="accent1"/>
                </a:solidFill>
                <a:latin typeface="Arial"/>
                <a:ea typeface="Arial"/>
                <a:cs typeface="Arial"/>
                <a:sym typeface="Arial"/>
              </a:rPr>
              <a:t>Presented By:</a:t>
            </a:r>
            <a:endParaRPr sz="984" b="0" i="0" u="none" strike="noStrike" cap="none">
              <a:solidFill>
                <a:schemeClr val="accent1"/>
              </a:solidFill>
              <a:latin typeface="Arial"/>
              <a:ea typeface="Arial"/>
              <a:cs typeface="Arial"/>
              <a:sym typeface="Arial"/>
            </a:endParaRPr>
          </a:p>
        </p:txBody>
      </p:sp>
      <p:sp>
        <p:nvSpPr>
          <p:cNvPr id="15" name="Google Shape;15;p56"/>
          <p:cNvSpPr txBox="1"/>
          <p:nvPr/>
        </p:nvSpPr>
        <p:spPr>
          <a:xfrm>
            <a:off x="320040" y="6028110"/>
            <a:ext cx="1165915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This presentation is for informational purposes only and does not constitute investment advice. </a:t>
            </a:r>
            <a:endParaRPr sz="1800" b="0" i="0" u="none" strike="noStrike" cap="none">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No part of this communication should be construed as a recommendation to buy, sell, or hold any security or investment.</a:t>
            </a:r>
            <a:endParaRPr sz="1800" b="0" i="0" u="none" strike="noStrike" cap="none">
              <a:solidFill>
                <a:schemeClr val="dk1"/>
              </a:solidFill>
              <a:latin typeface="Arial"/>
              <a:ea typeface="Arial"/>
              <a:cs typeface="Arial"/>
              <a:sym typeface="Arial"/>
            </a:endParaRPr>
          </a:p>
        </p:txBody>
      </p:sp>
      <p:sp>
        <p:nvSpPr>
          <p:cNvPr id="16" name="Google Shape;16;p56"/>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B2B2B2"/>
              </a:buClr>
              <a:buSzPts val="1000"/>
              <a:buFont typeface="Arial"/>
              <a:buNone/>
            </a:pPr>
            <a:r>
              <a:rPr lang="en-US" sz="1000" b="0" i="0" u="none" strike="noStrike" cap="none">
                <a:solidFill>
                  <a:srgbClr val="B2B2B2"/>
                </a:solidFill>
                <a:latin typeface="Arial"/>
                <a:ea typeface="Arial"/>
                <a:cs typeface="Arial"/>
                <a:sym typeface="Arial"/>
              </a:rPr>
              <a:t>©2026 Simplicity Group. All Rights Reserved. SWG 5712860-0726</a:t>
            </a:r>
            <a:endParaRPr sz="1000" b="0" i="0" u="none" strike="noStrike" cap="none">
              <a:solidFill>
                <a:srgbClr val="B2B2B2"/>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pic>
        <p:nvPicPr>
          <p:cNvPr id="17" name="Google Shape;17;p56"/>
          <p:cNvPicPr preferRelativeResize="0"/>
          <p:nvPr/>
        </p:nvPicPr>
        <p:blipFill rotWithShape="1">
          <a:blip r:embed="rId2">
            <a:alphaModFix/>
          </a:blip>
          <a:srcRect/>
          <a:stretch/>
        </p:blipFill>
        <p:spPr>
          <a:xfrm>
            <a:off x="3953276" y="368226"/>
            <a:ext cx="4098152" cy="1828800"/>
          </a:xfrm>
          <a:prstGeom prst="rect">
            <a:avLst/>
          </a:prstGeom>
          <a:noFill/>
          <a:ln>
            <a:noFill/>
          </a:ln>
        </p:spPr>
      </p:pic>
      <p:sp>
        <p:nvSpPr>
          <p:cNvPr id="18" name="Google Shape;18;p56"/>
          <p:cNvSpPr txBox="1"/>
          <p:nvPr/>
        </p:nvSpPr>
        <p:spPr>
          <a:xfrm>
            <a:off x="320039" y="2433386"/>
            <a:ext cx="11567161" cy="4154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700" b="0" i="0" dirty="0">
                <a:solidFill>
                  <a:srgbClr val="FFFFFF"/>
                </a:solidFill>
                <a:latin typeface="Arial" panose="020B0604020202020204" pitchFamily="34" charset="0"/>
                <a:ea typeface="Open Sans"/>
                <a:cs typeface="Arial" panose="020B0604020202020204" pitchFamily="34" charset="0"/>
                <a:sym typeface="Open Sans"/>
              </a:rPr>
              <a:t>Reduce College Costs and Help Protect Your Retirement Assets</a:t>
            </a:r>
            <a:endParaRPr sz="2700" dirty="0">
              <a:solidFill>
                <a:schemeClr val="dk1"/>
              </a:solidFill>
              <a:latin typeface="Arial"/>
              <a:ea typeface="Arial"/>
              <a:cs typeface="Arial"/>
              <a:sym typeface="Arial"/>
            </a:endParaRPr>
          </a:p>
        </p:txBody>
      </p:sp>
      <p:sp>
        <p:nvSpPr>
          <p:cNvPr id="19" name="Google Shape;19;p56"/>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B2B2B2"/>
              </a:buClr>
              <a:buSzPts val="1800"/>
              <a:buFont typeface="Arial"/>
              <a:buNone/>
            </a:pPr>
            <a:fld id="{00000000-1234-1234-1234-123412341234}" type="slidenum">
              <a:rPr lang="en-US" sz="1800" b="0" i="0" u="none" strike="noStrike" cap="none">
                <a:solidFill>
                  <a:srgbClr val="B2B2B2"/>
                </a:solidFill>
                <a:latin typeface="Arial"/>
                <a:ea typeface="Arial"/>
                <a:cs typeface="Arial"/>
                <a:sym typeface="Arial"/>
              </a:rPr>
              <a:t>‹#›</a:t>
            </a:fld>
            <a:endParaRPr sz="1800" b="0" i="0" u="none" strike="noStrike" cap="none">
              <a:solidFill>
                <a:srgbClr val="B2B2B2"/>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p:cSld name="Section">
    <p:bg>
      <p:bgPr>
        <a:solidFill>
          <a:schemeClr val="accent1"/>
        </a:solidFill>
        <a:effectLst/>
      </p:bgPr>
    </p:bg>
    <p:spTree>
      <p:nvGrpSpPr>
        <p:cNvPr id="1" name="Shape 20"/>
        <p:cNvGrpSpPr/>
        <p:nvPr/>
      </p:nvGrpSpPr>
      <p:grpSpPr>
        <a:xfrm>
          <a:off x="0" y="0"/>
          <a:ext cx="0" cy="0"/>
          <a:chOff x="0" y="0"/>
          <a:chExt cx="0" cy="0"/>
        </a:xfrm>
      </p:grpSpPr>
      <p:pic>
        <p:nvPicPr>
          <p:cNvPr id="21" name="Google Shape;21;p57"/>
          <p:cNvPicPr preferRelativeResize="0"/>
          <p:nvPr/>
        </p:nvPicPr>
        <p:blipFill rotWithShape="1">
          <a:blip r:embed="rId2">
            <a:alphaModFix amt="15000"/>
          </a:blip>
          <a:srcRect/>
          <a:stretch/>
        </p:blipFill>
        <p:spPr>
          <a:xfrm>
            <a:off x="-4420802" y="215307"/>
            <a:ext cx="11059410" cy="6912133"/>
          </a:xfrm>
          <a:prstGeom prst="rect">
            <a:avLst/>
          </a:prstGeom>
          <a:noFill/>
          <a:ln>
            <a:noFill/>
          </a:ln>
        </p:spPr>
      </p:pic>
      <p:sp>
        <p:nvSpPr>
          <p:cNvPr id="22" name="Google Shape;22;p57"/>
          <p:cNvSpPr txBox="1">
            <a:spLocks noGrp="1"/>
          </p:cNvSpPr>
          <p:nvPr>
            <p:ph type="title"/>
          </p:nvPr>
        </p:nvSpPr>
        <p:spPr>
          <a:xfrm>
            <a:off x="320040" y="3186626"/>
            <a:ext cx="11551920" cy="484748"/>
          </a:xfrm>
          <a:prstGeom prst="rect">
            <a:avLst/>
          </a:prstGeom>
          <a:noFill/>
          <a:ln>
            <a:noFill/>
          </a:ln>
        </p:spPr>
        <p:txBody>
          <a:bodyPr spcFirstLastPara="1" wrap="square" lIns="0" tIns="0" rIns="0" bIns="0" anchor="b" anchorCtr="0">
            <a:spAutoFit/>
          </a:bodyPr>
          <a:lstStyle>
            <a:lvl1pPr lvl="0" algn="ctr">
              <a:lnSpc>
                <a:spcPct val="90000"/>
              </a:lnSpc>
              <a:spcBef>
                <a:spcPts val="0"/>
              </a:spcBef>
              <a:spcAft>
                <a:spcPts val="0"/>
              </a:spcAft>
              <a:buClr>
                <a:schemeClr val="lt1"/>
              </a:buClr>
              <a:buSzPts val="35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 name="Google Shape;23;p57"/>
          <p:cNvPicPr preferRelativeResize="0"/>
          <p:nvPr/>
        </p:nvPicPr>
        <p:blipFill rotWithShape="1">
          <a:blip r:embed="rId3">
            <a:alphaModFix/>
          </a:blip>
          <a:srcRect/>
          <a:stretch/>
        </p:blipFill>
        <p:spPr>
          <a:xfrm>
            <a:off x="10325101" y="71856"/>
            <a:ext cx="1665820" cy="743372"/>
          </a:xfrm>
          <a:prstGeom prst="rect">
            <a:avLst/>
          </a:prstGeom>
          <a:noFill/>
          <a:ln>
            <a:noFill/>
          </a:ln>
        </p:spPr>
      </p:pic>
      <p:sp>
        <p:nvSpPr>
          <p:cNvPr id="24" name="Google Shape;24;p57"/>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1000"/>
              <a:buFont typeface="Arial"/>
              <a:buNone/>
            </a:pPr>
            <a:r>
              <a:rPr lang="en-US" sz="1000" b="0" i="0" u="none" strike="noStrike" cap="none">
                <a:solidFill>
                  <a:schemeClr val="lt1"/>
                </a:solidFill>
                <a:latin typeface="Arial"/>
                <a:ea typeface="Arial"/>
                <a:cs typeface="Arial"/>
                <a:sym typeface="Arial"/>
              </a:rPr>
              <a:t>©2026 Simplicity Group. All Rights Reserved. SWG 5712860-0726</a:t>
            </a:r>
            <a:endParaRPr sz="1000">
              <a:solidFill>
                <a:schemeClr val="lt1"/>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25" name="Google Shape;25;p57"/>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D8D8D8"/>
              </a:buClr>
              <a:buSzPts val="1800"/>
              <a:buFont typeface="Arial"/>
              <a:buNone/>
            </a:pPr>
            <a:fld id="{00000000-1234-1234-1234-123412341234}" type="slidenum">
              <a:rPr lang="en-US" sz="1800" b="0" i="0" u="none" strike="noStrike" cap="none">
                <a:solidFill>
                  <a:srgbClr val="D8D8D8"/>
                </a:solidFill>
                <a:latin typeface="Arial"/>
                <a:ea typeface="Arial"/>
                <a:cs typeface="Arial"/>
                <a:sym typeface="Arial"/>
              </a:rPr>
              <a:t>‹#›</a:t>
            </a:fld>
            <a:endParaRPr sz="1800" b="0" i="0" u="none" strike="noStrike" cap="none">
              <a:solidFill>
                <a:srgbClr val="D8D8D8"/>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6"/>
        <p:cNvGrpSpPr/>
        <p:nvPr/>
      </p:nvGrpSpPr>
      <p:grpSpPr>
        <a:xfrm>
          <a:off x="0" y="0"/>
          <a:ext cx="0" cy="0"/>
          <a:chOff x="0" y="0"/>
          <a:chExt cx="0" cy="0"/>
        </a:xfrm>
      </p:grpSpPr>
      <p:sp>
        <p:nvSpPr>
          <p:cNvPr id="27" name="Google Shape;27;p58"/>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B2B2B2"/>
              </a:buClr>
              <a:buSzPts val="1000"/>
              <a:buFont typeface="Arial"/>
              <a:buNone/>
            </a:pPr>
            <a:r>
              <a:rPr lang="en-US" sz="1000" b="0" i="0" u="none" strike="noStrike" cap="none">
                <a:solidFill>
                  <a:srgbClr val="B2B2B2"/>
                </a:solidFill>
                <a:latin typeface="Arial"/>
                <a:ea typeface="Arial"/>
                <a:cs typeface="Arial"/>
                <a:sym typeface="Arial"/>
              </a:rPr>
              <a:t>©2026 Simplicity Group. All Rights Reserved. SWG 5712860-0726</a:t>
            </a:r>
            <a:endParaRPr sz="1000">
              <a:solidFill>
                <a:srgbClr val="B2B2B2"/>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28" name="Google Shape;28;p58"/>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B2B2B2"/>
              </a:buClr>
              <a:buSzPts val="1800"/>
              <a:buFont typeface="Arial"/>
              <a:buNone/>
            </a:pPr>
            <a:fld id="{00000000-1234-1234-1234-123412341234}" type="slidenum">
              <a:rPr lang="en-US" sz="1800" b="0" i="0" u="none" strike="noStrike" cap="none">
                <a:solidFill>
                  <a:srgbClr val="B2B2B2"/>
                </a:solidFill>
                <a:latin typeface="Arial"/>
                <a:ea typeface="Arial"/>
                <a:cs typeface="Arial"/>
                <a:sym typeface="Arial"/>
              </a:rPr>
              <a:t>‹#›</a:t>
            </a:fld>
            <a:endParaRPr sz="1800" b="0" i="0" u="none" strike="noStrike" cap="none">
              <a:solidFill>
                <a:srgbClr val="B2B2B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29"/>
        <p:cNvGrpSpPr/>
        <p:nvPr/>
      </p:nvGrpSpPr>
      <p:grpSpPr>
        <a:xfrm>
          <a:off x="0" y="0"/>
          <a:ext cx="0" cy="0"/>
          <a:chOff x="0" y="0"/>
          <a:chExt cx="0" cy="0"/>
        </a:xfrm>
      </p:grpSpPr>
      <p:sp>
        <p:nvSpPr>
          <p:cNvPr id="30" name="Google Shape;30;p59"/>
          <p:cNvSpPr/>
          <p:nvPr/>
        </p:nvSpPr>
        <p:spPr>
          <a:xfrm>
            <a:off x="1" y="0"/>
            <a:ext cx="12192000" cy="914400"/>
          </a:xfrm>
          <a:prstGeom prst="rect">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 name="Google Shape;31;p59"/>
          <p:cNvSpPr txBox="1">
            <a:spLocks noGrp="1"/>
          </p:cNvSpPr>
          <p:nvPr>
            <p:ph type="title"/>
          </p:nvPr>
        </p:nvSpPr>
        <p:spPr>
          <a:xfrm>
            <a:off x="320040" y="228600"/>
            <a:ext cx="9555816" cy="48474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35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2" name="Google Shape;32;p59"/>
          <p:cNvPicPr preferRelativeResize="0"/>
          <p:nvPr/>
        </p:nvPicPr>
        <p:blipFill rotWithShape="1">
          <a:blip r:embed="rId2">
            <a:alphaModFix/>
          </a:blip>
          <a:srcRect/>
          <a:stretch/>
        </p:blipFill>
        <p:spPr>
          <a:xfrm>
            <a:off x="10325101" y="71856"/>
            <a:ext cx="1665820" cy="743372"/>
          </a:xfrm>
          <a:prstGeom prst="rect">
            <a:avLst/>
          </a:prstGeom>
          <a:noFill/>
          <a:ln>
            <a:noFill/>
          </a:ln>
        </p:spPr>
      </p:pic>
      <p:sp>
        <p:nvSpPr>
          <p:cNvPr id="33" name="Google Shape;33;p59"/>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B2B2B2"/>
              </a:buClr>
              <a:buSzPts val="1000"/>
              <a:buFont typeface="Arial"/>
              <a:buNone/>
            </a:pPr>
            <a:r>
              <a:rPr lang="en-US" sz="1000" b="0" i="0" u="none" strike="noStrike" cap="none">
                <a:solidFill>
                  <a:srgbClr val="B2B2B2"/>
                </a:solidFill>
                <a:latin typeface="Arial"/>
                <a:ea typeface="Arial"/>
                <a:cs typeface="Arial"/>
                <a:sym typeface="Arial"/>
              </a:rPr>
              <a:t>©2026 Simplicity Group. All Rights Reserved. SWG 5712860-0726</a:t>
            </a:r>
            <a:endParaRPr sz="1000">
              <a:solidFill>
                <a:srgbClr val="B2B2B2"/>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34" name="Google Shape;34;p59"/>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B2B2B2"/>
              </a:buClr>
              <a:buSzPts val="1800"/>
              <a:buFont typeface="Arial"/>
              <a:buNone/>
            </a:pPr>
            <a:fld id="{00000000-1234-1234-1234-123412341234}" type="slidenum">
              <a:rPr lang="en-US" sz="1800" b="0" i="0" u="none" strike="noStrike" cap="none">
                <a:solidFill>
                  <a:srgbClr val="B2B2B2"/>
                </a:solidFill>
                <a:latin typeface="Arial"/>
                <a:ea typeface="Arial"/>
                <a:cs typeface="Arial"/>
                <a:sym typeface="Arial"/>
              </a:rPr>
              <a:t>‹#›</a:t>
            </a:fld>
            <a:endParaRPr sz="1800" b="0" i="0" u="none" strike="noStrike" cap="none">
              <a:solidFill>
                <a:srgbClr val="B2B2B2"/>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2">
  <p:cSld name="Default-2">
    <p:spTree>
      <p:nvGrpSpPr>
        <p:cNvPr id="1" name="Shape 35"/>
        <p:cNvGrpSpPr/>
        <p:nvPr/>
      </p:nvGrpSpPr>
      <p:grpSpPr>
        <a:xfrm>
          <a:off x="0" y="0"/>
          <a:ext cx="0" cy="0"/>
          <a:chOff x="0" y="0"/>
          <a:chExt cx="0" cy="0"/>
        </a:xfrm>
      </p:grpSpPr>
      <p:sp>
        <p:nvSpPr>
          <p:cNvPr id="36" name="Google Shape;36;p60"/>
          <p:cNvSpPr/>
          <p:nvPr/>
        </p:nvSpPr>
        <p:spPr>
          <a:xfrm>
            <a:off x="1" y="0"/>
            <a:ext cx="12192000" cy="914400"/>
          </a:xfrm>
          <a:prstGeom prst="rect">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 name="Google Shape;37;p60"/>
          <p:cNvSpPr txBox="1">
            <a:spLocks noGrp="1"/>
          </p:cNvSpPr>
          <p:nvPr>
            <p:ph type="title"/>
          </p:nvPr>
        </p:nvSpPr>
        <p:spPr>
          <a:xfrm>
            <a:off x="320040" y="228600"/>
            <a:ext cx="9555816" cy="48474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35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8" name="Google Shape;38;p60"/>
          <p:cNvPicPr preferRelativeResize="0"/>
          <p:nvPr/>
        </p:nvPicPr>
        <p:blipFill rotWithShape="1">
          <a:blip r:embed="rId2">
            <a:alphaModFix/>
          </a:blip>
          <a:srcRect/>
          <a:stretch/>
        </p:blipFill>
        <p:spPr>
          <a:xfrm>
            <a:off x="10325101" y="71856"/>
            <a:ext cx="1665820" cy="743372"/>
          </a:xfrm>
          <a:prstGeom prst="rect">
            <a:avLst/>
          </a:prstGeom>
          <a:noFill/>
          <a:ln>
            <a:noFill/>
          </a:ln>
        </p:spPr>
      </p:pic>
      <p:sp>
        <p:nvSpPr>
          <p:cNvPr id="39" name="Google Shape;39;p60"/>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B2B2B2"/>
              </a:buClr>
              <a:buSzPts val="1000"/>
              <a:buFont typeface="Arial"/>
              <a:buNone/>
            </a:pPr>
            <a:r>
              <a:rPr lang="en-US" sz="1000" b="0" i="0" u="none" strike="noStrike" cap="none">
                <a:solidFill>
                  <a:srgbClr val="B2B2B2"/>
                </a:solidFill>
                <a:latin typeface="Arial"/>
                <a:ea typeface="Arial"/>
                <a:cs typeface="Arial"/>
                <a:sym typeface="Arial"/>
              </a:rPr>
              <a:t>©2026 Simplicity Group. All Rights Reserved. SWG 5712860-0726</a:t>
            </a:r>
            <a:endParaRPr sz="1000">
              <a:solidFill>
                <a:srgbClr val="B2B2B2"/>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40" name="Google Shape;40;p60"/>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B2B2B2"/>
              </a:buClr>
              <a:buSzPts val="1800"/>
              <a:buFont typeface="Arial"/>
              <a:buNone/>
            </a:pPr>
            <a:fld id="{00000000-1234-1234-1234-123412341234}" type="slidenum">
              <a:rPr lang="en-US" sz="1800" b="0" i="0" u="none" strike="noStrike" cap="none">
                <a:solidFill>
                  <a:srgbClr val="B2B2B2"/>
                </a:solidFill>
                <a:latin typeface="Arial"/>
                <a:ea typeface="Arial"/>
                <a:cs typeface="Arial"/>
                <a:sym typeface="Arial"/>
              </a:rPr>
              <a:t>‹#›</a:t>
            </a:fld>
            <a:endParaRPr sz="1800" b="0" i="0" u="none" strike="noStrike" cap="none">
              <a:solidFill>
                <a:srgbClr val="B2B2B2"/>
              </a:solidFill>
              <a:latin typeface="Arial"/>
              <a:ea typeface="Arial"/>
              <a:cs typeface="Arial"/>
              <a:sym typeface="Arial"/>
            </a:endParaRPr>
          </a:p>
        </p:txBody>
      </p:sp>
      <p:sp>
        <p:nvSpPr>
          <p:cNvPr id="41" name="Google Shape;41;p60"/>
          <p:cNvSpPr txBox="1">
            <a:spLocks noGrp="1"/>
          </p:cNvSpPr>
          <p:nvPr>
            <p:ph type="body" idx="1"/>
          </p:nvPr>
        </p:nvSpPr>
        <p:spPr>
          <a:xfrm>
            <a:off x="456418" y="1621169"/>
            <a:ext cx="11298793" cy="4572000"/>
          </a:xfrm>
          <a:prstGeom prst="rect">
            <a:avLst/>
          </a:prstGeom>
          <a:noFill/>
          <a:ln>
            <a:noFill/>
          </a:ln>
        </p:spPr>
        <p:txBody>
          <a:bodyPr spcFirstLastPara="1" wrap="square" lIns="228600" tIns="0" rIns="0" bIns="91425" anchor="ctr" anchorCtr="0">
            <a:spAutoFit/>
          </a:bodyPr>
          <a:lstStyle>
            <a:lvl1pPr marL="457200" lvl="0" indent="-355600" algn="l">
              <a:lnSpc>
                <a:spcPct val="100000"/>
              </a:lnSpc>
              <a:spcBef>
                <a:spcPts val="1000"/>
              </a:spcBef>
              <a:spcAft>
                <a:spcPts val="0"/>
              </a:spcAft>
              <a:buClr>
                <a:schemeClr val="dk1"/>
              </a:buClr>
              <a:buSzPts val="2000"/>
              <a:buFont typeface="Arial"/>
              <a:buChar char="•"/>
              <a:defRPr sz="20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0"/>
          <p:cNvSpPr txBox="1"/>
          <p:nvPr/>
        </p:nvSpPr>
        <p:spPr>
          <a:xfrm>
            <a:off x="1999447"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43" name="Google Shape;43;p60"/>
          <p:cNvSpPr txBox="1"/>
          <p:nvPr/>
        </p:nvSpPr>
        <p:spPr>
          <a:xfrm>
            <a:off x="4876462"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44" name="Google Shape;44;p60"/>
          <p:cNvSpPr txBox="1"/>
          <p:nvPr/>
        </p:nvSpPr>
        <p:spPr>
          <a:xfrm>
            <a:off x="7731175"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45" name="Google Shape;45;p60"/>
          <p:cNvSpPr txBox="1"/>
          <p:nvPr/>
        </p:nvSpPr>
        <p:spPr>
          <a:xfrm>
            <a:off x="10563585"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192">
          <p15:clr>
            <a:srgbClr val="FBAE40"/>
          </p15:clr>
        </p15:guide>
        <p15:guide id="2" pos="746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 Column - 1">
  <p:cSld name="4 Column - 1">
    <p:spTree>
      <p:nvGrpSpPr>
        <p:cNvPr id="1" name="Shape 46"/>
        <p:cNvGrpSpPr/>
        <p:nvPr/>
      </p:nvGrpSpPr>
      <p:grpSpPr>
        <a:xfrm>
          <a:off x="0" y="0"/>
          <a:ext cx="0" cy="0"/>
          <a:chOff x="0" y="0"/>
          <a:chExt cx="0" cy="0"/>
        </a:xfrm>
      </p:grpSpPr>
      <p:sp>
        <p:nvSpPr>
          <p:cNvPr id="47" name="Google Shape;47;p61"/>
          <p:cNvSpPr/>
          <p:nvPr/>
        </p:nvSpPr>
        <p:spPr>
          <a:xfrm>
            <a:off x="0" y="0"/>
            <a:ext cx="12192000" cy="914400"/>
          </a:xfrm>
          <a:prstGeom prst="rect">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 name="Google Shape;48;p61"/>
          <p:cNvSpPr txBox="1">
            <a:spLocks noGrp="1"/>
          </p:cNvSpPr>
          <p:nvPr>
            <p:ph type="title"/>
          </p:nvPr>
        </p:nvSpPr>
        <p:spPr>
          <a:xfrm>
            <a:off x="320040" y="228600"/>
            <a:ext cx="9555816" cy="48474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35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9" name="Google Shape;49;p61"/>
          <p:cNvPicPr preferRelativeResize="0"/>
          <p:nvPr/>
        </p:nvPicPr>
        <p:blipFill rotWithShape="1">
          <a:blip r:embed="rId2">
            <a:alphaModFix/>
          </a:blip>
          <a:srcRect/>
          <a:stretch/>
        </p:blipFill>
        <p:spPr>
          <a:xfrm>
            <a:off x="10325101" y="71856"/>
            <a:ext cx="1665820" cy="743372"/>
          </a:xfrm>
          <a:prstGeom prst="rect">
            <a:avLst/>
          </a:prstGeom>
          <a:noFill/>
          <a:ln>
            <a:noFill/>
          </a:ln>
        </p:spPr>
      </p:pic>
      <p:sp>
        <p:nvSpPr>
          <p:cNvPr id="50" name="Google Shape;50;p61"/>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B2B2B2"/>
              </a:buClr>
              <a:buSzPts val="1000"/>
              <a:buFont typeface="Arial"/>
              <a:buNone/>
            </a:pPr>
            <a:r>
              <a:rPr lang="en-US" sz="1000" b="0" i="0" u="none" strike="noStrike" cap="none">
                <a:solidFill>
                  <a:srgbClr val="B2B2B2"/>
                </a:solidFill>
                <a:latin typeface="Arial"/>
                <a:ea typeface="Arial"/>
                <a:cs typeface="Arial"/>
                <a:sym typeface="Arial"/>
              </a:rPr>
              <a:t>©2026 Simplicity Group. All Rights Reserved. SWG 5712860-0726</a:t>
            </a:r>
            <a:endParaRPr sz="1000">
              <a:solidFill>
                <a:srgbClr val="B2B2B2"/>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51" name="Google Shape;51;p61"/>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B2B2B2"/>
              </a:buClr>
              <a:buSzPts val="1800"/>
              <a:buFont typeface="Arial"/>
              <a:buNone/>
            </a:pPr>
            <a:fld id="{00000000-1234-1234-1234-123412341234}" type="slidenum">
              <a:rPr lang="en-US" sz="1800" b="0" i="0" u="none" strike="noStrike" cap="none">
                <a:solidFill>
                  <a:srgbClr val="B2B2B2"/>
                </a:solidFill>
                <a:latin typeface="Arial"/>
                <a:ea typeface="Arial"/>
                <a:cs typeface="Arial"/>
                <a:sym typeface="Arial"/>
              </a:rPr>
              <a:t>‹#›</a:t>
            </a:fld>
            <a:endParaRPr sz="1800" b="0" i="0" u="none" strike="noStrike" cap="none">
              <a:solidFill>
                <a:srgbClr val="B2B2B2"/>
              </a:solidFill>
              <a:latin typeface="Arial"/>
              <a:ea typeface="Arial"/>
              <a:cs typeface="Arial"/>
              <a:sym typeface="Arial"/>
            </a:endParaRPr>
          </a:p>
        </p:txBody>
      </p:sp>
      <p:sp>
        <p:nvSpPr>
          <p:cNvPr id="52" name="Google Shape;52;p61"/>
          <p:cNvSpPr txBox="1">
            <a:spLocks noGrp="1"/>
          </p:cNvSpPr>
          <p:nvPr>
            <p:ph type="body" idx="1"/>
          </p:nvPr>
        </p:nvSpPr>
        <p:spPr>
          <a:xfrm>
            <a:off x="644710" y="2971800"/>
            <a:ext cx="2514600" cy="369332"/>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dk1"/>
              </a:buClr>
              <a:buSzPts val="1800"/>
              <a:buNone/>
              <a:defRPr sz="18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61"/>
          <p:cNvSpPr txBox="1"/>
          <p:nvPr/>
        </p:nvSpPr>
        <p:spPr>
          <a:xfrm>
            <a:off x="2187737"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54" name="Google Shape;54;p61"/>
          <p:cNvSpPr txBox="1">
            <a:spLocks noGrp="1"/>
          </p:cNvSpPr>
          <p:nvPr>
            <p:ph type="body" idx="2"/>
          </p:nvPr>
        </p:nvSpPr>
        <p:spPr>
          <a:xfrm>
            <a:off x="3444088" y="2971800"/>
            <a:ext cx="2514600" cy="369332"/>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dk1"/>
              </a:buClr>
              <a:buSzPts val="1800"/>
              <a:buNone/>
              <a:defRPr sz="18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61"/>
          <p:cNvSpPr txBox="1"/>
          <p:nvPr/>
        </p:nvSpPr>
        <p:spPr>
          <a:xfrm>
            <a:off x="4987115"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56" name="Google Shape;56;p61"/>
          <p:cNvSpPr txBox="1">
            <a:spLocks noGrp="1"/>
          </p:cNvSpPr>
          <p:nvPr>
            <p:ph type="body" idx="3"/>
          </p:nvPr>
        </p:nvSpPr>
        <p:spPr>
          <a:xfrm>
            <a:off x="6248583" y="2971800"/>
            <a:ext cx="2514600" cy="369332"/>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dk1"/>
              </a:buClr>
              <a:buSzPts val="1800"/>
              <a:buNone/>
              <a:defRPr sz="18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61"/>
          <p:cNvSpPr txBox="1"/>
          <p:nvPr/>
        </p:nvSpPr>
        <p:spPr>
          <a:xfrm>
            <a:off x="7791610"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58" name="Google Shape;58;p61"/>
          <p:cNvSpPr txBox="1">
            <a:spLocks noGrp="1"/>
          </p:cNvSpPr>
          <p:nvPr>
            <p:ph type="body" idx="4"/>
          </p:nvPr>
        </p:nvSpPr>
        <p:spPr>
          <a:xfrm>
            <a:off x="9044941" y="2971800"/>
            <a:ext cx="2514600" cy="369332"/>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dk1"/>
              </a:buClr>
              <a:buSzPts val="1800"/>
              <a:buNone/>
              <a:defRPr sz="18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61"/>
          <p:cNvSpPr txBox="1"/>
          <p:nvPr/>
        </p:nvSpPr>
        <p:spPr>
          <a:xfrm>
            <a:off x="10563584" y="3134331"/>
            <a:ext cx="2514600"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60" name="Google Shape;60;p61"/>
          <p:cNvSpPr txBox="1">
            <a:spLocks noGrp="1"/>
          </p:cNvSpPr>
          <p:nvPr>
            <p:ph type="body" idx="5"/>
          </p:nvPr>
        </p:nvSpPr>
        <p:spPr>
          <a:xfrm>
            <a:off x="643761" y="2561766"/>
            <a:ext cx="25146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1"/>
              </a:buClr>
              <a:buSzPts val="2000"/>
              <a:buNone/>
              <a:defRPr sz="2000" b="1">
                <a:solidFill>
                  <a:schemeClr val="accent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61"/>
          <p:cNvSpPr txBox="1">
            <a:spLocks noGrp="1"/>
          </p:cNvSpPr>
          <p:nvPr>
            <p:ph type="body" idx="6"/>
          </p:nvPr>
        </p:nvSpPr>
        <p:spPr>
          <a:xfrm>
            <a:off x="643761" y="2045865"/>
            <a:ext cx="2514600" cy="461665"/>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5"/>
              </a:buClr>
              <a:buSzPts val="2400"/>
              <a:buNone/>
              <a:defRPr sz="2400" b="1">
                <a:solidFill>
                  <a:schemeClr val="accent5"/>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61"/>
          <p:cNvSpPr txBox="1">
            <a:spLocks noGrp="1"/>
          </p:cNvSpPr>
          <p:nvPr>
            <p:ph type="body" idx="7"/>
          </p:nvPr>
        </p:nvSpPr>
        <p:spPr>
          <a:xfrm>
            <a:off x="3441299" y="2561766"/>
            <a:ext cx="25146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1"/>
              </a:buClr>
              <a:buSzPts val="2000"/>
              <a:buNone/>
              <a:defRPr sz="2000" b="1">
                <a:solidFill>
                  <a:schemeClr val="accent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61"/>
          <p:cNvSpPr txBox="1">
            <a:spLocks noGrp="1"/>
          </p:cNvSpPr>
          <p:nvPr>
            <p:ph type="body" idx="8"/>
          </p:nvPr>
        </p:nvSpPr>
        <p:spPr>
          <a:xfrm>
            <a:off x="3441299" y="2045865"/>
            <a:ext cx="2514600" cy="461665"/>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5"/>
              </a:buClr>
              <a:buSzPts val="2400"/>
              <a:buNone/>
              <a:defRPr sz="2400" b="1">
                <a:solidFill>
                  <a:schemeClr val="accent5"/>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61"/>
          <p:cNvSpPr txBox="1">
            <a:spLocks noGrp="1"/>
          </p:cNvSpPr>
          <p:nvPr>
            <p:ph type="body" idx="9"/>
          </p:nvPr>
        </p:nvSpPr>
        <p:spPr>
          <a:xfrm>
            <a:off x="6247403" y="2561766"/>
            <a:ext cx="25146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1"/>
              </a:buClr>
              <a:buSzPts val="2000"/>
              <a:buNone/>
              <a:defRPr sz="2000" b="1">
                <a:solidFill>
                  <a:schemeClr val="accent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61"/>
          <p:cNvSpPr txBox="1">
            <a:spLocks noGrp="1"/>
          </p:cNvSpPr>
          <p:nvPr>
            <p:ph type="body" idx="13"/>
          </p:nvPr>
        </p:nvSpPr>
        <p:spPr>
          <a:xfrm>
            <a:off x="6247403" y="2045865"/>
            <a:ext cx="2514600" cy="461665"/>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5"/>
              </a:buClr>
              <a:buSzPts val="2400"/>
              <a:buNone/>
              <a:defRPr sz="2400" b="1">
                <a:solidFill>
                  <a:schemeClr val="accent5"/>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61"/>
          <p:cNvSpPr txBox="1">
            <a:spLocks noGrp="1"/>
          </p:cNvSpPr>
          <p:nvPr>
            <p:ph type="body" idx="14"/>
          </p:nvPr>
        </p:nvSpPr>
        <p:spPr>
          <a:xfrm>
            <a:off x="9044941" y="2561766"/>
            <a:ext cx="25146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1"/>
              </a:buClr>
              <a:buSzPts val="2000"/>
              <a:buNone/>
              <a:defRPr sz="2000" b="1">
                <a:solidFill>
                  <a:schemeClr val="accent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61"/>
          <p:cNvSpPr txBox="1">
            <a:spLocks noGrp="1"/>
          </p:cNvSpPr>
          <p:nvPr>
            <p:ph type="body" idx="15"/>
          </p:nvPr>
        </p:nvSpPr>
        <p:spPr>
          <a:xfrm>
            <a:off x="9044941" y="2045865"/>
            <a:ext cx="2514600" cy="461665"/>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5"/>
              </a:buClr>
              <a:buSzPts val="2400"/>
              <a:buNone/>
              <a:defRPr sz="2400" b="1">
                <a:solidFill>
                  <a:schemeClr val="accent5"/>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pos="192">
          <p15:clr>
            <a:srgbClr val="FBAE40"/>
          </p15:clr>
        </p15:guide>
        <p15:guide id="2" pos="74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Column - 1">
  <p:cSld name="3 Column - 1">
    <p:spTree>
      <p:nvGrpSpPr>
        <p:cNvPr id="1" name="Shape 68"/>
        <p:cNvGrpSpPr/>
        <p:nvPr/>
      </p:nvGrpSpPr>
      <p:grpSpPr>
        <a:xfrm>
          <a:off x="0" y="0"/>
          <a:ext cx="0" cy="0"/>
          <a:chOff x="0" y="0"/>
          <a:chExt cx="0" cy="0"/>
        </a:xfrm>
      </p:grpSpPr>
      <p:sp>
        <p:nvSpPr>
          <p:cNvPr id="69" name="Google Shape;69;p62"/>
          <p:cNvSpPr/>
          <p:nvPr/>
        </p:nvSpPr>
        <p:spPr>
          <a:xfrm>
            <a:off x="1" y="0"/>
            <a:ext cx="12192000" cy="914400"/>
          </a:xfrm>
          <a:prstGeom prst="rect">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 name="Google Shape;70;p62"/>
          <p:cNvSpPr txBox="1">
            <a:spLocks noGrp="1"/>
          </p:cNvSpPr>
          <p:nvPr>
            <p:ph type="title"/>
          </p:nvPr>
        </p:nvSpPr>
        <p:spPr>
          <a:xfrm>
            <a:off x="320040" y="228600"/>
            <a:ext cx="9555816" cy="48474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35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1" name="Google Shape;71;p62"/>
          <p:cNvPicPr preferRelativeResize="0"/>
          <p:nvPr/>
        </p:nvPicPr>
        <p:blipFill rotWithShape="1">
          <a:blip r:embed="rId2">
            <a:alphaModFix/>
          </a:blip>
          <a:srcRect/>
          <a:stretch/>
        </p:blipFill>
        <p:spPr>
          <a:xfrm>
            <a:off x="10325101" y="71856"/>
            <a:ext cx="1665820" cy="743372"/>
          </a:xfrm>
          <a:prstGeom prst="rect">
            <a:avLst/>
          </a:prstGeom>
          <a:noFill/>
          <a:ln>
            <a:noFill/>
          </a:ln>
        </p:spPr>
      </p:pic>
      <p:sp>
        <p:nvSpPr>
          <p:cNvPr id="72" name="Google Shape;72;p62"/>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B2B2B2"/>
              </a:buClr>
              <a:buSzPts val="1000"/>
              <a:buFont typeface="Arial"/>
              <a:buNone/>
            </a:pPr>
            <a:r>
              <a:rPr lang="en-US" sz="1000" b="0" i="0" u="none" strike="noStrike" cap="none">
                <a:solidFill>
                  <a:srgbClr val="B2B2B2"/>
                </a:solidFill>
                <a:latin typeface="Arial"/>
                <a:ea typeface="Arial"/>
                <a:cs typeface="Arial"/>
                <a:sym typeface="Arial"/>
              </a:rPr>
              <a:t>©2026 Simplicity Group. All Rights Reserved. SWG 5712860-0726</a:t>
            </a:r>
            <a:endParaRPr sz="1000">
              <a:solidFill>
                <a:srgbClr val="B2B2B2"/>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73" name="Google Shape;73;p62"/>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B2B2B2"/>
              </a:buClr>
              <a:buSzPts val="1800"/>
              <a:buFont typeface="Arial"/>
              <a:buNone/>
            </a:pPr>
            <a:fld id="{00000000-1234-1234-1234-123412341234}" type="slidenum">
              <a:rPr lang="en-US" sz="1800" b="0" i="0" u="none" strike="noStrike" cap="none">
                <a:solidFill>
                  <a:srgbClr val="B2B2B2"/>
                </a:solidFill>
                <a:latin typeface="Arial"/>
                <a:ea typeface="Arial"/>
                <a:cs typeface="Arial"/>
                <a:sym typeface="Arial"/>
              </a:rPr>
              <a:t>‹#›</a:t>
            </a:fld>
            <a:endParaRPr sz="1800" b="0" i="0" u="none" strike="noStrike" cap="none">
              <a:solidFill>
                <a:srgbClr val="B2B2B2"/>
              </a:solidFill>
              <a:latin typeface="Arial"/>
              <a:ea typeface="Arial"/>
              <a:cs typeface="Arial"/>
              <a:sym typeface="Arial"/>
            </a:endParaRPr>
          </a:p>
        </p:txBody>
      </p:sp>
      <p:sp>
        <p:nvSpPr>
          <p:cNvPr id="74" name="Google Shape;74;p62"/>
          <p:cNvSpPr txBox="1">
            <a:spLocks noGrp="1"/>
          </p:cNvSpPr>
          <p:nvPr>
            <p:ph type="body" idx="1"/>
          </p:nvPr>
        </p:nvSpPr>
        <p:spPr>
          <a:xfrm>
            <a:off x="601774" y="2971800"/>
            <a:ext cx="34290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dk1"/>
              </a:buClr>
              <a:buSzPts val="2000"/>
              <a:buFont typeface="Arial"/>
              <a:buNone/>
              <a:defRPr sz="20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2"/>
          <p:cNvSpPr txBox="1">
            <a:spLocks noGrp="1"/>
          </p:cNvSpPr>
          <p:nvPr>
            <p:ph type="body" idx="2"/>
          </p:nvPr>
        </p:nvSpPr>
        <p:spPr>
          <a:xfrm>
            <a:off x="4381500" y="2971800"/>
            <a:ext cx="34290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dk1"/>
              </a:buClr>
              <a:buSzPts val="2000"/>
              <a:buFont typeface="Arial"/>
              <a:buNone/>
              <a:defRPr sz="20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62"/>
          <p:cNvSpPr txBox="1">
            <a:spLocks noGrp="1"/>
          </p:cNvSpPr>
          <p:nvPr>
            <p:ph type="body" idx="3"/>
          </p:nvPr>
        </p:nvSpPr>
        <p:spPr>
          <a:xfrm>
            <a:off x="8161226" y="2971800"/>
            <a:ext cx="34290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dk1"/>
              </a:buClr>
              <a:buSzPts val="2000"/>
              <a:buFont typeface="Arial"/>
              <a:buNone/>
              <a:defRPr sz="2000" b="0">
                <a:solidFill>
                  <a:schemeClr val="dk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62"/>
          <p:cNvSpPr txBox="1">
            <a:spLocks noGrp="1"/>
          </p:cNvSpPr>
          <p:nvPr>
            <p:ph type="body" idx="4"/>
          </p:nvPr>
        </p:nvSpPr>
        <p:spPr>
          <a:xfrm>
            <a:off x="601774" y="2536804"/>
            <a:ext cx="34290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1"/>
              </a:buClr>
              <a:buSzPts val="2000"/>
              <a:buNone/>
              <a:defRPr sz="2000" b="1">
                <a:solidFill>
                  <a:schemeClr val="accent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62"/>
          <p:cNvSpPr txBox="1">
            <a:spLocks noGrp="1"/>
          </p:cNvSpPr>
          <p:nvPr>
            <p:ph type="body" idx="5"/>
          </p:nvPr>
        </p:nvSpPr>
        <p:spPr>
          <a:xfrm>
            <a:off x="4381500" y="2536804"/>
            <a:ext cx="34290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1"/>
              </a:buClr>
              <a:buSzPts val="2000"/>
              <a:buNone/>
              <a:defRPr sz="2000" b="1">
                <a:solidFill>
                  <a:schemeClr val="accent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62"/>
          <p:cNvSpPr txBox="1">
            <a:spLocks noGrp="1"/>
          </p:cNvSpPr>
          <p:nvPr>
            <p:ph type="body" idx="6"/>
          </p:nvPr>
        </p:nvSpPr>
        <p:spPr>
          <a:xfrm>
            <a:off x="8161226" y="2536804"/>
            <a:ext cx="3429000" cy="400110"/>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1"/>
              </a:buClr>
              <a:buSzPts val="2000"/>
              <a:buNone/>
              <a:defRPr sz="2000" b="1">
                <a:solidFill>
                  <a:schemeClr val="accent1"/>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62"/>
          <p:cNvSpPr txBox="1">
            <a:spLocks noGrp="1"/>
          </p:cNvSpPr>
          <p:nvPr>
            <p:ph type="body" idx="7"/>
          </p:nvPr>
        </p:nvSpPr>
        <p:spPr>
          <a:xfrm>
            <a:off x="601774" y="2018237"/>
            <a:ext cx="3429000" cy="461665"/>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5"/>
              </a:buClr>
              <a:buSzPts val="2400"/>
              <a:buNone/>
              <a:defRPr sz="2400" b="1">
                <a:solidFill>
                  <a:schemeClr val="accent5"/>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2"/>
          <p:cNvSpPr txBox="1">
            <a:spLocks noGrp="1"/>
          </p:cNvSpPr>
          <p:nvPr>
            <p:ph type="body" idx="8"/>
          </p:nvPr>
        </p:nvSpPr>
        <p:spPr>
          <a:xfrm>
            <a:off x="4381500" y="2018237"/>
            <a:ext cx="3429000" cy="461665"/>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5"/>
              </a:buClr>
              <a:buSzPts val="2400"/>
              <a:buNone/>
              <a:defRPr sz="2400" b="1">
                <a:solidFill>
                  <a:schemeClr val="accent5"/>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62"/>
          <p:cNvSpPr txBox="1">
            <a:spLocks noGrp="1"/>
          </p:cNvSpPr>
          <p:nvPr>
            <p:ph type="body" idx="9"/>
          </p:nvPr>
        </p:nvSpPr>
        <p:spPr>
          <a:xfrm>
            <a:off x="8161226" y="2018237"/>
            <a:ext cx="3429000" cy="461665"/>
          </a:xfrm>
          <a:prstGeom prst="rect">
            <a:avLst/>
          </a:prstGeom>
          <a:noFill/>
          <a:ln>
            <a:noFill/>
          </a:ln>
        </p:spPr>
        <p:txBody>
          <a:bodyPr spcFirstLastPara="1" wrap="square" lIns="228600" tIns="0" rIns="0" bIns="91425" anchor="t" anchorCtr="0">
            <a:spAutoFit/>
          </a:bodyPr>
          <a:lstStyle>
            <a:lvl1pPr marL="457200" lvl="0" indent="-228600" algn="l">
              <a:lnSpc>
                <a:spcPct val="100000"/>
              </a:lnSpc>
              <a:spcBef>
                <a:spcPts val="1000"/>
              </a:spcBef>
              <a:spcAft>
                <a:spcPts val="0"/>
              </a:spcAft>
              <a:buClr>
                <a:schemeClr val="accent5"/>
              </a:buClr>
              <a:buSzPts val="2400"/>
              <a:buNone/>
              <a:defRPr sz="2400" b="1">
                <a:solidFill>
                  <a:schemeClr val="accent5"/>
                </a:solidFill>
              </a:defRPr>
            </a:lvl1pPr>
            <a:lvl2pPr marL="914400" lvl="1" indent="-228600" algn="l">
              <a:lnSpc>
                <a:spcPct val="100000"/>
              </a:lnSpc>
              <a:spcBef>
                <a:spcPts val="500"/>
              </a:spcBef>
              <a:spcAft>
                <a:spcPts val="0"/>
              </a:spcAft>
              <a:buClr>
                <a:schemeClr val="dk1"/>
              </a:buClr>
              <a:buSzPts val="2000"/>
              <a:buNone/>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pos="192">
          <p15:clr>
            <a:srgbClr val="FBAE40"/>
          </p15:clr>
        </p15:guide>
        <p15:guide id="2" pos="74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ault-3">
  <p:cSld name="Default-3">
    <p:spTree>
      <p:nvGrpSpPr>
        <p:cNvPr id="1" name="Shape 83"/>
        <p:cNvGrpSpPr/>
        <p:nvPr/>
      </p:nvGrpSpPr>
      <p:grpSpPr>
        <a:xfrm>
          <a:off x="0" y="0"/>
          <a:ext cx="0" cy="0"/>
          <a:chOff x="0" y="0"/>
          <a:chExt cx="0" cy="0"/>
        </a:xfrm>
      </p:grpSpPr>
      <p:pic>
        <p:nvPicPr>
          <p:cNvPr id="84" name="Google Shape;84;p63"/>
          <p:cNvPicPr preferRelativeResize="0"/>
          <p:nvPr/>
        </p:nvPicPr>
        <p:blipFill rotWithShape="1">
          <a:blip r:embed="rId2">
            <a:alphaModFix/>
          </a:blip>
          <a:srcRect/>
          <a:stretch/>
        </p:blipFill>
        <p:spPr>
          <a:xfrm>
            <a:off x="10325101" y="71856"/>
            <a:ext cx="1665820" cy="743372"/>
          </a:xfrm>
          <a:prstGeom prst="rect">
            <a:avLst/>
          </a:prstGeom>
          <a:noFill/>
          <a:ln>
            <a:noFill/>
          </a:ln>
        </p:spPr>
      </p:pic>
      <p:sp>
        <p:nvSpPr>
          <p:cNvPr id="85" name="Google Shape;85;p63"/>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B2B2B2"/>
              </a:buClr>
              <a:buSzPts val="1000"/>
              <a:buFont typeface="Arial"/>
              <a:buNone/>
            </a:pPr>
            <a:r>
              <a:rPr lang="en-US" sz="1000" b="0" i="0" u="none" strike="noStrike" cap="none">
                <a:solidFill>
                  <a:srgbClr val="B2B2B2"/>
                </a:solidFill>
                <a:latin typeface="Arial"/>
                <a:ea typeface="Arial"/>
                <a:cs typeface="Arial"/>
                <a:sym typeface="Arial"/>
              </a:rPr>
              <a:t>©2026 Simplicity Group. All Rights Reserved. SWG 5712860-0726</a:t>
            </a:r>
            <a:endParaRPr sz="1000">
              <a:solidFill>
                <a:srgbClr val="B2B2B2"/>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86" name="Google Shape;86;p63"/>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B2B2B2"/>
              </a:buClr>
              <a:buSzPts val="1800"/>
              <a:buFont typeface="Arial"/>
              <a:buNone/>
            </a:pPr>
            <a:fld id="{00000000-1234-1234-1234-123412341234}" type="slidenum">
              <a:rPr lang="en-US" sz="1800" b="0" i="0" u="none" strike="noStrike" cap="none">
                <a:solidFill>
                  <a:srgbClr val="B2B2B2"/>
                </a:solidFill>
                <a:latin typeface="Arial"/>
                <a:ea typeface="Arial"/>
                <a:cs typeface="Arial"/>
                <a:sym typeface="Arial"/>
              </a:rPr>
              <a:t>‹#›</a:t>
            </a:fld>
            <a:endParaRPr sz="1800" b="0" i="0" u="none" strike="noStrike" cap="none">
              <a:solidFill>
                <a:srgbClr val="B2B2B2"/>
              </a:solidFill>
              <a:latin typeface="Arial"/>
              <a:ea typeface="Arial"/>
              <a:cs typeface="Arial"/>
              <a:sym typeface="Arial"/>
            </a:endParaRPr>
          </a:p>
        </p:txBody>
      </p:sp>
      <p:sp>
        <p:nvSpPr>
          <p:cNvPr id="87" name="Google Shape;87;p63"/>
          <p:cNvSpPr txBox="1"/>
          <p:nvPr/>
        </p:nvSpPr>
        <p:spPr>
          <a:xfrm>
            <a:off x="1999447"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88" name="Google Shape;88;p63"/>
          <p:cNvSpPr txBox="1"/>
          <p:nvPr/>
        </p:nvSpPr>
        <p:spPr>
          <a:xfrm>
            <a:off x="4876462"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89" name="Google Shape;89;p63"/>
          <p:cNvSpPr txBox="1"/>
          <p:nvPr/>
        </p:nvSpPr>
        <p:spPr>
          <a:xfrm>
            <a:off x="7731175"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90" name="Google Shape;90;p63"/>
          <p:cNvSpPr txBox="1"/>
          <p:nvPr/>
        </p:nvSpPr>
        <p:spPr>
          <a:xfrm>
            <a:off x="10563585" y="3134331"/>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91" name="Google Shape;91;p63"/>
          <p:cNvSpPr txBox="1">
            <a:spLocks noGrp="1"/>
          </p:cNvSpPr>
          <p:nvPr>
            <p:ph type="body" idx="1"/>
          </p:nvPr>
        </p:nvSpPr>
        <p:spPr>
          <a:xfrm>
            <a:off x="621920" y="3618246"/>
            <a:ext cx="10948032" cy="615553"/>
          </a:xfrm>
          <a:prstGeom prst="rect">
            <a:avLst/>
          </a:prstGeom>
          <a:noFill/>
          <a:ln>
            <a:noFill/>
          </a:ln>
        </p:spPr>
        <p:txBody>
          <a:bodyPr spcFirstLastPara="1" wrap="square" lIns="228600" tIns="0" rIns="0" bIns="0" anchor="ctr" anchorCtr="0">
            <a:spAutoFit/>
          </a:bodyPr>
          <a:lstStyle>
            <a:lvl1pPr marL="457200" lvl="0" indent="-228600" algn="l">
              <a:lnSpc>
                <a:spcPct val="100000"/>
              </a:lnSpc>
              <a:spcBef>
                <a:spcPts val="1000"/>
              </a:spcBef>
              <a:spcAft>
                <a:spcPts val="0"/>
              </a:spcAft>
              <a:buClr>
                <a:schemeClr val="accent1"/>
              </a:buClr>
              <a:buSzPts val="2000"/>
              <a:buNone/>
              <a:defRPr b="1">
                <a:solidFill>
                  <a:schemeClr val="accent1"/>
                </a:solidFill>
              </a:defRPr>
            </a:lvl1pPr>
            <a:lvl2pPr marL="914400" lvl="1" indent="-228600" algn="l">
              <a:lnSpc>
                <a:spcPct val="100000"/>
              </a:lnSpc>
              <a:spcBef>
                <a:spcPts val="0"/>
              </a:spcBef>
              <a:spcAft>
                <a:spcPts val="0"/>
              </a:spcAft>
              <a:buClr>
                <a:schemeClr val="dk1"/>
              </a:buClr>
              <a:buSzPts val="2000"/>
              <a:buNone/>
              <a:defRPr sz="2000"/>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63"/>
          <p:cNvSpPr txBox="1"/>
          <p:nvPr/>
        </p:nvSpPr>
        <p:spPr>
          <a:xfrm>
            <a:off x="1536569" y="1489435"/>
            <a:ext cx="65"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93" name="Google Shape;93;p63"/>
          <p:cNvSpPr/>
          <p:nvPr/>
        </p:nvSpPr>
        <p:spPr>
          <a:xfrm>
            <a:off x="0" y="0"/>
            <a:ext cx="12192000" cy="914400"/>
          </a:xfrm>
          <a:prstGeom prst="rect">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4" name="Google Shape;94;p63"/>
          <p:cNvSpPr txBox="1">
            <a:spLocks noGrp="1"/>
          </p:cNvSpPr>
          <p:nvPr>
            <p:ph type="title"/>
          </p:nvPr>
        </p:nvSpPr>
        <p:spPr>
          <a:xfrm>
            <a:off x="320040" y="228600"/>
            <a:ext cx="9555816" cy="48474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35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5" name="Google Shape;95;p63"/>
          <p:cNvPicPr preferRelativeResize="0"/>
          <p:nvPr/>
        </p:nvPicPr>
        <p:blipFill rotWithShape="1">
          <a:blip r:embed="rId2">
            <a:alphaModFix/>
          </a:blip>
          <a:srcRect/>
          <a:stretch/>
        </p:blipFill>
        <p:spPr>
          <a:xfrm>
            <a:off x="10325101" y="71856"/>
            <a:ext cx="1665820" cy="743372"/>
          </a:xfrm>
          <a:prstGeom prst="rect">
            <a:avLst/>
          </a:prstGeom>
          <a:noFill/>
          <a:ln>
            <a:noFill/>
          </a:ln>
        </p:spPr>
      </p:pic>
    </p:spTree>
  </p:cSld>
  <p:clrMapOvr>
    <a:masterClrMapping/>
  </p:clrMapOvr>
  <p:extLst>
    <p:ext uri="{DCECCB84-F9BA-43D5-87BE-67443E8EF086}">
      <p15:sldGuideLst xmlns:p15="http://schemas.microsoft.com/office/powerpoint/2012/main">
        <p15:guide id="1" pos="192">
          <p15:clr>
            <a:srgbClr val="FBAE40"/>
          </p15:clr>
        </p15:guide>
        <p15:guide id="2" pos="746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ub-Section">
  <p:cSld name="Sub-Section">
    <p:bg>
      <p:bgPr>
        <a:solidFill>
          <a:schemeClr val="accent1"/>
        </a:solidFill>
        <a:effectLst/>
      </p:bgPr>
    </p:bg>
    <p:spTree>
      <p:nvGrpSpPr>
        <p:cNvPr id="1" name="Shape 96"/>
        <p:cNvGrpSpPr/>
        <p:nvPr/>
      </p:nvGrpSpPr>
      <p:grpSpPr>
        <a:xfrm>
          <a:off x="0" y="0"/>
          <a:ext cx="0" cy="0"/>
          <a:chOff x="0" y="0"/>
          <a:chExt cx="0" cy="0"/>
        </a:xfrm>
      </p:grpSpPr>
      <p:sp>
        <p:nvSpPr>
          <p:cNvPr id="97" name="Google Shape;97;p64"/>
          <p:cNvSpPr txBox="1">
            <a:spLocks noGrp="1"/>
          </p:cNvSpPr>
          <p:nvPr>
            <p:ph type="title"/>
          </p:nvPr>
        </p:nvSpPr>
        <p:spPr>
          <a:xfrm>
            <a:off x="320040" y="3186626"/>
            <a:ext cx="11551920" cy="484748"/>
          </a:xfrm>
          <a:prstGeom prst="rect">
            <a:avLst/>
          </a:prstGeom>
          <a:noFill/>
          <a:ln>
            <a:noFill/>
          </a:ln>
        </p:spPr>
        <p:txBody>
          <a:bodyPr spcFirstLastPara="1" wrap="square" lIns="0" tIns="0" rIns="0" bIns="0" anchor="b" anchorCtr="0">
            <a:spAutoFit/>
          </a:bodyPr>
          <a:lstStyle>
            <a:lvl1pPr lvl="0" algn="ctr">
              <a:lnSpc>
                <a:spcPct val="90000"/>
              </a:lnSpc>
              <a:spcBef>
                <a:spcPts val="0"/>
              </a:spcBef>
              <a:spcAft>
                <a:spcPts val="0"/>
              </a:spcAft>
              <a:buClr>
                <a:schemeClr val="lt1"/>
              </a:buClr>
              <a:buSzPts val="35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8" name="Google Shape;98;p64"/>
          <p:cNvPicPr preferRelativeResize="0"/>
          <p:nvPr/>
        </p:nvPicPr>
        <p:blipFill rotWithShape="1">
          <a:blip r:embed="rId2">
            <a:alphaModFix/>
          </a:blip>
          <a:srcRect/>
          <a:stretch/>
        </p:blipFill>
        <p:spPr>
          <a:xfrm>
            <a:off x="10325101" y="71856"/>
            <a:ext cx="1665820" cy="743372"/>
          </a:xfrm>
          <a:prstGeom prst="rect">
            <a:avLst/>
          </a:prstGeom>
          <a:noFill/>
          <a:ln>
            <a:noFill/>
          </a:ln>
        </p:spPr>
      </p:pic>
      <p:sp>
        <p:nvSpPr>
          <p:cNvPr id="99" name="Google Shape;99;p64"/>
          <p:cNvSpPr txBox="1"/>
          <p:nvPr/>
        </p:nvSpPr>
        <p:spPr>
          <a:xfrm>
            <a:off x="320040" y="6583680"/>
            <a:ext cx="6212542"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lt1"/>
              </a:buClr>
              <a:buSzPts val="1000"/>
              <a:buFont typeface="Arial"/>
              <a:buNone/>
            </a:pPr>
            <a:r>
              <a:rPr lang="en-US" sz="1000" b="0" i="0" u="none" strike="noStrike" cap="none">
                <a:solidFill>
                  <a:schemeClr val="lt1"/>
                </a:solidFill>
                <a:latin typeface="Arial"/>
                <a:ea typeface="Arial"/>
                <a:cs typeface="Arial"/>
                <a:sym typeface="Arial"/>
              </a:rPr>
              <a:t>©2026 Simplicity Group. All Rights Reserved. SWG 5712860-0726</a:t>
            </a:r>
            <a:endParaRPr sz="1000">
              <a:solidFill>
                <a:schemeClr val="lt1"/>
              </a:solidFill>
              <a:latin typeface="Arial"/>
              <a:ea typeface="Arial"/>
              <a:cs typeface="Arial"/>
              <a:sym typeface="Arial"/>
            </a:endParaRPr>
          </a:p>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100" name="Google Shape;100;p64"/>
          <p:cNvSpPr/>
          <p:nvPr/>
        </p:nvSpPr>
        <p:spPr>
          <a:xfrm>
            <a:off x="11319380" y="6485151"/>
            <a:ext cx="556260" cy="2769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Clr>
                <a:srgbClr val="D8D8D8"/>
              </a:buClr>
              <a:buSzPts val="1800"/>
              <a:buFont typeface="Arial"/>
              <a:buNone/>
            </a:pPr>
            <a:fld id="{00000000-1234-1234-1234-123412341234}" type="slidenum">
              <a:rPr lang="en-US" sz="1800" b="0" i="0" u="none" strike="noStrike" cap="none">
                <a:solidFill>
                  <a:srgbClr val="D8D8D8"/>
                </a:solidFill>
                <a:latin typeface="Arial"/>
                <a:ea typeface="Arial"/>
                <a:cs typeface="Arial"/>
                <a:sym typeface="Arial"/>
              </a:rPr>
              <a:t>‹#›</a:t>
            </a:fld>
            <a:endParaRPr sz="1800" b="0" i="0" u="none" strike="noStrike" cap="none">
              <a:solidFill>
                <a:srgbClr val="D8D8D8"/>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320040" y="228600"/>
            <a:ext cx="11551920" cy="484748"/>
          </a:xfrm>
          <a:prstGeom prst="rect">
            <a:avLst/>
          </a:prstGeom>
          <a:noFill/>
          <a:ln>
            <a:noFill/>
          </a:ln>
        </p:spPr>
        <p:txBody>
          <a:bodyPr spcFirstLastPara="1" wrap="square" lIns="0" tIns="0" rIns="0" bIns="0" anchor="b" anchorCtr="0">
            <a:spAutoFit/>
          </a:bodyPr>
          <a:lstStyle>
            <a:lvl1pPr marR="0" lvl="0" algn="l" rtl="0">
              <a:lnSpc>
                <a:spcPct val="9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668867" y="1633714"/>
            <a:ext cx="10515600" cy="2603749"/>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600">
          <p15:clr>
            <a:srgbClr val="F26B43"/>
          </p15:clr>
        </p15:guide>
        <p15:guide id="2"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educationdata.org/average-cost-of-college-by-year"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hyperlink" Target="https://nces.ed.gov/programs/digest/d24/tables/dt24_330.10.asp" TargetMode="External"/><Relationship Id="rId5" Type="http://schemas.openxmlformats.org/officeDocument/2006/relationships/hyperlink" Target="https://research.collegeboard.org/trends/student-aid/highlights" TargetMode="External"/><Relationship Id="rId4" Type="http://schemas.openxmlformats.org/officeDocument/2006/relationships/hyperlink" Target="https://www.nacubo.org/Press-Releases/2026/Most-Undergraduates-Receive-Grants-at-Private-Colleges-NACUBO-Research-Show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hyperlink" Target="https://nces.ed.gov/programs/digest/d24/tables/dt24_330.10.asp" TargetMode="External"/><Relationship Id="rId5" Type="http://schemas.openxmlformats.org/officeDocument/2006/relationships/hyperlink" Target="https://www.nacubo.org/Press-Releases/2026/Most-Undergraduates-Receive-Grants-at-Private-Colleges-NACUBO-Research-Shows" TargetMode="External"/><Relationship Id="rId4" Type="http://schemas.openxmlformats.org/officeDocument/2006/relationships/hyperlink" Target="https://educationdata.org/average-cost-of-college-by-yea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https://nces.ed.gov/programs/digest/d24/tables/dt24_330.10.asp" TargetMode="External"/><Relationship Id="rId5" Type="http://schemas.openxmlformats.org/officeDocument/2006/relationships/hyperlink" Target="https://www.nacubo.org/Press-Releases/2026/Most-Undergraduates-Receive-Grants-at-Private-Colleges-NACUBO-Research-Shows" TargetMode="External"/><Relationship Id="rId4" Type="http://schemas.openxmlformats.org/officeDocument/2006/relationships/hyperlink" Target="https://educationdata.org/average-cost-of-college-by-year"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research.collegeboard.org/trends/student-aid/highlights"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14.svg"/><Relationship Id="rId4" Type="http://schemas.openxmlformats.org/officeDocument/2006/relationships/image" Target="../media/image13.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17.svg"/><Relationship Id="rId4" Type="http://schemas.openxmlformats.org/officeDocument/2006/relationships/image" Target="../media/image16.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hyperlink" Target="http://www.irs.gov/forms-pubs/about-publication-970" TargetMode="External"/><Relationship Id="rId3" Type="http://schemas.openxmlformats.org/officeDocument/2006/relationships/hyperlink" Target="https://www.aacrao.org/training/essentials-of-strategic-enrollment-management-8/" TargetMode="External"/><Relationship Id="rId7" Type="http://schemas.openxmlformats.org/officeDocument/2006/relationships/hyperlink" Target="http://www.studentaid.gov/help-center/answers/article/what-is-sai" TargetMode="External"/><Relationship Id="rId2" Type="http://schemas.openxmlformats.org/officeDocument/2006/relationships/notesSlide" Target="../notesSlides/notesSlide50.xml"/><Relationship Id="rId1" Type="http://schemas.openxmlformats.org/officeDocument/2006/relationships/slideLayout" Target="../slideLayouts/slideLayout4.xml"/><Relationship Id="rId6" Type="http://schemas.openxmlformats.org/officeDocument/2006/relationships/hyperlink" Target="http://www.studentaid.gov/h/apply-for-aid/fafsa" TargetMode="External"/><Relationship Id="rId5" Type="http://schemas.openxmlformats.org/officeDocument/2006/relationships/hyperlink" Target="https://fsapartners.ed.gov/knowledge-center/fsa-handbook/2024-2025/vol3/ch2-cost-attendance-budget" TargetMode="External"/><Relationship Id="rId4" Type="http://schemas.openxmlformats.org/officeDocument/2006/relationships/hyperlink" Target="https://cssprofile.collegeboard.org/profile-for-parents"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www.smartasset.com/student-loans/will-529-plan-affect-financial-aid" TargetMode="External"/><Relationship Id="rId3" Type="http://schemas.openxmlformats.org/officeDocument/2006/relationships/hyperlink" Target="http://www.investopedia.com/terms/e/expected-family-contribution.asp" TargetMode="External"/><Relationship Id="rId7" Type="http://schemas.openxmlformats.org/officeDocument/2006/relationships/hyperlink" Target="http://www.savingforcollege.com/article/what-you-can-pay-for-with-a-529-plan" TargetMode="External"/><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hyperlink" Target="http://www.nerdwallet.com/student-loans/learn/financial-aid-appeal-letter" TargetMode="External"/><Relationship Id="rId5" Type="http://schemas.openxmlformats.org/officeDocument/2006/relationships/hyperlink" Target="http://www.nacacnet.org/factors-in-the-admission-decision/" TargetMode="External"/><Relationship Id="rId4" Type="http://schemas.openxmlformats.org/officeDocument/2006/relationships/hyperlink" Target="http://www.investopedia.com/understanding-scholarships-need-and-merit-4783132" TargetMode="External"/><Relationship Id="rId9" Type="http://schemas.openxmlformats.org/officeDocument/2006/relationships/hyperlink" Target="https://www.allianzlife.com/what-we-offer/Life-Insurance/College-Funding"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p:nvPr/>
        </p:nvSpPr>
        <p:spPr>
          <a:xfrm>
            <a:off x="4011150" y="4131511"/>
            <a:ext cx="4572000" cy="1143000"/>
          </a:xfrm>
          <a:prstGeom prst="roundRect">
            <a:avLst>
              <a:gd name="adj" fmla="val 5000"/>
            </a:avLst>
          </a:prstGeom>
          <a:solidFill>
            <a:srgbClr val="FFFF00"/>
          </a:solidFill>
          <a:ln>
            <a:noFill/>
          </a:ln>
        </p:spPr>
        <p:txBody>
          <a:bodyPr spcFirstLastPara="1" wrap="square" lIns="0" tIns="0" rIns="0" bIns="0" anchor="ctr" anchorCtr="0">
            <a:spAutoFit/>
          </a:bodyPr>
          <a:lstStyle/>
          <a:p>
            <a:pPr marL="0" marR="0" lvl="0" indent="0" algn="ctr" rtl="0">
              <a:spcBef>
                <a:spcPts val="0"/>
              </a:spcBef>
              <a:spcAft>
                <a:spcPts val="0"/>
              </a:spcAft>
              <a:buNone/>
            </a:pPr>
            <a:endParaRPr sz="2109">
              <a:solidFill>
                <a:schemeClr val="dk1"/>
              </a:solidFill>
              <a:latin typeface="Arial"/>
              <a:ea typeface="Arial"/>
              <a:cs typeface="Arial"/>
              <a:sym typeface="Arial"/>
            </a:endParaRPr>
          </a:p>
          <a:p>
            <a:pPr marL="0" marR="0" lvl="0" indent="0" algn="ctr" rtl="0">
              <a:spcBef>
                <a:spcPts val="0"/>
              </a:spcBef>
              <a:spcAft>
                <a:spcPts val="0"/>
              </a:spcAft>
              <a:buNone/>
            </a:pPr>
            <a:endParaRPr sz="2109">
              <a:solidFill>
                <a:schemeClr val="dk1"/>
              </a:solidFill>
              <a:latin typeface="Arial"/>
              <a:ea typeface="Arial"/>
              <a:cs typeface="Arial"/>
              <a:sym typeface="Arial"/>
            </a:endParaRPr>
          </a:p>
          <a:p>
            <a:pPr marL="0" marR="0" lvl="0" indent="0" algn="ctr" rtl="0">
              <a:spcBef>
                <a:spcPts val="0"/>
              </a:spcBef>
              <a:spcAft>
                <a:spcPts val="0"/>
              </a:spcAft>
              <a:buNone/>
            </a:pPr>
            <a:r>
              <a:rPr lang="en-US" sz="2109">
                <a:solidFill>
                  <a:schemeClr val="dk1"/>
                </a:solidFill>
                <a:latin typeface="Arial"/>
                <a:ea typeface="Arial"/>
                <a:cs typeface="Arial"/>
                <a:sym typeface="Arial"/>
              </a:rPr>
              <a:t>ADVISOR’S LOGO</a:t>
            </a:r>
            <a:endParaRPr sz="984">
              <a:solidFill>
                <a:schemeClr val="dk1"/>
              </a:solidFill>
              <a:latin typeface="Arial"/>
              <a:ea typeface="Arial"/>
              <a:cs typeface="Arial"/>
              <a:sym typeface="Arial"/>
            </a:endParaRPr>
          </a:p>
          <a:p>
            <a:pPr marL="0" marR="0" lvl="0" indent="0" algn="ctr" rtl="0">
              <a:spcBef>
                <a:spcPts val="0"/>
              </a:spcBef>
              <a:spcAft>
                <a:spcPts val="0"/>
              </a:spcAft>
              <a:buNone/>
            </a:pPr>
            <a:endParaRPr sz="2109">
              <a:solidFill>
                <a:schemeClr val="dk1"/>
              </a:solidFill>
              <a:latin typeface="Arial"/>
              <a:ea typeface="Arial"/>
              <a:cs typeface="Arial"/>
              <a:sym typeface="Arial"/>
            </a:endParaRPr>
          </a:p>
          <a:p>
            <a:pPr marL="0" marR="0" lvl="0" indent="0" algn="ctr" rtl="0">
              <a:spcBef>
                <a:spcPts val="0"/>
              </a:spcBef>
              <a:spcAft>
                <a:spcPts val="0"/>
              </a:spcAft>
              <a:buNone/>
            </a:pPr>
            <a:endParaRPr sz="2109">
              <a:solidFill>
                <a:schemeClr val="dk1"/>
              </a:solidFill>
              <a:latin typeface="Arial"/>
              <a:ea typeface="Arial"/>
              <a:cs typeface="Arial"/>
              <a:sym typeface="Arial"/>
            </a:endParaRPr>
          </a:p>
        </p:txBody>
      </p:sp>
      <p:sp>
        <p:nvSpPr>
          <p:cNvPr id="107" name="Google Shape;107;p1"/>
          <p:cNvSpPr/>
          <p:nvPr/>
        </p:nvSpPr>
        <p:spPr>
          <a:xfrm>
            <a:off x="320040" y="5523784"/>
            <a:ext cx="11659159" cy="434223"/>
          </a:xfrm>
          <a:prstGeom prst="roundRect">
            <a:avLst>
              <a:gd name="adj" fmla="val 13161"/>
            </a:avLst>
          </a:prstGeom>
          <a:solidFill>
            <a:srgbClr val="FFFF00"/>
          </a:solidFill>
          <a:ln>
            <a:noFill/>
          </a:ln>
        </p:spPr>
        <p:txBody>
          <a:bodyPr spcFirstLastPara="1" wrap="square" lIns="64275" tIns="32125" rIns="64275" bIns="32125" anchor="t" anchorCtr="0">
            <a:sp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ADVISOR’S INVESTMENT DISCLOSURE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needed)</a:t>
            </a:r>
            <a:endParaRPr sz="12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a:spLocks noGrp="1"/>
          </p:cNvSpPr>
          <p:nvPr>
            <p:ph type="title"/>
          </p:nvPr>
        </p:nvSpPr>
        <p:spPr>
          <a:xfrm>
            <a:off x="320040" y="3186626"/>
            <a:ext cx="11551920" cy="484748"/>
          </a:xfrm>
          <a:prstGeom prst="roundRect">
            <a:avLst>
              <a:gd name="adj" fmla="val 11789"/>
            </a:avLst>
          </a:prstGeom>
          <a:noFill/>
          <a:ln>
            <a:noFill/>
          </a:ln>
        </p:spPr>
        <p:txBody>
          <a:bodyPr spcFirstLastPara="1" wrap="square" lIns="0" tIns="0" rIns="0" bIns="0" anchor="b" anchorCtr="0">
            <a:spAutoFit/>
          </a:bodyPr>
          <a:lstStyle/>
          <a:p>
            <a:pPr marL="0" lvl="0" indent="0" algn="ctr" rtl="0">
              <a:lnSpc>
                <a:spcPct val="90000"/>
              </a:lnSpc>
              <a:spcBef>
                <a:spcPts val="0"/>
              </a:spcBef>
              <a:spcAft>
                <a:spcPts val="0"/>
              </a:spcAft>
              <a:buClr>
                <a:schemeClr val="lt1"/>
              </a:buClr>
              <a:buSzPts val="3500"/>
              <a:buFont typeface="Arial"/>
              <a:buNone/>
            </a:pPr>
            <a:r>
              <a:rPr lang="en-US"/>
              <a:t>Setting the Stage for Strategic College Planning</a:t>
            </a:r>
            <a:endParaRPr/>
          </a:p>
        </p:txBody>
      </p:sp>
      <p:sp>
        <p:nvSpPr>
          <p:cNvPr id="114" name="Google Shape;114;p2"/>
          <p:cNvSpPr/>
          <p:nvPr/>
        </p:nvSpPr>
        <p:spPr>
          <a:xfrm>
            <a:off x="3869635" y="2333825"/>
            <a:ext cx="4452730" cy="615553"/>
          </a:xfrm>
          <a:prstGeom prst="roundRect">
            <a:avLst>
              <a:gd name="adj" fmla="val 9284"/>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a:solidFill>
                  <a:schemeClr val="lt1"/>
                </a:solidFill>
                <a:latin typeface="Arial"/>
                <a:ea typeface="Arial"/>
                <a:cs typeface="Arial"/>
                <a:sym typeface="Arial"/>
              </a:rPr>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p:nvPr/>
        </p:nvSpPr>
        <p:spPr>
          <a:xfrm>
            <a:off x="0" y="2939610"/>
            <a:ext cx="12192000" cy="3200400"/>
          </a:xfrm>
          <a:prstGeom prst="roundRect">
            <a:avLst>
              <a:gd name="adj" fmla="val 1785"/>
            </a:avLst>
          </a:prstGeom>
          <a:solidFill>
            <a:srgbClr val="C4C4C6">
              <a:alpha val="30196"/>
            </a:srgbClr>
          </a:solidFill>
          <a:ln>
            <a:noFill/>
          </a:ln>
        </p:spPr>
        <p:txBody>
          <a:bodyPr spcFirstLastPara="1" wrap="square" lIns="64275" tIns="32125" rIns="64275" bIns="32125" anchor="ctr" anchorCtr="0">
            <a:noAutofit/>
          </a:bodyPr>
          <a:lstStyle/>
          <a:p>
            <a:pPr marL="0" marR="0" lvl="0" indent="0" algn="ctr" rtl="0">
              <a:spcBef>
                <a:spcPts val="0"/>
              </a:spcBef>
              <a:spcAft>
                <a:spcPts val="0"/>
              </a:spcAft>
              <a:buNone/>
            </a:pPr>
            <a:endParaRPr sz="2531">
              <a:solidFill>
                <a:schemeClr val="accent1"/>
              </a:solidFill>
              <a:latin typeface="Arial"/>
              <a:ea typeface="Arial"/>
              <a:cs typeface="Arial"/>
              <a:sym typeface="Arial"/>
            </a:endParaRPr>
          </a:p>
        </p:txBody>
      </p:sp>
      <p:sp>
        <p:nvSpPr>
          <p:cNvPr id="121" name="Google Shape;121;p3"/>
          <p:cNvSpPr/>
          <p:nvPr/>
        </p:nvSpPr>
        <p:spPr>
          <a:xfrm>
            <a:off x="6984771" y="3141422"/>
            <a:ext cx="4572000" cy="2796778"/>
          </a:xfrm>
          <a:prstGeom prst="roundRect">
            <a:avLst>
              <a:gd name="adj" fmla="val 2043"/>
            </a:avLst>
          </a:prstGeom>
          <a:noFill/>
          <a:ln>
            <a:noFill/>
          </a:ln>
        </p:spPr>
        <p:txBody>
          <a:bodyPr spcFirstLastPara="1" wrap="square" lIns="228600" tIns="274300" rIns="274300" bIns="274300" anchor="ctr"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Use this space for a 2- or 3-sentence professional bio highlighting your </a:t>
            </a:r>
            <a:r>
              <a:rPr lang="en-US" sz="1800" b="1">
                <a:solidFill>
                  <a:schemeClr val="dk1"/>
                </a:solidFill>
                <a:latin typeface="Arial"/>
                <a:ea typeface="Arial"/>
                <a:cs typeface="Arial"/>
                <a:sym typeface="Arial"/>
              </a:rPr>
              <a:t>expertise and professional history</a:t>
            </a:r>
            <a:r>
              <a:rPr lang="en-US" sz="1800">
                <a:solidFill>
                  <a:schemeClr val="dk1"/>
                </a:solidFill>
                <a:latin typeface="Arial"/>
                <a:ea typeface="Arial"/>
                <a:cs typeface="Arial"/>
                <a:sym typeface="Arial"/>
              </a:rPr>
              <a: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Use this space for a 2- or 3-sentence statement on </a:t>
            </a:r>
            <a:r>
              <a:rPr lang="en-US" sz="1800" b="1">
                <a:solidFill>
                  <a:schemeClr val="dk1"/>
                </a:solidFill>
                <a:latin typeface="Arial"/>
                <a:ea typeface="Arial"/>
                <a:cs typeface="Arial"/>
                <a:sym typeface="Arial"/>
              </a:rPr>
              <a:t>why you specialize in the college planning / financial planning niche</a:t>
            </a:r>
            <a:r>
              <a:rPr lang="en-US" sz="1800">
                <a:solidFill>
                  <a:schemeClr val="dk1"/>
                </a:solidFill>
                <a:latin typeface="Arial"/>
                <a:ea typeface="Arial"/>
                <a:cs typeface="Arial"/>
                <a:sym typeface="Arial"/>
              </a:rPr>
              <a:t>.</a:t>
            </a:r>
            <a:endParaRPr/>
          </a:p>
        </p:txBody>
      </p:sp>
      <p:sp>
        <p:nvSpPr>
          <p:cNvPr id="122" name="Google Shape;122;p3"/>
          <p:cNvSpPr/>
          <p:nvPr/>
        </p:nvSpPr>
        <p:spPr>
          <a:xfrm>
            <a:off x="3494359" y="4019187"/>
            <a:ext cx="3425741" cy="1041247"/>
          </a:xfrm>
          <a:prstGeom prst="roundRect">
            <a:avLst>
              <a:gd name="adj" fmla="val 5488"/>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1">
                <a:solidFill>
                  <a:schemeClr val="accent1"/>
                </a:solidFill>
                <a:latin typeface="Arial"/>
                <a:ea typeface="Arial"/>
                <a:cs typeface="Arial"/>
                <a:sym typeface="Arial"/>
              </a:rPr>
              <a:t>Advisor Name</a:t>
            </a:r>
            <a:endParaRPr/>
          </a:p>
          <a:p>
            <a:pPr marL="0" marR="0" lvl="0" indent="0" algn="l" rtl="0">
              <a:spcBef>
                <a:spcPts val="0"/>
              </a:spcBef>
              <a:spcAft>
                <a:spcPts val="0"/>
              </a:spcAft>
              <a:buNone/>
            </a:pPr>
            <a:r>
              <a:rPr lang="en-US" sz="1900" b="1">
                <a:solidFill>
                  <a:schemeClr val="accent5"/>
                </a:solidFill>
                <a:latin typeface="Arial"/>
                <a:ea typeface="Arial"/>
                <a:cs typeface="Arial"/>
                <a:sym typeface="Arial"/>
              </a:rPr>
              <a:t>Advisor Title</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Advisor Company Name</a:t>
            </a:r>
            <a:endParaRPr/>
          </a:p>
        </p:txBody>
      </p:sp>
      <p:pic>
        <p:nvPicPr>
          <p:cNvPr id="123" name="Google Shape;123;p3"/>
          <p:cNvPicPr preferRelativeResize="0"/>
          <p:nvPr/>
        </p:nvPicPr>
        <p:blipFill rotWithShape="1">
          <a:blip r:embed="rId3">
            <a:alphaModFix/>
          </a:blip>
          <a:srcRect/>
          <a:stretch/>
        </p:blipFill>
        <p:spPr>
          <a:xfrm>
            <a:off x="4046922" y="517968"/>
            <a:ext cx="4098153" cy="1828800"/>
          </a:xfrm>
          <a:prstGeom prst="roundRect">
            <a:avLst>
              <a:gd name="adj" fmla="val 3125"/>
            </a:avLst>
          </a:prstGeom>
          <a:noFill/>
          <a:ln>
            <a:noFill/>
          </a:ln>
        </p:spPr>
      </p:pic>
      <p:sp>
        <p:nvSpPr>
          <p:cNvPr id="124" name="Google Shape;124;p3"/>
          <p:cNvSpPr/>
          <p:nvPr/>
        </p:nvSpPr>
        <p:spPr>
          <a:xfrm>
            <a:off x="635229" y="3396810"/>
            <a:ext cx="2286000" cy="2286000"/>
          </a:xfrm>
          <a:prstGeom prst="roundRect">
            <a:avLst>
              <a:gd name="adj" fmla="val 2500"/>
            </a:avLst>
          </a:prstGeom>
          <a:solidFill>
            <a:srgbClr val="FF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(Replace with Advisor Photo)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Balancing College Funding and Retirement</a:t>
            </a:r>
            <a:endParaRPr/>
          </a:p>
        </p:txBody>
      </p:sp>
      <p:sp>
        <p:nvSpPr>
          <p:cNvPr id="131" name="Google Shape;131;p4"/>
          <p:cNvSpPr/>
          <p:nvPr/>
        </p:nvSpPr>
        <p:spPr>
          <a:xfrm>
            <a:off x="709613" y="1600198"/>
            <a:ext cx="5257800" cy="2176272"/>
          </a:xfrm>
          <a:prstGeom prst="roundRect">
            <a:avLst>
              <a:gd name="adj" fmla="val 2626"/>
            </a:avLst>
          </a:prstGeom>
          <a:solidFill>
            <a:srgbClr val="60BBFF">
              <a:alpha val="20000"/>
            </a:srgbClr>
          </a:solidFill>
          <a:ln>
            <a:noFill/>
          </a:ln>
        </p:spPr>
        <p:txBody>
          <a:bodyPr spcFirstLastPara="1" wrap="square" lIns="228600" tIns="274300" rIns="274300" bIns="274300" anchor="t" anchorCtr="0">
            <a:noAutofit/>
          </a:bodyPr>
          <a:lstStyle/>
          <a:p>
            <a:pPr marL="0" marR="0" lvl="0" indent="0" algn="l" rtl="0">
              <a:spcBef>
                <a:spcPts val="0"/>
              </a:spcBef>
              <a:spcAft>
                <a:spcPts val="0"/>
              </a:spcAft>
              <a:buNone/>
            </a:pPr>
            <a:r>
              <a:rPr lang="en-US" sz="2000" b="1" dirty="0">
                <a:solidFill>
                  <a:schemeClr val="accent5"/>
                </a:solidFill>
                <a:latin typeface="Arial"/>
                <a:ea typeface="Arial"/>
                <a:cs typeface="Arial"/>
                <a:sym typeface="Arial"/>
              </a:rPr>
              <a:t>Myth vs. Reality</a:t>
            </a:r>
            <a:endParaRPr sz="2000" dirty="0">
              <a:solidFill>
                <a:schemeClr val="accent5"/>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The tuition sticker price is not your final cost</a:t>
            </a:r>
            <a:endParaRPr dirty="0"/>
          </a:p>
        </p:txBody>
      </p:sp>
      <p:sp>
        <p:nvSpPr>
          <p:cNvPr id="132" name="Google Shape;132;p4"/>
          <p:cNvSpPr/>
          <p:nvPr/>
        </p:nvSpPr>
        <p:spPr>
          <a:xfrm>
            <a:off x="6253165" y="1600198"/>
            <a:ext cx="5257800" cy="2176272"/>
          </a:xfrm>
          <a:prstGeom prst="roundRect">
            <a:avLst>
              <a:gd name="adj" fmla="val 2626"/>
            </a:avLst>
          </a:prstGeom>
          <a:solidFill>
            <a:srgbClr val="60BBFF">
              <a:alpha val="20000"/>
            </a:srgbClr>
          </a:solidFill>
          <a:ln>
            <a:noFill/>
          </a:ln>
        </p:spPr>
        <p:txBody>
          <a:bodyPr spcFirstLastPara="1" wrap="square" lIns="228600" tIns="274300" rIns="274300" bIns="274300" anchor="t" anchorCtr="0">
            <a:noAutofit/>
          </a:bodyPr>
          <a:lstStyle/>
          <a:p>
            <a:pPr marL="0" marR="0" lvl="0" indent="0" algn="l" rtl="0">
              <a:spcBef>
                <a:spcPts val="0"/>
              </a:spcBef>
              <a:spcAft>
                <a:spcPts val="0"/>
              </a:spcAft>
              <a:buNone/>
            </a:pPr>
            <a:r>
              <a:rPr lang="en-US" sz="2000" b="1" dirty="0">
                <a:solidFill>
                  <a:schemeClr val="accent5"/>
                </a:solidFill>
                <a:latin typeface="Arial"/>
                <a:ea typeface="Arial"/>
                <a:cs typeface="Arial"/>
                <a:sym typeface="Arial"/>
              </a:rPr>
              <a:t>Institutional Aid</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Tap into private college funds to help reduce tuition</a:t>
            </a:r>
            <a:endParaRPr dirty="0"/>
          </a:p>
        </p:txBody>
      </p:sp>
      <p:sp>
        <p:nvSpPr>
          <p:cNvPr id="133" name="Google Shape;133;p4"/>
          <p:cNvSpPr/>
          <p:nvPr/>
        </p:nvSpPr>
        <p:spPr>
          <a:xfrm>
            <a:off x="709613" y="4029071"/>
            <a:ext cx="5257800" cy="2176272"/>
          </a:xfrm>
          <a:prstGeom prst="roundRect">
            <a:avLst>
              <a:gd name="adj" fmla="val 2626"/>
            </a:avLst>
          </a:prstGeom>
          <a:solidFill>
            <a:srgbClr val="60BBFF">
              <a:alpha val="20000"/>
            </a:srgbClr>
          </a:solidFill>
          <a:ln>
            <a:noFill/>
          </a:ln>
        </p:spPr>
        <p:txBody>
          <a:bodyPr spcFirstLastPara="1" wrap="square" lIns="228600" tIns="274300" rIns="274300" bIns="274300" anchor="t" anchorCtr="0">
            <a:noAutofit/>
          </a:bodyPr>
          <a:lstStyle/>
          <a:p>
            <a:pPr marL="0" marR="0" lvl="0" indent="0" algn="l" rtl="0">
              <a:spcBef>
                <a:spcPts val="0"/>
              </a:spcBef>
              <a:spcAft>
                <a:spcPts val="0"/>
              </a:spcAft>
              <a:buNone/>
            </a:pPr>
            <a:r>
              <a:rPr lang="en-US" sz="2000" b="1">
                <a:solidFill>
                  <a:schemeClr val="accent5"/>
                </a:solidFill>
                <a:latin typeface="Arial"/>
                <a:ea typeface="Arial"/>
                <a:cs typeface="Arial"/>
                <a:sym typeface="Arial"/>
              </a:rPr>
              <a:t>Long-Term Planning</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College saving, aid eligibility, and retirement planning go together</a:t>
            </a:r>
            <a:endParaRPr/>
          </a:p>
        </p:txBody>
      </p:sp>
      <p:sp>
        <p:nvSpPr>
          <p:cNvPr id="134" name="Google Shape;134;p4"/>
          <p:cNvSpPr/>
          <p:nvPr/>
        </p:nvSpPr>
        <p:spPr>
          <a:xfrm>
            <a:off x="6253165" y="4029071"/>
            <a:ext cx="5257800" cy="2176272"/>
          </a:xfrm>
          <a:prstGeom prst="roundRect">
            <a:avLst>
              <a:gd name="adj" fmla="val 2626"/>
            </a:avLst>
          </a:prstGeom>
          <a:solidFill>
            <a:srgbClr val="60BBFF">
              <a:alpha val="20000"/>
            </a:srgbClr>
          </a:solidFill>
          <a:ln>
            <a:noFill/>
          </a:ln>
        </p:spPr>
        <p:txBody>
          <a:bodyPr spcFirstLastPara="1" wrap="square" lIns="228600" tIns="274300" rIns="274300" bIns="274300" anchor="t" anchorCtr="0">
            <a:noAutofit/>
          </a:bodyPr>
          <a:lstStyle/>
          <a:p>
            <a:pPr marL="0" marR="0" lvl="0" indent="0" algn="l" rtl="0">
              <a:spcBef>
                <a:spcPts val="0"/>
              </a:spcBef>
              <a:spcAft>
                <a:spcPts val="0"/>
              </a:spcAft>
              <a:buNone/>
            </a:pPr>
            <a:r>
              <a:rPr lang="en-US" sz="2000" b="1">
                <a:solidFill>
                  <a:schemeClr val="accent5"/>
                </a:solidFill>
                <a:latin typeface="Arial"/>
                <a:ea typeface="Arial"/>
                <a:cs typeface="Arial"/>
                <a:sym typeface="Arial"/>
              </a:rPr>
              <a:t>Strategic Clarity</a:t>
            </a:r>
            <a:endParaRPr sz="2000">
              <a:solidFill>
                <a:schemeClr val="accent5"/>
              </a:solidFill>
              <a:latin typeface="Arial"/>
              <a:ea typeface="Arial"/>
              <a:cs typeface="Arial"/>
              <a:sym typeface="Arial"/>
            </a:endParaRPr>
          </a:p>
          <a:p>
            <a:pPr marL="0" marR="0" lvl="0" indent="0" algn="l" rtl="0">
              <a:spcBef>
                <a:spcPts val="0"/>
              </a:spcBef>
              <a:spcAft>
                <a:spcPts val="0"/>
              </a:spcAft>
              <a:buNone/>
            </a:pPr>
            <a:r>
              <a:rPr lang="en-US" sz="2000">
                <a:solidFill>
                  <a:schemeClr val="dk1"/>
                </a:solidFill>
                <a:latin typeface="Arial"/>
                <a:ea typeface="Arial"/>
                <a:cs typeface="Arial"/>
                <a:sym typeface="Arial"/>
              </a:rPr>
              <a:t>Replace guesswork with knowledge-based financial strategies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Sticker Price Illusion and The Cost of Education</a:t>
            </a:r>
            <a:endParaRPr/>
          </a:p>
        </p:txBody>
      </p:sp>
      <p:sp>
        <p:nvSpPr>
          <p:cNvPr id="141" name="Google Shape;141;p5"/>
          <p:cNvSpPr>
            <a:spLocks noGrp="1"/>
          </p:cNvSpPr>
          <p:nvPr>
            <p:ph type="body" idx="1"/>
          </p:nvPr>
        </p:nvSpPr>
        <p:spPr>
          <a:xfrm>
            <a:off x="594141" y="1605623"/>
            <a:ext cx="11298793" cy="2549470"/>
          </a:xfrm>
          <a:prstGeom prst="roundRect">
            <a:avLst>
              <a:gd name="adj" fmla="val 2241"/>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2000"/>
              <a:buNone/>
            </a:pPr>
            <a:r>
              <a:rPr lang="en-US" b="1" dirty="0">
                <a:solidFill>
                  <a:schemeClr val="accent1"/>
                </a:solidFill>
              </a:rPr>
              <a:t>Tuition vs. Inflation</a:t>
            </a:r>
            <a:endParaRPr dirty="0"/>
          </a:p>
          <a:p>
            <a:pPr marL="228600" lvl="0" indent="-228600" algn="l" rtl="0">
              <a:lnSpc>
                <a:spcPct val="50000"/>
              </a:lnSpc>
              <a:spcBef>
                <a:spcPts val="1000"/>
              </a:spcBef>
              <a:spcAft>
                <a:spcPts val="0"/>
              </a:spcAft>
              <a:buClr>
                <a:schemeClr val="dk1"/>
              </a:buClr>
              <a:buSzPts val="2000"/>
              <a:buChar char="•"/>
            </a:pPr>
            <a:r>
              <a:rPr lang="en-US" dirty="0"/>
              <a:t>Since 2000, college costs have risen roughly </a:t>
            </a:r>
            <a:r>
              <a:rPr lang="en-US" b="1" dirty="0"/>
              <a:t>41% </a:t>
            </a:r>
            <a:r>
              <a:rPr lang="en-US" dirty="0"/>
              <a:t>faster than the rate of inflation.</a:t>
            </a:r>
            <a:endParaRPr dirty="0"/>
          </a:p>
          <a:p>
            <a:pPr marL="0" lvl="0" indent="0" algn="l" rtl="0">
              <a:lnSpc>
                <a:spcPct val="100000"/>
              </a:lnSpc>
              <a:spcBef>
                <a:spcPts val="1000"/>
              </a:spcBef>
              <a:spcAft>
                <a:spcPts val="0"/>
              </a:spcAft>
              <a:buClr>
                <a:schemeClr val="accent1"/>
              </a:buClr>
              <a:buSzPts val="2000"/>
              <a:buNone/>
            </a:pPr>
            <a:r>
              <a:rPr lang="en-US" b="1" dirty="0">
                <a:solidFill>
                  <a:schemeClr val="accent1"/>
                </a:solidFill>
              </a:rPr>
              <a:t>The List Price vs. The Net Price</a:t>
            </a:r>
            <a:endParaRPr dirty="0"/>
          </a:p>
          <a:p>
            <a:pPr marL="228600" lvl="0" indent="-228600" algn="l" rtl="0">
              <a:lnSpc>
                <a:spcPct val="50000"/>
              </a:lnSpc>
              <a:spcBef>
                <a:spcPts val="1000"/>
              </a:spcBef>
              <a:spcAft>
                <a:spcPts val="0"/>
              </a:spcAft>
              <a:buClr>
                <a:schemeClr val="dk1"/>
              </a:buClr>
              <a:buSzPts val="2000"/>
              <a:buChar char="•"/>
            </a:pPr>
            <a:r>
              <a:rPr lang="en-US" dirty="0"/>
              <a:t>Understand the widening gap between the sticker price and what families actually pay.</a:t>
            </a:r>
            <a:endParaRPr dirty="0"/>
          </a:p>
          <a:p>
            <a:pPr marL="0" lvl="0" indent="0" algn="l" rtl="0">
              <a:lnSpc>
                <a:spcPct val="100000"/>
              </a:lnSpc>
              <a:spcBef>
                <a:spcPts val="1000"/>
              </a:spcBef>
              <a:spcAft>
                <a:spcPts val="0"/>
              </a:spcAft>
              <a:buClr>
                <a:schemeClr val="accent1"/>
              </a:buClr>
              <a:buSzPts val="2000"/>
              <a:buNone/>
            </a:pPr>
            <a:r>
              <a:rPr lang="en-US" b="1" dirty="0">
                <a:solidFill>
                  <a:schemeClr val="accent1"/>
                </a:solidFill>
              </a:rPr>
              <a:t>Private College Discount Rate</a:t>
            </a:r>
            <a:endParaRPr dirty="0"/>
          </a:p>
          <a:p>
            <a:pPr marL="228600" lvl="0" indent="-228600" algn="l" rtl="0">
              <a:lnSpc>
                <a:spcPct val="100000"/>
              </a:lnSpc>
              <a:spcBef>
                <a:spcPts val="1000"/>
              </a:spcBef>
              <a:spcAft>
                <a:spcPts val="0"/>
              </a:spcAft>
              <a:buClr>
                <a:schemeClr val="dk1"/>
              </a:buClr>
              <a:buSzPts val="2000"/>
              <a:buFont typeface="Arial"/>
              <a:buChar char="•"/>
            </a:pPr>
            <a:r>
              <a:rPr lang="en-US" dirty="0"/>
              <a:t>Institutional aid has expanded to historically high levels. Average discount rates at private colleges now exceed 50%.</a:t>
            </a:r>
            <a:endParaRPr baseline="30000" dirty="0"/>
          </a:p>
        </p:txBody>
      </p:sp>
      <p:sp>
        <p:nvSpPr>
          <p:cNvPr id="142" name="Google Shape;142;p5"/>
          <p:cNvSpPr/>
          <p:nvPr/>
        </p:nvSpPr>
        <p:spPr>
          <a:xfrm>
            <a:off x="594141" y="4332995"/>
            <a:ext cx="11003716" cy="1098054"/>
          </a:xfrm>
          <a:prstGeom prst="roundRect">
            <a:avLst>
              <a:gd name="adj" fmla="val 5204"/>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dirty="0">
                <a:solidFill>
                  <a:schemeClr val="accent5"/>
                </a:solidFill>
                <a:latin typeface="Arial"/>
                <a:ea typeface="Arial"/>
                <a:cs typeface="Arial"/>
                <a:sym typeface="Arial"/>
              </a:rPr>
              <a:t>Key Takeaway: </a:t>
            </a:r>
            <a:r>
              <a:rPr lang="en-US" sz="2000" i="1" dirty="0">
                <a:solidFill>
                  <a:schemeClr val="accent5"/>
                </a:solidFill>
                <a:latin typeface="Arial"/>
                <a:ea typeface="Arial"/>
                <a:cs typeface="Arial"/>
                <a:sym typeface="Arial"/>
              </a:rPr>
              <a:t>Student debt</a:t>
            </a:r>
            <a:r>
              <a:rPr lang="en-US" sz="2000" dirty="0">
                <a:solidFill>
                  <a:schemeClr val="accent5"/>
                </a:solidFill>
                <a:latin typeface="Arial"/>
                <a:ea typeface="Arial"/>
                <a:cs typeface="Arial"/>
                <a:sym typeface="Arial"/>
              </a:rPr>
              <a:t> may be a result of misunderstanding the aid process and how to navigate it comprehensively and proactively.</a:t>
            </a:r>
            <a:endParaRPr dirty="0"/>
          </a:p>
        </p:txBody>
      </p:sp>
      <p:sp>
        <p:nvSpPr>
          <p:cNvPr id="143" name="Google Shape;143;p5"/>
          <p:cNvSpPr txBox="1"/>
          <p:nvPr/>
        </p:nvSpPr>
        <p:spPr>
          <a:xfrm>
            <a:off x="594141" y="5629455"/>
            <a:ext cx="8498691"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dirty="0">
                <a:solidFill>
                  <a:schemeClr val="dk1"/>
                </a:solidFill>
                <a:latin typeface="Arial"/>
                <a:ea typeface="Arial"/>
                <a:cs typeface="Arial"/>
                <a:sym typeface="Arial"/>
              </a:rPr>
              <a:t>Sources:</a:t>
            </a:r>
            <a:endParaRPr dirty="0"/>
          </a:p>
          <a:p>
            <a:pPr marL="0" marR="0" lvl="0" indent="0" algn="l" rtl="0">
              <a:spcBef>
                <a:spcPts val="0"/>
              </a:spcBef>
              <a:spcAft>
                <a:spcPts val="0"/>
              </a:spcAft>
              <a:buNone/>
            </a:pPr>
            <a:r>
              <a:rPr lang="en-US" sz="1000" dirty="0">
                <a:solidFill>
                  <a:schemeClr val="dk1"/>
                </a:solidFill>
                <a:latin typeface="Arial"/>
                <a:ea typeface="Arial"/>
                <a:cs typeface="Arial"/>
                <a:sym typeface="Arial"/>
              </a:rPr>
              <a:t>Education Data Initiative, 2025-2026 data parameters. </a:t>
            </a:r>
            <a:r>
              <a:rPr lang="en-US" sz="1000" u="sng" dirty="0">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https://educationdata.org/average-cost-of-college-by-year</a:t>
            </a:r>
            <a:endParaRPr sz="1000" dirty="0">
              <a:solidFill>
                <a:schemeClr val="dk1"/>
              </a:solidFill>
              <a:latin typeface="Arial"/>
              <a:ea typeface="Arial"/>
              <a:cs typeface="Arial"/>
              <a:sym typeface="Arial"/>
            </a:endParaRPr>
          </a:p>
          <a:p>
            <a:pPr marL="0" marR="0" lvl="0" indent="0" algn="l" rtl="0">
              <a:spcBef>
                <a:spcPts val="0"/>
              </a:spcBef>
              <a:spcAft>
                <a:spcPts val="0"/>
              </a:spcAft>
              <a:buNone/>
            </a:pPr>
            <a:r>
              <a:rPr lang="en-US" sz="1000" dirty="0">
                <a:solidFill>
                  <a:schemeClr val="dk1"/>
                </a:solidFill>
                <a:latin typeface="Arial"/>
                <a:ea typeface="Arial"/>
                <a:cs typeface="Arial"/>
                <a:sym typeface="Arial"/>
              </a:rPr>
              <a:t>National Association of College and University Business Officers (NACUBO), “Most Undergraduates Receive Grants at Private Colleges.”</a:t>
            </a:r>
            <a:endParaRPr dirty="0"/>
          </a:p>
          <a:p>
            <a:pPr marL="0" marR="0" lvl="0" indent="0" algn="l" rtl="0">
              <a:spcBef>
                <a:spcPts val="0"/>
              </a:spcBef>
              <a:spcAft>
                <a:spcPts val="0"/>
              </a:spcAft>
              <a:buNone/>
            </a:pPr>
            <a:r>
              <a:rPr lang="en-US" sz="1000" u="sng" dirty="0">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https://www.nacubo.org/Press-Releases/2026/Most-Undergraduates-Receive-Grants-at-Private-Colleges-NACUBO-Research-Shows</a:t>
            </a:r>
            <a:endParaRPr sz="1000" dirty="0">
              <a:solidFill>
                <a:schemeClr val="dk1"/>
              </a:solidFill>
              <a:latin typeface="Arial"/>
              <a:ea typeface="Arial"/>
              <a:cs typeface="Arial"/>
              <a:sym typeface="Arial"/>
            </a:endParaRPr>
          </a:p>
          <a:p>
            <a:pPr marL="0" marR="0" lvl="0" indent="0" algn="l" rtl="0">
              <a:spcBef>
                <a:spcPts val="0"/>
              </a:spcBef>
              <a:spcAft>
                <a:spcPts val="0"/>
              </a:spcAft>
              <a:buNone/>
            </a:pPr>
            <a:r>
              <a:rPr lang="en-US" sz="1000" dirty="0">
                <a:solidFill>
                  <a:schemeClr val="dk1"/>
                </a:solidFill>
                <a:latin typeface="Arial"/>
                <a:ea typeface="Arial"/>
                <a:cs typeface="Arial"/>
                <a:sym typeface="Arial"/>
              </a:rPr>
              <a:t>The College Board: Trends and Highlights, 2024-2025. </a:t>
            </a:r>
            <a:r>
              <a:rPr lang="en-US" sz="1000" u="sng" dirty="0">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https://research.collegeboard.org/trends/student-aid/highlights</a:t>
            </a:r>
            <a:r>
              <a:rPr lang="en-US" sz="1000" dirty="0">
                <a:solidFill>
                  <a:schemeClr val="dk1"/>
                </a:solidFill>
                <a:latin typeface="Arial"/>
                <a:ea typeface="Arial"/>
                <a:cs typeface="Arial"/>
                <a:sym typeface="Arial"/>
              </a:rPr>
              <a:t>,</a:t>
            </a:r>
            <a:br>
              <a:rPr lang="en-US" sz="1000" dirty="0">
                <a:solidFill>
                  <a:schemeClr val="dk1"/>
                </a:solidFill>
                <a:latin typeface="Arial"/>
                <a:ea typeface="Arial"/>
                <a:cs typeface="Arial"/>
                <a:sym typeface="Arial"/>
              </a:rPr>
            </a:br>
            <a:r>
              <a:rPr lang="en-US" sz="1000" dirty="0">
                <a:solidFill>
                  <a:schemeClr val="dk1"/>
                </a:solidFill>
                <a:latin typeface="Arial"/>
                <a:ea typeface="Arial"/>
                <a:cs typeface="Arial"/>
                <a:sym typeface="Arial"/>
              </a:rPr>
              <a:t>National Center for Education Statistics (NCES). Average Tuition &amp; Fees, 2024-2025. </a:t>
            </a:r>
            <a:r>
              <a:rPr lang="en-US" sz="1000" u="sng" dirty="0">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https://nces.ed.gov/programs/digest/d24/tables/dt24_330.10.asp</a:t>
            </a:r>
            <a:endParaRPr sz="1000" dirty="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2" name="Graphic 1">
            <a:extLst>
              <a:ext uri="{FF2B5EF4-FFF2-40B4-BE49-F238E27FC236}">
                <a16:creationId xmlns:a16="http://schemas.microsoft.com/office/drawing/2014/main" id="{65254026-FD5B-8294-C132-1D879272940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12648" y="1828800"/>
            <a:ext cx="10972800" cy="4049188"/>
          </a:xfrm>
          <a:prstGeom prst="roundRect">
            <a:avLst>
              <a:gd name="adj" fmla="val 1411"/>
            </a:avLst>
          </a:prstGeom>
        </p:spPr>
      </p:pic>
      <p:sp>
        <p:nvSpPr>
          <p:cNvPr id="149" name="Google Shape;149;p6"/>
          <p:cNvSpPr/>
          <p:nvPr/>
        </p:nvSpPr>
        <p:spPr>
          <a:xfrm>
            <a:off x="609601" y="1894636"/>
            <a:ext cx="10972800" cy="4049188"/>
          </a:xfrm>
          <a:prstGeom prst="roundRect">
            <a:avLst>
              <a:gd name="adj" fmla="val 1411"/>
            </a:avLst>
          </a:prstGeom>
          <a:noFill/>
          <a:ln>
            <a:noFill/>
          </a:ln>
        </p:spPr>
        <p:txBody>
          <a:bodyPr/>
          <a:lstStyle/>
          <a:p>
            <a:endParaRPr lang="en-US"/>
          </a:p>
        </p:txBody>
      </p:sp>
      <p:sp>
        <p:nvSpPr>
          <p:cNvPr id="150" name="Google Shape;150;p6"/>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The Data Tells the Story</a:t>
            </a:r>
            <a:endParaRPr/>
          </a:p>
        </p:txBody>
      </p:sp>
      <p:sp>
        <p:nvSpPr>
          <p:cNvPr id="151" name="Google Shape;151;p6"/>
          <p:cNvSpPr/>
          <p:nvPr/>
        </p:nvSpPr>
        <p:spPr>
          <a:xfrm>
            <a:off x="625547" y="5742906"/>
            <a:ext cx="8835445" cy="967978"/>
          </a:xfrm>
          <a:prstGeom prst="roundRect">
            <a:avLst>
              <a:gd name="adj" fmla="val 5904"/>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dirty="0">
                <a:solidFill>
                  <a:schemeClr val="dk1"/>
                </a:solidFill>
                <a:latin typeface="Arial"/>
                <a:ea typeface="Arial"/>
                <a:cs typeface="Arial"/>
                <a:sym typeface="Arial"/>
              </a:rPr>
              <a:t>Sources:</a:t>
            </a:r>
            <a:br>
              <a:rPr lang="en-US" sz="1000" dirty="0">
                <a:solidFill>
                  <a:schemeClr val="dk1"/>
                </a:solidFill>
                <a:latin typeface="Arial"/>
                <a:ea typeface="Arial"/>
                <a:cs typeface="Arial"/>
                <a:sym typeface="Arial"/>
              </a:rPr>
            </a:br>
            <a:r>
              <a:rPr lang="en-US" sz="1000" dirty="0">
                <a:solidFill>
                  <a:schemeClr val="dk1"/>
                </a:solidFill>
                <a:latin typeface="Arial"/>
                <a:ea typeface="Arial"/>
                <a:cs typeface="Arial"/>
                <a:sym typeface="Arial"/>
              </a:rPr>
              <a:t>Education Data Initiative, 2025-2026 data parameters. </a:t>
            </a:r>
            <a:r>
              <a:rPr lang="en-US" sz="1000" u="sng" dirty="0">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https://educationdata.org/average-cost-of-college-by-year</a:t>
            </a:r>
            <a:endParaRPr sz="1000" dirty="0">
              <a:solidFill>
                <a:schemeClr val="dk1"/>
              </a:solidFill>
              <a:latin typeface="Arial"/>
              <a:ea typeface="Arial"/>
              <a:cs typeface="Arial"/>
              <a:sym typeface="Arial"/>
            </a:endParaRPr>
          </a:p>
          <a:p>
            <a:pPr marL="0" marR="0" lvl="0" indent="0" algn="l" rtl="0">
              <a:spcBef>
                <a:spcPts val="0"/>
              </a:spcBef>
              <a:spcAft>
                <a:spcPts val="0"/>
              </a:spcAft>
              <a:buNone/>
            </a:pPr>
            <a:r>
              <a:rPr lang="en-US" sz="1000" dirty="0">
                <a:solidFill>
                  <a:schemeClr val="dk1"/>
                </a:solidFill>
                <a:latin typeface="Arial"/>
                <a:ea typeface="Arial"/>
                <a:cs typeface="Arial"/>
                <a:sym typeface="Arial"/>
              </a:rPr>
              <a:t>National Association of College and University Business Officers (NACUBO), “Most Undergraduates Receive Grants at Private Colleges.”</a:t>
            </a:r>
            <a:endParaRPr dirty="0"/>
          </a:p>
          <a:p>
            <a:pPr marL="0" marR="0" lvl="0" indent="0" algn="l" rtl="0">
              <a:spcBef>
                <a:spcPts val="0"/>
              </a:spcBef>
              <a:spcAft>
                <a:spcPts val="0"/>
              </a:spcAft>
              <a:buNone/>
            </a:pPr>
            <a:r>
              <a:rPr lang="en-US" sz="1000" u="sng" dirty="0">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https://www.nacubo.org/Press-Releases/2026/Most-Undergraduates-Receive-Grants-at-Private-Colleges-NACUBO-Research-Shows</a:t>
            </a:r>
            <a:endParaRPr sz="1000" dirty="0">
              <a:solidFill>
                <a:schemeClr val="dk1"/>
              </a:solidFill>
              <a:latin typeface="Arial"/>
              <a:ea typeface="Arial"/>
              <a:cs typeface="Arial"/>
              <a:sym typeface="Arial"/>
            </a:endParaRPr>
          </a:p>
          <a:p>
            <a:pPr marL="0" marR="0" lvl="0" indent="0" algn="l" rtl="0">
              <a:spcBef>
                <a:spcPts val="0"/>
              </a:spcBef>
              <a:spcAft>
                <a:spcPts val="0"/>
              </a:spcAft>
              <a:buNone/>
            </a:pPr>
            <a:r>
              <a:rPr lang="en-US" sz="1000" dirty="0">
                <a:solidFill>
                  <a:schemeClr val="dk1"/>
                </a:solidFill>
                <a:latin typeface="Arial"/>
                <a:ea typeface="Arial"/>
                <a:cs typeface="Arial"/>
                <a:sym typeface="Arial"/>
              </a:rPr>
              <a:t>National Center for Education Statistics (NCES). Average Tuition &amp; Fees, 2024-2025. </a:t>
            </a:r>
            <a:r>
              <a:rPr lang="en-US" sz="1000" u="sng" dirty="0">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https://nces.ed.gov/programs/digest/d24/tables/dt24_330.10.asp</a:t>
            </a:r>
            <a:br>
              <a:rPr lang="en-US" sz="1000" dirty="0">
                <a:solidFill>
                  <a:schemeClr val="dk1"/>
                </a:solidFill>
                <a:latin typeface="Arial"/>
                <a:ea typeface="Arial"/>
                <a:cs typeface="Arial"/>
                <a:sym typeface="Arial"/>
              </a:rPr>
            </a:br>
            <a:endParaRPr sz="1000" dirty="0">
              <a:solidFill>
                <a:schemeClr val="dk1"/>
              </a:solidFill>
              <a:latin typeface="Arial"/>
              <a:ea typeface="Arial"/>
              <a:cs typeface="Arial"/>
              <a:sym typeface="Arial"/>
            </a:endParaRPr>
          </a:p>
        </p:txBody>
      </p:sp>
      <p:sp>
        <p:nvSpPr>
          <p:cNvPr id="152" name="Google Shape;152;p6"/>
          <p:cNvSpPr/>
          <p:nvPr/>
        </p:nvSpPr>
        <p:spPr>
          <a:xfrm>
            <a:off x="998035" y="1332088"/>
            <a:ext cx="3838414" cy="307777"/>
          </a:xfrm>
          <a:prstGeom prst="roundRect">
            <a:avLst>
              <a:gd name="adj" fmla="val 18568"/>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dirty="0">
                <a:solidFill>
                  <a:schemeClr val="accent1"/>
                </a:solidFill>
                <a:latin typeface="Arial"/>
                <a:ea typeface="Arial"/>
                <a:cs typeface="Arial"/>
                <a:sym typeface="Arial"/>
              </a:rPr>
              <a:t>Public vs Private Trends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2" name="Graphic 1">
            <a:extLst>
              <a:ext uri="{FF2B5EF4-FFF2-40B4-BE49-F238E27FC236}">
                <a16:creationId xmlns:a16="http://schemas.microsoft.com/office/drawing/2014/main" id="{B3292E6E-D6F6-319D-1552-C6797ED99F6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09600" y="1828800"/>
            <a:ext cx="10972799" cy="4049188"/>
          </a:xfrm>
          <a:prstGeom prst="roundRect">
            <a:avLst>
              <a:gd name="adj" fmla="val 1411"/>
            </a:avLst>
          </a:prstGeom>
        </p:spPr>
      </p:pic>
      <p:sp>
        <p:nvSpPr>
          <p:cNvPr id="158" name="Google Shape;158;p7"/>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The Data Tells the Story</a:t>
            </a:r>
            <a:endParaRPr/>
          </a:p>
        </p:txBody>
      </p:sp>
      <p:sp>
        <p:nvSpPr>
          <p:cNvPr id="159" name="Google Shape;159;p7"/>
          <p:cNvSpPr/>
          <p:nvPr/>
        </p:nvSpPr>
        <p:spPr>
          <a:xfrm>
            <a:off x="998035" y="1332088"/>
            <a:ext cx="3838414" cy="307777"/>
          </a:xfrm>
          <a:prstGeom prst="roundRect">
            <a:avLst>
              <a:gd name="adj" fmla="val 18568"/>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a:solidFill>
                  <a:schemeClr val="accent1"/>
                </a:solidFill>
                <a:latin typeface="Arial"/>
                <a:ea typeface="Arial"/>
                <a:cs typeface="Arial"/>
                <a:sym typeface="Arial"/>
              </a:rPr>
              <a:t>Average Trends</a:t>
            </a:r>
            <a:endParaRPr/>
          </a:p>
        </p:txBody>
      </p:sp>
      <p:sp>
        <p:nvSpPr>
          <p:cNvPr id="160" name="Google Shape;160;p7"/>
          <p:cNvSpPr/>
          <p:nvPr/>
        </p:nvSpPr>
        <p:spPr>
          <a:xfrm>
            <a:off x="609601" y="1894636"/>
            <a:ext cx="10972799" cy="4049188"/>
          </a:xfrm>
          <a:prstGeom prst="roundRect">
            <a:avLst>
              <a:gd name="adj" fmla="val 1411"/>
            </a:avLst>
          </a:prstGeom>
          <a:noFill/>
          <a:ln>
            <a:noFill/>
          </a:ln>
        </p:spPr>
        <p:txBody>
          <a:bodyPr/>
          <a:lstStyle/>
          <a:p>
            <a:endParaRPr lang="en-US"/>
          </a:p>
        </p:txBody>
      </p:sp>
      <p:sp>
        <p:nvSpPr>
          <p:cNvPr id="3" name="Google Shape;151;p6">
            <a:extLst>
              <a:ext uri="{FF2B5EF4-FFF2-40B4-BE49-F238E27FC236}">
                <a16:creationId xmlns:a16="http://schemas.microsoft.com/office/drawing/2014/main" id="{8303F18A-4A36-0E61-7856-4C086AFC3B15}"/>
              </a:ext>
            </a:extLst>
          </p:cNvPr>
          <p:cNvSpPr/>
          <p:nvPr/>
        </p:nvSpPr>
        <p:spPr>
          <a:xfrm>
            <a:off x="625547" y="5742906"/>
            <a:ext cx="8835445" cy="967978"/>
          </a:xfrm>
          <a:prstGeom prst="roundRect">
            <a:avLst>
              <a:gd name="adj" fmla="val 5904"/>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dirty="0">
                <a:solidFill>
                  <a:schemeClr val="dk1"/>
                </a:solidFill>
                <a:latin typeface="Arial"/>
                <a:ea typeface="Arial"/>
                <a:cs typeface="Arial"/>
                <a:sym typeface="Arial"/>
              </a:rPr>
              <a:t>Sources:</a:t>
            </a:r>
            <a:br>
              <a:rPr lang="en-US" sz="1000" dirty="0">
                <a:solidFill>
                  <a:schemeClr val="dk1"/>
                </a:solidFill>
                <a:latin typeface="Arial"/>
                <a:ea typeface="Arial"/>
                <a:cs typeface="Arial"/>
                <a:sym typeface="Arial"/>
              </a:rPr>
            </a:br>
            <a:r>
              <a:rPr lang="en-US" sz="1000" dirty="0">
                <a:solidFill>
                  <a:schemeClr val="dk1"/>
                </a:solidFill>
                <a:latin typeface="Arial"/>
                <a:ea typeface="Arial"/>
                <a:cs typeface="Arial"/>
                <a:sym typeface="Arial"/>
              </a:rPr>
              <a:t>Education Data Initiative, 2025-2026 data parameters. </a:t>
            </a:r>
            <a:r>
              <a:rPr lang="en-US" sz="1000" u="sng" dirty="0">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https://educationdata.org/average-cost-of-college-by-year</a:t>
            </a:r>
            <a:endParaRPr sz="1000" dirty="0">
              <a:solidFill>
                <a:schemeClr val="dk1"/>
              </a:solidFill>
              <a:latin typeface="Arial"/>
              <a:ea typeface="Arial"/>
              <a:cs typeface="Arial"/>
              <a:sym typeface="Arial"/>
            </a:endParaRPr>
          </a:p>
          <a:p>
            <a:pPr marL="0" marR="0" lvl="0" indent="0" algn="l" rtl="0">
              <a:spcBef>
                <a:spcPts val="0"/>
              </a:spcBef>
              <a:spcAft>
                <a:spcPts val="0"/>
              </a:spcAft>
              <a:buNone/>
            </a:pPr>
            <a:r>
              <a:rPr lang="en-US" sz="1000" dirty="0">
                <a:solidFill>
                  <a:schemeClr val="dk1"/>
                </a:solidFill>
                <a:latin typeface="Arial"/>
                <a:ea typeface="Arial"/>
                <a:cs typeface="Arial"/>
                <a:sym typeface="Arial"/>
              </a:rPr>
              <a:t>National Association of College and University Business Officers (NACUBO), “Most Undergraduates Receive Grants at Private Colleges.”</a:t>
            </a:r>
            <a:endParaRPr dirty="0"/>
          </a:p>
          <a:p>
            <a:pPr marL="0" marR="0" lvl="0" indent="0" algn="l" rtl="0">
              <a:spcBef>
                <a:spcPts val="0"/>
              </a:spcBef>
              <a:spcAft>
                <a:spcPts val="0"/>
              </a:spcAft>
              <a:buNone/>
            </a:pPr>
            <a:r>
              <a:rPr lang="en-US" sz="1000" u="sng" dirty="0">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https://www.nacubo.org/Press-Releases/2026/Most-Undergraduates-Receive-Grants-at-Private-Colleges-NACUBO-Research-Shows</a:t>
            </a:r>
            <a:endParaRPr sz="1000" dirty="0">
              <a:solidFill>
                <a:schemeClr val="dk1"/>
              </a:solidFill>
              <a:latin typeface="Arial"/>
              <a:ea typeface="Arial"/>
              <a:cs typeface="Arial"/>
              <a:sym typeface="Arial"/>
            </a:endParaRPr>
          </a:p>
          <a:p>
            <a:pPr marL="0" marR="0" lvl="0" indent="0" algn="l" rtl="0">
              <a:spcBef>
                <a:spcPts val="0"/>
              </a:spcBef>
              <a:spcAft>
                <a:spcPts val="0"/>
              </a:spcAft>
              <a:buNone/>
            </a:pPr>
            <a:r>
              <a:rPr lang="en-US" sz="1000" dirty="0">
                <a:solidFill>
                  <a:schemeClr val="dk1"/>
                </a:solidFill>
                <a:latin typeface="Arial"/>
                <a:ea typeface="Arial"/>
                <a:cs typeface="Arial"/>
                <a:sym typeface="Arial"/>
              </a:rPr>
              <a:t>National Center for Education Statistics (NCES). Average Tuition &amp; Fees, 2024-2025. </a:t>
            </a:r>
            <a:r>
              <a:rPr lang="en-US" sz="1000" u="sng" dirty="0">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https://nces.ed.gov/programs/digest/d24/tables/dt24_330.10.asp</a:t>
            </a:r>
            <a:br>
              <a:rPr lang="en-US" sz="1000" dirty="0">
                <a:solidFill>
                  <a:schemeClr val="dk1"/>
                </a:solidFill>
                <a:latin typeface="Arial"/>
                <a:ea typeface="Arial"/>
                <a:cs typeface="Arial"/>
                <a:sym typeface="Arial"/>
              </a:rPr>
            </a:br>
            <a:endParaRPr sz="1000" dirty="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8"/>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dirty="0"/>
              <a:t>The Aid System and Admissions</a:t>
            </a:r>
            <a:endParaRPr dirty="0"/>
          </a:p>
        </p:txBody>
      </p:sp>
      <p:sp>
        <p:nvSpPr>
          <p:cNvPr id="168" name="Google Shape;168;p8"/>
          <p:cNvSpPr>
            <a:spLocks noGrp="1"/>
          </p:cNvSpPr>
          <p:nvPr>
            <p:ph type="body" idx="1"/>
          </p:nvPr>
        </p:nvSpPr>
        <p:spPr>
          <a:xfrm>
            <a:off x="644525" y="3309303"/>
            <a:ext cx="2514600" cy="950119"/>
          </a:xfrm>
          <a:prstGeom prst="roundRect">
            <a:avLst>
              <a:gd name="adj" fmla="val 6015"/>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1800"/>
              <a:buNone/>
            </a:pPr>
            <a:r>
              <a:rPr lang="en-US"/>
              <a:t>Total student aid has expanded to over $275 billion annually.</a:t>
            </a:r>
            <a:endParaRPr baseline="30000"/>
          </a:p>
        </p:txBody>
      </p:sp>
      <p:sp>
        <p:nvSpPr>
          <p:cNvPr id="169" name="Google Shape;169;p8"/>
          <p:cNvSpPr>
            <a:spLocks noGrp="1"/>
          </p:cNvSpPr>
          <p:nvPr>
            <p:ph type="body" idx="2"/>
          </p:nvPr>
        </p:nvSpPr>
        <p:spPr>
          <a:xfrm>
            <a:off x="3444875" y="3309303"/>
            <a:ext cx="2514600" cy="1477328"/>
          </a:xfrm>
          <a:prstGeom prst="roundRect">
            <a:avLst>
              <a:gd name="adj" fmla="val 3868"/>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1800"/>
              <a:buNone/>
            </a:pPr>
            <a:r>
              <a:rPr lang="en-US"/>
              <a:t>Colleges are now the largest providers of grant aid, surpassing federal and state governments.</a:t>
            </a:r>
            <a:endParaRPr/>
          </a:p>
        </p:txBody>
      </p:sp>
      <p:sp>
        <p:nvSpPr>
          <p:cNvPr id="170" name="Google Shape;170;p8"/>
          <p:cNvSpPr>
            <a:spLocks noGrp="1"/>
          </p:cNvSpPr>
          <p:nvPr>
            <p:ph type="body" idx="3"/>
          </p:nvPr>
        </p:nvSpPr>
        <p:spPr>
          <a:xfrm>
            <a:off x="6248400" y="3309303"/>
            <a:ext cx="2514600" cy="1200329"/>
          </a:xfrm>
          <a:prstGeom prst="roundRect">
            <a:avLst>
              <a:gd name="adj" fmla="val 4761"/>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1800"/>
              <a:buNone/>
            </a:pPr>
            <a:r>
              <a:rPr lang="en-US"/>
              <a:t>Schools use aid and enrollment strategies to discount tuition for students they want.</a:t>
            </a:r>
            <a:endParaRPr/>
          </a:p>
        </p:txBody>
      </p:sp>
      <p:sp>
        <p:nvSpPr>
          <p:cNvPr id="171" name="Google Shape;171;p8"/>
          <p:cNvSpPr>
            <a:spLocks noGrp="1"/>
          </p:cNvSpPr>
          <p:nvPr>
            <p:ph type="body" idx="4"/>
          </p:nvPr>
        </p:nvSpPr>
        <p:spPr>
          <a:xfrm>
            <a:off x="9045575" y="3309303"/>
            <a:ext cx="2514600" cy="1754326"/>
          </a:xfrm>
          <a:prstGeom prst="roundRect">
            <a:avLst>
              <a:gd name="adj" fmla="val 3257"/>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1800"/>
              <a:buNone/>
            </a:pPr>
            <a:r>
              <a:rPr lang="en-US"/>
              <a:t>The process went from a simple one-page form to highly detailed forms with hundreds of questions.</a:t>
            </a:r>
            <a:endParaRPr/>
          </a:p>
        </p:txBody>
      </p:sp>
      <p:sp>
        <p:nvSpPr>
          <p:cNvPr id="172" name="Google Shape;172;p8"/>
          <p:cNvSpPr>
            <a:spLocks noGrp="1"/>
          </p:cNvSpPr>
          <p:nvPr>
            <p:ph type="body" idx="5"/>
          </p:nvPr>
        </p:nvSpPr>
        <p:spPr>
          <a:xfrm>
            <a:off x="644525" y="2562225"/>
            <a:ext cx="2514600" cy="742117"/>
          </a:xfrm>
          <a:prstGeom prst="roundRect">
            <a:avLst>
              <a:gd name="adj" fmla="val 7700"/>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dirty="0"/>
              <a:t>A $275 Billion</a:t>
            </a:r>
            <a:br>
              <a:rPr lang="en-US" dirty="0"/>
            </a:br>
            <a:r>
              <a:rPr lang="en-US" dirty="0"/>
              <a:t>Pool</a:t>
            </a:r>
            <a:endParaRPr dirty="0"/>
          </a:p>
        </p:txBody>
      </p:sp>
      <p:sp>
        <p:nvSpPr>
          <p:cNvPr id="173" name="Google Shape;173;p8"/>
          <p:cNvSpPr>
            <a:spLocks noGrp="1"/>
          </p:cNvSpPr>
          <p:nvPr>
            <p:ph type="body" idx="6"/>
          </p:nvPr>
        </p:nvSpPr>
        <p:spPr>
          <a:xfrm>
            <a:off x="644524" y="2046288"/>
            <a:ext cx="10376399" cy="461962"/>
          </a:xfrm>
          <a:prstGeom prst="roundRect">
            <a:avLst>
              <a:gd name="adj" fmla="val 12371"/>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5"/>
              </a:buClr>
              <a:buSzPts val="2400"/>
              <a:buNone/>
            </a:pPr>
            <a:r>
              <a:rPr lang="en-US" dirty="0"/>
              <a:t>Admissions, Aid, and Financial Strategy Go Together</a:t>
            </a:r>
            <a:endParaRPr dirty="0"/>
          </a:p>
        </p:txBody>
      </p:sp>
      <p:sp>
        <p:nvSpPr>
          <p:cNvPr id="174" name="Google Shape;174;p8"/>
          <p:cNvSpPr>
            <a:spLocks noGrp="1"/>
          </p:cNvSpPr>
          <p:nvPr>
            <p:ph type="body" idx="7"/>
          </p:nvPr>
        </p:nvSpPr>
        <p:spPr>
          <a:xfrm>
            <a:off x="3441700" y="2562225"/>
            <a:ext cx="2514600" cy="707886"/>
          </a:xfrm>
          <a:prstGeom prst="roundRect">
            <a:avLst>
              <a:gd name="adj" fmla="val 807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Shift to</a:t>
            </a:r>
            <a:br>
              <a:rPr lang="en-US"/>
            </a:br>
            <a:r>
              <a:rPr lang="en-US"/>
              <a:t>Institutional Aid</a:t>
            </a:r>
            <a:endParaRPr/>
          </a:p>
        </p:txBody>
      </p:sp>
      <p:sp>
        <p:nvSpPr>
          <p:cNvPr id="175" name="Google Shape;175;p8"/>
          <p:cNvSpPr>
            <a:spLocks noGrp="1"/>
          </p:cNvSpPr>
          <p:nvPr>
            <p:ph type="body" idx="9"/>
          </p:nvPr>
        </p:nvSpPr>
        <p:spPr>
          <a:xfrm>
            <a:off x="6246813" y="2562225"/>
            <a:ext cx="2514600" cy="707886"/>
          </a:xfrm>
          <a:prstGeom prst="roundRect">
            <a:avLst>
              <a:gd name="adj" fmla="val 807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The Merit vs.</a:t>
            </a:r>
            <a:br>
              <a:rPr lang="en-US"/>
            </a:br>
            <a:r>
              <a:rPr lang="en-US"/>
              <a:t>Need Evolution</a:t>
            </a:r>
            <a:endParaRPr/>
          </a:p>
        </p:txBody>
      </p:sp>
      <p:sp>
        <p:nvSpPr>
          <p:cNvPr id="176" name="Google Shape;176;p8"/>
          <p:cNvSpPr>
            <a:spLocks noGrp="1"/>
          </p:cNvSpPr>
          <p:nvPr>
            <p:ph type="body" idx="14"/>
          </p:nvPr>
        </p:nvSpPr>
        <p:spPr>
          <a:xfrm>
            <a:off x="9045575" y="2562225"/>
            <a:ext cx="2514600" cy="707886"/>
          </a:xfrm>
          <a:prstGeom prst="roundRect">
            <a:avLst>
              <a:gd name="adj" fmla="val 807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Complexity</a:t>
            </a:r>
            <a:br>
              <a:rPr lang="en-US"/>
            </a:br>
            <a:r>
              <a:rPr lang="en-US"/>
              <a:t>is a Barrier</a:t>
            </a:r>
            <a:endParaRPr/>
          </a:p>
        </p:txBody>
      </p:sp>
      <p:cxnSp>
        <p:nvCxnSpPr>
          <p:cNvPr id="177" name="Google Shape;177;p8"/>
          <p:cNvCxnSpPr/>
          <p:nvPr/>
        </p:nvCxnSpPr>
        <p:spPr>
          <a:xfrm>
            <a:off x="643760" y="2623179"/>
            <a:ext cx="0" cy="1554480"/>
          </a:xfrm>
          <a:prstGeom prst="straightConnector1">
            <a:avLst/>
          </a:prstGeom>
          <a:noFill/>
          <a:ln w="19050" cap="flat" cmpd="sng">
            <a:solidFill>
              <a:schemeClr val="accent1"/>
            </a:solidFill>
            <a:prstDash val="solid"/>
            <a:miter lim="8000"/>
            <a:headEnd type="none" w="sm" len="sm"/>
            <a:tailEnd type="none" w="sm" len="sm"/>
          </a:ln>
        </p:spPr>
      </p:cxnSp>
      <p:cxnSp>
        <p:nvCxnSpPr>
          <p:cNvPr id="178" name="Google Shape;178;p8"/>
          <p:cNvCxnSpPr/>
          <p:nvPr/>
        </p:nvCxnSpPr>
        <p:spPr>
          <a:xfrm>
            <a:off x="3468772" y="2623179"/>
            <a:ext cx="0" cy="2103120"/>
          </a:xfrm>
          <a:prstGeom prst="straightConnector1">
            <a:avLst/>
          </a:prstGeom>
          <a:noFill/>
          <a:ln w="19050" cap="flat" cmpd="sng">
            <a:solidFill>
              <a:schemeClr val="accent1"/>
            </a:solidFill>
            <a:prstDash val="solid"/>
            <a:miter lim="8000"/>
            <a:headEnd type="none" w="sm" len="sm"/>
            <a:tailEnd type="none" w="sm" len="sm"/>
          </a:ln>
        </p:spPr>
      </p:cxnSp>
      <p:cxnSp>
        <p:nvCxnSpPr>
          <p:cNvPr id="179" name="Google Shape;179;p8"/>
          <p:cNvCxnSpPr/>
          <p:nvPr/>
        </p:nvCxnSpPr>
        <p:spPr>
          <a:xfrm>
            <a:off x="6246813" y="2623180"/>
            <a:ext cx="0" cy="1828800"/>
          </a:xfrm>
          <a:prstGeom prst="straightConnector1">
            <a:avLst/>
          </a:prstGeom>
          <a:noFill/>
          <a:ln w="19050" cap="flat" cmpd="sng">
            <a:solidFill>
              <a:schemeClr val="accent1"/>
            </a:solidFill>
            <a:prstDash val="solid"/>
            <a:miter lim="8000"/>
            <a:headEnd type="none" w="sm" len="sm"/>
            <a:tailEnd type="none" w="sm" len="sm"/>
          </a:ln>
        </p:spPr>
      </p:cxnSp>
      <p:cxnSp>
        <p:nvCxnSpPr>
          <p:cNvPr id="180" name="Google Shape;180;p8"/>
          <p:cNvCxnSpPr/>
          <p:nvPr/>
        </p:nvCxnSpPr>
        <p:spPr>
          <a:xfrm>
            <a:off x="9045575" y="2623179"/>
            <a:ext cx="0" cy="2377440"/>
          </a:xfrm>
          <a:prstGeom prst="straightConnector1">
            <a:avLst/>
          </a:prstGeom>
          <a:noFill/>
          <a:ln w="19050" cap="flat" cmpd="sng">
            <a:solidFill>
              <a:schemeClr val="accent1"/>
            </a:solidFill>
            <a:prstDash val="solid"/>
            <a:miter lim="8000"/>
            <a:headEnd type="none" w="sm" len="sm"/>
            <a:tailEnd type="none" w="sm" len="sm"/>
          </a:ln>
        </p:spPr>
      </p:cxnSp>
      <p:sp>
        <p:nvSpPr>
          <p:cNvPr id="181" name="Google Shape;181;p8"/>
          <p:cNvSpPr txBox="1"/>
          <p:nvPr/>
        </p:nvSpPr>
        <p:spPr>
          <a:xfrm>
            <a:off x="643760" y="5933601"/>
            <a:ext cx="8498691"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dk1"/>
                </a:solidFill>
                <a:latin typeface="Arial"/>
                <a:ea typeface="Arial"/>
                <a:cs typeface="Arial"/>
                <a:sym typeface="Arial"/>
              </a:rPr>
              <a:t>Sources:</a:t>
            </a:r>
            <a:endParaRPr/>
          </a:p>
          <a:p>
            <a:pPr marL="0" marR="0" lvl="0" indent="0" algn="l" rtl="0">
              <a:spcBef>
                <a:spcPts val="0"/>
              </a:spcBef>
              <a:spcAft>
                <a:spcPts val="0"/>
              </a:spcAft>
              <a:buNone/>
            </a:pPr>
            <a:r>
              <a:rPr lang="en-US" sz="1000">
                <a:solidFill>
                  <a:schemeClr val="dk1"/>
                </a:solidFill>
                <a:latin typeface="Arial"/>
                <a:ea typeface="Arial"/>
                <a:cs typeface="Arial"/>
                <a:sym typeface="Arial"/>
              </a:rPr>
              <a:t>The College Board: Trends and Highlights, 2024-2025. </a:t>
            </a:r>
            <a:r>
              <a:rPr lang="en-US" sz="10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https://research.collegeboard.org/trends/student-aid/highlights</a:t>
            </a:r>
            <a:r>
              <a:rPr lang="en-US" sz="1000">
                <a:solidFill>
                  <a:schemeClr val="dk1"/>
                </a:solidFill>
                <a:latin typeface="Arial"/>
                <a:ea typeface="Arial"/>
                <a:cs typeface="Arial"/>
                <a:sym typeface="Aria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9"/>
          <p:cNvSpPr txBox="1">
            <a:spLocks noGrp="1"/>
          </p:cNvSpPr>
          <p:nvPr>
            <p:ph type="title"/>
          </p:nvPr>
        </p:nvSpPr>
        <p:spPr>
          <a:xfrm>
            <a:off x="320040" y="214750"/>
            <a:ext cx="9555816" cy="498598"/>
          </a:xfrm>
          <a:prstGeom prst="roundRect">
            <a:avLst>
              <a:gd name="adj" fmla="val 11462"/>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Six Financial Planning Considerations</a:t>
            </a:r>
            <a:endParaRPr/>
          </a:p>
        </p:txBody>
      </p:sp>
      <p:pic>
        <p:nvPicPr>
          <p:cNvPr id="188" name="Google Shape;188;p9"/>
          <p:cNvPicPr preferRelativeResize="0"/>
          <p:nvPr/>
        </p:nvPicPr>
        <p:blipFill rotWithShape="1">
          <a:blip r:embed="rId3">
            <a:alphaModFix/>
          </a:blip>
          <a:srcRect/>
          <a:stretch/>
        </p:blipFill>
        <p:spPr>
          <a:xfrm>
            <a:off x="461381" y="309333"/>
            <a:ext cx="11261066" cy="6624156"/>
          </a:xfrm>
          <a:prstGeom prst="roundRect">
            <a:avLst>
              <a:gd name="adj" fmla="val 862"/>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0"/>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The Considerations and College Planning</a:t>
            </a:r>
            <a:endParaRPr/>
          </a:p>
        </p:txBody>
      </p:sp>
      <p:sp>
        <p:nvSpPr>
          <p:cNvPr id="195" name="Google Shape;195;p10"/>
          <p:cNvSpPr/>
          <p:nvPr/>
        </p:nvSpPr>
        <p:spPr>
          <a:xfrm>
            <a:off x="615155" y="1630596"/>
            <a:ext cx="11116587" cy="369332"/>
          </a:xfrm>
          <a:prstGeom prst="roundRect">
            <a:avLst>
              <a:gd name="adj" fmla="val 15473"/>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chemeClr val="accent5"/>
                </a:solidFill>
                <a:latin typeface="Arial"/>
                <a:ea typeface="Arial"/>
                <a:cs typeface="Arial"/>
                <a:sym typeface="Arial"/>
              </a:rPr>
              <a:t>Ways These Considerations Could Matter for College Planning</a:t>
            </a:r>
            <a:endParaRPr/>
          </a:p>
        </p:txBody>
      </p:sp>
      <p:sp>
        <p:nvSpPr>
          <p:cNvPr id="196" name="Google Shape;196;p10"/>
          <p:cNvSpPr/>
          <p:nvPr/>
        </p:nvSpPr>
        <p:spPr>
          <a:xfrm>
            <a:off x="4297529" y="4503348"/>
            <a:ext cx="3866574" cy="1678067"/>
          </a:xfrm>
          <a:prstGeom prst="roundRect">
            <a:avLst>
              <a:gd name="adj" fmla="val 3405"/>
            </a:avLst>
          </a:prstGeom>
          <a:solidFill>
            <a:srgbClr val="60BBFF">
              <a:alpha val="20000"/>
            </a:srgbClr>
          </a:solidFill>
          <a:ln>
            <a:noFill/>
          </a:ln>
        </p:spPr>
        <p:txBody>
          <a:bodyPr spcFirstLastPara="1" wrap="square" lIns="274300" tIns="274300" rIns="274300" bIns="274300" anchor="t" anchorCtr="0">
            <a:noAutofit/>
          </a:bodyPr>
          <a:lstStyle/>
          <a:p>
            <a:pPr marL="0" marR="0" lvl="0" indent="0" algn="l" rtl="0">
              <a:spcBef>
                <a:spcPts val="0"/>
              </a:spcBef>
              <a:spcAft>
                <a:spcPts val="0"/>
              </a:spcAft>
              <a:buNone/>
            </a:pPr>
            <a:r>
              <a:rPr lang="en-US" sz="1800" b="1">
                <a:solidFill>
                  <a:srgbClr val="004472"/>
                </a:solidFill>
                <a:latin typeface="Arial"/>
                <a:ea typeface="Arial"/>
                <a:cs typeface="Arial"/>
                <a:sym typeface="Arial"/>
              </a:rPr>
              <a:t>Mortality</a:t>
            </a:r>
            <a:endParaRPr sz="1800">
              <a:solidFill>
                <a:srgbClr val="004472"/>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Life insurance and estate planning for your family can tie into your college financial plan.</a:t>
            </a:r>
            <a:endParaRPr/>
          </a:p>
        </p:txBody>
      </p:sp>
      <p:sp>
        <p:nvSpPr>
          <p:cNvPr id="197" name="Google Shape;197;p10"/>
          <p:cNvSpPr/>
          <p:nvPr/>
        </p:nvSpPr>
        <p:spPr>
          <a:xfrm>
            <a:off x="628406" y="2442234"/>
            <a:ext cx="3566160" cy="1957745"/>
          </a:xfrm>
          <a:prstGeom prst="roundRect">
            <a:avLst>
              <a:gd name="adj" fmla="val 2919"/>
            </a:avLst>
          </a:prstGeom>
          <a:solidFill>
            <a:srgbClr val="60BBFF">
              <a:alpha val="20000"/>
            </a:srgbClr>
          </a:solidFill>
          <a:ln>
            <a:noFill/>
          </a:ln>
        </p:spPr>
        <p:txBody>
          <a:bodyPr spcFirstLastPara="1" wrap="square" lIns="274300" tIns="274300" rIns="274300" bIns="274300" anchor="t" anchorCtr="0">
            <a:noAutofit/>
          </a:bodyPr>
          <a:lstStyle/>
          <a:p>
            <a:pPr marL="0" marR="0" lvl="0" indent="0" algn="l" rtl="0">
              <a:spcBef>
                <a:spcPts val="0"/>
              </a:spcBef>
              <a:spcAft>
                <a:spcPts val="0"/>
              </a:spcAft>
              <a:buNone/>
            </a:pPr>
            <a:r>
              <a:rPr lang="en-US" sz="1800" b="1">
                <a:solidFill>
                  <a:srgbClr val="4B6A8A"/>
                </a:solidFill>
                <a:latin typeface="Arial"/>
                <a:ea typeface="Arial"/>
                <a:cs typeface="Arial"/>
                <a:sym typeface="Arial"/>
              </a:rPr>
              <a:t>Longevity Risk</a:t>
            </a:r>
            <a:br>
              <a:rPr lang="en-US" sz="1800" b="1">
                <a:solidFill>
                  <a:schemeClr val="accent1"/>
                </a:solidFill>
                <a:latin typeface="Arial"/>
                <a:ea typeface="Arial"/>
                <a:cs typeface="Arial"/>
                <a:sym typeface="Arial"/>
              </a:rPr>
            </a:br>
            <a:r>
              <a:rPr lang="en-US" sz="1800">
                <a:solidFill>
                  <a:schemeClr val="dk1"/>
                </a:solidFill>
                <a:latin typeface="Arial"/>
                <a:ea typeface="Arial"/>
                <a:cs typeface="Arial"/>
                <a:sym typeface="Arial"/>
              </a:rPr>
              <a:t>Certain financial vehicles designed to address longevity can affect financial aid.</a:t>
            </a:r>
            <a:endParaRPr/>
          </a:p>
        </p:txBody>
      </p:sp>
      <p:sp>
        <p:nvSpPr>
          <p:cNvPr id="198" name="Google Shape;198;p10"/>
          <p:cNvSpPr/>
          <p:nvPr/>
        </p:nvSpPr>
        <p:spPr>
          <a:xfrm>
            <a:off x="4297529" y="2442234"/>
            <a:ext cx="3866574" cy="1957745"/>
          </a:xfrm>
          <a:prstGeom prst="roundRect">
            <a:avLst>
              <a:gd name="adj" fmla="val 2919"/>
            </a:avLst>
          </a:prstGeom>
          <a:solidFill>
            <a:srgbClr val="60BBFF">
              <a:alpha val="20000"/>
            </a:srgbClr>
          </a:solidFill>
          <a:ln>
            <a:noFill/>
          </a:ln>
        </p:spPr>
        <p:txBody>
          <a:bodyPr spcFirstLastPara="1" wrap="square" lIns="274300" tIns="274300" rIns="274300" bIns="274300" anchor="t" anchorCtr="0">
            <a:noAutofit/>
          </a:bodyPr>
          <a:lstStyle/>
          <a:p>
            <a:pPr marL="0" marR="0" lvl="0" indent="0" algn="l" rtl="0">
              <a:spcBef>
                <a:spcPts val="0"/>
              </a:spcBef>
              <a:spcAft>
                <a:spcPts val="0"/>
              </a:spcAft>
              <a:buNone/>
            </a:pPr>
            <a:r>
              <a:rPr lang="en-US" sz="1800" b="1">
                <a:solidFill>
                  <a:srgbClr val="004472"/>
                </a:solidFill>
                <a:latin typeface="Arial"/>
                <a:ea typeface="Arial"/>
                <a:cs typeface="Arial"/>
                <a:sym typeface="Arial"/>
              </a:rPr>
              <a:t>Liquidity</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Assets can be positioned to increase aid eligibility and remain accessible for family cash flow.</a:t>
            </a:r>
            <a:endParaRPr/>
          </a:p>
        </p:txBody>
      </p:sp>
      <p:sp>
        <p:nvSpPr>
          <p:cNvPr id="199" name="Google Shape;199;p10"/>
          <p:cNvSpPr/>
          <p:nvPr/>
        </p:nvSpPr>
        <p:spPr>
          <a:xfrm>
            <a:off x="8267067" y="4503348"/>
            <a:ext cx="3336780" cy="1678066"/>
          </a:xfrm>
          <a:prstGeom prst="roundRect">
            <a:avLst>
              <a:gd name="adj" fmla="val 3405"/>
            </a:avLst>
          </a:prstGeom>
          <a:solidFill>
            <a:srgbClr val="60BBFF">
              <a:alpha val="20000"/>
            </a:srgbClr>
          </a:solidFill>
          <a:ln>
            <a:noFill/>
          </a:ln>
        </p:spPr>
        <p:txBody>
          <a:bodyPr spcFirstLastPara="1" wrap="square" lIns="274300" tIns="274300" rIns="274300" bIns="274300" anchor="t" anchorCtr="0">
            <a:noAutofit/>
          </a:bodyPr>
          <a:lstStyle/>
          <a:p>
            <a:pPr marL="0" marR="0" lvl="0" indent="0" algn="l" rtl="0">
              <a:spcBef>
                <a:spcPts val="0"/>
              </a:spcBef>
              <a:spcAft>
                <a:spcPts val="0"/>
              </a:spcAft>
              <a:buNone/>
            </a:pPr>
            <a:r>
              <a:rPr lang="en-US" sz="1800" b="1">
                <a:solidFill>
                  <a:srgbClr val="0076BD"/>
                </a:solidFill>
                <a:latin typeface="Arial"/>
                <a:ea typeface="Arial"/>
                <a:cs typeface="Arial"/>
                <a:sym typeface="Arial"/>
              </a:rPr>
              <a:t>Taxes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Tax strategies affect</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aid eligibility and net cost.</a:t>
            </a:r>
            <a:endParaRPr/>
          </a:p>
        </p:txBody>
      </p:sp>
      <p:sp>
        <p:nvSpPr>
          <p:cNvPr id="200" name="Google Shape;200;p10"/>
          <p:cNvSpPr/>
          <p:nvPr/>
        </p:nvSpPr>
        <p:spPr>
          <a:xfrm>
            <a:off x="8267067" y="2442232"/>
            <a:ext cx="3336780" cy="1957745"/>
          </a:xfrm>
          <a:prstGeom prst="roundRect">
            <a:avLst>
              <a:gd name="adj" fmla="val 2919"/>
            </a:avLst>
          </a:prstGeom>
          <a:solidFill>
            <a:srgbClr val="60BBFF">
              <a:alpha val="20000"/>
            </a:srgbClr>
          </a:solidFill>
          <a:ln>
            <a:noFill/>
          </a:ln>
        </p:spPr>
        <p:txBody>
          <a:bodyPr spcFirstLastPara="1" wrap="square" lIns="274300" tIns="274300" rIns="274300" bIns="274300" anchor="t" anchorCtr="0">
            <a:noAutofit/>
          </a:bodyPr>
          <a:lstStyle/>
          <a:p>
            <a:pPr marL="0" marR="0" lvl="0" indent="0" algn="l" rtl="0">
              <a:spcBef>
                <a:spcPts val="0"/>
              </a:spcBef>
              <a:spcAft>
                <a:spcPts val="0"/>
              </a:spcAft>
              <a:buNone/>
            </a:pPr>
            <a:r>
              <a:rPr lang="en-US" sz="1800" b="1">
                <a:solidFill>
                  <a:srgbClr val="0076BD"/>
                </a:solidFill>
                <a:latin typeface="Arial"/>
                <a:ea typeface="Arial"/>
                <a:cs typeface="Arial"/>
                <a:sym typeface="Arial"/>
              </a:rPr>
              <a:t>Inflation</a:t>
            </a:r>
            <a:endParaRPr sz="1800">
              <a:solidFill>
                <a:srgbClr val="0076BD"/>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College costs rise faster than general inflation.</a:t>
            </a:r>
            <a:endParaRPr/>
          </a:p>
        </p:txBody>
      </p:sp>
      <p:sp>
        <p:nvSpPr>
          <p:cNvPr id="201" name="Google Shape;201;p10"/>
          <p:cNvSpPr/>
          <p:nvPr/>
        </p:nvSpPr>
        <p:spPr>
          <a:xfrm>
            <a:off x="628406" y="4503347"/>
            <a:ext cx="3566160" cy="1678067"/>
          </a:xfrm>
          <a:prstGeom prst="roundRect">
            <a:avLst>
              <a:gd name="adj" fmla="val 3405"/>
            </a:avLst>
          </a:prstGeom>
          <a:solidFill>
            <a:srgbClr val="60BBFF">
              <a:alpha val="20000"/>
            </a:srgbClr>
          </a:solidFill>
          <a:ln>
            <a:noFill/>
          </a:ln>
        </p:spPr>
        <p:txBody>
          <a:bodyPr spcFirstLastPara="1" wrap="square" lIns="274300" tIns="274300" rIns="274300" bIns="274300" anchor="t" anchorCtr="0">
            <a:noAutofit/>
          </a:bodyPr>
          <a:lstStyle/>
          <a:p>
            <a:pPr marL="0" marR="0" lvl="0" indent="0" algn="l" rtl="0">
              <a:spcBef>
                <a:spcPts val="0"/>
              </a:spcBef>
              <a:spcAft>
                <a:spcPts val="0"/>
              </a:spcAft>
              <a:buNone/>
            </a:pPr>
            <a:r>
              <a:rPr lang="en-US" sz="1800" b="1">
                <a:solidFill>
                  <a:srgbClr val="4B698A"/>
                </a:solidFill>
                <a:latin typeface="Arial"/>
                <a:ea typeface="Arial"/>
                <a:cs typeface="Arial"/>
                <a:sym typeface="Arial"/>
              </a:rPr>
              <a:t>Market Risk</a:t>
            </a:r>
            <a:endParaRPr sz="1800">
              <a:solidFill>
                <a:srgbClr val="4B698A"/>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Investment timing impacts FAFSA reporting periods.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1"/>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What You Will Learn Today</a:t>
            </a:r>
            <a:endParaRPr/>
          </a:p>
        </p:txBody>
      </p:sp>
      <p:sp>
        <p:nvSpPr>
          <p:cNvPr id="208" name="Google Shape;208;p11"/>
          <p:cNvSpPr>
            <a:spLocks noGrp="1"/>
          </p:cNvSpPr>
          <p:nvPr>
            <p:ph type="body" idx="1"/>
          </p:nvPr>
        </p:nvSpPr>
        <p:spPr>
          <a:xfrm>
            <a:off x="601774" y="4031426"/>
            <a:ext cx="3429000" cy="1045131"/>
          </a:xfrm>
          <a:prstGeom prst="roundRect">
            <a:avLst>
              <a:gd name="adj" fmla="val 5468"/>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dirty="0"/>
              <a:t>Understanding how “good fit” can reduce your costs by increasing aid</a:t>
            </a:r>
            <a:endParaRPr dirty="0"/>
          </a:p>
        </p:txBody>
      </p:sp>
      <p:sp>
        <p:nvSpPr>
          <p:cNvPr id="209" name="Google Shape;209;p11"/>
          <p:cNvSpPr>
            <a:spLocks noGrp="1"/>
          </p:cNvSpPr>
          <p:nvPr>
            <p:ph type="body" idx="2"/>
          </p:nvPr>
        </p:nvSpPr>
        <p:spPr>
          <a:xfrm>
            <a:off x="4396875" y="4041695"/>
            <a:ext cx="3429000" cy="707886"/>
          </a:xfrm>
          <a:prstGeom prst="roundRect">
            <a:avLst>
              <a:gd name="adj" fmla="val 807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Understanding FAFSA, CSS, and critical timelines</a:t>
            </a:r>
            <a:endParaRPr/>
          </a:p>
        </p:txBody>
      </p:sp>
      <p:sp>
        <p:nvSpPr>
          <p:cNvPr id="210" name="Google Shape;210;p11"/>
          <p:cNvSpPr>
            <a:spLocks noGrp="1"/>
          </p:cNvSpPr>
          <p:nvPr>
            <p:ph type="body" idx="3"/>
          </p:nvPr>
        </p:nvSpPr>
        <p:spPr>
          <a:xfrm>
            <a:off x="8161226" y="4031426"/>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Asset and income positioning and real-world case studies</a:t>
            </a:r>
            <a:endParaRPr/>
          </a:p>
        </p:txBody>
      </p:sp>
      <p:sp>
        <p:nvSpPr>
          <p:cNvPr id="211" name="Google Shape;211;p11"/>
          <p:cNvSpPr>
            <a:spLocks noGrp="1"/>
          </p:cNvSpPr>
          <p:nvPr>
            <p:ph type="body" idx="4"/>
          </p:nvPr>
        </p:nvSpPr>
        <p:spPr>
          <a:xfrm>
            <a:off x="601774" y="3596430"/>
            <a:ext cx="3429000" cy="434935"/>
          </a:xfrm>
          <a:prstGeom prst="roundRect">
            <a:avLst>
              <a:gd name="adj" fmla="val 13139"/>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dirty="0"/>
              <a:t>Getting In</a:t>
            </a:r>
            <a:endParaRPr dirty="0"/>
          </a:p>
        </p:txBody>
      </p:sp>
      <p:sp>
        <p:nvSpPr>
          <p:cNvPr id="212" name="Google Shape;212;p11"/>
          <p:cNvSpPr>
            <a:spLocks noGrp="1"/>
          </p:cNvSpPr>
          <p:nvPr>
            <p:ph type="body" idx="5"/>
          </p:nvPr>
        </p:nvSpPr>
        <p:spPr>
          <a:xfrm>
            <a:off x="4381500" y="3596430"/>
            <a:ext cx="3428791" cy="434935"/>
          </a:xfrm>
          <a:prstGeom prst="roundRect">
            <a:avLst>
              <a:gd name="adj" fmla="val 13139"/>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Financial Aid</a:t>
            </a:r>
            <a:endParaRPr/>
          </a:p>
        </p:txBody>
      </p:sp>
      <p:sp>
        <p:nvSpPr>
          <p:cNvPr id="213" name="Google Shape;213;p11"/>
          <p:cNvSpPr>
            <a:spLocks noGrp="1"/>
          </p:cNvSpPr>
          <p:nvPr>
            <p:ph type="body" idx="6"/>
          </p:nvPr>
        </p:nvSpPr>
        <p:spPr>
          <a:xfrm>
            <a:off x="8161226" y="3596430"/>
            <a:ext cx="3429000" cy="434935"/>
          </a:xfrm>
          <a:prstGeom prst="roundRect">
            <a:avLst>
              <a:gd name="adj" fmla="val 13139"/>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Funding the Cost</a:t>
            </a:r>
            <a:endParaRPr/>
          </a:p>
        </p:txBody>
      </p:sp>
      <p:cxnSp>
        <p:nvCxnSpPr>
          <p:cNvPr id="214" name="Google Shape;214;p11"/>
          <p:cNvCxnSpPr/>
          <p:nvPr/>
        </p:nvCxnSpPr>
        <p:spPr>
          <a:xfrm>
            <a:off x="586398" y="3705130"/>
            <a:ext cx="0" cy="1280160"/>
          </a:xfrm>
          <a:prstGeom prst="straightConnector1">
            <a:avLst/>
          </a:prstGeom>
          <a:noFill/>
          <a:ln w="19050" cap="flat" cmpd="sng">
            <a:solidFill>
              <a:schemeClr val="accent1"/>
            </a:solidFill>
            <a:prstDash val="solid"/>
            <a:miter lim="8000"/>
            <a:headEnd type="none" w="sm" len="sm"/>
            <a:tailEnd type="none" w="sm" len="sm"/>
          </a:ln>
        </p:spPr>
      </p:cxnSp>
      <p:cxnSp>
        <p:nvCxnSpPr>
          <p:cNvPr id="215" name="Google Shape;215;p11"/>
          <p:cNvCxnSpPr/>
          <p:nvPr/>
        </p:nvCxnSpPr>
        <p:spPr>
          <a:xfrm>
            <a:off x="4381500" y="3705129"/>
            <a:ext cx="0" cy="1005840"/>
          </a:xfrm>
          <a:prstGeom prst="straightConnector1">
            <a:avLst/>
          </a:prstGeom>
          <a:noFill/>
          <a:ln w="19050" cap="flat" cmpd="sng">
            <a:solidFill>
              <a:schemeClr val="accent1"/>
            </a:solidFill>
            <a:prstDash val="solid"/>
            <a:miter lim="8000"/>
            <a:headEnd type="none" w="sm" len="sm"/>
            <a:tailEnd type="none" w="sm" len="sm"/>
          </a:ln>
        </p:spPr>
      </p:cxnSp>
      <p:cxnSp>
        <p:nvCxnSpPr>
          <p:cNvPr id="216" name="Google Shape;216;p11"/>
          <p:cNvCxnSpPr/>
          <p:nvPr/>
        </p:nvCxnSpPr>
        <p:spPr>
          <a:xfrm>
            <a:off x="8161338" y="3705130"/>
            <a:ext cx="0" cy="1280160"/>
          </a:xfrm>
          <a:prstGeom prst="straightConnector1">
            <a:avLst/>
          </a:prstGeom>
          <a:noFill/>
          <a:ln w="19050" cap="flat" cmpd="sng">
            <a:solidFill>
              <a:schemeClr val="accent1"/>
            </a:solidFill>
            <a:prstDash val="solid"/>
            <a:miter lim="8000"/>
            <a:headEnd type="none" w="sm" len="sm"/>
            <a:tailEnd type="none" w="sm" len="sm"/>
          </a:ln>
        </p:spPr>
      </p:cxnSp>
      <p:sp>
        <p:nvSpPr>
          <p:cNvPr id="217" name="Google Shape;217;p11"/>
          <p:cNvSpPr/>
          <p:nvPr/>
        </p:nvSpPr>
        <p:spPr>
          <a:xfrm>
            <a:off x="601774" y="2826573"/>
            <a:ext cx="3429000" cy="576072"/>
          </a:xfrm>
          <a:prstGeom prst="roundRect">
            <a:avLst>
              <a:gd name="adj" fmla="val 9920"/>
            </a:avLst>
          </a:prstGeom>
          <a:solidFill>
            <a:schemeClr val="accent4"/>
          </a:solidFill>
          <a:ln>
            <a:noFill/>
          </a:ln>
        </p:spPr>
        <p:txBody>
          <a:bodyPr spcFirstLastPara="1" wrap="square" lIns="228600" tIns="0" rIns="0" bIns="0" anchor="ctr" anchorCtr="0">
            <a:noAutofit/>
          </a:bodyPr>
          <a:lstStyle/>
          <a:p>
            <a:pPr marL="0" marR="0" lvl="0" indent="0" algn="l" rtl="0">
              <a:spcBef>
                <a:spcPts val="0"/>
              </a:spcBef>
              <a:spcAft>
                <a:spcPts val="0"/>
              </a:spcAft>
              <a:buNone/>
            </a:pPr>
            <a:r>
              <a:rPr lang="en-US" sz="2400" b="1">
                <a:solidFill>
                  <a:schemeClr val="lt1"/>
                </a:solidFill>
                <a:latin typeface="Arial"/>
                <a:ea typeface="Arial"/>
                <a:cs typeface="Arial"/>
                <a:sym typeface="Arial"/>
              </a:rPr>
              <a:t>Pillar 1</a:t>
            </a:r>
            <a:endParaRPr/>
          </a:p>
        </p:txBody>
      </p:sp>
      <p:sp>
        <p:nvSpPr>
          <p:cNvPr id="218" name="Google Shape;218;p11"/>
          <p:cNvSpPr/>
          <p:nvPr/>
        </p:nvSpPr>
        <p:spPr>
          <a:xfrm>
            <a:off x="4381294" y="2826573"/>
            <a:ext cx="3429000" cy="576072"/>
          </a:xfrm>
          <a:prstGeom prst="roundRect">
            <a:avLst>
              <a:gd name="adj" fmla="val 9920"/>
            </a:avLst>
          </a:prstGeom>
          <a:solidFill>
            <a:schemeClr val="accent1"/>
          </a:solidFill>
          <a:ln>
            <a:noFill/>
          </a:ln>
        </p:spPr>
        <p:txBody>
          <a:bodyPr spcFirstLastPara="1" wrap="square" lIns="228600" tIns="0" rIns="0" bIns="0" anchor="ctr" anchorCtr="0">
            <a:noAutofit/>
          </a:bodyPr>
          <a:lstStyle/>
          <a:p>
            <a:pPr marL="0" marR="0" lvl="0" indent="0" algn="l" rtl="0">
              <a:spcBef>
                <a:spcPts val="0"/>
              </a:spcBef>
              <a:spcAft>
                <a:spcPts val="0"/>
              </a:spcAft>
              <a:buNone/>
            </a:pPr>
            <a:r>
              <a:rPr lang="en-US" sz="2400" b="1">
                <a:solidFill>
                  <a:schemeClr val="lt1"/>
                </a:solidFill>
                <a:latin typeface="Arial"/>
                <a:ea typeface="Arial"/>
                <a:cs typeface="Arial"/>
                <a:sym typeface="Arial"/>
              </a:rPr>
              <a:t>Pillar 2</a:t>
            </a:r>
            <a:endParaRPr/>
          </a:p>
        </p:txBody>
      </p:sp>
      <p:sp>
        <p:nvSpPr>
          <p:cNvPr id="219" name="Google Shape;219;p11"/>
          <p:cNvSpPr/>
          <p:nvPr/>
        </p:nvSpPr>
        <p:spPr>
          <a:xfrm>
            <a:off x="8160814" y="2826573"/>
            <a:ext cx="3429000" cy="576072"/>
          </a:xfrm>
          <a:prstGeom prst="roundRect">
            <a:avLst>
              <a:gd name="adj" fmla="val 9920"/>
            </a:avLst>
          </a:prstGeom>
          <a:solidFill>
            <a:schemeClr val="accent5"/>
          </a:solidFill>
          <a:ln>
            <a:noFill/>
          </a:ln>
        </p:spPr>
        <p:txBody>
          <a:bodyPr spcFirstLastPara="1" wrap="square" lIns="228600" tIns="0" rIns="0" bIns="0" anchor="ctr" anchorCtr="0">
            <a:noAutofit/>
          </a:bodyPr>
          <a:lstStyle/>
          <a:p>
            <a:pPr marL="0" marR="0" lvl="0" indent="0" algn="l" rtl="0">
              <a:spcBef>
                <a:spcPts val="0"/>
              </a:spcBef>
              <a:spcAft>
                <a:spcPts val="0"/>
              </a:spcAft>
              <a:buNone/>
            </a:pPr>
            <a:r>
              <a:rPr lang="en-US" sz="2400" b="1">
                <a:solidFill>
                  <a:schemeClr val="lt1"/>
                </a:solidFill>
                <a:latin typeface="Arial"/>
                <a:ea typeface="Arial"/>
                <a:cs typeface="Arial"/>
                <a:sym typeface="Arial"/>
              </a:rPr>
              <a:t>Pillar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2"/>
          <p:cNvSpPr txBox="1">
            <a:spLocks noGrp="1"/>
          </p:cNvSpPr>
          <p:nvPr>
            <p:ph type="title"/>
          </p:nvPr>
        </p:nvSpPr>
        <p:spPr>
          <a:xfrm>
            <a:off x="320040" y="3186626"/>
            <a:ext cx="11551920" cy="484748"/>
          </a:xfrm>
          <a:prstGeom prst="roundRect">
            <a:avLst>
              <a:gd name="adj" fmla="val 11789"/>
            </a:avLst>
          </a:prstGeom>
          <a:noFill/>
          <a:ln>
            <a:noFill/>
          </a:ln>
        </p:spPr>
        <p:txBody>
          <a:bodyPr spcFirstLastPara="1" wrap="square" lIns="0" tIns="0" rIns="0" bIns="0" anchor="b" anchorCtr="0">
            <a:spAutoFit/>
          </a:bodyPr>
          <a:lstStyle/>
          <a:p>
            <a:pPr marL="0" lvl="0" indent="0" algn="ctr" rtl="0">
              <a:lnSpc>
                <a:spcPct val="90000"/>
              </a:lnSpc>
              <a:spcBef>
                <a:spcPts val="0"/>
              </a:spcBef>
              <a:spcAft>
                <a:spcPts val="0"/>
              </a:spcAft>
              <a:buClr>
                <a:schemeClr val="lt1"/>
              </a:buClr>
              <a:buSzPts val="3500"/>
              <a:buFont typeface="Arial"/>
              <a:buNone/>
            </a:pPr>
            <a:r>
              <a:rPr lang="en-US"/>
              <a:t>Getting In</a:t>
            </a:r>
            <a:endParaRPr/>
          </a:p>
        </p:txBody>
      </p:sp>
      <p:sp>
        <p:nvSpPr>
          <p:cNvPr id="226" name="Google Shape;226;p12"/>
          <p:cNvSpPr/>
          <p:nvPr/>
        </p:nvSpPr>
        <p:spPr>
          <a:xfrm>
            <a:off x="3869635" y="2333825"/>
            <a:ext cx="4452730" cy="615553"/>
          </a:xfrm>
          <a:prstGeom prst="roundRect">
            <a:avLst>
              <a:gd name="adj" fmla="val 9284"/>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a:solidFill>
                  <a:schemeClr val="lt1"/>
                </a:solidFill>
                <a:latin typeface="Arial"/>
                <a:ea typeface="Arial"/>
                <a:cs typeface="Arial"/>
                <a:sym typeface="Arial"/>
              </a:rPr>
              <a:t>Pillar 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3"/>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School College Admissions Work</a:t>
            </a:r>
            <a:endParaRPr/>
          </a:p>
        </p:txBody>
      </p:sp>
      <p:sp>
        <p:nvSpPr>
          <p:cNvPr id="233" name="Google Shape;233;p13"/>
          <p:cNvSpPr/>
          <p:nvPr/>
        </p:nvSpPr>
        <p:spPr>
          <a:xfrm>
            <a:off x="676533" y="2295683"/>
            <a:ext cx="10688153" cy="2625864"/>
          </a:xfrm>
          <a:prstGeom prst="roundRect">
            <a:avLst>
              <a:gd name="adj" fmla="val 2176"/>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accent1"/>
              </a:buClr>
              <a:buSzPts val="2400"/>
              <a:buFont typeface="Arial"/>
              <a:buNone/>
            </a:pPr>
            <a:r>
              <a:rPr lang="en-US" sz="2400" b="1">
                <a:solidFill>
                  <a:schemeClr val="accent1"/>
                </a:solidFill>
                <a:latin typeface="Arial"/>
                <a:ea typeface="Arial"/>
                <a:cs typeface="Arial"/>
                <a:sym typeface="Arial"/>
              </a:rPr>
              <a:t>Strategic Enrollment Management (SEM)</a:t>
            </a:r>
            <a:endParaRPr/>
          </a:p>
          <a:p>
            <a:pPr marL="228600" marR="0" lvl="0" indent="-228600" algn="l" rtl="0">
              <a:lnSpc>
                <a:spcPct val="100000"/>
              </a:lnSpc>
              <a:spcBef>
                <a:spcPts val="1000"/>
              </a:spcBef>
              <a:spcAft>
                <a:spcPts val="0"/>
              </a:spcAft>
              <a:buClr>
                <a:schemeClr val="dk1"/>
              </a:buClr>
              <a:buSzPts val="2400"/>
              <a:buFont typeface="Arial"/>
              <a:buChar char="•"/>
            </a:pPr>
            <a:r>
              <a:rPr lang="en-US" sz="2400">
                <a:solidFill>
                  <a:schemeClr val="dk1"/>
                </a:solidFill>
                <a:latin typeface="Arial"/>
                <a:ea typeface="Arial"/>
                <a:cs typeface="Arial"/>
                <a:sym typeface="Arial"/>
              </a:rPr>
              <a:t>Relied upon by highly selective colleges.</a:t>
            </a:r>
            <a:endParaRPr/>
          </a:p>
          <a:p>
            <a:pPr marL="228600" marR="0" lvl="0" indent="-228600" algn="l" rtl="0">
              <a:lnSpc>
                <a:spcPct val="100000"/>
              </a:lnSpc>
              <a:spcBef>
                <a:spcPts val="1000"/>
              </a:spcBef>
              <a:spcAft>
                <a:spcPts val="0"/>
              </a:spcAft>
              <a:buClr>
                <a:schemeClr val="dk1"/>
              </a:buClr>
              <a:buSzPts val="2400"/>
              <a:buFont typeface="Arial"/>
              <a:buChar char="•"/>
            </a:pPr>
            <a:r>
              <a:rPr lang="en-US" sz="2400">
                <a:solidFill>
                  <a:schemeClr val="dk1"/>
                </a:solidFill>
                <a:latin typeface="Arial"/>
                <a:ea typeface="Arial"/>
                <a:cs typeface="Arial"/>
                <a:sym typeface="Arial"/>
              </a:rPr>
              <a:t>A data-driven methodology that colleges develop to manage budget and class profile.</a:t>
            </a:r>
            <a:endParaRPr/>
          </a:p>
          <a:p>
            <a:pPr marL="228600" marR="0" lvl="0" indent="-228600" algn="l" rtl="0">
              <a:lnSpc>
                <a:spcPct val="100000"/>
              </a:lnSpc>
              <a:spcBef>
                <a:spcPts val="1000"/>
              </a:spcBef>
              <a:spcAft>
                <a:spcPts val="0"/>
              </a:spcAft>
              <a:buClr>
                <a:schemeClr val="dk1"/>
              </a:buClr>
              <a:buSzPts val="2400"/>
              <a:buFont typeface="Arial"/>
              <a:buChar char="•"/>
            </a:pPr>
            <a:r>
              <a:rPr lang="en-US" sz="2400">
                <a:solidFill>
                  <a:schemeClr val="dk1"/>
                </a:solidFill>
                <a:latin typeface="Arial"/>
                <a:ea typeface="Arial"/>
                <a:cs typeface="Arial"/>
                <a:sym typeface="Arial"/>
              </a:rPr>
              <a:t>They use such a methodology to protect their financial assets and secure good-fit enrollment.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4"/>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the College Sees the Student</a:t>
            </a:r>
            <a:endParaRPr/>
          </a:p>
        </p:txBody>
      </p:sp>
      <p:sp>
        <p:nvSpPr>
          <p:cNvPr id="240" name="Google Shape;240;p14"/>
          <p:cNvSpPr>
            <a:spLocks noGrp="1"/>
          </p:cNvSpPr>
          <p:nvPr>
            <p:ph type="body" idx="1"/>
          </p:nvPr>
        </p:nvSpPr>
        <p:spPr>
          <a:xfrm>
            <a:off x="1143000" y="2971800"/>
            <a:ext cx="3429000" cy="2386568"/>
          </a:xfrm>
          <a:prstGeom prst="roundRect">
            <a:avLst>
              <a:gd name="adj" fmla="val 2394"/>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dirty="0"/>
              <a:t>Targeting an academic match</a:t>
            </a:r>
            <a:endParaRPr dirty="0"/>
          </a:p>
          <a:p>
            <a:pPr marL="0" lvl="0" indent="0" algn="l" rtl="0">
              <a:lnSpc>
                <a:spcPct val="100000"/>
              </a:lnSpc>
              <a:spcBef>
                <a:spcPts val="1000"/>
              </a:spcBef>
              <a:spcAft>
                <a:spcPts val="0"/>
              </a:spcAft>
              <a:buClr>
                <a:schemeClr val="dk1"/>
              </a:buClr>
              <a:buSzPts val="2000"/>
              <a:buFont typeface="Arial"/>
              <a:buNone/>
            </a:pPr>
            <a:r>
              <a:rPr lang="en-US" dirty="0"/>
              <a:t>Prioritizing student success and retention</a:t>
            </a:r>
            <a:endParaRPr dirty="0"/>
          </a:p>
          <a:p>
            <a:pPr marL="0" lvl="0" indent="0" algn="l" rtl="0">
              <a:lnSpc>
                <a:spcPct val="100000"/>
              </a:lnSpc>
              <a:spcBef>
                <a:spcPts val="1000"/>
              </a:spcBef>
              <a:spcAft>
                <a:spcPts val="0"/>
              </a:spcAft>
              <a:buClr>
                <a:schemeClr val="dk1"/>
              </a:buClr>
              <a:buSzPts val="2000"/>
              <a:buFont typeface="Arial"/>
              <a:buNone/>
            </a:pPr>
            <a:r>
              <a:rPr lang="en-US" dirty="0"/>
              <a:t>Aligning learning styles with teaching methods</a:t>
            </a:r>
            <a:endParaRPr dirty="0"/>
          </a:p>
        </p:txBody>
      </p:sp>
      <p:sp>
        <p:nvSpPr>
          <p:cNvPr id="241" name="Google Shape;241;p14"/>
          <p:cNvSpPr>
            <a:spLocks noGrp="1"/>
          </p:cNvSpPr>
          <p:nvPr>
            <p:ph type="body" idx="4"/>
          </p:nvPr>
        </p:nvSpPr>
        <p:spPr>
          <a:xfrm>
            <a:off x="1143000" y="2536804"/>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dirty="0"/>
              <a:t>The Student Learner</a:t>
            </a:r>
            <a:endParaRPr dirty="0"/>
          </a:p>
        </p:txBody>
      </p:sp>
      <p:sp>
        <p:nvSpPr>
          <p:cNvPr id="242" name="Google Shape;242;p14"/>
          <p:cNvSpPr>
            <a:spLocks noGrp="1"/>
          </p:cNvSpPr>
          <p:nvPr>
            <p:ph type="body" idx="7"/>
          </p:nvPr>
        </p:nvSpPr>
        <p:spPr>
          <a:xfrm>
            <a:off x="1143000" y="2018237"/>
            <a:ext cx="3429000" cy="461665"/>
          </a:xfrm>
          <a:prstGeom prst="roundRect">
            <a:avLst>
              <a:gd name="adj" fmla="val 12379"/>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5"/>
              </a:buClr>
              <a:buSzPts val="2400"/>
              <a:buNone/>
            </a:pPr>
            <a:r>
              <a:rPr lang="en-US" dirty="0"/>
              <a:t>Academic Alignment</a:t>
            </a:r>
            <a:endParaRPr dirty="0"/>
          </a:p>
        </p:txBody>
      </p:sp>
      <p:cxnSp>
        <p:nvCxnSpPr>
          <p:cNvPr id="243" name="Google Shape;243;p14"/>
          <p:cNvCxnSpPr/>
          <p:nvPr/>
        </p:nvCxnSpPr>
        <p:spPr>
          <a:xfrm>
            <a:off x="1152119" y="2611754"/>
            <a:ext cx="0" cy="2468880"/>
          </a:xfrm>
          <a:prstGeom prst="straightConnector1">
            <a:avLst/>
          </a:prstGeom>
          <a:noFill/>
          <a:ln w="19050" cap="flat" cmpd="sng">
            <a:solidFill>
              <a:schemeClr val="accent1"/>
            </a:solidFill>
            <a:prstDash val="solid"/>
            <a:miter lim="8000"/>
            <a:headEnd type="none" w="sm" len="sm"/>
            <a:tailEnd type="none" w="sm" len="sm"/>
          </a:ln>
        </p:spPr>
      </p:cxnSp>
      <p:pic>
        <p:nvPicPr>
          <p:cNvPr id="244" name="Google Shape;244;p14" descr="Student reading in library"/>
          <p:cNvPicPr preferRelativeResize="0"/>
          <p:nvPr/>
        </p:nvPicPr>
        <p:blipFill rotWithShape="1">
          <a:blip r:embed="rId3">
            <a:alphaModFix/>
          </a:blip>
          <a:srcRect/>
          <a:stretch/>
        </p:blipFill>
        <p:spPr>
          <a:xfrm>
            <a:off x="5887293" y="1917230"/>
            <a:ext cx="5161707" cy="3441138"/>
          </a:xfrm>
          <a:prstGeom prst="roundRect">
            <a:avLst>
              <a:gd name="adj" fmla="val 1660"/>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96A82CB6-422F-E52A-59CC-4F1BEFC52261}"/>
            </a:ext>
          </a:extLst>
        </p:cNvPr>
        <p:cNvGrpSpPr/>
        <p:nvPr/>
      </p:nvGrpSpPr>
      <p:grpSpPr>
        <a:xfrm>
          <a:off x="0" y="0"/>
          <a:ext cx="0" cy="0"/>
          <a:chOff x="0" y="0"/>
          <a:chExt cx="0" cy="0"/>
        </a:xfrm>
      </p:grpSpPr>
      <p:sp>
        <p:nvSpPr>
          <p:cNvPr id="239" name="Google Shape;239;p14">
            <a:extLst>
              <a:ext uri="{FF2B5EF4-FFF2-40B4-BE49-F238E27FC236}">
                <a16:creationId xmlns:a16="http://schemas.microsoft.com/office/drawing/2014/main" id="{A1E951B6-2D14-FCED-1A6B-1394648FD208}"/>
              </a:ext>
            </a:extLst>
          </p:cNvPr>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the College Sees the Student</a:t>
            </a:r>
            <a:endParaRPr/>
          </a:p>
        </p:txBody>
      </p:sp>
      <p:sp>
        <p:nvSpPr>
          <p:cNvPr id="240" name="Google Shape;240;p14">
            <a:extLst>
              <a:ext uri="{FF2B5EF4-FFF2-40B4-BE49-F238E27FC236}">
                <a16:creationId xmlns:a16="http://schemas.microsoft.com/office/drawing/2014/main" id="{2937EAB2-E959-E054-A3F2-02A3CAD0A35D}"/>
              </a:ext>
            </a:extLst>
          </p:cNvPr>
          <p:cNvSpPr>
            <a:spLocks noGrp="1"/>
          </p:cNvSpPr>
          <p:nvPr>
            <p:ph type="body" idx="1"/>
          </p:nvPr>
        </p:nvSpPr>
        <p:spPr>
          <a:xfrm>
            <a:off x="1142999" y="2971800"/>
            <a:ext cx="3620729" cy="2216690"/>
          </a:xfrm>
          <a:prstGeom prst="roundRect">
            <a:avLst>
              <a:gd name="adj" fmla="val 2578"/>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dirty="0"/>
              <a:t>Driving campus vibrancy beyond the classroom</a:t>
            </a:r>
          </a:p>
          <a:p>
            <a:pPr marL="0" lvl="0" indent="0" algn="l" rtl="0">
              <a:lnSpc>
                <a:spcPct val="100000"/>
              </a:lnSpc>
              <a:spcBef>
                <a:spcPts val="1000"/>
              </a:spcBef>
              <a:spcAft>
                <a:spcPts val="0"/>
              </a:spcAft>
              <a:buClr>
                <a:schemeClr val="dk1"/>
              </a:buClr>
              <a:buSzPts val="2000"/>
              <a:buFont typeface="Arial"/>
              <a:buNone/>
            </a:pPr>
            <a:r>
              <a:rPr lang="en-US" dirty="0"/>
              <a:t>Protecting and growing the institution’s brand</a:t>
            </a:r>
          </a:p>
          <a:p>
            <a:pPr marL="0" lvl="0" indent="0" algn="l" rtl="0">
              <a:lnSpc>
                <a:spcPct val="100000"/>
              </a:lnSpc>
              <a:spcBef>
                <a:spcPts val="1000"/>
              </a:spcBef>
              <a:spcAft>
                <a:spcPts val="0"/>
              </a:spcAft>
              <a:buClr>
                <a:schemeClr val="dk1"/>
              </a:buClr>
              <a:buSzPts val="2000"/>
              <a:buFont typeface="Arial"/>
              <a:buNone/>
            </a:pPr>
            <a:r>
              <a:rPr lang="en-US" dirty="0"/>
              <a:t>Protecting retention and helping increase alumni ROI</a:t>
            </a:r>
          </a:p>
        </p:txBody>
      </p:sp>
      <p:sp>
        <p:nvSpPr>
          <p:cNvPr id="241" name="Google Shape;241;p14">
            <a:extLst>
              <a:ext uri="{FF2B5EF4-FFF2-40B4-BE49-F238E27FC236}">
                <a16:creationId xmlns:a16="http://schemas.microsoft.com/office/drawing/2014/main" id="{4475C8A0-E34C-975B-515F-D6F7515218E9}"/>
              </a:ext>
            </a:extLst>
          </p:cNvPr>
          <p:cNvSpPr>
            <a:spLocks noGrp="1"/>
          </p:cNvSpPr>
          <p:nvPr>
            <p:ph type="body" idx="4"/>
          </p:nvPr>
        </p:nvSpPr>
        <p:spPr>
          <a:xfrm>
            <a:off x="1143000" y="2536804"/>
            <a:ext cx="3429000" cy="434919"/>
          </a:xfrm>
          <a:prstGeom prst="roundRect">
            <a:avLst>
              <a:gd name="adj" fmla="val 13140"/>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dirty="0"/>
              <a:t>The Student Contributor</a:t>
            </a:r>
          </a:p>
        </p:txBody>
      </p:sp>
      <p:sp>
        <p:nvSpPr>
          <p:cNvPr id="242" name="Google Shape;242;p14">
            <a:extLst>
              <a:ext uri="{FF2B5EF4-FFF2-40B4-BE49-F238E27FC236}">
                <a16:creationId xmlns:a16="http://schemas.microsoft.com/office/drawing/2014/main" id="{8D459DA4-0ACE-18FB-B8E1-75520B7C9C59}"/>
              </a:ext>
            </a:extLst>
          </p:cNvPr>
          <p:cNvSpPr>
            <a:spLocks noGrp="1"/>
          </p:cNvSpPr>
          <p:nvPr>
            <p:ph type="body" idx="7"/>
          </p:nvPr>
        </p:nvSpPr>
        <p:spPr>
          <a:xfrm>
            <a:off x="1143000" y="2018237"/>
            <a:ext cx="3429000" cy="497367"/>
          </a:xfrm>
          <a:prstGeom prst="roundRect">
            <a:avLst>
              <a:gd name="adj" fmla="val 11490"/>
            </a:avLst>
          </a:prstGeom>
          <a:noFill/>
          <a:ln>
            <a:noFill/>
          </a:ln>
        </p:spPr>
        <p:txBody>
          <a:bodyPr spcFirstLastPara="1" wrap="square" lIns="228600" tIns="0" rIns="0" bIns="91425" anchor="t" anchorCtr="0">
            <a:spAutoFit/>
          </a:bodyPr>
          <a:lstStyle/>
          <a:p>
            <a:pPr marL="0" indent="0">
              <a:spcBef>
                <a:spcPts val="0"/>
              </a:spcBef>
            </a:pPr>
            <a:r>
              <a:rPr lang="en-US" dirty="0"/>
              <a:t>Community Impact</a:t>
            </a:r>
            <a:endParaRPr dirty="0"/>
          </a:p>
        </p:txBody>
      </p:sp>
      <p:cxnSp>
        <p:nvCxnSpPr>
          <p:cNvPr id="243" name="Google Shape;243;p14">
            <a:extLst>
              <a:ext uri="{FF2B5EF4-FFF2-40B4-BE49-F238E27FC236}">
                <a16:creationId xmlns:a16="http://schemas.microsoft.com/office/drawing/2014/main" id="{9C9D624A-BD07-1E44-3CD5-369A1156A9B5}"/>
              </a:ext>
            </a:extLst>
          </p:cNvPr>
          <p:cNvCxnSpPr/>
          <p:nvPr/>
        </p:nvCxnSpPr>
        <p:spPr>
          <a:xfrm>
            <a:off x="1152119" y="2611754"/>
            <a:ext cx="0" cy="2468880"/>
          </a:xfrm>
          <a:prstGeom prst="straightConnector1">
            <a:avLst/>
          </a:prstGeom>
          <a:noFill/>
          <a:ln w="19050" cap="flat" cmpd="sng">
            <a:solidFill>
              <a:schemeClr val="accent1"/>
            </a:solidFill>
            <a:prstDash val="solid"/>
            <a:miter lim="8000"/>
            <a:headEnd type="none" w="sm" len="sm"/>
            <a:tailEnd type="none" w="sm" len="sm"/>
          </a:ln>
        </p:spPr>
      </p:cxnSp>
      <p:pic>
        <p:nvPicPr>
          <p:cNvPr id="2" name="Google Shape;254;p15" descr="Student walking with notebook">
            <a:extLst>
              <a:ext uri="{FF2B5EF4-FFF2-40B4-BE49-F238E27FC236}">
                <a16:creationId xmlns:a16="http://schemas.microsoft.com/office/drawing/2014/main" id="{5F6BD6A6-2975-D592-0CD2-1B685050C2C0}"/>
              </a:ext>
            </a:extLst>
          </p:cNvPr>
          <p:cNvPicPr preferRelativeResize="0"/>
          <p:nvPr/>
        </p:nvPicPr>
        <p:blipFill rotWithShape="1">
          <a:blip r:embed="rId3">
            <a:alphaModFix/>
          </a:blip>
          <a:srcRect/>
          <a:stretch/>
        </p:blipFill>
        <p:spPr>
          <a:xfrm>
            <a:off x="5891760" y="1914128"/>
            <a:ext cx="5166360" cy="3444240"/>
          </a:xfrm>
          <a:prstGeom prst="roundRect">
            <a:avLst>
              <a:gd name="adj" fmla="val 1659"/>
            </a:avLst>
          </a:prstGeom>
          <a:noFill/>
          <a:ln>
            <a:noFill/>
          </a:ln>
        </p:spPr>
      </p:pic>
    </p:spTree>
    <p:extLst>
      <p:ext uri="{BB962C8B-B14F-4D97-AF65-F5344CB8AC3E}">
        <p14:creationId xmlns:p14="http://schemas.microsoft.com/office/powerpoint/2010/main" val="3039400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B3D95663-87C3-555C-9242-4AACEEA8C903}"/>
            </a:ext>
          </a:extLst>
        </p:cNvPr>
        <p:cNvGrpSpPr/>
        <p:nvPr/>
      </p:nvGrpSpPr>
      <p:grpSpPr>
        <a:xfrm>
          <a:off x="0" y="0"/>
          <a:ext cx="0" cy="0"/>
          <a:chOff x="0" y="0"/>
          <a:chExt cx="0" cy="0"/>
        </a:xfrm>
      </p:grpSpPr>
      <p:sp>
        <p:nvSpPr>
          <p:cNvPr id="239" name="Google Shape;239;p14">
            <a:extLst>
              <a:ext uri="{FF2B5EF4-FFF2-40B4-BE49-F238E27FC236}">
                <a16:creationId xmlns:a16="http://schemas.microsoft.com/office/drawing/2014/main" id="{0FD82765-C15D-7DBB-66AC-5A8F16474E23}"/>
              </a:ext>
            </a:extLst>
          </p:cNvPr>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the College Sees the Student</a:t>
            </a:r>
            <a:endParaRPr/>
          </a:p>
        </p:txBody>
      </p:sp>
      <p:sp>
        <p:nvSpPr>
          <p:cNvPr id="240" name="Google Shape;240;p14">
            <a:extLst>
              <a:ext uri="{FF2B5EF4-FFF2-40B4-BE49-F238E27FC236}">
                <a16:creationId xmlns:a16="http://schemas.microsoft.com/office/drawing/2014/main" id="{E6EC8DD3-5ED0-5A7B-67BB-AE0946D3D05F}"/>
              </a:ext>
            </a:extLst>
          </p:cNvPr>
          <p:cNvSpPr>
            <a:spLocks noGrp="1"/>
          </p:cNvSpPr>
          <p:nvPr>
            <p:ph type="body" idx="1"/>
          </p:nvPr>
        </p:nvSpPr>
        <p:spPr>
          <a:xfrm>
            <a:off x="1143000" y="2971800"/>
            <a:ext cx="3429000" cy="2216690"/>
          </a:xfrm>
          <a:prstGeom prst="roundRect">
            <a:avLst>
              <a:gd name="adj" fmla="val 2578"/>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dirty="0"/>
              <a:t>SEM to direct tuition discounting</a:t>
            </a:r>
          </a:p>
          <a:p>
            <a:pPr marL="0" lvl="0" indent="0" algn="l" rtl="0">
              <a:lnSpc>
                <a:spcPct val="100000"/>
              </a:lnSpc>
              <a:spcBef>
                <a:spcPts val="1000"/>
              </a:spcBef>
              <a:spcAft>
                <a:spcPts val="0"/>
              </a:spcAft>
              <a:buClr>
                <a:schemeClr val="dk1"/>
              </a:buClr>
              <a:buSzPts val="2000"/>
              <a:buFont typeface="Arial"/>
              <a:buNone/>
            </a:pPr>
            <a:r>
              <a:rPr lang="en-US" dirty="0"/>
              <a:t>Class shaping and revenue balancing</a:t>
            </a:r>
          </a:p>
          <a:p>
            <a:pPr marL="0" lvl="0" indent="0"/>
            <a:r>
              <a:rPr lang="en-US" dirty="0"/>
              <a:t>Seeks to increase tuition</a:t>
            </a:r>
            <a:br>
              <a:rPr lang="en-US" dirty="0"/>
            </a:br>
            <a:r>
              <a:rPr lang="en-US" dirty="0"/>
              <a:t>ROI via aid formulas</a:t>
            </a:r>
          </a:p>
        </p:txBody>
      </p:sp>
      <p:sp>
        <p:nvSpPr>
          <p:cNvPr id="241" name="Google Shape;241;p14">
            <a:extLst>
              <a:ext uri="{FF2B5EF4-FFF2-40B4-BE49-F238E27FC236}">
                <a16:creationId xmlns:a16="http://schemas.microsoft.com/office/drawing/2014/main" id="{E76955E8-EE1F-0C0B-14A9-E9BFD288509A}"/>
              </a:ext>
            </a:extLst>
          </p:cNvPr>
          <p:cNvSpPr>
            <a:spLocks noGrp="1"/>
          </p:cNvSpPr>
          <p:nvPr>
            <p:ph type="body" idx="4"/>
          </p:nvPr>
        </p:nvSpPr>
        <p:spPr>
          <a:xfrm>
            <a:off x="1143000" y="2536804"/>
            <a:ext cx="3429000" cy="434919"/>
          </a:xfrm>
          <a:prstGeom prst="roundRect">
            <a:avLst>
              <a:gd name="adj" fmla="val 13140"/>
            </a:avLst>
          </a:prstGeom>
          <a:noFill/>
          <a:ln>
            <a:noFill/>
          </a:ln>
        </p:spPr>
        <p:txBody>
          <a:bodyPr spcFirstLastPara="1" wrap="square" lIns="228600" tIns="0" rIns="0" bIns="91425" anchor="t" anchorCtr="0">
            <a:spAutoFit/>
          </a:bodyPr>
          <a:lstStyle/>
          <a:p>
            <a:pPr marL="0" lvl="0" indent="0">
              <a:spcBef>
                <a:spcPts val="0"/>
              </a:spcBef>
            </a:pPr>
            <a:r>
              <a:rPr lang="en-US" dirty="0"/>
              <a:t>The Student Customer</a:t>
            </a:r>
          </a:p>
        </p:txBody>
      </p:sp>
      <p:sp>
        <p:nvSpPr>
          <p:cNvPr id="242" name="Google Shape;242;p14">
            <a:extLst>
              <a:ext uri="{FF2B5EF4-FFF2-40B4-BE49-F238E27FC236}">
                <a16:creationId xmlns:a16="http://schemas.microsoft.com/office/drawing/2014/main" id="{3AA40BA0-92EF-E735-B93E-2A221AC32326}"/>
              </a:ext>
            </a:extLst>
          </p:cNvPr>
          <p:cNvSpPr>
            <a:spLocks noGrp="1"/>
          </p:cNvSpPr>
          <p:nvPr>
            <p:ph type="body" idx="7"/>
          </p:nvPr>
        </p:nvSpPr>
        <p:spPr>
          <a:xfrm>
            <a:off x="1143000" y="2018237"/>
            <a:ext cx="3429000" cy="497367"/>
          </a:xfrm>
          <a:prstGeom prst="roundRect">
            <a:avLst>
              <a:gd name="adj" fmla="val 11490"/>
            </a:avLst>
          </a:prstGeom>
          <a:noFill/>
          <a:ln>
            <a:noFill/>
          </a:ln>
        </p:spPr>
        <p:txBody>
          <a:bodyPr spcFirstLastPara="1" wrap="square" lIns="228600" tIns="0" rIns="0" bIns="91425" anchor="t" anchorCtr="0">
            <a:spAutoFit/>
          </a:bodyPr>
          <a:lstStyle/>
          <a:p>
            <a:pPr marL="0" indent="0">
              <a:spcBef>
                <a:spcPts val="0"/>
              </a:spcBef>
            </a:pPr>
            <a:r>
              <a:rPr lang="en-US" dirty="0"/>
              <a:t>Financial Realities</a:t>
            </a:r>
          </a:p>
        </p:txBody>
      </p:sp>
      <p:cxnSp>
        <p:nvCxnSpPr>
          <p:cNvPr id="243" name="Google Shape;243;p14">
            <a:extLst>
              <a:ext uri="{FF2B5EF4-FFF2-40B4-BE49-F238E27FC236}">
                <a16:creationId xmlns:a16="http://schemas.microsoft.com/office/drawing/2014/main" id="{7EF34761-BC73-ED85-FCB0-0C167E0EE0B9}"/>
              </a:ext>
            </a:extLst>
          </p:cNvPr>
          <p:cNvCxnSpPr/>
          <p:nvPr/>
        </p:nvCxnSpPr>
        <p:spPr>
          <a:xfrm>
            <a:off x="1152119" y="2611754"/>
            <a:ext cx="0" cy="2468880"/>
          </a:xfrm>
          <a:prstGeom prst="straightConnector1">
            <a:avLst/>
          </a:prstGeom>
          <a:noFill/>
          <a:ln w="19050" cap="flat" cmpd="sng">
            <a:solidFill>
              <a:schemeClr val="accent1"/>
            </a:solidFill>
            <a:prstDash val="solid"/>
            <a:miter lim="8000"/>
            <a:headEnd type="none" w="sm" len="sm"/>
            <a:tailEnd type="none" w="sm" len="sm"/>
          </a:ln>
        </p:spPr>
      </p:cxnSp>
      <p:pic>
        <p:nvPicPr>
          <p:cNvPr id="3" name="Google Shape;264;p16" descr="Man raising hand in class">
            <a:extLst>
              <a:ext uri="{FF2B5EF4-FFF2-40B4-BE49-F238E27FC236}">
                <a16:creationId xmlns:a16="http://schemas.microsoft.com/office/drawing/2014/main" id="{F8062BE8-F74E-DFFC-DDC0-4AC3EAC7BA15}"/>
              </a:ext>
            </a:extLst>
          </p:cNvPr>
          <p:cNvPicPr preferRelativeResize="0"/>
          <p:nvPr/>
        </p:nvPicPr>
        <p:blipFill rotWithShape="1">
          <a:blip r:embed="rId3">
            <a:alphaModFix/>
          </a:blip>
          <a:srcRect/>
          <a:stretch/>
        </p:blipFill>
        <p:spPr>
          <a:xfrm>
            <a:off x="5873520" y="1914128"/>
            <a:ext cx="5166360" cy="3444240"/>
          </a:xfrm>
          <a:prstGeom prst="roundRect">
            <a:avLst>
              <a:gd name="adj" fmla="val 1659"/>
            </a:avLst>
          </a:prstGeom>
          <a:noFill/>
          <a:ln>
            <a:noFill/>
          </a:ln>
        </p:spPr>
      </p:pic>
    </p:spTree>
    <p:extLst>
      <p:ext uri="{BB962C8B-B14F-4D97-AF65-F5344CB8AC3E}">
        <p14:creationId xmlns:p14="http://schemas.microsoft.com/office/powerpoint/2010/main" val="1879811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7"/>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the College Sees the Student</a:t>
            </a:r>
            <a:endParaRPr/>
          </a:p>
        </p:txBody>
      </p:sp>
      <p:sp>
        <p:nvSpPr>
          <p:cNvPr id="271" name="Google Shape;271;p17"/>
          <p:cNvSpPr/>
          <p:nvPr/>
        </p:nvSpPr>
        <p:spPr>
          <a:xfrm>
            <a:off x="659567" y="1649026"/>
            <a:ext cx="10927830" cy="1797189"/>
          </a:xfrm>
          <a:prstGeom prst="roundRect">
            <a:avLst>
              <a:gd name="adj" fmla="val 3179"/>
            </a:avLst>
          </a:prstGeom>
          <a:noFill/>
          <a:ln>
            <a:noFill/>
          </a:ln>
        </p:spPr>
        <p:txBody>
          <a:bodyPr spcFirstLastPara="1" wrap="square" lIns="0" tIns="0" rIns="0" bIns="228600" anchor="t" anchorCtr="0">
            <a:spAutoFit/>
          </a:bodyPr>
          <a:lstStyle/>
          <a:p>
            <a:pPr marL="0" marR="0" lvl="0" indent="0" algn="l" rtl="0">
              <a:spcBef>
                <a:spcPts val="0"/>
              </a:spcBef>
              <a:spcAft>
                <a:spcPts val="0"/>
              </a:spcAft>
              <a:buNone/>
            </a:pPr>
            <a:r>
              <a:rPr lang="en-US" sz="2400" b="1" dirty="0">
                <a:solidFill>
                  <a:schemeClr val="accent5"/>
                </a:solidFill>
                <a:latin typeface="Arial"/>
                <a:ea typeface="Arial"/>
                <a:cs typeface="Arial"/>
                <a:sym typeface="Arial"/>
              </a:rPr>
              <a:t>Academic Alignment</a:t>
            </a:r>
            <a:endParaRPr dirty="0"/>
          </a:p>
          <a:p>
            <a:pPr marL="0" marR="0" lvl="0" indent="0" algn="l" rtl="0">
              <a:spcBef>
                <a:spcPts val="1000"/>
              </a:spcBef>
              <a:spcAft>
                <a:spcPts val="0"/>
              </a:spcAft>
              <a:buNone/>
            </a:pPr>
            <a:r>
              <a:rPr lang="en-US" sz="2000" b="1" dirty="0">
                <a:solidFill>
                  <a:schemeClr val="accent1"/>
                </a:solidFill>
                <a:latin typeface="Arial"/>
                <a:ea typeface="Arial"/>
                <a:cs typeface="Arial"/>
                <a:sym typeface="Arial"/>
              </a:rPr>
              <a:t>The Student Learner</a:t>
            </a:r>
            <a:endParaRPr dirty="0"/>
          </a:p>
          <a:p>
            <a:pPr marL="0" marR="0" lvl="0" indent="0" algn="l" rtl="0">
              <a:spcBef>
                <a:spcPts val="1000"/>
              </a:spcBef>
              <a:spcAft>
                <a:spcPts val="0"/>
              </a:spcAft>
              <a:buNone/>
            </a:pPr>
            <a:r>
              <a:rPr lang="en-US" sz="2000" b="1" dirty="0">
                <a:solidFill>
                  <a:schemeClr val="dk1"/>
                </a:solidFill>
                <a:latin typeface="Arial"/>
                <a:ea typeface="Arial"/>
                <a:cs typeface="Arial"/>
                <a:sym typeface="Arial"/>
              </a:rPr>
              <a:t>Colleges target an academic match:</a:t>
            </a:r>
            <a:r>
              <a:rPr lang="en-US" sz="2000" dirty="0">
                <a:solidFill>
                  <a:schemeClr val="dk1"/>
                </a:solidFill>
                <a:latin typeface="Arial"/>
                <a:ea typeface="Arial"/>
                <a:cs typeface="Arial"/>
                <a:sym typeface="Arial"/>
              </a:rPr>
              <a:t> Colleges admit students who fit their academic and social structure.</a:t>
            </a:r>
            <a:endParaRPr dirty="0"/>
          </a:p>
        </p:txBody>
      </p:sp>
      <p:sp>
        <p:nvSpPr>
          <p:cNvPr id="272" name="Google Shape;272;p17"/>
          <p:cNvSpPr/>
          <p:nvPr/>
        </p:nvSpPr>
        <p:spPr>
          <a:xfrm>
            <a:off x="621466" y="3429000"/>
            <a:ext cx="10927829" cy="2719090"/>
          </a:xfrm>
          <a:prstGeom prst="roundRect">
            <a:avLst>
              <a:gd name="adj" fmla="val 2101"/>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dirty="0">
                <a:solidFill>
                  <a:schemeClr val="accent5"/>
                </a:solidFill>
                <a:latin typeface="Arial"/>
                <a:ea typeface="Arial"/>
                <a:cs typeface="Arial"/>
                <a:sym typeface="Arial"/>
              </a:rPr>
              <a:t>Why the School Cares:</a:t>
            </a:r>
            <a:endParaRPr sz="2000" dirty="0">
              <a:solidFill>
                <a:schemeClr val="accent5"/>
              </a:solidFill>
              <a:latin typeface="Arial"/>
              <a:ea typeface="Arial"/>
              <a:cs typeface="Arial"/>
              <a:sym typeface="Arial"/>
            </a:endParaRPr>
          </a:p>
          <a:p>
            <a:pPr marL="342900" marR="0" lvl="0" indent="-342900" algn="l" rtl="0">
              <a:spcBef>
                <a:spcPts val="1000"/>
              </a:spcBef>
              <a:spcAft>
                <a:spcPts val="0"/>
              </a:spcAft>
              <a:buClr>
                <a:schemeClr val="dk1"/>
              </a:buClr>
              <a:buSzPts val="2000"/>
              <a:buFont typeface="NTR"/>
              <a:buChar char="-"/>
            </a:pPr>
            <a:r>
              <a:rPr lang="en-US" sz="2000" b="1" dirty="0">
                <a:solidFill>
                  <a:schemeClr val="dk1"/>
                </a:solidFill>
                <a:latin typeface="Arial"/>
                <a:ea typeface="Arial"/>
                <a:cs typeface="Arial"/>
                <a:sym typeface="Arial"/>
              </a:rPr>
              <a:t>Compatibility:</a:t>
            </a:r>
            <a:r>
              <a:rPr lang="en-US" sz="2000" dirty="0">
                <a:solidFill>
                  <a:schemeClr val="dk1"/>
                </a:solidFill>
                <a:latin typeface="Arial"/>
                <a:ea typeface="Arial"/>
                <a:cs typeface="Arial"/>
                <a:sym typeface="Arial"/>
              </a:rPr>
              <a:t> A student whose passions and way of learning are compatible with the school's way of teaching are likely to stay and excel.</a:t>
            </a:r>
            <a:endParaRPr sz="2000" b="1" dirty="0">
              <a:solidFill>
                <a:schemeClr val="dk1"/>
              </a:solidFill>
              <a:latin typeface="Arial"/>
              <a:ea typeface="Arial"/>
              <a:cs typeface="Arial"/>
              <a:sym typeface="Arial"/>
            </a:endParaRPr>
          </a:p>
          <a:p>
            <a:pPr marL="342900" marR="0" lvl="0" indent="-342900" algn="l" rtl="0">
              <a:spcBef>
                <a:spcPts val="1000"/>
              </a:spcBef>
              <a:spcAft>
                <a:spcPts val="0"/>
              </a:spcAft>
              <a:buClr>
                <a:schemeClr val="dk1"/>
              </a:buClr>
              <a:buSzPts val="2000"/>
              <a:buFont typeface="NTR"/>
              <a:buChar char="-"/>
            </a:pPr>
            <a:r>
              <a:rPr lang="en-US" sz="2000" b="1" dirty="0">
                <a:solidFill>
                  <a:schemeClr val="dk1"/>
                </a:solidFill>
                <a:latin typeface="Arial"/>
                <a:ea typeface="Arial"/>
                <a:cs typeface="Arial"/>
                <a:sym typeface="Arial"/>
              </a:rPr>
              <a:t>Student success and retention:</a:t>
            </a:r>
            <a:r>
              <a:rPr lang="en-US" sz="2000" dirty="0">
                <a:solidFill>
                  <a:schemeClr val="dk1"/>
                </a:solidFill>
                <a:latin typeface="Arial"/>
                <a:ea typeface="Arial"/>
                <a:cs typeface="Arial"/>
                <a:sym typeface="Arial"/>
              </a:rPr>
              <a:t> A school's reputation depends on its students graduating and excelling.</a:t>
            </a:r>
            <a:endParaRPr dirty="0"/>
          </a:p>
          <a:p>
            <a:pPr marL="342900" marR="0" lvl="0" indent="-215900" algn="l" rtl="0">
              <a:spcBef>
                <a:spcPts val="1000"/>
              </a:spcBef>
              <a:spcAft>
                <a:spcPts val="0"/>
              </a:spcAft>
              <a:buClr>
                <a:schemeClr val="dk1"/>
              </a:buClr>
              <a:buSzPts val="2000"/>
              <a:buFont typeface="NTR"/>
              <a:buNone/>
            </a:pPr>
            <a:endParaRPr sz="2000" dirty="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8"/>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the College Sees the Student</a:t>
            </a:r>
            <a:endParaRPr/>
          </a:p>
        </p:txBody>
      </p:sp>
      <p:sp>
        <p:nvSpPr>
          <p:cNvPr id="279" name="Google Shape;279;p18"/>
          <p:cNvSpPr/>
          <p:nvPr/>
        </p:nvSpPr>
        <p:spPr>
          <a:xfrm>
            <a:off x="659567" y="1159381"/>
            <a:ext cx="10927830" cy="1797189"/>
          </a:xfrm>
          <a:prstGeom prst="roundRect">
            <a:avLst>
              <a:gd name="adj" fmla="val 3179"/>
            </a:avLst>
          </a:prstGeom>
          <a:noFill/>
          <a:ln>
            <a:noFill/>
          </a:ln>
        </p:spPr>
        <p:txBody>
          <a:bodyPr spcFirstLastPara="1" wrap="square" lIns="0" tIns="0" rIns="0" bIns="228600" anchor="t" anchorCtr="0">
            <a:spAutoFit/>
          </a:bodyPr>
          <a:lstStyle/>
          <a:p>
            <a:pPr marL="0" marR="0" lvl="0" indent="0" algn="l" rtl="0">
              <a:spcBef>
                <a:spcPts val="0"/>
              </a:spcBef>
              <a:spcAft>
                <a:spcPts val="0"/>
              </a:spcAft>
              <a:buNone/>
            </a:pPr>
            <a:r>
              <a:rPr lang="en-US" sz="2400" b="1">
                <a:solidFill>
                  <a:schemeClr val="accent5"/>
                </a:solidFill>
                <a:latin typeface="Arial"/>
                <a:ea typeface="Arial"/>
                <a:cs typeface="Arial"/>
                <a:sym typeface="Arial"/>
              </a:rPr>
              <a:t>Community Impact</a:t>
            </a:r>
            <a:endParaRPr/>
          </a:p>
          <a:p>
            <a:pPr marL="0" marR="0" lvl="0" indent="0" algn="l" rtl="0">
              <a:spcBef>
                <a:spcPts val="1000"/>
              </a:spcBef>
              <a:spcAft>
                <a:spcPts val="0"/>
              </a:spcAft>
              <a:buNone/>
            </a:pPr>
            <a:r>
              <a:rPr lang="en-US" sz="2000" b="1">
                <a:solidFill>
                  <a:schemeClr val="accent1"/>
                </a:solidFill>
                <a:latin typeface="Arial"/>
                <a:ea typeface="Arial"/>
                <a:cs typeface="Arial"/>
                <a:sym typeface="Arial"/>
              </a:rPr>
              <a:t>The Student Contributor</a:t>
            </a:r>
            <a:endParaRPr/>
          </a:p>
          <a:p>
            <a:pPr marL="0" marR="0" lvl="0" indent="0" algn="l" rtl="0">
              <a:spcBef>
                <a:spcPts val="1000"/>
              </a:spcBef>
              <a:spcAft>
                <a:spcPts val="0"/>
              </a:spcAft>
              <a:buNone/>
            </a:pPr>
            <a:r>
              <a:rPr lang="en-US" sz="2000" b="1">
                <a:solidFill>
                  <a:schemeClr val="dk1"/>
                </a:solidFill>
                <a:latin typeface="Arial"/>
                <a:ea typeface="Arial"/>
                <a:cs typeface="Arial"/>
                <a:sym typeface="Arial"/>
              </a:rPr>
              <a:t>Colleges want a vibrant campus: </a:t>
            </a:r>
            <a:r>
              <a:rPr lang="en-US" sz="2000">
                <a:solidFill>
                  <a:schemeClr val="dk1"/>
                </a:solidFill>
                <a:latin typeface="Arial"/>
                <a:ea typeface="Arial"/>
                <a:cs typeface="Arial"/>
                <a:sym typeface="Arial"/>
              </a:rPr>
              <a:t>Colleges look for engines of activity—club starters/leaders, volunteers, joiners, etc.</a:t>
            </a:r>
            <a:endParaRPr sz="2000" b="1">
              <a:solidFill>
                <a:schemeClr val="dk1"/>
              </a:solidFill>
              <a:latin typeface="Arial"/>
              <a:ea typeface="Arial"/>
              <a:cs typeface="Arial"/>
              <a:sym typeface="Arial"/>
            </a:endParaRPr>
          </a:p>
        </p:txBody>
      </p:sp>
      <p:sp>
        <p:nvSpPr>
          <p:cNvPr id="280" name="Google Shape;280;p18"/>
          <p:cNvSpPr/>
          <p:nvPr/>
        </p:nvSpPr>
        <p:spPr>
          <a:xfrm>
            <a:off x="604602" y="2837755"/>
            <a:ext cx="10982795" cy="3308802"/>
          </a:xfrm>
          <a:prstGeom prst="roundRect">
            <a:avLst>
              <a:gd name="adj" fmla="val 1727"/>
            </a:avLst>
          </a:prstGeom>
          <a:solidFill>
            <a:srgbClr val="60BBFF">
              <a:alpha val="20000"/>
            </a:srgbClr>
          </a:solidFill>
          <a:ln>
            <a:noFill/>
          </a:ln>
        </p:spPr>
        <p:txBody>
          <a:bodyPr spcFirstLastPara="1" wrap="square" lIns="228600" tIns="118850" rIns="228600" bIns="118850" anchor="t" anchorCtr="0">
            <a:spAutoFit/>
          </a:bodyPr>
          <a:lstStyle/>
          <a:p>
            <a:pPr marL="0" marR="0" lvl="0" indent="0" algn="l" rtl="0">
              <a:spcBef>
                <a:spcPts val="0"/>
              </a:spcBef>
              <a:spcAft>
                <a:spcPts val="0"/>
              </a:spcAft>
              <a:buNone/>
            </a:pPr>
            <a:r>
              <a:rPr lang="en-US" sz="1800" b="1">
                <a:solidFill>
                  <a:schemeClr val="accent5"/>
                </a:solidFill>
                <a:latin typeface="Arial"/>
                <a:ea typeface="Arial"/>
                <a:cs typeface="Arial"/>
                <a:sym typeface="Arial"/>
              </a:rPr>
              <a:t>Why the School Cares:</a:t>
            </a:r>
            <a:endParaRPr sz="1800">
              <a:solidFill>
                <a:schemeClr val="accent5"/>
              </a:solidFill>
              <a:latin typeface="Arial"/>
              <a:ea typeface="Arial"/>
              <a:cs typeface="Arial"/>
              <a:sym typeface="Arial"/>
            </a:endParaRPr>
          </a:p>
          <a:p>
            <a:pPr marL="285750" marR="0" lvl="0" indent="-285750" algn="l" rtl="0">
              <a:spcBef>
                <a:spcPts val="1000"/>
              </a:spcBef>
              <a:spcAft>
                <a:spcPts val="0"/>
              </a:spcAft>
              <a:buClr>
                <a:schemeClr val="dk1"/>
              </a:buClr>
              <a:buSzPts val="1800"/>
              <a:buFont typeface="NTR"/>
              <a:buChar char="-"/>
            </a:pPr>
            <a:r>
              <a:rPr lang="en-US" sz="1800" b="1">
                <a:solidFill>
                  <a:schemeClr val="dk1"/>
                </a:solidFill>
                <a:latin typeface="Arial"/>
                <a:ea typeface="Arial"/>
                <a:cs typeface="Arial"/>
                <a:sym typeface="Arial"/>
              </a:rPr>
              <a:t>Student Success and Retention: </a:t>
            </a:r>
            <a:r>
              <a:rPr lang="en-US" sz="1800">
                <a:solidFill>
                  <a:schemeClr val="dk1"/>
                </a:solidFill>
                <a:latin typeface="Arial"/>
                <a:ea typeface="Arial"/>
                <a:cs typeface="Arial"/>
                <a:sym typeface="Arial"/>
              </a:rPr>
              <a:t>Students who feel important to a club or program are statistically more likely to stay all four years.</a:t>
            </a:r>
            <a:endParaRPr/>
          </a:p>
          <a:p>
            <a:pPr marL="285750" marR="0" lvl="0" indent="-285750" algn="l" rtl="0">
              <a:spcBef>
                <a:spcPts val="1000"/>
              </a:spcBef>
              <a:spcAft>
                <a:spcPts val="0"/>
              </a:spcAft>
              <a:buClr>
                <a:schemeClr val="dk1"/>
              </a:buClr>
              <a:buSzPts val="1800"/>
              <a:buFont typeface="NTR"/>
              <a:buChar char="-"/>
            </a:pPr>
            <a:r>
              <a:rPr lang="en-US" sz="1800" b="1">
                <a:solidFill>
                  <a:schemeClr val="dk1"/>
                </a:solidFill>
                <a:latin typeface="Arial"/>
                <a:ea typeface="Arial"/>
                <a:cs typeface="Arial"/>
                <a:sym typeface="Arial"/>
              </a:rPr>
              <a:t>Alumni ROI: </a:t>
            </a:r>
            <a:r>
              <a:rPr lang="en-US" sz="1800">
                <a:solidFill>
                  <a:schemeClr val="dk1"/>
                </a:solidFill>
                <a:latin typeface="Arial"/>
                <a:ea typeface="Arial"/>
                <a:cs typeface="Arial"/>
                <a:sym typeface="Arial"/>
              </a:rPr>
              <a:t>Active students are more likely to stay invested after graduation and help strengthen the school’s network.</a:t>
            </a:r>
            <a:endParaRPr/>
          </a:p>
          <a:p>
            <a:pPr marL="285750" marR="0" lvl="0" indent="-285750" algn="l" rtl="0">
              <a:spcBef>
                <a:spcPts val="1000"/>
              </a:spcBef>
              <a:spcAft>
                <a:spcPts val="0"/>
              </a:spcAft>
              <a:buClr>
                <a:schemeClr val="dk1"/>
              </a:buClr>
              <a:buSzPts val="1800"/>
              <a:buFont typeface="NTR"/>
              <a:buChar char="-"/>
            </a:pPr>
            <a:r>
              <a:rPr lang="en-US" sz="1800" b="1">
                <a:solidFill>
                  <a:schemeClr val="dk1"/>
                </a:solidFill>
                <a:latin typeface="Arial"/>
                <a:ea typeface="Arial"/>
                <a:cs typeface="Arial"/>
                <a:sym typeface="Arial"/>
              </a:rPr>
              <a:t>Institutional Growth: </a:t>
            </a:r>
            <a:r>
              <a:rPr lang="en-US" sz="1800">
                <a:solidFill>
                  <a:schemeClr val="dk1"/>
                </a:solidFill>
                <a:latin typeface="Arial"/>
                <a:ea typeface="Arial"/>
                <a:cs typeface="Arial"/>
                <a:sym typeface="Arial"/>
              </a:rPr>
              <a:t>For new initiatives, the school's financial and strategic success is tied to student participation.</a:t>
            </a:r>
            <a:endParaRPr/>
          </a:p>
          <a:p>
            <a:pPr marL="285750" marR="0" lvl="0" indent="-285750" algn="l" rtl="0">
              <a:spcBef>
                <a:spcPts val="1000"/>
              </a:spcBef>
              <a:spcAft>
                <a:spcPts val="0"/>
              </a:spcAft>
              <a:buClr>
                <a:schemeClr val="dk1"/>
              </a:buClr>
              <a:buSzPts val="1800"/>
              <a:buFont typeface="NTR"/>
              <a:buChar char="-"/>
            </a:pPr>
            <a:r>
              <a:rPr lang="en-US" sz="1800" b="1">
                <a:solidFill>
                  <a:schemeClr val="dk1"/>
                </a:solidFill>
                <a:latin typeface="Arial"/>
                <a:ea typeface="Arial"/>
                <a:cs typeface="Arial"/>
                <a:sym typeface="Arial"/>
              </a:rPr>
              <a:t>Brand Stewardship:</a:t>
            </a:r>
            <a:r>
              <a:rPr lang="en-US" sz="1800">
                <a:solidFill>
                  <a:schemeClr val="dk1"/>
                </a:solidFill>
                <a:latin typeface="Arial"/>
                <a:ea typeface="Arial"/>
                <a:cs typeface="Arial"/>
                <a:sym typeface="Arial"/>
              </a:rPr>
              <a:t> Schools must maintain a constant pipeline of successors to keep their reputation alive.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9"/>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the College Sees the Student</a:t>
            </a:r>
            <a:endParaRPr/>
          </a:p>
        </p:txBody>
      </p:sp>
      <p:sp>
        <p:nvSpPr>
          <p:cNvPr id="287" name="Google Shape;287;p19"/>
          <p:cNvSpPr/>
          <p:nvPr/>
        </p:nvSpPr>
        <p:spPr>
          <a:xfrm>
            <a:off x="632085" y="1466146"/>
            <a:ext cx="10927830" cy="1779974"/>
          </a:xfrm>
          <a:prstGeom prst="roundRect">
            <a:avLst>
              <a:gd name="adj" fmla="val 3210"/>
            </a:avLst>
          </a:prstGeom>
          <a:noFill/>
          <a:ln>
            <a:noFill/>
          </a:ln>
        </p:spPr>
        <p:txBody>
          <a:bodyPr spcFirstLastPara="1" wrap="square" lIns="0" tIns="0" rIns="0" bIns="228600" anchor="t" anchorCtr="0">
            <a:spAutoFit/>
          </a:bodyPr>
          <a:lstStyle/>
          <a:p>
            <a:pPr marL="0" marR="0" lvl="0" indent="0" algn="l" rtl="0">
              <a:spcBef>
                <a:spcPts val="0"/>
              </a:spcBef>
              <a:spcAft>
                <a:spcPts val="0"/>
              </a:spcAft>
              <a:buNone/>
            </a:pPr>
            <a:r>
              <a:rPr lang="en-US" sz="2400" b="1">
                <a:solidFill>
                  <a:schemeClr val="accent5"/>
                </a:solidFill>
                <a:latin typeface="Arial"/>
                <a:ea typeface="Arial"/>
                <a:cs typeface="Arial"/>
                <a:sym typeface="Arial"/>
              </a:rPr>
              <a:t>Financial Realities</a:t>
            </a:r>
            <a:endParaRPr/>
          </a:p>
          <a:p>
            <a:pPr marL="0" marR="0" lvl="0" indent="0" algn="l" rtl="0">
              <a:spcBef>
                <a:spcPts val="1000"/>
              </a:spcBef>
              <a:spcAft>
                <a:spcPts val="0"/>
              </a:spcAft>
              <a:buNone/>
            </a:pPr>
            <a:r>
              <a:rPr lang="en-US" sz="2000" b="1">
                <a:solidFill>
                  <a:schemeClr val="accent1"/>
                </a:solidFill>
                <a:latin typeface="Arial"/>
                <a:ea typeface="Arial"/>
                <a:cs typeface="Arial"/>
                <a:sym typeface="Arial"/>
              </a:rPr>
              <a:t>The Student Customer</a:t>
            </a:r>
            <a:endParaRPr/>
          </a:p>
          <a:p>
            <a:pPr marL="0" marR="0" lvl="0" indent="0" algn="l" rtl="0">
              <a:spcBef>
                <a:spcPts val="1000"/>
              </a:spcBef>
              <a:spcAft>
                <a:spcPts val="0"/>
              </a:spcAft>
              <a:buNone/>
            </a:pPr>
            <a:r>
              <a:rPr lang="en-US" sz="2000" b="1">
                <a:solidFill>
                  <a:schemeClr val="dk1"/>
                </a:solidFill>
                <a:latin typeface="Arial"/>
                <a:ea typeface="Arial"/>
                <a:cs typeface="Arial"/>
                <a:sym typeface="Arial"/>
              </a:rPr>
              <a:t>A school’s SEM often uses aid to secure enrollment: </a:t>
            </a:r>
            <a:r>
              <a:rPr lang="en-US" sz="2000">
                <a:solidFill>
                  <a:schemeClr val="dk1"/>
                </a:solidFill>
                <a:latin typeface="Arial"/>
                <a:ea typeface="Arial"/>
                <a:cs typeface="Arial"/>
                <a:sym typeface="Arial"/>
              </a:rPr>
              <a:t>They use discounted tuition as a financial lever to secure the desired class profile they want. </a:t>
            </a:r>
            <a:endParaRPr/>
          </a:p>
        </p:txBody>
      </p:sp>
      <p:sp>
        <p:nvSpPr>
          <p:cNvPr id="288" name="Google Shape;288;p19"/>
          <p:cNvSpPr/>
          <p:nvPr/>
        </p:nvSpPr>
        <p:spPr>
          <a:xfrm>
            <a:off x="593984" y="3246120"/>
            <a:ext cx="10927829" cy="3029843"/>
          </a:xfrm>
          <a:prstGeom prst="roundRect">
            <a:avLst>
              <a:gd name="adj" fmla="val 1886"/>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a:solidFill>
                  <a:schemeClr val="accent5"/>
                </a:solidFill>
                <a:latin typeface="Arial"/>
                <a:ea typeface="Arial"/>
                <a:cs typeface="Arial"/>
                <a:sym typeface="Arial"/>
              </a:rPr>
              <a:t>Why the School Cares:</a:t>
            </a:r>
            <a:endParaRPr sz="2000">
              <a:solidFill>
                <a:schemeClr val="accent5"/>
              </a:solidFill>
              <a:latin typeface="Arial"/>
              <a:ea typeface="Arial"/>
              <a:cs typeface="Arial"/>
              <a:sym typeface="Arial"/>
            </a:endParaRPr>
          </a:p>
          <a:p>
            <a:pPr marL="0" marR="0" lvl="0" indent="0" algn="l" rtl="0">
              <a:spcBef>
                <a:spcPts val="1000"/>
              </a:spcBef>
              <a:spcAft>
                <a:spcPts val="0"/>
              </a:spcAft>
              <a:buNone/>
            </a:pPr>
            <a:r>
              <a:rPr lang="en-US" sz="2000" b="1">
                <a:solidFill>
                  <a:schemeClr val="dk1"/>
                </a:solidFill>
                <a:latin typeface="Arial"/>
                <a:ea typeface="Arial"/>
                <a:cs typeface="Arial"/>
                <a:sym typeface="Arial"/>
              </a:rPr>
              <a:t>An Administration’s Dual Mandate: </a:t>
            </a:r>
            <a:r>
              <a:rPr lang="en-US" sz="2000">
                <a:solidFill>
                  <a:schemeClr val="dk1"/>
                </a:solidFill>
                <a:latin typeface="Arial"/>
                <a:ea typeface="Arial"/>
                <a:cs typeface="Arial"/>
                <a:sym typeface="Arial"/>
              </a:rPr>
              <a:t>The school is tasked to bring in tuition revenue while securing a class profile in line with the college’s mission.</a:t>
            </a:r>
            <a:endParaRPr/>
          </a:p>
          <a:p>
            <a:pPr marL="0" marR="0" lvl="0" indent="0" algn="l" rtl="0">
              <a:spcBef>
                <a:spcPts val="1000"/>
              </a:spcBef>
              <a:spcAft>
                <a:spcPts val="0"/>
              </a:spcAft>
              <a:buNone/>
            </a:pPr>
            <a:r>
              <a:rPr lang="en-US" sz="2000" b="1">
                <a:solidFill>
                  <a:schemeClr val="dk1"/>
                </a:solidFill>
                <a:latin typeface="Arial"/>
                <a:ea typeface="Arial"/>
                <a:cs typeface="Arial"/>
                <a:sym typeface="Arial"/>
              </a:rPr>
              <a:t>Balance: </a:t>
            </a:r>
            <a:r>
              <a:rPr lang="en-US" sz="2000">
                <a:solidFill>
                  <a:schemeClr val="dk1"/>
                </a:solidFill>
                <a:latin typeface="Arial"/>
                <a:ea typeface="Arial"/>
                <a:cs typeface="Arial"/>
                <a:sym typeface="Arial"/>
              </a:rPr>
              <a:t>With students at various price points, the school can fill the class they want while meeting tuition revenue goals.</a:t>
            </a:r>
            <a:endParaRPr/>
          </a:p>
          <a:p>
            <a:pPr marL="0" marR="0" lvl="0" indent="0" algn="l" rtl="0">
              <a:spcBef>
                <a:spcPts val="1000"/>
              </a:spcBef>
              <a:spcAft>
                <a:spcPts val="0"/>
              </a:spcAft>
              <a:buNone/>
            </a:pPr>
            <a:r>
              <a:rPr lang="en-US" sz="2000" b="1">
                <a:solidFill>
                  <a:schemeClr val="accent5"/>
                </a:solidFill>
                <a:latin typeface="Arial"/>
                <a:ea typeface="Arial"/>
                <a:cs typeface="Arial"/>
                <a:sym typeface="Arial"/>
              </a:rPr>
              <a:t>Insight: </a:t>
            </a:r>
            <a:r>
              <a:rPr lang="en-US" sz="2000">
                <a:solidFill>
                  <a:schemeClr val="dk1"/>
                </a:solidFill>
                <a:latin typeface="Arial"/>
                <a:ea typeface="Arial"/>
                <a:cs typeface="Arial"/>
                <a:sym typeface="Arial"/>
              </a:rPr>
              <a:t>Schools have their own </a:t>
            </a:r>
            <a:r>
              <a:rPr lang="en-US" sz="2000" b="1">
                <a:solidFill>
                  <a:schemeClr val="dk1"/>
                </a:solidFill>
                <a:latin typeface="Arial"/>
                <a:ea typeface="Arial"/>
                <a:cs typeface="Arial"/>
                <a:sym typeface="Arial"/>
              </a:rPr>
              <a:t>aid formulas</a:t>
            </a:r>
            <a:r>
              <a:rPr lang="en-US" sz="2000">
                <a:solidFill>
                  <a:schemeClr val="dk1"/>
                </a:solidFill>
                <a:latin typeface="Arial"/>
                <a:ea typeface="Arial"/>
                <a:cs typeface="Arial"/>
                <a:sym typeface="Arial"/>
              </a:rPr>
              <a:t> tailored to each applicant to determine how much of a discount they can give to secure a class profile.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0"/>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Mastering the Admissions Portfolio</a:t>
            </a:r>
            <a:endParaRPr/>
          </a:p>
        </p:txBody>
      </p:sp>
      <p:sp>
        <p:nvSpPr>
          <p:cNvPr id="295" name="Google Shape;295;p20"/>
          <p:cNvSpPr>
            <a:spLocks noGrp="1"/>
          </p:cNvSpPr>
          <p:nvPr>
            <p:ph type="body" idx="1"/>
          </p:nvPr>
        </p:nvSpPr>
        <p:spPr>
          <a:xfrm>
            <a:off x="601774" y="3924717"/>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Move Beyond Activity Lists</a:t>
            </a:r>
            <a:endParaRPr/>
          </a:p>
        </p:txBody>
      </p:sp>
      <p:sp>
        <p:nvSpPr>
          <p:cNvPr id="296" name="Google Shape;296;p20"/>
          <p:cNvSpPr>
            <a:spLocks noGrp="1"/>
          </p:cNvSpPr>
          <p:nvPr>
            <p:ph type="body" idx="2"/>
          </p:nvPr>
        </p:nvSpPr>
        <p:spPr>
          <a:xfrm>
            <a:off x="4381500" y="3924717"/>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Fill the Class Gap</a:t>
            </a:r>
            <a:endParaRPr/>
          </a:p>
        </p:txBody>
      </p:sp>
      <p:sp>
        <p:nvSpPr>
          <p:cNvPr id="297" name="Google Shape;297;p20"/>
          <p:cNvSpPr>
            <a:spLocks noGrp="1"/>
          </p:cNvSpPr>
          <p:nvPr>
            <p:ph type="body" idx="3"/>
          </p:nvPr>
        </p:nvSpPr>
        <p:spPr>
          <a:xfrm>
            <a:off x="8161226" y="3924717"/>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Tailor School Choice to Learning Style</a:t>
            </a:r>
            <a:endParaRPr/>
          </a:p>
        </p:txBody>
      </p:sp>
      <p:sp>
        <p:nvSpPr>
          <p:cNvPr id="298" name="Google Shape;298;p20"/>
          <p:cNvSpPr>
            <a:spLocks noGrp="1"/>
          </p:cNvSpPr>
          <p:nvPr>
            <p:ph type="body" idx="4"/>
          </p:nvPr>
        </p:nvSpPr>
        <p:spPr>
          <a:xfrm>
            <a:off x="601774" y="3489721"/>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dirty="0"/>
              <a:t>Narrative Design</a:t>
            </a:r>
            <a:endParaRPr dirty="0"/>
          </a:p>
        </p:txBody>
      </p:sp>
      <p:sp>
        <p:nvSpPr>
          <p:cNvPr id="299" name="Google Shape;299;p20"/>
          <p:cNvSpPr>
            <a:spLocks noGrp="1"/>
          </p:cNvSpPr>
          <p:nvPr>
            <p:ph type="body" idx="5"/>
          </p:nvPr>
        </p:nvSpPr>
        <p:spPr>
          <a:xfrm>
            <a:off x="4381500" y="3489721"/>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dirty="0"/>
              <a:t>Strategic Necessity</a:t>
            </a:r>
            <a:endParaRPr dirty="0"/>
          </a:p>
        </p:txBody>
      </p:sp>
      <p:sp>
        <p:nvSpPr>
          <p:cNvPr id="300" name="Google Shape;300;p20"/>
          <p:cNvSpPr>
            <a:spLocks noGrp="1"/>
          </p:cNvSpPr>
          <p:nvPr>
            <p:ph type="body" idx="6"/>
          </p:nvPr>
        </p:nvSpPr>
        <p:spPr>
          <a:xfrm>
            <a:off x="8161226" y="3489721"/>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dirty="0"/>
              <a:t>Resource Alignment</a:t>
            </a:r>
            <a:endParaRPr dirty="0"/>
          </a:p>
        </p:txBody>
      </p:sp>
      <p:sp>
        <p:nvSpPr>
          <p:cNvPr id="301" name="Google Shape;301;p20"/>
          <p:cNvSpPr/>
          <p:nvPr/>
        </p:nvSpPr>
        <p:spPr>
          <a:xfrm>
            <a:off x="598701" y="5181672"/>
            <a:ext cx="10991526" cy="799207"/>
          </a:xfrm>
          <a:prstGeom prst="roundRect">
            <a:avLst>
              <a:gd name="adj" fmla="val 7150"/>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dirty="0">
                <a:solidFill>
                  <a:schemeClr val="accent5"/>
                </a:solidFill>
                <a:latin typeface="Arial"/>
                <a:ea typeface="Arial"/>
                <a:cs typeface="Arial"/>
                <a:sym typeface="Arial"/>
              </a:rPr>
              <a:t>Insight: </a:t>
            </a:r>
            <a:r>
              <a:rPr lang="en-US" sz="2000" dirty="0">
                <a:solidFill>
                  <a:schemeClr val="accent5"/>
                </a:solidFill>
                <a:latin typeface="Arial"/>
                <a:ea typeface="Arial"/>
                <a:cs typeface="Arial"/>
                <a:sym typeface="Arial"/>
              </a:rPr>
              <a:t>A good-fit application can mean a lower cost.</a:t>
            </a:r>
            <a:endParaRPr dirty="0"/>
          </a:p>
        </p:txBody>
      </p:sp>
      <p:cxnSp>
        <p:nvCxnSpPr>
          <p:cNvPr id="302" name="Google Shape;302;p20"/>
          <p:cNvCxnSpPr/>
          <p:nvPr/>
        </p:nvCxnSpPr>
        <p:spPr>
          <a:xfrm>
            <a:off x="598701" y="3555037"/>
            <a:ext cx="0" cy="731520"/>
          </a:xfrm>
          <a:prstGeom prst="straightConnector1">
            <a:avLst/>
          </a:prstGeom>
          <a:noFill/>
          <a:ln w="19050" cap="flat" cmpd="sng">
            <a:solidFill>
              <a:schemeClr val="accent1"/>
            </a:solidFill>
            <a:prstDash val="solid"/>
            <a:miter lim="8000"/>
            <a:headEnd type="none" w="sm" len="sm"/>
            <a:tailEnd type="none" w="sm" len="sm"/>
          </a:ln>
        </p:spPr>
      </p:cxnSp>
      <p:cxnSp>
        <p:nvCxnSpPr>
          <p:cNvPr id="303" name="Google Shape;303;p20"/>
          <p:cNvCxnSpPr/>
          <p:nvPr/>
        </p:nvCxnSpPr>
        <p:spPr>
          <a:xfrm>
            <a:off x="4381500" y="3555037"/>
            <a:ext cx="0" cy="731520"/>
          </a:xfrm>
          <a:prstGeom prst="straightConnector1">
            <a:avLst/>
          </a:prstGeom>
          <a:noFill/>
          <a:ln w="19050" cap="flat" cmpd="sng">
            <a:solidFill>
              <a:schemeClr val="accent1"/>
            </a:solidFill>
            <a:prstDash val="solid"/>
            <a:miter lim="8000"/>
            <a:headEnd type="none" w="sm" len="sm"/>
            <a:tailEnd type="none" w="sm" len="sm"/>
          </a:ln>
        </p:spPr>
      </p:cxnSp>
      <p:cxnSp>
        <p:nvCxnSpPr>
          <p:cNvPr id="304" name="Google Shape;304;p20"/>
          <p:cNvCxnSpPr/>
          <p:nvPr/>
        </p:nvCxnSpPr>
        <p:spPr>
          <a:xfrm>
            <a:off x="8174542" y="3555037"/>
            <a:ext cx="0" cy="1005840"/>
          </a:xfrm>
          <a:prstGeom prst="straightConnector1">
            <a:avLst/>
          </a:prstGeom>
          <a:noFill/>
          <a:ln w="19050" cap="flat" cmpd="sng">
            <a:solidFill>
              <a:schemeClr val="accent1"/>
            </a:solidFill>
            <a:prstDash val="solid"/>
            <a:miter lim="8000"/>
            <a:headEnd type="none" w="sm" len="sm"/>
            <a:tailEnd type="none" w="sm" len="sm"/>
          </a:ln>
        </p:spPr>
      </p:cxnSp>
      <p:sp>
        <p:nvSpPr>
          <p:cNvPr id="305" name="Google Shape;305;p20"/>
          <p:cNvSpPr/>
          <p:nvPr/>
        </p:nvSpPr>
        <p:spPr>
          <a:xfrm>
            <a:off x="5438490" y="2094274"/>
            <a:ext cx="1170432" cy="1167384"/>
          </a:xfrm>
          <a:prstGeom prst="roundRect">
            <a:avLst>
              <a:gd name="adj" fmla="val 4895"/>
            </a:avLst>
          </a:prstGeom>
          <a:noFill/>
          <a:ln>
            <a:noFill/>
          </a:ln>
        </p:spPr>
        <p:txBody>
          <a:bodyPr/>
          <a:lstStyle/>
          <a:p>
            <a:endParaRPr lang="en-US"/>
          </a:p>
        </p:txBody>
      </p:sp>
      <p:sp>
        <p:nvSpPr>
          <p:cNvPr id="306" name="Google Shape;306;p20"/>
          <p:cNvSpPr/>
          <p:nvPr/>
        </p:nvSpPr>
        <p:spPr>
          <a:xfrm>
            <a:off x="1908411" y="2183809"/>
            <a:ext cx="844169" cy="1077849"/>
          </a:xfrm>
          <a:prstGeom prst="roundRect">
            <a:avLst>
              <a:gd name="adj" fmla="val 6769"/>
            </a:avLst>
          </a:prstGeom>
          <a:noFill/>
          <a:ln>
            <a:noFill/>
          </a:ln>
        </p:spPr>
        <p:txBody>
          <a:bodyPr/>
          <a:lstStyle/>
          <a:p>
            <a:endParaRPr lang="en-US"/>
          </a:p>
        </p:txBody>
      </p:sp>
      <p:sp>
        <p:nvSpPr>
          <p:cNvPr id="307" name="Google Shape;307;p20"/>
          <p:cNvSpPr/>
          <p:nvPr/>
        </p:nvSpPr>
        <p:spPr>
          <a:xfrm>
            <a:off x="9180528" y="2502833"/>
            <a:ext cx="1219200" cy="758825"/>
          </a:xfrm>
          <a:prstGeom prst="roundRect">
            <a:avLst>
              <a:gd name="adj" fmla="val 7531"/>
            </a:avLst>
          </a:prstGeom>
          <a:noFill/>
          <a:ln>
            <a:noFill/>
          </a:ln>
        </p:spPr>
        <p:txBody>
          <a:bodyPr/>
          <a:lstStyle/>
          <a:p>
            <a:endParaRPr lang="en-US"/>
          </a:p>
        </p:txBody>
      </p:sp>
      <p:pic>
        <p:nvPicPr>
          <p:cNvPr id="2" name="Graphic 1">
            <a:extLst>
              <a:ext uri="{FF2B5EF4-FFF2-40B4-BE49-F238E27FC236}">
                <a16:creationId xmlns:a16="http://schemas.microsoft.com/office/drawing/2014/main" id="{1A45B0D6-5C65-E7FC-2AE6-231A14406A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20375" y="2086287"/>
            <a:ext cx="1170432" cy="1167384"/>
          </a:xfrm>
          <a:prstGeom prst="roundRect">
            <a:avLst>
              <a:gd name="adj" fmla="val 4895"/>
            </a:avLst>
          </a:prstGeom>
        </p:spPr>
      </p:pic>
      <p:pic>
        <p:nvPicPr>
          <p:cNvPr id="3" name="Graphic 2">
            <a:extLst>
              <a:ext uri="{FF2B5EF4-FFF2-40B4-BE49-F238E27FC236}">
                <a16:creationId xmlns:a16="http://schemas.microsoft.com/office/drawing/2014/main" id="{A4E97855-4656-D9E7-6D12-53AB39E44E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5535" y="2175822"/>
            <a:ext cx="844169" cy="1077849"/>
          </a:xfrm>
          <a:prstGeom prst="roundRect">
            <a:avLst>
              <a:gd name="adj" fmla="val 6769"/>
            </a:avLst>
          </a:prstGeom>
        </p:spPr>
      </p:pic>
      <p:pic>
        <p:nvPicPr>
          <p:cNvPr id="4" name="Graphic 3">
            <a:extLst>
              <a:ext uri="{FF2B5EF4-FFF2-40B4-BE49-F238E27FC236}">
                <a16:creationId xmlns:a16="http://schemas.microsoft.com/office/drawing/2014/main" id="{7DED7B0E-A7DC-6EA5-8C30-5F1C30AC2F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50993" y="2494846"/>
            <a:ext cx="1219200" cy="758825"/>
          </a:xfrm>
          <a:prstGeom prst="roundRect">
            <a:avLst>
              <a:gd name="adj" fmla="val 7531"/>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1"/>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14" name="Google Shape;314;p21"/>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315" name="Google Shape;315;p21"/>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The Strategic Value of Application Timing</a:t>
            </a:r>
            <a:endParaRPr/>
          </a:p>
        </p:txBody>
      </p:sp>
      <p:sp>
        <p:nvSpPr>
          <p:cNvPr id="316" name="Google Shape;316;p21"/>
          <p:cNvSpPr/>
          <p:nvPr/>
        </p:nvSpPr>
        <p:spPr>
          <a:xfrm>
            <a:off x="569770" y="4484821"/>
            <a:ext cx="3429000" cy="1213452"/>
          </a:xfrm>
          <a:prstGeom prst="roundRect">
            <a:avLst>
              <a:gd name="adj" fmla="val 4709"/>
            </a:avLst>
          </a:prstGeom>
          <a:solidFill>
            <a:schemeClr val="accent4"/>
          </a:solidFill>
          <a:ln>
            <a:noFill/>
          </a:ln>
        </p:spPr>
        <p:txBody>
          <a:bodyPr spcFirstLastPara="1" wrap="square" lIns="274300" tIns="274300" rIns="274300" bIns="274300" anchor="ctr" anchorCtr="1">
            <a:noAutofit/>
          </a:bodyPr>
          <a:lstStyle/>
          <a:p>
            <a:pPr marL="0" marR="0" lvl="0" indent="0" algn="l" rtl="0">
              <a:lnSpc>
                <a:spcPct val="100000"/>
              </a:lnSpc>
              <a:spcBef>
                <a:spcPts val="0"/>
              </a:spcBef>
              <a:spcAft>
                <a:spcPts val="0"/>
              </a:spcAft>
              <a:buClr>
                <a:schemeClr val="lt1"/>
              </a:buClr>
              <a:buSzPts val="2000"/>
              <a:buFont typeface="Arial"/>
              <a:buNone/>
            </a:pPr>
            <a:r>
              <a:rPr lang="en-US" sz="2000" b="0">
                <a:solidFill>
                  <a:schemeClr val="lt1"/>
                </a:solidFill>
                <a:latin typeface="Arial"/>
                <a:ea typeface="Arial"/>
                <a:cs typeface="Arial"/>
                <a:sym typeface="Arial"/>
              </a:rPr>
              <a:t>Chance: High</a:t>
            </a:r>
            <a:endParaRPr/>
          </a:p>
        </p:txBody>
      </p:sp>
      <p:sp>
        <p:nvSpPr>
          <p:cNvPr id="317" name="Google Shape;317;p21"/>
          <p:cNvSpPr/>
          <p:nvPr/>
        </p:nvSpPr>
        <p:spPr>
          <a:xfrm>
            <a:off x="4403650" y="4484821"/>
            <a:ext cx="3429000" cy="1213452"/>
          </a:xfrm>
          <a:prstGeom prst="roundRect">
            <a:avLst>
              <a:gd name="adj" fmla="val 4709"/>
            </a:avLst>
          </a:prstGeom>
          <a:solidFill>
            <a:schemeClr val="accent1"/>
          </a:solidFill>
          <a:ln>
            <a:noFill/>
          </a:ln>
        </p:spPr>
        <p:txBody>
          <a:bodyPr spcFirstLastPara="1" wrap="square" lIns="274300" tIns="274300" rIns="274300" bIns="274300" anchor="ctr" anchorCtr="1">
            <a:noAutofit/>
          </a:bodyPr>
          <a:lstStyle/>
          <a:p>
            <a:pPr marL="0" marR="0" lvl="0" indent="0" algn="l" rtl="0">
              <a:lnSpc>
                <a:spcPct val="100000"/>
              </a:lnSpc>
              <a:spcBef>
                <a:spcPts val="0"/>
              </a:spcBef>
              <a:spcAft>
                <a:spcPts val="0"/>
              </a:spcAft>
              <a:buClr>
                <a:schemeClr val="lt1"/>
              </a:buClr>
              <a:buSzPts val="2000"/>
              <a:buFont typeface="Arial"/>
              <a:buNone/>
            </a:pPr>
            <a:r>
              <a:rPr lang="en-US" sz="2000" b="0">
                <a:solidFill>
                  <a:schemeClr val="lt1"/>
                </a:solidFill>
                <a:latin typeface="Arial"/>
                <a:ea typeface="Arial"/>
                <a:cs typeface="Arial"/>
                <a:sym typeface="Arial"/>
              </a:rPr>
              <a:t>Chance: Medium</a:t>
            </a:r>
            <a:endParaRPr/>
          </a:p>
        </p:txBody>
      </p:sp>
      <p:sp>
        <p:nvSpPr>
          <p:cNvPr id="318" name="Google Shape;318;p21"/>
          <p:cNvSpPr/>
          <p:nvPr/>
        </p:nvSpPr>
        <p:spPr>
          <a:xfrm>
            <a:off x="8193230" y="4484821"/>
            <a:ext cx="3429000" cy="1213452"/>
          </a:xfrm>
          <a:prstGeom prst="roundRect">
            <a:avLst>
              <a:gd name="adj" fmla="val 4709"/>
            </a:avLst>
          </a:prstGeom>
          <a:solidFill>
            <a:schemeClr val="accent5"/>
          </a:solidFill>
          <a:ln>
            <a:noFill/>
          </a:ln>
        </p:spPr>
        <p:txBody>
          <a:bodyPr spcFirstLastPara="1" wrap="square" lIns="274300" tIns="274300" rIns="274300" bIns="274300" anchor="ctr" anchorCtr="1">
            <a:noAutofit/>
          </a:bodyPr>
          <a:lstStyle/>
          <a:p>
            <a:pPr marL="0" marR="0" lvl="0" indent="0" algn="l" rtl="0">
              <a:lnSpc>
                <a:spcPct val="100000"/>
              </a:lnSpc>
              <a:spcBef>
                <a:spcPts val="0"/>
              </a:spcBef>
              <a:spcAft>
                <a:spcPts val="0"/>
              </a:spcAft>
              <a:buClr>
                <a:schemeClr val="lt1"/>
              </a:buClr>
              <a:buSzPts val="2000"/>
              <a:buFont typeface="Arial"/>
              <a:buNone/>
            </a:pPr>
            <a:r>
              <a:rPr lang="en-US" sz="2000" b="0">
                <a:solidFill>
                  <a:schemeClr val="lt1"/>
                </a:solidFill>
                <a:latin typeface="Arial"/>
                <a:ea typeface="Arial"/>
                <a:cs typeface="Arial"/>
                <a:sym typeface="Arial"/>
              </a:rPr>
              <a:t>Chance: Low</a:t>
            </a:r>
            <a:endParaRPr/>
          </a:p>
        </p:txBody>
      </p:sp>
      <p:sp>
        <p:nvSpPr>
          <p:cNvPr id="319" name="Google Shape;319;p21"/>
          <p:cNvSpPr/>
          <p:nvPr/>
        </p:nvSpPr>
        <p:spPr>
          <a:xfrm>
            <a:off x="569770" y="4049824"/>
            <a:ext cx="3429000" cy="400110"/>
          </a:xfrm>
          <a:prstGeom prst="roundRect">
            <a:avLst>
              <a:gd name="adj" fmla="val 14283"/>
            </a:avLst>
          </a:prstGeom>
          <a:noFill/>
          <a:ln>
            <a:noFill/>
          </a:ln>
        </p:spPr>
        <p:txBody>
          <a:bodyPr spcFirstLastPara="1" wrap="square" lIns="0" tIns="0" rIns="0" bIns="91425" anchor="b" anchorCtr="0">
            <a:noAutofit/>
          </a:bodyPr>
          <a:lstStyle/>
          <a:p>
            <a:pPr marL="0" marR="0" lvl="0" indent="0" algn="ctr"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Early Decision (ED)</a:t>
            </a:r>
            <a:endParaRPr/>
          </a:p>
        </p:txBody>
      </p:sp>
      <p:sp>
        <p:nvSpPr>
          <p:cNvPr id="320" name="Google Shape;320;p21"/>
          <p:cNvSpPr/>
          <p:nvPr/>
        </p:nvSpPr>
        <p:spPr>
          <a:xfrm>
            <a:off x="4403650" y="4049824"/>
            <a:ext cx="3429000" cy="400110"/>
          </a:xfrm>
          <a:prstGeom prst="roundRect">
            <a:avLst>
              <a:gd name="adj" fmla="val 14283"/>
            </a:avLst>
          </a:prstGeom>
          <a:noFill/>
          <a:ln>
            <a:noFill/>
          </a:ln>
        </p:spPr>
        <p:txBody>
          <a:bodyPr spcFirstLastPara="1" wrap="square" lIns="0" tIns="0" rIns="0" bIns="91425" anchor="b" anchorCtr="0">
            <a:noAutofit/>
          </a:bodyPr>
          <a:lstStyle/>
          <a:p>
            <a:pPr marL="0" marR="0" lvl="0" indent="0" algn="ctr"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Early Action (EA)</a:t>
            </a:r>
            <a:endParaRPr sz="2000" b="1">
              <a:solidFill>
                <a:schemeClr val="accent1"/>
              </a:solidFill>
              <a:latin typeface="Arial"/>
              <a:ea typeface="Arial"/>
              <a:cs typeface="Arial"/>
              <a:sym typeface="Arial"/>
            </a:endParaRPr>
          </a:p>
        </p:txBody>
      </p:sp>
      <p:sp>
        <p:nvSpPr>
          <p:cNvPr id="321" name="Google Shape;321;p21"/>
          <p:cNvSpPr/>
          <p:nvPr/>
        </p:nvSpPr>
        <p:spPr>
          <a:xfrm>
            <a:off x="8250355" y="4049824"/>
            <a:ext cx="3347155" cy="400110"/>
          </a:xfrm>
          <a:prstGeom prst="roundRect">
            <a:avLst>
              <a:gd name="adj" fmla="val 14283"/>
            </a:avLst>
          </a:prstGeom>
          <a:noFill/>
          <a:ln>
            <a:noFill/>
          </a:ln>
        </p:spPr>
        <p:txBody>
          <a:bodyPr spcFirstLastPara="1" wrap="square" lIns="0" tIns="0" rIns="0" bIns="91425" anchor="b" anchorCtr="0">
            <a:noAutofit/>
          </a:bodyPr>
          <a:lstStyle/>
          <a:p>
            <a:pPr marL="0" marR="0" lvl="0" indent="0" algn="ctr"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Regular Decision (RD)</a:t>
            </a:r>
            <a:endParaRPr/>
          </a:p>
        </p:txBody>
      </p:sp>
      <p:sp>
        <p:nvSpPr>
          <p:cNvPr id="322" name="Google Shape;322;p21"/>
          <p:cNvSpPr/>
          <p:nvPr/>
        </p:nvSpPr>
        <p:spPr>
          <a:xfrm>
            <a:off x="569770" y="1903071"/>
            <a:ext cx="11027740" cy="1453614"/>
          </a:xfrm>
          <a:prstGeom prst="roundRect">
            <a:avLst>
              <a:gd name="adj" fmla="val 3931"/>
            </a:avLst>
          </a:prstGeom>
          <a:noFill/>
          <a:ln>
            <a:noFill/>
          </a:ln>
        </p:spPr>
        <p:txBody>
          <a:bodyPr spcFirstLastPara="1" wrap="square" lIns="0" tIns="0" rIns="0" bIns="0" anchor="t" anchorCtr="0">
            <a:spAutoFit/>
          </a:bodyPr>
          <a:lstStyle/>
          <a:p>
            <a:pPr marL="342900" marR="0" lvl="0" indent="-342900" algn="l" rtl="0">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Improving Acceptance Rates via Early Deadlines (ED/EA)</a:t>
            </a:r>
            <a:endParaRPr/>
          </a:p>
          <a:p>
            <a:pPr marL="342900" marR="0" lvl="0" indent="-342900" algn="l" rtl="0">
              <a:spcBef>
                <a:spcPts val="1600"/>
              </a:spcBef>
              <a:spcAft>
                <a:spcPts val="0"/>
              </a:spcAft>
              <a:buClr>
                <a:schemeClr val="dk1"/>
              </a:buClr>
              <a:buSzPts val="2200"/>
              <a:buFont typeface="Arial"/>
              <a:buChar char="•"/>
            </a:pPr>
            <a:r>
              <a:rPr lang="en-US" sz="2200">
                <a:solidFill>
                  <a:schemeClr val="dk1"/>
                </a:solidFill>
                <a:latin typeface="Arial"/>
                <a:ea typeface="Arial"/>
                <a:cs typeface="Arial"/>
                <a:sym typeface="Arial"/>
              </a:rPr>
              <a:t>Securing the First-Come, First-Served Aid Pool</a:t>
            </a:r>
            <a:endParaRPr/>
          </a:p>
          <a:p>
            <a:pPr marL="342900" marR="0" lvl="0" indent="-342900" algn="l" rtl="0">
              <a:spcBef>
                <a:spcPts val="1600"/>
              </a:spcBef>
              <a:spcAft>
                <a:spcPts val="0"/>
              </a:spcAft>
              <a:buClr>
                <a:schemeClr val="dk1"/>
              </a:buClr>
              <a:buSzPts val="2200"/>
              <a:buFont typeface="Arial"/>
              <a:buChar char="•"/>
            </a:pPr>
            <a:r>
              <a:rPr lang="en-US" sz="2200">
                <a:solidFill>
                  <a:schemeClr val="dk1"/>
                </a:solidFill>
                <a:latin typeface="Arial"/>
                <a:ea typeface="Arial"/>
                <a:cs typeface="Arial"/>
                <a:sym typeface="Arial"/>
              </a:rPr>
              <a:t>Demonstrating Interest to Strengthen Financial Offers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2"/>
          <p:cNvSpPr txBox="1">
            <a:spLocks noGrp="1"/>
          </p:cNvSpPr>
          <p:nvPr>
            <p:ph type="title"/>
          </p:nvPr>
        </p:nvSpPr>
        <p:spPr>
          <a:xfrm>
            <a:off x="320040" y="3186626"/>
            <a:ext cx="11551920" cy="484748"/>
          </a:xfrm>
          <a:prstGeom prst="roundRect">
            <a:avLst>
              <a:gd name="adj" fmla="val 11789"/>
            </a:avLst>
          </a:prstGeom>
          <a:noFill/>
          <a:ln>
            <a:noFill/>
          </a:ln>
        </p:spPr>
        <p:txBody>
          <a:bodyPr spcFirstLastPara="1" wrap="square" lIns="0" tIns="0" rIns="0" bIns="0" anchor="b" anchorCtr="0">
            <a:spAutoFit/>
          </a:bodyPr>
          <a:lstStyle/>
          <a:p>
            <a:pPr marL="0" lvl="0" indent="0" algn="ctr" rtl="0">
              <a:lnSpc>
                <a:spcPct val="90000"/>
              </a:lnSpc>
              <a:spcBef>
                <a:spcPts val="0"/>
              </a:spcBef>
              <a:spcAft>
                <a:spcPts val="0"/>
              </a:spcAft>
              <a:buClr>
                <a:schemeClr val="lt1"/>
              </a:buClr>
              <a:buSzPts val="3500"/>
              <a:buFont typeface="Arial"/>
              <a:buNone/>
            </a:pPr>
            <a:r>
              <a:rPr lang="en-US"/>
              <a:t>Cost and Financial Aid</a:t>
            </a:r>
            <a:endParaRPr/>
          </a:p>
        </p:txBody>
      </p:sp>
      <p:sp>
        <p:nvSpPr>
          <p:cNvPr id="329" name="Google Shape;329;p22"/>
          <p:cNvSpPr/>
          <p:nvPr/>
        </p:nvSpPr>
        <p:spPr>
          <a:xfrm>
            <a:off x="3869635" y="2333825"/>
            <a:ext cx="4452730" cy="615553"/>
          </a:xfrm>
          <a:prstGeom prst="roundRect">
            <a:avLst>
              <a:gd name="adj" fmla="val 9284"/>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a:solidFill>
                  <a:schemeClr val="lt1"/>
                </a:solidFill>
                <a:latin typeface="Arial"/>
                <a:ea typeface="Arial"/>
                <a:cs typeface="Arial"/>
                <a:sym typeface="Arial"/>
              </a:rPr>
              <a:t>Pillar 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3"/>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36" name="Google Shape;336;p23"/>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337" name="Google Shape;337;p23"/>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Funding College Without Aid</a:t>
            </a:r>
            <a:endParaRPr/>
          </a:p>
        </p:txBody>
      </p:sp>
      <p:sp>
        <p:nvSpPr>
          <p:cNvPr id="338" name="Google Shape;338;p23"/>
          <p:cNvSpPr/>
          <p:nvPr/>
        </p:nvSpPr>
        <p:spPr>
          <a:xfrm>
            <a:off x="671513" y="2638640"/>
            <a:ext cx="5257800" cy="3174357"/>
          </a:xfrm>
          <a:prstGeom prst="roundRect">
            <a:avLst>
              <a:gd name="adj" fmla="val 1800"/>
            </a:avLst>
          </a:prstGeom>
          <a:solidFill>
            <a:schemeClr val="accent1"/>
          </a:solidFill>
          <a:ln>
            <a:noFill/>
          </a:ln>
        </p:spPr>
        <p:txBody>
          <a:bodyPr spcFirstLastPara="1" wrap="square" lIns="274300" tIns="274300" rIns="274300" bIns="274300" anchor="t" anchorCtr="0">
            <a:noAutofit/>
          </a:bodyPr>
          <a:lstStyle/>
          <a:p>
            <a:pPr marL="228600" marR="0" lvl="0" indent="-228600" algn="l" rtl="0">
              <a:lnSpc>
                <a:spcPct val="100000"/>
              </a:lnSpc>
              <a:spcBef>
                <a:spcPts val="0"/>
              </a:spcBef>
              <a:spcAft>
                <a:spcPts val="0"/>
              </a:spcAft>
              <a:buClr>
                <a:schemeClr val="lt1"/>
              </a:buClr>
              <a:buSzPts val="2000"/>
              <a:buFont typeface="Arial"/>
              <a:buChar char="•"/>
            </a:pPr>
            <a:r>
              <a:rPr lang="en-US" sz="2000" b="0">
                <a:solidFill>
                  <a:schemeClr val="lt1"/>
                </a:solidFill>
                <a:latin typeface="Arial"/>
                <a:ea typeface="Arial"/>
                <a:cs typeface="Arial"/>
                <a:sym typeface="Arial"/>
              </a:rPr>
              <a:t>Savings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529 plans</a:t>
            </a:r>
            <a:br>
              <a:rPr lang="en-US" sz="2000" b="0">
                <a:solidFill>
                  <a:schemeClr val="lt1"/>
                </a:solidFill>
                <a:latin typeface="Arial"/>
                <a:ea typeface="Arial"/>
                <a:cs typeface="Arial"/>
                <a:sym typeface="Arial"/>
              </a:rPr>
            </a:br>
            <a:r>
              <a:rPr lang="en-US" sz="2000" b="0">
                <a:solidFill>
                  <a:schemeClr val="lt1"/>
                </a:solidFill>
                <a:latin typeface="Arial"/>
                <a:ea typeface="Arial"/>
                <a:cs typeface="Arial"/>
                <a:sym typeface="Arial"/>
              </a:rPr>
              <a:t>Investments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Life Insurance</a:t>
            </a:r>
            <a:endParaRPr/>
          </a:p>
        </p:txBody>
      </p:sp>
      <p:sp>
        <p:nvSpPr>
          <p:cNvPr id="339" name="Google Shape;339;p23"/>
          <p:cNvSpPr/>
          <p:nvPr/>
        </p:nvSpPr>
        <p:spPr>
          <a:xfrm>
            <a:off x="6369050" y="2638641"/>
            <a:ext cx="5257800" cy="3174357"/>
          </a:xfrm>
          <a:prstGeom prst="roundRect">
            <a:avLst>
              <a:gd name="adj" fmla="val 1800"/>
            </a:avLst>
          </a:prstGeom>
          <a:solidFill>
            <a:schemeClr val="accent5"/>
          </a:solidFill>
          <a:ln>
            <a:noFill/>
          </a:ln>
        </p:spPr>
        <p:txBody>
          <a:bodyPr spcFirstLastPara="1" wrap="square" lIns="274300" tIns="274300" rIns="274300" bIns="274300" anchor="t" anchorCtr="0">
            <a:noAutofit/>
          </a:bodyPr>
          <a:lstStyle/>
          <a:p>
            <a:pPr marL="228600" marR="0" lvl="0" indent="-228600" algn="l" rtl="0">
              <a:lnSpc>
                <a:spcPct val="100000"/>
              </a:lnSpc>
              <a:spcBef>
                <a:spcPts val="0"/>
              </a:spcBef>
              <a:spcAft>
                <a:spcPts val="0"/>
              </a:spcAft>
              <a:buClr>
                <a:schemeClr val="lt1"/>
              </a:buClr>
              <a:buSzPts val="2000"/>
              <a:buFont typeface="Arial"/>
              <a:buChar char="•"/>
            </a:pPr>
            <a:r>
              <a:rPr lang="en-US" sz="2000" b="0">
                <a:solidFill>
                  <a:schemeClr val="lt1"/>
                </a:solidFill>
                <a:latin typeface="Arial"/>
                <a:ea typeface="Arial"/>
                <a:cs typeface="Arial"/>
                <a:sym typeface="Arial"/>
              </a:rPr>
              <a:t>Federal loans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PLUS loans</a:t>
            </a:r>
            <a:br>
              <a:rPr lang="en-US" sz="2000" b="0">
                <a:solidFill>
                  <a:schemeClr val="lt1"/>
                </a:solidFill>
                <a:latin typeface="Arial"/>
                <a:ea typeface="Arial"/>
                <a:cs typeface="Arial"/>
                <a:sym typeface="Arial"/>
              </a:rPr>
            </a:br>
            <a:r>
              <a:rPr lang="en-US" sz="2000" b="0">
                <a:solidFill>
                  <a:schemeClr val="lt1"/>
                </a:solidFill>
                <a:latin typeface="Arial"/>
                <a:ea typeface="Arial"/>
                <a:cs typeface="Arial"/>
                <a:sym typeface="Arial"/>
              </a:rPr>
              <a:t>Private loans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Home equity</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Life Insurance</a:t>
            </a:r>
            <a:endParaRPr/>
          </a:p>
        </p:txBody>
      </p:sp>
      <p:sp>
        <p:nvSpPr>
          <p:cNvPr id="340" name="Google Shape;340;p23"/>
          <p:cNvSpPr/>
          <p:nvPr/>
        </p:nvSpPr>
        <p:spPr>
          <a:xfrm>
            <a:off x="670878" y="2203648"/>
            <a:ext cx="52578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Assets</a:t>
            </a:r>
            <a:endParaRPr/>
          </a:p>
        </p:txBody>
      </p:sp>
      <p:sp>
        <p:nvSpPr>
          <p:cNvPr id="341" name="Google Shape;341;p23"/>
          <p:cNvSpPr/>
          <p:nvPr/>
        </p:nvSpPr>
        <p:spPr>
          <a:xfrm>
            <a:off x="6369525" y="2203648"/>
            <a:ext cx="52578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Borrowing</a:t>
            </a:r>
            <a:endParaRPr/>
          </a:p>
        </p:txBody>
      </p:sp>
      <p:sp>
        <p:nvSpPr>
          <p:cNvPr id="342" name="Google Shape;342;p23"/>
          <p:cNvSpPr/>
          <p:nvPr/>
        </p:nvSpPr>
        <p:spPr>
          <a:xfrm>
            <a:off x="670878" y="1685081"/>
            <a:ext cx="10956447" cy="461665"/>
          </a:xfrm>
          <a:prstGeom prst="roundRect">
            <a:avLst>
              <a:gd name="adj" fmla="val 12379"/>
            </a:avLst>
          </a:prstGeom>
          <a:noFill/>
          <a:ln>
            <a:noFill/>
          </a:ln>
        </p:spPr>
        <p:txBody>
          <a:bodyPr spcFirstLastPara="1" wrap="square" lIns="0" tIns="0" rIns="0" bIns="91425" anchor="b"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Every Family Has Two Buckets to Fund College</a:t>
            </a:r>
            <a:endParaRPr/>
          </a:p>
        </p:txBody>
      </p:sp>
      <p:grpSp>
        <p:nvGrpSpPr>
          <p:cNvPr id="343" name="Google Shape;343;p23"/>
          <p:cNvGrpSpPr/>
          <p:nvPr/>
        </p:nvGrpSpPr>
        <p:grpSpPr>
          <a:xfrm>
            <a:off x="3734730" y="3281363"/>
            <a:ext cx="1209675" cy="1230294"/>
            <a:chOff x="4284654" y="1585912"/>
            <a:chExt cx="3624117" cy="3685888"/>
          </a:xfrm>
        </p:grpSpPr>
        <p:grpSp>
          <p:nvGrpSpPr>
            <p:cNvPr id="344" name="Google Shape;344;p23"/>
            <p:cNvGrpSpPr/>
            <p:nvPr/>
          </p:nvGrpSpPr>
          <p:grpSpPr>
            <a:xfrm>
              <a:off x="4284654" y="1585912"/>
              <a:ext cx="3624117" cy="3685888"/>
              <a:chOff x="4284654" y="1585912"/>
              <a:chExt cx="3624117" cy="3685888"/>
            </a:xfrm>
          </p:grpSpPr>
          <p:sp>
            <p:nvSpPr>
              <p:cNvPr id="345" name="Google Shape;345;p23"/>
              <p:cNvSpPr/>
              <p:nvPr/>
            </p:nvSpPr>
            <p:spPr>
              <a:xfrm>
                <a:off x="4284654" y="1585912"/>
                <a:ext cx="3624117" cy="3341941"/>
              </a:xfrm>
              <a:prstGeom prst="roundRect">
                <a:avLst>
                  <a:gd name="adj" fmla="val 5123"/>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6" name="Google Shape;346;p23"/>
              <p:cNvSpPr/>
              <p:nvPr/>
            </p:nvSpPr>
            <p:spPr>
              <a:xfrm>
                <a:off x="4626765" y="2941415"/>
                <a:ext cx="9508" cy="630936"/>
              </a:xfrm>
              <a:custGeom>
                <a:avLst/>
                <a:gdLst/>
                <a:ahLst/>
                <a:cxnLst/>
                <a:rect l="l" t="t" r="r" b="b"/>
                <a:pathLst>
                  <a:path w="9508" h="630936" extrusionOk="0">
                    <a:moveTo>
                      <a:pt x="0" y="63093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7" name="Google Shape;347;p23"/>
              <p:cNvSpPr/>
              <p:nvPr/>
            </p:nvSpPr>
            <p:spPr>
              <a:xfrm>
                <a:off x="4626765" y="1939956"/>
                <a:ext cx="2939990" cy="2633757"/>
              </a:xfrm>
              <a:custGeom>
                <a:avLst/>
                <a:gdLst/>
                <a:ahLst/>
                <a:cxnLst/>
                <a:rect l="l" t="t" r="r" b="b"/>
                <a:pathLst>
                  <a:path w="2939990" h="2633757" extrusionOk="0">
                    <a:moveTo>
                      <a:pt x="0" y="469487"/>
                    </a:moveTo>
                    <a:lnTo>
                      <a:pt x="0" y="118110"/>
                    </a:lnTo>
                    <a:cubicBezTo>
                      <a:pt x="0" y="52864"/>
                      <a:pt x="52771" y="0"/>
                      <a:pt x="117904" y="0"/>
                    </a:cubicBezTo>
                    <a:lnTo>
                      <a:pt x="2822086" y="0"/>
                    </a:lnTo>
                    <a:cubicBezTo>
                      <a:pt x="2887219" y="0"/>
                      <a:pt x="2939990" y="52864"/>
                      <a:pt x="2939990" y="118110"/>
                    </a:cubicBezTo>
                    <a:lnTo>
                      <a:pt x="2939990" y="2515648"/>
                    </a:lnTo>
                    <a:cubicBezTo>
                      <a:pt x="2939990" y="2580894"/>
                      <a:pt x="2887219" y="2633758"/>
                      <a:pt x="2822086" y="2633758"/>
                    </a:cubicBezTo>
                    <a:lnTo>
                      <a:pt x="117904" y="2633758"/>
                    </a:lnTo>
                    <a:cubicBezTo>
                      <a:pt x="52771" y="2633758"/>
                      <a:pt x="0" y="2580894"/>
                      <a:pt x="0" y="2515648"/>
                    </a:cubicBezTo>
                    <a:lnTo>
                      <a:pt x="0" y="21642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48" name="Google Shape;348;p23"/>
              <p:cNvGrpSpPr/>
              <p:nvPr/>
            </p:nvGrpSpPr>
            <p:grpSpPr>
              <a:xfrm>
                <a:off x="4484330" y="2409444"/>
                <a:ext cx="284966" cy="1694878"/>
                <a:chOff x="4484330" y="2409444"/>
                <a:chExt cx="284966" cy="1694878"/>
              </a:xfrm>
            </p:grpSpPr>
            <p:sp>
              <p:nvSpPr>
                <p:cNvPr id="349" name="Google Shape;349;p23"/>
                <p:cNvSpPr/>
                <p:nvPr/>
              </p:nvSpPr>
              <p:spPr>
                <a:xfrm>
                  <a:off x="4484330" y="2409444"/>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0" name="Google Shape;350;p23"/>
                <p:cNvSpPr/>
                <p:nvPr/>
              </p:nvSpPr>
              <p:spPr>
                <a:xfrm>
                  <a:off x="4484330" y="3572351"/>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51" name="Google Shape;351;p23"/>
              <p:cNvGrpSpPr/>
              <p:nvPr/>
            </p:nvGrpSpPr>
            <p:grpSpPr>
              <a:xfrm>
                <a:off x="4653674" y="4927853"/>
                <a:ext cx="2886077" cy="343947"/>
                <a:chOff x="4653674" y="4927853"/>
                <a:chExt cx="2886077" cy="343947"/>
              </a:xfrm>
            </p:grpSpPr>
            <p:sp>
              <p:nvSpPr>
                <p:cNvPr id="352" name="Google Shape;352;p23"/>
                <p:cNvSpPr/>
                <p:nvPr/>
              </p:nvSpPr>
              <p:spPr>
                <a:xfrm>
                  <a:off x="4653674"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3" name="Google Shape;353;p23"/>
                <p:cNvSpPr/>
                <p:nvPr/>
              </p:nvSpPr>
              <p:spPr>
                <a:xfrm>
                  <a:off x="6990738"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54" name="Google Shape;354;p23"/>
              <p:cNvGrpSpPr/>
              <p:nvPr/>
            </p:nvGrpSpPr>
            <p:grpSpPr>
              <a:xfrm>
                <a:off x="5384868" y="2586513"/>
                <a:ext cx="1423784" cy="1426273"/>
                <a:chOff x="5384868" y="2586513"/>
                <a:chExt cx="1423784" cy="1426273"/>
              </a:xfrm>
            </p:grpSpPr>
            <p:sp>
              <p:nvSpPr>
                <p:cNvPr id="355" name="Google Shape;355;p23"/>
                <p:cNvSpPr/>
                <p:nvPr/>
              </p:nvSpPr>
              <p:spPr>
                <a:xfrm>
                  <a:off x="5384868" y="2586513"/>
                  <a:ext cx="1423784" cy="1426273"/>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6" name="Google Shape;356;p23"/>
                <p:cNvSpPr/>
                <p:nvPr/>
              </p:nvSpPr>
              <p:spPr>
                <a:xfrm>
                  <a:off x="5698740" y="2900934"/>
                  <a:ext cx="796041" cy="797432"/>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7" name="Google Shape;357;p23"/>
                <p:cNvSpPr/>
                <p:nvPr/>
              </p:nvSpPr>
              <p:spPr>
                <a:xfrm>
                  <a:off x="6096760" y="2586513"/>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8" name="Google Shape;358;p23"/>
                <p:cNvSpPr/>
                <p:nvPr/>
              </p:nvSpPr>
              <p:spPr>
                <a:xfrm>
                  <a:off x="6096760" y="3898677"/>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9" name="Google Shape;359;p23"/>
                <p:cNvSpPr/>
                <p:nvPr/>
              </p:nvSpPr>
              <p:spPr>
                <a:xfrm>
                  <a:off x="6694742"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0" name="Google Shape;360;p23"/>
                <p:cNvSpPr/>
                <p:nvPr/>
              </p:nvSpPr>
              <p:spPr>
                <a:xfrm>
                  <a:off x="5384868"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1" name="Google Shape;361;p23"/>
                <p:cNvSpPr/>
                <p:nvPr/>
              </p:nvSpPr>
              <p:spPr>
                <a:xfrm>
                  <a:off x="6616108" y="2945225"/>
                  <a:ext cx="98601" cy="57054"/>
                </a:xfrm>
                <a:custGeom>
                  <a:avLst/>
                  <a:gdLst/>
                  <a:ahLst/>
                  <a:cxnLst/>
                  <a:rect l="l" t="t" r="r" b="b"/>
                  <a:pathLst>
                    <a:path w="98601" h="57054" extrusionOk="0">
                      <a:moveTo>
                        <a:pt x="98602"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2" name="Google Shape;362;p23"/>
                <p:cNvSpPr/>
                <p:nvPr/>
              </p:nvSpPr>
              <p:spPr>
                <a:xfrm>
                  <a:off x="5481568" y="3601783"/>
                  <a:ext cx="98506" cy="57054"/>
                </a:xfrm>
                <a:custGeom>
                  <a:avLst/>
                  <a:gdLst/>
                  <a:ahLst/>
                  <a:cxnLst/>
                  <a:rect l="l" t="t" r="r" b="b"/>
                  <a:pathLst>
                    <a:path w="98506" h="57054" extrusionOk="0">
                      <a:moveTo>
                        <a:pt x="98507"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3" name="Google Shape;363;p23"/>
                <p:cNvSpPr/>
                <p:nvPr/>
              </p:nvSpPr>
              <p:spPr>
                <a:xfrm>
                  <a:off x="6394563" y="3819239"/>
                  <a:ext cx="56860" cy="98774"/>
                </a:xfrm>
                <a:custGeom>
                  <a:avLst/>
                  <a:gdLst/>
                  <a:ahLst/>
                  <a:cxnLst/>
                  <a:rect l="l" t="t" r="r" b="b"/>
                  <a:pathLst>
                    <a:path w="56860" h="98774" extrusionOk="0">
                      <a:moveTo>
                        <a:pt x="56860" y="98774"/>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4" name="Google Shape;364;p23"/>
                <p:cNvSpPr/>
                <p:nvPr/>
              </p:nvSpPr>
              <p:spPr>
                <a:xfrm>
                  <a:off x="5739245" y="2683002"/>
                  <a:ext cx="56955" cy="98679"/>
                </a:xfrm>
                <a:custGeom>
                  <a:avLst/>
                  <a:gdLst/>
                  <a:ahLst/>
                  <a:cxnLst/>
                  <a:rect l="l" t="t" r="r" b="b"/>
                  <a:pathLst>
                    <a:path w="56955" h="98679" extrusionOk="0">
                      <a:moveTo>
                        <a:pt x="56955" y="98679"/>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 name="Google Shape;365;p23"/>
                <p:cNvSpPr/>
                <p:nvPr/>
              </p:nvSpPr>
              <p:spPr>
                <a:xfrm>
                  <a:off x="6612114" y="360368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 name="Google Shape;366;p23"/>
                <p:cNvSpPr/>
                <p:nvPr/>
              </p:nvSpPr>
              <p:spPr>
                <a:xfrm>
                  <a:off x="5477289" y="294817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 name="Google Shape;367;p23"/>
                <p:cNvSpPr/>
                <p:nvPr/>
              </p:nvSpPr>
              <p:spPr>
                <a:xfrm>
                  <a:off x="6398271" y="2683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 name="Google Shape;368;p23"/>
                <p:cNvSpPr/>
                <p:nvPr/>
              </p:nvSpPr>
              <p:spPr>
                <a:xfrm>
                  <a:off x="5743809" y="3820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69" name="Google Shape;369;p23"/>
            <p:cNvGrpSpPr/>
            <p:nvPr/>
          </p:nvGrpSpPr>
          <p:grpSpPr>
            <a:xfrm>
              <a:off x="4284654" y="1585912"/>
              <a:ext cx="3624117" cy="3685888"/>
              <a:chOff x="4284654" y="1585912"/>
              <a:chExt cx="3624117" cy="3685888"/>
            </a:xfrm>
          </p:grpSpPr>
          <p:sp>
            <p:nvSpPr>
              <p:cNvPr id="370" name="Google Shape;370;p23"/>
              <p:cNvSpPr/>
              <p:nvPr/>
            </p:nvSpPr>
            <p:spPr>
              <a:xfrm>
                <a:off x="4284654" y="1585912"/>
                <a:ext cx="3624117" cy="3341941"/>
              </a:xfrm>
              <a:prstGeom prst="roundRect">
                <a:avLst>
                  <a:gd name="adj" fmla="val 5123"/>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 name="Google Shape;371;p23"/>
              <p:cNvSpPr/>
              <p:nvPr/>
            </p:nvSpPr>
            <p:spPr>
              <a:xfrm>
                <a:off x="4626765" y="2941415"/>
                <a:ext cx="9508" cy="630936"/>
              </a:xfrm>
              <a:custGeom>
                <a:avLst/>
                <a:gdLst/>
                <a:ahLst/>
                <a:cxnLst/>
                <a:rect l="l" t="t" r="r" b="b"/>
                <a:pathLst>
                  <a:path w="9508" h="630936" extrusionOk="0">
                    <a:moveTo>
                      <a:pt x="0" y="63093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 name="Google Shape;372;p23"/>
              <p:cNvSpPr/>
              <p:nvPr/>
            </p:nvSpPr>
            <p:spPr>
              <a:xfrm>
                <a:off x="4626765" y="1939956"/>
                <a:ext cx="2939990" cy="2633757"/>
              </a:xfrm>
              <a:custGeom>
                <a:avLst/>
                <a:gdLst/>
                <a:ahLst/>
                <a:cxnLst/>
                <a:rect l="l" t="t" r="r" b="b"/>
                <a:pathLst>
                  <a:path w="2939990" h="2633757" extrusionOk="0">
                    <a:moveTo>
                      <a:pt x="0" y="469487"/>
                    </a:moveTo>
                    <a:lnTo>
                      <a:pt x="0" y="118110"/>
                    </a:lnTo>
                    <a:cubicBezTo>
                      <a:pt x="0" y="52864"/>
                      <a:pt x="52771" y="0"/>
                      <a:pt x="117904" y="0"/>
                    </a:cubicBezTo>
                    <a:lnTo>
                      <a:pt x="2822086" y="0"/>
                    </a:lnTo>
                    <a:cubicBezTo>
                      <a:pt x="2887219" y="0"/>
                      <a:pt x="2939990" y="52864"/>
                      <a:pt x="2939990" y="118110"/>
                    </a:cubicBezTo>
                    <a:lnTo>
                      <a:pt x="2939990" y="2515648"/>
                    </a:lnTo>
                    <a:cubicBezTo>
                      <a:pt x="2939990" y="2580894"/>
                      <a:pt x="2887219" y="2633758"/>
                      <a:pt x="2822086" y="2633758"/>
                    </a:cubicBezTo>
                    <a:lnTo>
                      <a:pt x="117904" y="2633758"/>
                    </a:lnTo>
                    <a:cubicBezTo>
                      <a:pt x="52771" y="2633758"/>
                      <a:pt x="0" y="2580894"/>
                      <a:pt x="0" y="2515648"/>
                    </a:cubicBezTo>
                    <a:lnTo>
                      <a:pt x="0" y="21642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3" name="Google Shape;373;p23"/>
              <p:cNvGrpSpPr/>
              <p:nvPr/>
            </p:nvGrpSpPr>
            <p:grpSpPr>
              <a:xfrm>
                <a:off x="4484330" y="2409444"/>
                <a:ext cx="284966" cy="1694878"/>
                <a:chOff x="4484330" y="2409444"/>
                <a:chExt cx="284966" cy="1694878"/>
              </a:xfrm>
            </p:grpSpPr>
            <p:sp>
              <p:nvSpPr>
                <p:cNvPr id="374" name="Google Shape;374;p23"/>
                <p:cNvSpPr/>
                <p:nvPr/>
              </p:nvSpPr>
              <p:spPr>
                <a:xfrm>
                  <a:off x="4484330" y="2409444"/>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 name="Google Shape;375;p23"/>
                <p:cNvSpPr/>
                <p:nvPr/>
              </p:nvSpPr>
              <p:spPr>
                <a:xfrm>
                  <a:off x="4484330" y="3572351"/>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6" name="Google Shape;376;p23"/>
              <p:cNvGrpSpPr/>
              <p:nvPr/>
            </p:nvGrpSpPr>
            <p:grpSpPr>
              <a:xfrm>
                <a:off x="4653674" y="4927853"/>
                <a:ext cx="2886077" cy="343947"/>
                <a:chOff x="4653674" y="4927853"/>
                <a:chExt cx="2886077" cy="343947"/>
              </a:xfrm>
            </p:grpSpPr>
            <p:sp>
              <p:nvSpPr>
                <p:cNvPr id="377" name="Google Shape;377;p23"/>
                <p:cNvSpPr/>
                <p:nvPr/>
              </p:nvSpPr>
              <p:spPr>
                <a:xfrm>
                  <a:off x="4653674"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 name="Google Shape;378;p23"/>
                <p:cNvSpPr/>
                <p:nvPr/>
              </p:nvSpPr>
              <p:spPr>
                <a:xfrm>
                  <a:off x="6990738"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9" name="Google Shape;379;p23"/>
              <p:cNvGrpSpPr/>
              <p:nvPr/>
            </p:nvGrpSpPr>
            <p:grpSpPr>
              <a:xfrm>
                <a:off x="5384868" y="2586513"/>
                <a:ext cx="1423784" cy="1426273"/>
                <a:chOff x="5384868" y="2586513"/>
                <a:chExt cx="1423784" cy="1426273"/>
              </a:xfrm>
            </p:grpSpPr>
            <p:sp>
              <p:nvSpPr>
                <p:cNvPr id="380" name="Google Shape;380;p23"/>
                <p:cNvSpPr/>
                <p:nvPr/>
              </p:nvSpPr>
              <p:spPr>
                <a:xfrm>
                  <a:off x="5384868" y="2586513"/>
                  <a:ext cx="1423784" cy="1426273"/>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 name="Google Shape;381;p23"/>
                <p:cNvSpPr/>
                <p:nvPr/>
              </p:nvSpPr>
              <p:spPr>
                <a:xfrm>
                  <a:off x="5698740" y="2900934"/>
                  <a:ext cx="796041" cy="797432"/>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2" name="Google Shape;382;p23"/>
                <p:cNvSpPr/>
                <p:nvPr/>
              </p:nvSpPr>
              <p:spPr>
                <a:xfrm>
                  <a:off x="6096760" y="2586513"/>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3" name="Google Shape;383;p23"/>
                <p:cNvSpPr/>
                <p:nvPr/>
              </p:nvSpPr>
              <p:spPr>
                <a:xfrm>
                  <a:off x="6096760" y="3898677"/>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4" name="Google Shape;384;p23"/>
                <p:cNvSpPr/>
                <p:nvPr/>
              </p:nvSpPr>
              <p:spPr>
                <a:xfrm>
                  <a:off x="6694742"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5" name="Google Shape;385;p23"/>
                <p:cNvSpPr/>
                <p:nvPr/>
              </p:nvSpPr>
              <p:spPr>
                <a:xfrm>
                  <a:off x="5384868"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6" name="Google Shape;386;p23"/>
                <p:cNvSpPr/>
                <p:nvPr/>
              </p:nvSpPr>
              <p:spPr>
                <a:xfrm>
                  <a:off x="6616108" y="2945225"/>
                  <a:ext cx="98601" cy="57054"/>
                </a:xfrm>
                <a:custGeom>
                  <a:avLst/>
                  <a:gdLst/>
                  <a:ahLst/>
                  <a:cxnLst/>
                  <a:rect l="l" t="t" r="r" b="b"/>
                  <a:pathLst>
                    <a:path w="98601" h="57054" extrusionOk="0">
                      <a:moveTo>
                        <a:pt x="98602"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7" name="Google Shape;387;p23"/>
                <p:cNvSpPr/>
                <p:nvPr/>
              </p:nvSpPr>
              <p:spPr>
                <a:xfrm>
                  <a:off x="5481568" y="3601783"/>
                  <a:ext cx="98506" cy="57054"/>
                </a:xfrm>
                <a:custGeom>
                  <a:avLst/>
                  <a:gdLst/>
                  <a:ahLst/>
                  <a:cxnLst/>
                  <a:rect l="l" t="t" r="r" b="b"/>
                  <a:pathLst>
                    <a:path w="98506" h="57054" extrusionOk="0">
                      <a:moveTo>
                        <a:pt x="98507"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 name="Google Shape;388;p23"/>
                <p:cNvSpPr/>
                <p:nvPr/>
              </p:nvSpPr>
              <p:spPr>
                <a:xfrm>
                  <a:off x="6394563" y="3819239"/>
                  <a:ext cx="56860" cy="98774"/>
                </a:xfrm>
                <a:custGeom>
                  <a:avLst/>
                  <a:gdLst/>
                  <a:ahLst/>
                  <a:cxnLst/>
                  <a:rect l="l" t="t" r="r" b="b"/>
                  <a:pathLst>
                    <a:path w="56860" h="98774" extrusionOk="0">
                      <a:moveTo>
                        <a:pt x="56860" y="98774"/>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 name="Google Shape;389;p23"/>
                <p:cNvSpPr/>
                <p:nvPr/>
              </p:nvSpPr>
              <p:spPr>
                <a:xfrm>
                  <a:off x="5739245" y="2683002"/>
                  <a:ext cx="56955" cy="98679"/>
                </a:xfrm>
                <a:custGeom>
                  <a:avLst/>
                  <a:gdLst/>
                  <a:ahLst/>
                  <a:cxnLst/>
                  <a:rect l="l" t="t" r="r" b="b"/>
                  <a:pathLst>
                    <a:path w="56955" h="98679" extrusionOk="0">
                      <a:moveTo>
                        <a:pt x="56955" y="98679"/>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0" name="Google Shape;390;p23"/>
                <p:cNvSpPr/>
                <p:nvPr/>
              </p:nvSpPr>
              <p:spPr>
                <a:xfrm>
                  <a:off x="6612114" y="360368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1" name="Google Shape;391;p23"/>
                <p:cNvSpPr/>
                <p:nvPr/>
              </p:nvSpPr>
              <p:spPr>
                <a:xfrm>
                  <a:off x="5477289" y="294817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2" name="Google Shape;392;p23"/>
                <p:cNvSpPr/>
                <p:nvPr/>
              </p:nvSpPr>
              <p:spPr>
                <a:xfrm>
                  <a:off x="6398271" y="2683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3" name="Google Shape;393;p23"/>
                <p:cNvSpPr/>
                <p:nvPr/>
              </p:nvSpPr>
              <p:spPr>
                <a:xfrm>
                  <a:off x="5743809" y="3820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grpSp>
        <p:nvGrpSpPr>
          <p:cNvPr id="394" name="Google Shape;394;p23"/>
          <p:cNvGrpSpPr/>
          <p:nvPr/>
        </p:nvGrpSpPr>
        <p:grpSpPr>
          <a:xfrm>
            <a:off x="9452307" y="3281363"/>
            <a:ext cx="1293911" cy="1239720"/>
            <a:chOff x="3671823" y="1106417"/>
            <a:chExt cx="4848449" cy="4645403"/>
          </a:xfrm>
        </p:grpSpPr>
        <p:sp>
          <p:nvSpPr>
            <p:cNvPr id="395" name="Google Shape;395;p23"/>
            <p:cNvSpPr/>
            <p:nvPr/>
          </p:nvSpPr>
          <p:spPr>
            <a:xfrm>
              <a:off x="3704050" y="5348613"/>
              <a:ext cx="4800060" cy="403207"/>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6" name="Google Shape;396;p23"/>
            <p:cNvSpPr/>
            <p:nvPr/>
          </p:nvSpPr>
          <p:spPr>
            <a:xfrm>
              <a:off x="3889238" y="5017937"/>
              <a:ext cx="4429684" cy="330675"/>
            </a:xfrm>
            <a:custGeom>
              <a:avLst/>
              <a:gdLst/>
              <a:ahLst/>
              <a:cxnLst/>
              <a:rect l="l" t="t" r="r" b="b"/>
              <a:pathLst>
                <a:path w="4429684" h="330675" extrusionOk="0">
                  <a:moveTo>
                    <a:pt x="0" y="330676"/>
                  </a:moveTo>
                  <a:lnTo>
                    <a:pt x="0" y="0"/>
                  </a:lnTo>
                  <a:lnTo>
                    <a:pt x="4429684" y="0"/>
                  </a:lnTo>
                  <a:lnTo>
                    <a:pt x="4429684" y="330676"/>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7" name="Google Shape;397;p23"/>
            <p:cNvSpPr/>
            <p:nvPr/>
          </p:nvSpPr>
          <p:spPr>
            <a:xfrm>
              <a:off x="4063779" y="4679266"/>
              <a:ext cx="885822" cy="338671"/>
            </a:xfrm>
            <a:custGeom>
              <a:avLst/>
              <a:gdLst/>
              <a:ahLst/>
              <a:cxnLst/>
              <a:rect l="l" t="t" r="r" b="b"/>
              <a:pathLst>
                <a:path w="885822" h="338671" extrusionOk="0">
                  <a:moveTo>
                    <a:pt x="885823" y="338671"/>
                  </a:moveTo>
                  <a:lnTo>
                    <a:pt x="885823" y="95662"/>
                  </a:lnTo>
                  <a:cubicBezTo>
                    <a:pt x="885823" y="42929"/>
                    <a:pt x="843138" y="0"/>
                    <a:pt x="790282" y="0"/>
                  </a:cubicBezTo>
                  <a:lnTo>
                    <a:pt x="95636" y="0"/>
                  </a:lnTo>
                  <a:cubicBezTo>
                    <a:pt x="42780" y="0"/>
                    <a:pt x="0" y="42929"/>
                    <a:pt x="0" y="95662"/>
                  </a:cubicBezTo>
                  <a:lnTo>
                    <a:pt x="0" y="3386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8" name="Google Shape;398;p23"/>
            <p:cNvSpPr/>
            <p:nvPr/>
          </p:nvSpPr>
          <p:spPr>
            <a:xfrm>
              <a:off x="4063684" y="2550434"/>
              <a:ext cx="885917" cy="387120"/>
            </a:xfrm>
            <a:custGeom>
              <a:avLst/>
              <a:gdLst/>
              <a:ahLst/>
              <a:cxnLst/>
              <a:rect l="l" t="t" r="r" b="b"/>
              <a:pathLst>
                <a:path w="885917" h="387120" extrusionOk="0">
                  <a:moveTo>
                    <a:pt x="0" y="0"/>
                  </a:moveTo>
                  <a:lnTo>
                    <a:pt x="0" y="291459"/>
                  </a:lnTo>
                  <a:cubicBezTo>
                    <a:pt x="0" y="344192"/>
                    <a:pt x="42875" y="387121"/>
                    <a:pt x="95636" y="387121"/>
                  </a:cubicBezTo>
                  <a:lnTo>
                    <a:pt x="790377" y="387121"/>
                  </a:lnTo>
                  <a:cubicBezTo>
                    <a:pt x="843233" y="387121"/>
                    <a:pt x="885918" y="344192"/>
                    <a:pt x="885918" y="291459"/>
                  </a:cubicBezTo>
                  <a:lnTo>
                    <a:pt x="885918"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 name="Google Shape;399;p23"/>
            <p:cNvSpPr/>
            <p:nvPr/>
          </p:nvSpPr>
          <p:spPr>
            <a:xfrm>
              <a:off x="4224820"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0" name="Google Shape;400;p23"/>
            <p:cNvSpPr/>
            <p:nvPr/>
          </p:nvSpPr>
          <p:spPr>
            <a:xfrm>
              <a:off x="4788560"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1" name="Google Shape;401;p23"/>
            <p:cNvSpPr/>
            <p:nvPr/>
          </p:nvSpPr>
          <p:spPr>
            <a:xfrm>
              <a:off x="7247626" y="4679266"/>
              <a:ext cx="886012" cy="338671"/>
            </a:xfrm>
            <a:custGeom>
              <a:avLst/>
              <a:gdLst/>
              <a:ahLst/>
              <a:cxnLst/>
              <a:rect l="l" t="t" r="r" b="b"/>
              <a:pathLst>
                <a:path w="886012" h="338671" extrusionOk="0">
                  <a:moveTo>
                    <a:pt x="886013" y="338671"/>
                  </a:moveTo>
                  <a:lnTo>
                    <a:pt x="886013" y="95662"/>
                  </a:lnTo>
                  <a:cubicBezTo>
                    <a:pt x="886013" y="42929"/>
                    <a:pt x="843138" y="0"/>
                    <a:pt x="790472" y="0"/>
                  </a:cubicBezTo>
                  <a:lnTo>
                    <a:pt x="95541" y="0"/>
                  </a:lnTo>
                  <a:cubicBezTo>
                    <a:pt x="42874" y="0"/>
                    <a:pt x="0" y="42929"/>
                    <a:pt x="0" y="95662"/>
                  </a:cubicBezTo>
                  <a:lnTo>
                    <a:pt x="0" y="3386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2" name="Google Shape;402;p23"/>
            <p:cNvSpPr/>
            <p:nvPr/>
          </p:nvSpPr>
          <p:spPr>
            <a:xfrm>
              <a:off x="7247721" y="2550434"/>
              <a:ext cx="886013" cy="387120"/>
            </a:xfrm>
            <a:custGeom>
              <a:avLst/>
              <a:gdLst/>
              <a:ahLst/>
              <a:cxnLst/>
              <a:rect l="l" t="t" r="r" b="b"/>
              <a:pathLst>
                <a:path w="886013" h="387120" extrusionOk="0">
                  <a:moveTo>
                    <a:pt x="0" y="0"/>
                  </a:moveTo>
                  <a:lnTo>
                    <a:pt x="0" y="291459"/>
                  </a:lnTo>
                  <a:cubicBezTo>
                    <a:pt x="0" y="344192"/>
                    <a:pt x="42875" y="387121"/>
                    <a:pt x="95541" y="387121"/>
                  </a:cubicBezTo>
                  <a:lnTo>
                    <a:pt x="790472" y="387121"/>
                  </a:lnTo>
                  <a:cubicBezTo>
                    <a:pt x="843138" y="387121"/>
                    <a:pt x="886013" y="344192"/>
                    <a:pt x="886013" y="291459"/>
                  </a:cubicBezTo>
                  <a:lnTo>
                    <a:pt x="886013"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3" name="Google Shape;403;p23"/>
            <p:cNvSpPr/>
            <p:nvPr/>
          </p:nvSpPr>
          <p:spPr>
            <a:xfrm>
              <a:off x="7408858"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4" name="Google Shape;404;p23"/>
            <p:cNvSpPr/>
            <p:nvPr/>
          </p:nvSpPr>
          <p:spPr>
            <a:xfrm>
              <a:off x="7972598"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5" name="Google Shape;405;p23"/>
            <p:cNvSpPr/>
            <p:nvPr/>
          </p:nvSpPr>
          <p:spPr>
            <a:xfrm>
              <a:off x="3671823" y="1106417"/>
              <a:ext cx="4848449" cy="1444017"/>
            </a:xfrm>
            <a:custGeom>
              <a:avLst/>
              <a:gdLst/>
              <a:ahLst/>
              <a:cxnLst/>
              <a:rect l="l" t="t" r="r" b="b"/>
              <a:pathLst>
                <a:path w="4848449" h="1444017" extrusionOk="0">
                  <a:moveTo>
                    <a:pt x="4760799" y="1444017"/>
                  </a:moveTo>
                  <a:lnTo>
                    <a:pt x="87556" y="1444017"/>
                  </a:lnTo>
                  <a:cubicBezTo>
                    <a:pt x="39167" y="1444017"/>
                    <a:pt x="0" y="1404705"/>
                    <a:pt x="0" y="1356351"/>
                  </a:cubicBezTo>
                  <a:lnTo>
                    <a:pt x="0" y="1082787"/>
                  </a:lnTo>
                  <a:cubicBezTo>
                    <a:pt x="0" y="1047568"/>
                    <a:pt x="21010" y="1015871"/>
                    <a:pt x="53332" y="1002069"/>
                  </a:cubicBezTo>
                  <a:lnTo>
                    <a:pt x="2389953" y="6996"/>
                  </a:lnTo>
                  <a:cubicBezTo>
                    <a:pt x="2411819" y="-2332"/>
                    <a:pt x="2436631" y="-2332"/>
                    <a:pt x="2458496" y="6996"/>
                  </a:cubicBezTo>
                  <a:lnTo>
                    <a:pt x="4795117" y="1001879"/>
                  </a:lnTo>
                  <a:cubicBezTo>
                    <a:pt x="4827440" y="1015681"/>
                    <a:pt x="4848449" y="1047378"/>
                    <a:pt x="4848449" y="1082596"/>
                  </a:cubicBezTo>
                  <a:lnTo>
                    <a:pt x="4848449" y="1356161"/>
                  </a:lnTo>
                  <a:cubicBezTo>
                    <a:pt x="4848449" y="1404610"/>
                    <a:pt x="4809187" y="1443827"/>
                    <a:pt x="4760894" y="1443827"/>
                  </a:cubicBezTo>
                  <a:close/>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6" name="Google Shape;406;p23"/>
            <p:cNvSpPr/>
            <p:nvPr/>
          </p:nvSpPr>
          <p:spPr>
            <a:xfrm>
              <a:off x="5781902" y="1614947"/>
              <a:ext cx="644355" cy="645169"/>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4"/>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13" name="Google Shape;413;p24"/>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414" name="Google Shape;414;p24"/>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Misconceptions and Truths About Aid Eligibility</a:t>
            </a:r>
            <a:endParaRPr/>
          </a:p>
        </p:txBody>
      </p:sp>
      <p:sp>
        <p:nvSpPr>
          <p:cNvPr id="415" name="Google Shape;415;p24"/>
          <p:cNvSpPr/>
          <p:nvPr/>
        </p:nvSpPr>
        <p:spPr>
          <a:xfrm>
            <a:off x="611188" y="2087562"/>
            <a:ext cx="4572000" cy="4273093"/>
          </a:xfrm>
          <a:prstGeom prst="roundRect">
            <a:avLst>
              <a:gd name="adj" fmla="val 1337"/>
            </a:avLst>
          </a:prstGeom>
          <a:solidFill>
            <a:srgbClr val="C4C4C6">
              <a:alpha val="30196"/>
            </a:srgbClr>
          </a:solidFill>
          <a:ln w="12700" cap="flat" cmpd="sng">
            <a:solidFill>
              <a:schemeClr val="accent2"/>
            </a:solidFill>
            <a:prstDash val="solid"/>
            <a:round/>
            <a:headEnd type="none" w="sm" len="sm"/>
            <a:tailEnd type="none" w="sm" len="sm"/>
          </a:ln>
        </p:spPr>
        <p:txBody>
          <a:bodyPr spcFirstLastPara="1" wrap="square" lIns="228600" tIns="274300" rIns="274300" bIns="274300" anchor="t" anchorCtr="0">
            <a:noAutofit/>
          </a:bodyPr>
          <a:lstStyle/>
          <a:p>
            <a:pPr marL="228600" marR="0" lvl="0" indent="-228600" algn="l" rtl="0">
              <a:lnSpc>
                <a:spcPct val="100000"/>
              </a:lnSpc>
              <a:spcBef>
                <a:spcPts val="0"/>
              </a:spcBef>
              <a:spcAft>
                <a:spcPts val="0"/>
              </a:spcAft>
              <a:buClr>
                <a:schemeClr val="dk1"/>
              </a:buClr>
              <a:buSzPts val="1800"/>
              <a:buFont typeface="Arial"/>
              <a:buChar char="•"/>
            </a:pPr>
            <a:r>
              <a:rPr lang="en-US" sz="1800" b="0" dirty="0">
                <a:solidFill>
                  <a:schemeClr val="dk1"/>
                </a:solidFill>
                <a:latin typeface="Arial"/>
                <a:ea typeface="Arial"/>
                <a:cs typeface="Arial"/>
                <a:sym typeface="Arial"/>
              </a:rPr>
              <a:t>“Our income is too high for aid.”</a:t>
            </a:r>
            <a:endParaRPr dirty="0"/>
          </a:p>
          <a:p>
            <a:pPr marL="228600" marR="0" lvl="0" indent="-228600" algn="l" rtl="0">
              <a:lnSpc>
                <a:spcPct val="100000"/>
              </a:lnSpc>
              <a:spcBef>
                <a:spcPts val="1000"/>
              </a:spcBef>
              <a:spcAft>
                <a:spcPts val="0"/>
              </a:spcAft>
              <a:buClr>
                <a:schemeClr val="dk1"/>
              </a:buClr>
              <a:buSzPts val="1800"/>
              <a:buFont typeface="Arial"/>
              <a:buChar char="•"/>
            </a:pPr>
            <a:r>
              <a:rPr lang="en-US" sz="1800" b="0" dirty="0">
                <a:solidFill>
                  <a:schemeClr val="dk1"/>
                </a:solidFill>
                <a:latin typeface="Arial"/>
                <a:ea typeface="Arial"/>
                <a:cs typeface="Arial"/>
                <a:sym typeface="Arial"/>
              </a:rPr>
              <a:t>“My child's grades are too low.”</a:t>
            </a:r>
            <a:endParaRPr sz="1800" b="0" dirty="0">
              <a:solidFill>
                <a:schemeClr val="dk1"/>
              </a:solidFill>
              <a:latin typeface="Arial"/>
              <a:ea typeface="Arial"/>
              <a:cs typeface="Arial"/>
              <a:sym typeface="Arial"/>
            </a:endParaRPr>
          </a:p>
          <a:p>
            <a:pPr marL="228600" marR="0" lvl="0" indent="-228600" algn="l" rtl="0">
              <a:lnSpc>
                <a:spcPct val="100000"/>
              </a:lnSpc>
              <a:spcBef>
                <a:spcPts val="1000"/>
              </a:spcBef>
              <a:spcAft>
                <a:spcPts val="0"/>
              </a:spcAft>
              <a:buClr>
                <a:schemeClr val="dk1"/>
              </a:buClr>
              <a:buSzPts val="1800"/>
              <a:buFont typeface="Arial"/>
              <a:buChar char="•"/>
            </a:pPr>
            <a:r>
              <a:rPr lang="en-US" sz="1800" b="0" dirty="0">
                <a:solidFill>
                  <a:schemeClr val="dk1"/>
                </a:solidFill>
                <a:latin typeface="Arial"/>
                <a:ea typeface="Arial"/>
                <a:cs typeface="Arial"/>
                <a:sym typeface="Arial"/>
              </a:rPr>
              <a:t>“We own a home — we won't qualify.”</a:t>
            </a:r>
            <a:endParaRPr sz="1800" b="0" dirty="0">
              <a:solidFill>
                <a:schemeClr val="dk1"/>
              </a:solidFill>
              <a:latin typeface="Arial"/>
              <a:ea typeface="Arial"/>
              <a:cs typeface="Arial"/>
              <a:sym typeface="Arial"/>
            </a:endParaRPr>
          </a:p>
          <a:p>
            <a:pPr marL="228600" marR="0" lvl="0" indent="-228600" algn="l" rtl="0">
              <a:lnSpc>
                <a:spcPct val="100000"/>
              </a:lnSpc>
              <a:spcBef>
                <a:spcPts val="1000"/>
              </a:spcBef>
              <a:spcAft>
                <a:spcPts val="0"/>
              </a:spcAft>
              <a:buClr>
                <a:schemeClr val="dk1"/>
              </a:buClr>
              <a:buSzPts val="1800"/>
              <a:buFont typeface="Arial"/>
              <a:buChar char="•"/>
            </a:pPr>
            <a:r>
              <a:rPr lang="en-US" sz="1800" b="0" dirty="0">
                <a:solidFill>
                  <a:schemeClr val="dk1"/>
                </a:solidFill>
                <a:latin typeface="Arial"/>
                <a:ea typeface="Arial"/>
                <a:cs typeface="Arial"/>
                <a:sym typeface="Arial"/>
              </a:rPr>
              <a:t>“Aid is only for special groups.”</a:t>
            </a:r>
            <a:endParaRPr dirty="0"/>
          </a:p>
          <a:p>
            <a:pPr marL="228600" marR="0" lvl="0" indent="-228600" algn="l" rtl="0">
              <a:lnSpc>
                <a:spcPct val="100000"/>
              </a:lnSpc>
              <a:spcBef>
                <a:spcPts val="1000"/>
              </a:spcBef>
              <a:spcAft>
                <a:spcPts val="0"/>
              </a:spcAft>
              <a:buClr>
                <a:schemeClr val="dk1"/>
              </a:buClr>
              <a:buSzPts val="1800"/>
              <a:buFont typeface="Arial"/>
              <a:buChar char="•"/>
            </a:pPr>
            <a:r>
              <a:rPr lang="en-US" sz="1800" b="0" dirty="0">
                <a:solidFill>
                  <a:schemeClr val="dk1"/>
                </a:solidFill>
                <a:latin typeface="Arial"/>
                <a:ea typeface="Arial"/>
                <a:cs typeface="Arial"/>
                <a:sym typeface="Arial"/>
              </a:rPr>
              <a:t>“The process is easy — I can do it myself.”</a:t>
            </a:r>
            <a:endParaRPr dirty="0"/>
          </a:p>
        </p:txBody>
      </p:sp>
      <p:sp>
        <p:nvSpPr>
          <p:cNvPr id="416" name="Google Shape;416;p24"/>
          <p:cNvSpPr/>
          <p:nvPr/>
        </p:nvSpPr>
        <p:spPr>
          <a:xfrm>
            <a:off x="611326" y="1652960"/>
            <a:ext cx="45720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Misconceptions</a:t>
            </a:r>
            <a:endParaRPr/>
          </a:p>
        </p:txBody>
      </p:sp>
      <p:sp>
        <p:nvSpPr>
          <p:cNvPr id="417" name="Google Shape;417;p24"/>
          <p:cNvSpPr/>
          <p:nvPr/>
        </p:nvSpPr>
        <p:spPr>
          <a:xfrm>
            <a:off x="5637213" y="2087563"/>
            <a:ext cx="5943600" cy="4273094"/>
          </a:xfrm>
          <a:prstGeom prst="roundRect">
            <a:avLst>
              <a:gd name="adj" fmla="val 1337"/>
            </a:avLst>
          </a:prstGeom>
          <a:solidFill>
            <a:srgbClr val="C4C4C6">
              <a:alpha val="30196"/>
            </a:srgbClr>
          </a:solidFill>
          <a:ln w="12700" cap="flat" cmpd="sng">
            <a:solidFill>
              <a:schemeClr val="accent3"/>
            </a:solidFill>
            <a:prstDash val="solid"/>
            <a:round/>
            <a:headEnd type="none" w="sm" len="sm"/>
            <a:tailEnd type="none" w="sm" len="sm"/>
          </a:ln>
        </p:spPr>
        <p:txBody>
          <a:bodyPr spcFirstLastPara="1" wrap="square" lIns="228600" tIns="274300" rIns="274300" bIns="274300" anchor="t" anchorCtr="0">
            <a:spAutoFit/>
          </a:bodyPr>
          <a:lstStyle/>
          <a:p>
            <a:pPr marL="228600" marR="0" lvl="0" indent="-228600" algn="l" rtl="0">
              <a:lnSpc>
                <a:spcPct val="100000"/>
              </a:lnSpc>
              <a:spcBef>
                <a:spcPts val="0"/>
              </a:spcBef>
              <a:spcAft>
                <a:spcPts val="0"/>
              </a:spcAft>
              <a:buClr>
                <a:schemeClr val="dk1"/>
              </a:buClr>
              <a:buSzPts val="1800"/>
              <a:buFont typeface="Arial"/>
              <a:buChar char="•"/>
            </a:pPr>
            <a:r>
              <a:rPr lang="en-US" sz="1800" b="0">
                <a:solidFill>
                  <a:schemeClr val="dk1"/>
                </a:solidFill>
                <a:latin typeface="Arial"/>
                <a:ea typeface="Arial"/>
                <a:cs typeface="Arial"/>
                <a:sym typeface="Arial"/>
              </a:rPr>
              <a:t>High earners can still receive competitive tuition discounts through merit aid at the right schools.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b="0">
                <a:solidFill>
                  <a:schemeClr val="dk1"/>
                </a:solidFill>
                <a:latin typeface="Arial"/>
                <a:ea typeface="Arial"/>
                <a:cs typeface="Arial"/>
                <a:sym typeface="Arial"/>
              </a:rPr>
              <a:t>Merit aid is separate from GPA. School fit and strategy matter most.</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b="0">
                <a:solidFill>
                  <a:schemeClr val="dk1"/>
                </a:solidFill>
                <a:latin typeface="Arial"/>
                <a:ea typeface="Arial"/>
                <a:cs typeface="Arial"/>
                <a:sym typeface="Arial"/>
              </a:rPr>
              <a:t>Primary home equity is not counted on FAFSA. This is one of the biggest missed opportunities.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b="0">
                <a:solidFill>
                  <a:schemeClr val="dk1"/>
                </a:solidFill>
                <a:latin typeface="Arial"/>
                <a:ea typeface="Arial"/>
                <a:cs typeface="Arial"/>
                <a:sym typeface="Arial"/>
              </a:rPr>
              <a:t>Most families, regardless of income, qualify for some form of aid or discount.</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b="0">
                <a:solidFill>
                  <a:schemeClr val="dk1"/>
                </a:solidFill>
                <a:latin typeface="Arial"/>
                <a:ea typeface="Arial"/>
                <a:cs typeface="Arial"/>
                <a:sym typeface="Arial"/>
              </a:rPr>
              <a:t>Mistakes are costly and often irreversible, so professional guidance now can make a major difference.</a:t>
            </a:r>
            <a:endParaRPr/>
          </a:p>
        </p:txBody>
      </p:sp>
      <p:sp>
        <p:nvSpPr>
          <p:cNvPr id="418" name="Google Shape;418;p24"/>
          <p:cNvSpPr/>
          <p:nvPr/>
        </p:nvSpPr>
        <p:spPr>
          <a:xfrm>
            <a:off x="5637074" y="1652960"/>
            <a:ext cx="59436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Truths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5"/>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25" name="Google Shape;425;p25"/>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426" name="Google Shape;426;p25"/>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Three Aid Banks</a:t>
            </a:r>
            <a:endParaRPr/>
          </a:p>
        </p:txBody>
      </p:sp>
      <p:sp>
        <p:nvSpPr>
          <p:cNvPr id="427" name="Google Shape;427;p25"/>
          <p:cNvSpPr/>
          <p:nvPr/>
        </p:nvSpPr>
        <p:spPr>
          <a:xfrm>
            <a:off x="638175" y="2566988"/>
            <a:ext cx="3429000" cy="3557587"/>
          </a:xfrm>
          <a:prstGeom prst="roundRect">
            <a:avLst>
              <a:gd name="adj" fmla="val 1666"/>
            </a:avLst>
          </a:prstGeom>
          <a:solidFill>
            <a:schemeClr val="accent4"/>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b="0">
                <a:solidFill>
                  <a:schemeClr val="lt1"/>
                </a:solidFill>
                <a:latin typeface="Arial"/>
                <a:ea typeface="Arial"/>
                <a:cs typeface="Arial"/>
                <a:sym typeface="Arial"/>
              </a:rPr>
              <a:t>School grants, government Pell Grants, other need-based financial aid that isn’t required to be repaid.</a:t>
            </a:r>
            <a:endParaRPr/>
          </a:p>
        </p:txBody>
      </p:sp>
      <p:sp>
        <p:nvSpPr>
          <p:cNvPr id="428" name="Google Shape;428;p25"/>
          <p:cNvSpPr/>
          <p:nvPr/>
        </p:nvSpPr>
        <p:spPr>
          <a:xfrm>
            <a:off x="4403725" y="2566988"/>
            <a:ext cx="3429000" cy="3559175"/>
          </a:xfrm>
          <a:prstGeom prst="roundRect">
            <a:avLst>
              <a:gd name="adj" fmla="val 1666"/>
            </a:avLst>
          </a:prstGeom>
          <a:solidFill>
            <a:schemeClr val="accent1"/>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b="0">
                <a:solidFill>
                  <a:schemeClr val="lt1"/>
                </a:solidFill>
                <a:latin typeface="Arial"/>
                <a:ea typeface="Arial"/>
                <a:cs typeface="Arial"/>
                <a:sym typeface="Arial"/>
              </a:rPr>
              <a:t>Academic, athletic, artistic scholarships, based on student achievements—school-specific or not.</a:t>
            </a:r>
            <a:endParaRPr/>
          </a:p>
        </p:txBody>
      </p:sp>
      <p:sp>
        <p:nvSpPr>
          <p:cNvPr id="429" name="Google Shape;429;p25"/>
          <p:cNvSpPr/>
          <p:nvPr/>
        </p:nvSpPr>
        <p:spPr>
          <a:xfrm>
            <a:off x="8161338" y="2566988"/>
            <a:ext cx="3429000" cy="3559175"/>
          </a:xfrm>
          <a:prstGeom prst="roundRect">
            <a:avLst>
              <a:gd name="adj" fmla="val 1666"/>
            </a:avLst>
          </a:prstGeom>
          <a:solidFill>
            <a:schemeClr val="accent5"/>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b="0">
                <a:solidFill>
                  <a:schemeClr val="lt1"/>
                </a:solidFill>
                <a:latin typeface="Arial"/>
                <a:ea typeface="Arial"/>
                <a:cs typeface="Arial"/>
                <a:sym typeface="Arial"/>
              </a:rPr>
              <a:t>Federal loans or school-specific loans may be offered as part of aid packages.</a:t>
            </a:r>
            <a:endParaRPr/>
          </a:p>
        </p:txBody>
      </p:sp>
      <p:sp>
        <p:nvSpPr>
          <p:cNvPr id="430" name="Google Shape;430;p25"/>
          <p:cNvSpPr/>
          <p:nvPr/>
        </p:nvSpPr>
        <p:spPr>
          <a:xfrm>
            <a:off x="638350" y="2131815"/>
            <a:ext cx="34290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Gift Aid</a:t>
            </a:r>
            <a:endParaRPr/>
          </a:p>
        </p:txBody>
      </p:sp>
      <p:sp>
        <p:nvSpPr>
          <p:cNvPr id="431" name="Google Shape;431;p25"/>
          <p:cNvSpPr/>
          <p:nvPr/>
        </p:nvSpPr>
        <p:spPr>
          <a:xfrm>
            <a:off x="4403430" y="2131815"/>
            <a:ext cx="34290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Merit Aid</a:t>
            </a:r>
            <a:endParaRPr/>
          </a:p>
        </p:txBody>
      </p:sp>
      <p:sp>
        <p:nvSpPr>
          <p:cNvPr id="432" name="Google Shape;432;p25"/>
          <p:cNvSpPr/>
          <p:nvPr/>
        </p:nvSpPr>
        <p:spPr>
          <a:xfrm>
            <a:off x="8168510" y="2131815"/>
            <a:ext cx="34290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Loans</a:t>
            </a:r>
            <a:endParaRPr/>
          </a:p>
        </p:txBody>
      </p:sp>
      <p:sp>
        <p:nvSpPr>
          <p:cNvPr id="433" name="Google Shape;433;p25"/>
          <p:cNvSpPr/>
          <p:nvPr/>
        </p:nvSpPr>
        <p:spPr>
          <a:xfrm>
            <a:off x="638349" y="1613248"/>
            <a:ext cx="11452485" cy="461665"/>
          </a:xfrm>
          <a:prstGeom prst="roundRect">
            <a:avLst>
              <a:gd name="adj" fmla="val 12379"/>
            </a:avLst>
          </a:prstGeom>
          <a:noFill/>
          <a:ln>
            <a:noFill/>
          </a:ln>
        </p:spPr>
        <p:txBody>
          <a:bodyPr spcFirstLastPara="1" wrap="square" lIns="0" tIns="0" rIns="0" bIns="91425" anchor="b"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Where College Aid Actually Comes From</a:t>
            </a:r>
            <a:endParaRPr/>
          </a:p>
        </p:txBody>
      </p:sp>
      <p:sp>
        <p:nvSpPr>
          <p:cNvPr id="434" name="Google Shape;434;p25"/>
          <p:cNvSpPr/>
          <p:nvPr/>
        </p:nvSpPr>
        <p:spPr>
          <a:xfrm>
            <a:off x="6134582" y="1518828"/>
            <a:ext cx="90" cy="338554"/>
          </a:xfrm>
          <a:prstGeom prst="roundRect">
            <a:avLst>
              <a:gd name="adj" fmla="val 50000"/>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435" name="Google Shape;435;p25"/>
          <p:cNvSpPr/>
          <p:nvPr/>
        </p:nvSpPr>
        <p:spPr>
          <a:xfrm>
            <a:off x="1758648" y="4818893"/>
            <a:ext cx="1028700" cy="895350"/>
          </a:xfrm>
          <a:prstGeom prst="roundRect">
            <a:avLst>
              <a:gd name="adj" fmla="val 6382"/>
            </a:avLst>
          </a:prstGeom>
          <a:noFill/>
          <a:ln>
            <a:noFill/>
          </a:ln>
        </p:spPr>
        <p:txBody>
          <a:bodyPr/>
          <a:lstStyle/>
          <a:p>
            <a:endParaRPr lang="en-US"/>
          </a:p>
        </p:txBody>
      </p:sp>
      <p:sp>
        <p:nvSpPr>
          <p:cNvPr id="436" name="Google Shape;436;p25"/>
          <p:cNvSpPr/>
          <p:nvPr/>
        </p:nvSpPr>
        <p:spPr>
          <a:xfrm>
            <a:off x="9705099" y="4774460"/>
            <a:ext cx="748111" cy="984217"/>
          </a:xfrm>
          <a:prstGeom prst="roundRect">
            <a:avLst>
              <a:gd name="adj" fmla="val 7639"/>
            </a:avLst>
          </a:prstGeom>
          <a:noFill/>
          <a:ln>
            <a:noFill/>
          </a:ln>
        </p:spPr>
        <p:txBody>
          <a:bodyPr/>
          <a:lstStyle/>
          <a:p>
            <a:endParaRPr lang="en-US"/>
          </a:p>
        </p:txBody>
      </p:sp>
      <p:grpSp>
        <p:nvGrpSpPr>
          <p:cNvPr id="437" name="Google Shape;437;p25"/>
          <p:cNvGrpSpPr/>
          <p:nvPr/>
        </p:nvGrpSpPr>
        <p:grpSpPr>
          <a:xfrm>
            <a:off x="5655315" y="4759600"/>
            <a:ext cx="881377" cy="1013932"/>
            <a:chOff x="4400508" y="1479550"/>
            <a:chExt cx="3387936" cy="3897472"/>
          </a:xfrm>
        </p:grpSpPr>
        <p:sp>
          <p:nvSpPr>
            <p:cNvPr id="438" name="Google Shape;438;p25"/>
            <p:cNvSpPr/>
            <p:nvPr/>
          </p:nvSpPr>
          <p:spPr>
            <a:xfrm>
              <a:off x="5008626" y="4781442"/>
              <a:ext cx="2151507" cy="479659"/>
            </a:xfrm>
            <a:custGeom>
              <a:avLst/>
              <a:gdLst/>
              <a:ahLst/>
              <a:cxnLst/>
              <a:rect l="l" t="t" r="r" b="b"/>
              <a:pathLst>
                <a:path w="2151507" h="479659" extrusionOk="0">
                  <a:moveTo>
                    <a:pt x="2145887" y="479660"/>
                  </a:moveTo>
                  <a:lnTo>
                    <a:pt x="5620" y="479660"/>
                  </a:lnTo>
                  <a:cubicBezTo>
                    <a:pt x="2476" y="479660"/>
                    <a:pt x="0" y="477092"/>
                    <a:pt x="0" y="474049"/>
                  </a:cubicBezTo>
                  <a:lnTo>
                    <a:pt x="0" y="123338"/>
                  </a:lnTo>
                  <a:cubicBezTo>
                    <a:pt x="0" y="55250"/>
                    <a:pt x="55340" y="0"/>
                    <a:pt x="123539" y="0"/>
                  </a:cubicBezTo>
                  <a:lnTo>
                    <a:pt x="2027968" y="0"/>
                  </a:lnTo>
                  <a:cubicBezTo>
                    <a:pt x="2096167" y="0"/>
                    <a:pt x="2151507" y="55250"/>
                    <a:pt x="2151507" y="123338"/>
                  </a:cubicBezTo>
                  <a:lnTo>
                    <a:pt x="2151507" y="474049"/>
                  </a:lnTo>
                  <a:cubicBezTo>
                    <a:pt x="2151507" y="477187"/>
                    <a:pt x="2148935" y="479660"/>
                    <a:pt x="2145887" y="479660"/>
                  </a:cubicBezTo>
                  <a:close/>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9" name="Google Shape;439;p25"/>
            <p:cNvSpPr/>
            <p:nvPr/>
          </p:nvSpPr>
          <p:spPr>
            <a:xfrm>
              <a:off x="5463920" y="4413614"/>
              <a:ext cx="1241107" cy="367923"/>
            </a:xfrm>
            <a:custGeom>
              <a:avLst/>
              <a:gdLst/>
              <a:ahLst/>
              <a:cxnLst/>
              <a:rect l="l" t="t" r="r" b="b"/>
              <a:pathLst>
                <a:path w="1241107" h="367923" extrusionOk="0">
                  <a:moveTo>
                    <a:pt x="1241108" y="367923"/>
                  </a:moveTo>
                  <a:lnTo>
                    <a:pt x="1241108" y="208163"/>
                  </a:lnTo>
                  <a:cubicBezTo>
                    <a:pt x="1241108" y="119915"/>
                    <a:pt x="1185958" y="44314"/>
                    <a:pt x="1108139" y="14359"/>
                  </a:cubicBezTo>
                  <a:cubicBezTo>
                    <a:pt x="1084517" y="4945"/>
                    <a:pt x="1058990" y="0"/>
                    <a:pt x="1032415" y="0"/>
                  </a:cubicBezTo>
                  <a:lnTo>
                    <a:pt x="208693" y="0"/>
                  </a:lnTo>
                  <a:cubicBezTo>
                    <a:pt x="181642" y="0"/>
                    <a:pt x="155924" y="5135"/>
                    <a:pt x="132112" y="14550"/>
                  </a:cubicBezTo>
                  <a:cubicBezTo>
                    <a:pt x="54673" y="44980"/>
                    <a:pt x="0" y="120105"/>
                    <a:pt x="0" y="208163"/>
                  </a:cubicBezTo>
                  <a:lnTo>
                    <a:pt x="0" y="367923"/>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0" name="Google Shape;440;p25"/>
            <p:cNvSpPr/>
            <p:nvPr/>
          </p:nvSpPr>
          <p:spPr>
            <a:xfrm>
              <a:off x="5595937" y="3577158"/>
              <a:ext cx="281618" cy="850911"/>
            </a:xfrm>
            <a:custGeom>
              <a:avLst/>
              <a:gdLst/>
              <a:ahLst/>
              <a:cxnLst/>
              <a:rect l="l" t="t" r="r" b="b"/>
              <a:pathLst>
                <a:path w="281618" h="850911" extrusionOk="0">
                  <a:moveTo>
                    <a:pt x="280130" y="0"/>
                  </a:moveTo>
                  <a:cubicBezTo>
                    <a:pt x="289370" y="217197"/>
                    <a:pt x="259747" y="513609"/>
                    <a:pt x="72295" y="764850"/>
                  </a:cubicBezTo>
                  <a:cubicBezTo>
                    <a:pt x="49339" y="795661"/>
                    <a:pt x="25146" y="824380"/>
                    <a:pt x="0" y="850911"/>
                  </a:cubicBez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1" name="Google Shape;441;p25"/>
            <p:cNvSpPr/>
            <p:nvPr/>
          </p:nvSpPr>
          <p:spPr>
            <a:xfrm>
              <a:off x="6290896" y="3584290"/>
              <a:ext cx="281353" cy="843778"/>
            </a:xfrm>
            <a:custGeom>
              <a:avLst/>
              <a:gdLst/>
              <a:ahLst/>
              <a:cxnLst/>
              <a:rect l="l" t="t" r="r" b="b"/>
              <a:pathLst>
                <a:path w="281353" h="843778" extrusionOk="0">
                  <a:moveTo>
                    <a:pt x="281353" y="843779"/>
                  </a:moveTo>
                  <a:lnTo>
                    <a:pt x="281163" y="843589"/>
                  </a:lnTo>
                  <a:cubicBezTo>
                    <a:pt x="256112" y="817057"/>
                    <a:pt x="232204" y="788529"/>
                    <a:pt x="209059" y="757718"/>
                  </a:cubicBezTo>
                  <a:cubicBezTo>
                    <a:pt x="23893" y="509234"/>
                    <a:pt x="-7159" y="216532"/>
                    <a:pt x="1223" y="0"/>
                  </a:cubicBez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2" name="Google Shape;442;p25"/>
            <p:cNvSpPr/>
            <p:nvPr/>
          </p:nvSpPr>
          <p:spPr>
            <a:xfrm>
              <a:off x="5579675" y="1827241"/>
              <a:ext cx="1009069" cy="959798"/>
            </a:xfrm>
            <a:custGeom>
              <a:avLst/>
              <a:gdLst/>
              <a:ahLst/>
              <a:cxnLst/>
              <a:rect l="l" t="t" r="r" b="b"/>
              <a:pathLst>
                <a:path w="1009069" h="959798" extrusionOk="0">
                  <a:moveTo>
                    <a:pt x="523659" y="13765"/>
                  </a:moveTo>
                  <a:lnTo>
                    <a:pt x="633482" y="351353"/>
                  </a:lnTo>
                  <a:lnTo>
                    <a:pt x="989051" y="351353"/>
                  </a:lnTo>
                  <a:cubicBezTo>
                    <a:pt x="1008386" y="351353"/>
                    <a:pt x="1016483" y="376077"/>
                    <a:pt x="1000766" y="387394"/>
                  </a:cubicBezTo>
                  <a:lnTo>
                    <a:pt x="713111" y="596032"/>
                  </a:lnTo>
                  <a:lnTo>
                    <a:pt x="822935" y="933620"/>
                  </a:lnTo>
                  <a:cubicBezTo>
                    <a:pt x="828935" y="951973"/>
                    <a:pt x="807885" y="967284"/>
                    <a:pt x="792169" y="955872"/>
                  </a:cubicBezTo>
                  <a:lnTo>
                    <a:pt x="504514" y="747234"/>
                  </a:lnTo>
                  <a:lnTo>
                    <a:pt x="216859" y="955872"/>
                  </a:lnTo>
                  <a:cubicBezTo>
                    <a:pt x="201238" y="967189"/>
                    <a:pt x="180188" y="951973"/>
                    <a:pt x="186093" y="933620"/>
                  </a:cubicBezTo>
                  <a:lnTo>
                    <a:pt x="295916" y="596032"/>
                  </a:lnTo>
                  <a:lnTo>
                    <a:pt x="8261" y="387394"/>
                  </a:lnTo>
                  <a:cubicBezTo>
                    <a:pt x="-7360" y="376077"/>
                    <a:pt x="641" y="351353"/>
                    <a:pt x="19977" y="351353"/>
                  </a:cubicBezTo>
                  <a:lnTo>
                    <a:pt x="375545" y="351353"/>
                  </a:lnTo>
                  <a:lnTo>
                    <a:pt x="485369" y="13765"/>
                  </a:lnTo>
                  <a:cubicBezTo>
                    <a:pt x="491369" y="-4588"/>
                    <a:pt x="517373" y="-4588"/>
                    <a:pt x="523373" y="13765"/>
                  </a:cubicBezTo>
                  <a:close/>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3" name="Google Shape;443;p25"/>
            <p:cNvSpPr/>
            <p:nvPr/>
          </p:nvSpPr>
          <p:spPr>
            <a:xfrm>
              <a:off x="4614978" y="1798582"/>
              <a:ext cx="542904" cy="921103"/>
            </a:xfrm>
            <a:custGeom>
              <a:avLst/>
              <a:gdLst/>
              <a:ahLst/>
              <a:cxnLst/>
              <a:rect l="l" t="t" r="r" b="b"/>
              <a:pathLst>
                <a:path w="542904" h="921103" extrusionOk="0">
                  <a:moveTo>
                    <a:pt x="542904" y="921103"/>
                  </a:moveTo>
                  <a:cubicBezTo>
                    <a:pt x="226484" y="776083"/>
                    <a:pt x="15790" y="524651"/>
                    <a:pt x="836" y="257624"/>
                  </a:cubicBezTo>
                  <a:cubicBezTo>
                    <a:pt x="-3260" y="183926"/>
                    <a:pt x="7694" y="109466"/>
                    <a:pt x="33602" y="34626"/>
                  </a:cubicBezTo>
                  <a:cubicBezTo>
                    <a:pt x="40841" y="13705"/>
                    <a:pt x="60558" y="-464"/>
                    <a:pt x="82751" y="12"/>
                  </a:cubicBezTo>
                  <a:lnTo>
                    <a:pt x="348689" y="5717"/>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4" name="Google Shape;444;p25"/>
            <p:cNvSpPr/>
            <p:nvPr/>
          </p:nvSpPr>
          <p:spPr>
            <a:xfrm>
              <a:off x="4400508" y="1581576"/>
              <a:ext cx="2506926" cy="2034095"/>
            </a:xfrm>
            <a:custGeom>
              <a:avLst/>
              <a:gdLst/>
              <a:ahLst/>
              <a:cxnLst/>
              <a:rect l="l" t="t" r="r" b="b"/>
              <a:pathLst>
                <a:path w="2506926" h="2034095" extrusionOk="0">
                  <a:moveTo>
                    <a:pt x="881771" y="1411983"/>
                  </a:moveTo>
                  <a:cubicBezTo>
                    <a:pt x="373707" y="1264300"/>
                    <a:pt x="23663" y="890671"/>
                    <a:pt x="1184" y="486232"/>
                  </a:cubicBezTo>
                  <a:cubicBezTo>
                    <a:pt x="-9388" y="298894"/>
                    <a:pt x="52619" y="139039"/>
                    <a:pt x="115770" y="25971"/>
                  </a:cubicBezTo>
                  <a:cubicBezTo>
                    <a:pt x="124819" y="9710"/>
                    <a:pt x="142154" y="-370"/>
                    <a:pt x="161014" y="10"/>
                  </a:cubicBezTo>
                  <a:lnTo>
                    <a:pt x="553825" y="8474"/>
                  </a:lnTo>
                  <a:cubicBezTo>
                    <a:pt x="554873" y="80651"/>
                    <a:pt x="558016" y="152258"/>
                    <a:pt x="563159" y="222723"/>
                  </a:cubicBezTo>
                  <a:cubicBezTo>
                    <a:pt x="587448" y="559835"/>
                    <a:pt x="655933" y="871747"/>
                    <a:pt x="757469" y="1138109"/>
                  </a:cubicBezTo>
                  <a:cubicBezTo>
                    <a:pt x="794426" y="1235867"/>
                    <a:pt x="836336" y="1327443"/>
                    <a:pt x="881771" y="1412078"/>
                  </a:cubicBezTo>
                  <a:cubicBezTo>
                    <a:pt x="1040076" y="1705922"/>
                    <a:pt x="1245435" y="1913990"/>
                    <a:pt x="1475654" y="1995677"/>
                  </a:cubicBezTo>
                  <a:cubicBezTo>
                    <a:pt x="1546520" y="2020972"/>
                    <a:pt x="1619387" y="2034095"/>
                    <a:pt x="1694063" y="2034095"/>
                  </a:cubicBezTo>
                  <a:cubicBezTo>
                    <a:pt x="1761309" y="2034095"/>
                    <a:pt x="1827508" y="2023349"/>
                    <a:pt x="1891516" y="2002904"/>
                  </a:cubicBezTo>
                  <a:cubicBezTo>
                    <a:pt x="2130593" y="1926543"/>
                    <a:pt x="2343953" y="1714195"/>
                    <a:pt x="2506926" y="1410461"/>
                  </a:cubicBez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5" name="Google Shape;445;p25"/>
            <p:cNvSpPr/>
            <p:nvPr/>
          </p:nvSpPr>
          <p:spPr>
            <a:xfrm>
              <a:off x="6906482" y="1581861"/>
              <a:ext cx="881962" cy="1412078"/>
            </a:xfrm>
            <a:custGeom>
              <a:avLst/>
              <a:gdLst/>
              <a:ahLst/>
              <a:cxnLst/>
              <a:rect l="l" t="t" r="r" b="b"/>
              <a:pathLst>
                <a:path w="881962" h="1412078" extrusionOk="0">
                  <a:moveTo>
                    <a:pt x="123063" y="1141533"/>
                  </a:moveTo>
                  <a:cubicBezTo>
                    <a:pt x="87154" y="1235486"/>
                    <a:pt x="47149" y="1323640"/>
                    <a:pt x="3620" y="1405136"/>
                  </a:cubicBezTo>
                  <a:cubicBezTo>
                    <a:pt x="2762" y="1406848"/>
                    <a:pt x="1905" y="1408274"/>
                    <a:pt x="857" y="1409986"/>
                  </a:cubicBezTo>
                  <a:lnTo>
                    <a:pt x="0" y="1412078"/>
                  </a:lnTo>
                  <a:cubicBezTo>
                    <a:pt x="508063" y="1264300"/>
                    <a:pt x="858107" y="890767"/>
                    <a:pt x="880777" y="486327"/>
                  </a:cubicBezTo>
                  <a:cubicBezTo>
                    <a:pt x="891350" y="298895"/>
                    <a:pt x="829437" y="138945"/>
                    <a:pt x="766191" y="25972"/>
                  </a:cubicBezTo>
                  <a:cubicBezTo>
                    <a:pt x="757142" y="9520"/>
                    <a:pt x="739521" y="-370"/>
                    <a:pt x="720757" y="11"/>
                  </a:cubicBezTo>
                  <a:lnTo>
                    <a:pt x="328136" y="8284"/>
                  </a:lnTo>
                  <a:cubicBezTo>
                    <a:pt x="327946" y="32533"/>
                    <a:pt x="327088" y="63344"/>
                    <a:pt x="325564" y="99290"/>
                  </a:cubicBezTo>
                  <a:cubicBezTo>
                    <a:pt x="324040" y="135426"/>
                    <a:pt x="321945" y="176507"/>
                    <a:pt x="318611" y="221963"/>
                  </a:cubicBezTo>
                  <a:lnTo>
                    <a:pt x="318611" y="222818"/>
                  </a:lnTo>
                  <a:lnTo>
                    <a:pt x="584549" y="217113"/>
                  </a:lnTo>
                  <a:cubicBezTo>
                    <a:pt x="606743" y="216732"/>
                    <a:pt x="626650" y="230806"/>
                    <a:pt x="633794" y="251727"/>
                  </a:cubicBezTo>
                  <a:cubicBezTo>
                    <a:pt x="659606" y="326662"/>
                    <a:pt x="670560" y="400932"/>
                    <a:pt x="666560" y="474630"/>
                  </a:cubicBezTo>
                  <a:cubicBezTo>
                    <a:pt x="651510" y="741848"/>
                    <a:pt x="441008" y="993184"/>
                    <a:pt x="124492" y="1138204"/>
                  </a:cubicBezTo>
                  <a:lnTo>
                    <a:pt x="122968" y="1141628"/>
                  </a:lnTo>
                  <a:cubicBezTo>
                    <a:pt x="124682" y="1136968"/>
                    <a:pt x="126587" y="1132308"/>
                    <a:pt x="128206" y="1127744"/>
                  </a:cubicBezTo>
                  <a:cubicBezTo>
                    <a:pt x="275558" y="736808"/>
                    <a:pt x="305753" y="397413"/>
                    <a:pt x="318516" y="222914"/>
                  </a:cubicBez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6" name="Google Shape;446;p25"/>
            <p:cNvSpPr/>
            <p:nvPr/>
          </p:nvSpPr>
          <p:spPr>
            <a:xfrm>
              <a:off x="4954428" y="1479550"/>
              <a:ext cx="2280094" cy="226896"/>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7" name="Google Shape;447;p25"/>
            <p:cNvSpPr/>
            <p:nvPr/>
          </p:nvSpPr>
          <p:spPr>
            <a:xfrm>
              <a:off x="4898802" y="5261102"/>
              <a:ext cx="2371058" cy="115920"/>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8" name="Google Shape;448;p25"/>
            <p:cNvSpPr/>
            <p:nvPr/>
          </p:nvSpPr>
          <p:spPr>
            <a:xfrm>
              <a:off x="5833300" y="4951282"/>
              <a:ext cx="502158" cy="158428"/>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2" name="Graphic 1">
            <a:extLst>
              <a:ext uri="{FF2B5EF4-FFF2-40B4-BE49-F238E27FC236}">
                <a16:creationId xmlns:a16="http://schemas.microsoft.com/office/drawing/2014/main" id="{5C22B5FC-3D58-F15E-3CB4-E841E43651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08954" y="4774460"/>
            <a:ext cx="748111" cy="984217"/>
          </a:xfrm>
          <a:prstGeom prst="roundRect">
            <a:avLst>
              <a:gd name="adj" fmla="val 7639"/>
            </a:avLst>
          </a:prstGeom>
        </p:spPr>
      </p:pic>
      <p:pic>
        <p:nvPicPr>
          <p:cNvPr id="3" name="Graphic 2">
            <a:extLst>
              <a:ext uri="{FF2B5EF4-FFF2-40B4-BE49-F238E27FC236}">
                <a16:creationId xmlns:a16="http://schemas.microsoft.com/office/drawing/2014/main" id="{6527681E-0C2F-C1B0-2A36-2777E2BE813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41308" y="4885913"/>
            <a:ext cx="1028700" cy="895350"/>
          </a:xfrm>
          <a:prstGeom prst="roundRect">
            <a:avLst>
              <a:gd name="adj" fmla="val 6382"/>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6"/>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FAFSA Basics and Key Insights</a:t>
            </a:r>
            <a:endParaRPr/>
          </a:p>
        </p:txBody>
      </p:sp>
      <p:sp>
        <p:nvSpPr>
          <p:cNvPr id="455" name="Google Shape;455;p26"/>
          <p:cNvSpPr/>
          <p:nvPr/>
        </p:nvSpPr>
        <p:spPr>
          <a:xfrm>
            <a:off x="610580" y="1200437"/>
            <a:ext cx="11309276" cy="5027017"/>
          </a:xfrm>
          <a:prstGeom prst="roundRect">
            <a:avLst>
              <a:gd name="adj" fmla="val 1136"/>
            </a:avLst>
          </a:prstGeom>
          <a:noFill/>
          <a:ln>
            <a:noFill/>
          </a:ln>
        </p:spPr>
        <p:txBody>
          <a:bodyPr spcFirstLastPara="1" wrap="square" lIns="0" tIns="0" rIns="0" bIns="228600" anchor="t" anchorCtr="0">
            <a:spAutoFit/>
          </a:bodyPr>
          <a:lstStyle/>
          <a:p>
            <a:pPr marL="0" marR="0" lvl="0" indent="0" algn="l" rtl="0">
              <a:spcBef>
                <a:spcPts val="0"/>
              </a:spcBef>
              <a:spcAft>
                <a:spcPts val="0"/>
              </a:spcAft>
              <a:buNone/>
            </a:pPr>
            <a:r>
              <a:rPr lang="en-US" sz="2200" b="1">
                <a:solidFill>
                  <a:schemeClr val="accent5"/>
                </a:solidFill>
                <a:latin typeface="Arial"/>
                <a:ea typeface="Arial"/>
                <a:cs typeface="Arial"/>
                <a:sym typeface="Arial"/>
              </a:rPr>
              <a:t>Free Application For Student Aid (FAFSA)</a:t>
            </a:r>
            <a:endParaRPr/>
          </a:p>
          <a:p>
            <a:pPr marL="0" marR="0" lvl="0" indent="0" algn="l" rtl="0">
              <a:spcBef>
                <a:spcPts val="1000"/>
              </a:spcBef>
              <a:spcAft>
                <a:spcPts val="0"/>
              </a:spcAft>
              <a:buNone/>
            </a:pPr>
            <a:r>
              <a:rPr lang="en-US" sz="1800" b="1">
                <a:solidFill>
                  <a:schemeClr val="accent1"/>
                </a:solidFill>
                <a:latin typeface="Arial"/>
                <a:ea typeface="Arial"/>
                <a:cs typeface="Arial"/>
                <a:sym typeface="Arial"/>
              </a:rPr>
              <a:t>Basics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The standard federal form required by all colleges for federal aid (Pell Grants, work-study, and federal loans).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Income: Uses tax returns from 2 years prior.</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Assets: Evaluates assets as of the day the form was filed.</a:t>
            </a:r>
            <a:endParaRPr/>
          </a:p>
          <a:p>
            <a:pPr marL="0" marR="0" lvl="0" indent="0" algn="l" rtl="0">
              <a:lnSpc>
                <a:spcPct val="100000"/>
              </a:lnSpc>
              <a:spcBef>
                <a:spcPts val="1000"/>
              </a:spcBef>
              <a:spcAft>
                <a:spcPts val="0"/>
              </a:spcAft>
              <a:buNone/>
            </a:pPr>
            <a:r>
              <a:rPr lang="en-US" sz="1800" b="1">
                <a:solidFill>
                  <a:schemeClr val="accent1"/>
                </a:solidFill>
                <a:latin typeface="Arial"/>
                <a:ea typeface="Arial"/>
                <a:cs typeface="Arial"/>
                <a:sym typeface="Arial"/>
              </a:rPr>
              <a:t>Key Insights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FAFSA should be filed even if you think you don't qualify for aid.</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Many filers do qualify for some form of aid, even partial filers.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Grants are distributed on a first-come, first-served basis. </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Tip: Try to file early.</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Home equity is not included in FAFSA calculations.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a:solidFill>
                  <a:schemeClr val="dk1"/>
                </a:solidFill>
                <a:latin typeface="Arial"/>
                <a:ea typeface="Arial"/>
                <a:cs typeface="Arial"/>
                <a:sym typeface="Arial"/>
              </a:rPr>
              <a:t>Life Insurance is not included in FAFSA calculations.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27"/>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62" name="Google Shape;462;p27"/>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463" name="Google Shape;463;p27"/>
          <p:cNvSpPr txBox="1">
            <a:spLocks noGrp="1"/>
          </p:cNvSpPr>
          <p:nvPr>
            <p:ph type="title"/>
          </p:nvPr>
        </p:nvSpPr>
        <p:spPr>
          <a:xfrm>
            <a:off x="320039" y="-256148"/>
            <a:ext cx="9803981" cy="969496"/>
          </a:xfrm>
          <a:prstGeom prst="roundRect">
            <a:avLst>
              <a:gd name="adj" fmla="val 5894"/>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FAFSA - Exempt and Reported Financial Factors</a:t>
            </a:r>
            <a:endParaRPr/>
          </a:p>
        </p:txBody>
      </p:sp>
      <p:sp>
        <p:nvSpPr>
          <p:cNvPr id="464" name="Google Shape;464;p27"/>
          <p:cNvSpPr/>
          <p:nvPr/>
        </p:nvSpPr>
        <p:spPr>
          <a:xfrm>
            <a:off x="642938" y="1862138"/>
            <a:ext cx="5526370" cy="4396075"/>
          </a:xfrm>
          <a:prstGeom prst="roundRect">
            <a:avLst>
              <a:gd name="adj" fmla="val 1300"/>
            </a:avLst>
          </a:prstGeom>
          <a:solidFill>
            <a:schemeClr val="accent5"/>
          </a:solidFill>
          <a:ln>
            <a:noFill/>
          </a:ln>
        </p:spPr>
        <p:txBody>
          <a:bodyPr spcFirstLastPara="1" wrap="square" lIns="228600" tIns="274300" rIns="274300" bIns="274300" anchor="t" anchorCtr="0">
            <a:spAutoFit/>
          </a:bodyPr>
          <a:lstStyle/>
          <a:p>
            <a:pPr marL="228600" marR="0" lvl="0" indent="-228600" algn="l" rtl="0">
              <a:lnSpc>
                <a:spcPct val="100000"/>
              </a:lnSpc>
              <a:spcBef>
                <a:spcPts val="0"/>
              </a:spcBef>
              <a:spcAft>
                <a:spcPts val="0"/>
              </a:spcAft>
              <a:buClr>
                <a:schemeClr val="lt1"/>
              </a:buClr>
              <a:buSzPts val="1600"/>
              <a:buFont typeface="Arial"/>
              <a:buChar char="•"/>
            </a:pPr>
            <a:r>
              <a:rPr lang="en-US" sz="1600" b="0">
                <a:solidFill>
                  <a:schemeClr val="lt1"/>
                </a:solidFill>
                <a:latin typeface="Arial"/>
                <a:ea typeface="Arial"/>
                <a:cs typeface="Arial"/>
                <a:sym typeface="Arial"/>
              </a:rPr>
              <a:t>Cash &amp; Bank Accounts: Total balance of checking and savings accounts.</a:t>
            </a:r>
            <a:endParaRPr/>
          </a:p>
          <a:p>
            <a:pPr marL="228600" marR="0" lvl="0" indent="-228600" algn="l" rtl="0">
              <a:lnSpc>
                <a:spcPct val="100000"/>
              </a:lnSpc>
              <a:spcBef>
                <a:spcPts val="1000"/>
              </a:spcBef>
              <a:spcAft>
                <a:spcPts val="0"/>
              </a:spcAft>
              <a:buClr>
                <a:schemeClr val="lt1"/>
              </a:buClr>
              <a:buSzPts val="1600"/>
              <a:buFont typeface="Arial"/>
              <a:buChar char="•"/>
            </a:pPr>
            <a:r>
              <a:rPr lang="en-US" sz="1600" b="0">
                <a:solidFill>
                  <a:schemeClr val="lt1"/>
                </a:solidFill>
                <a:latin typeface="Arial"/>
                <a:ea typeface="Arial"/>
                <a:cs typeface="Arial"/>
                <a:sym typeface="Arial"/>
              </a:rPr>
              <a:t>Investments: Net worth of stocks, bonds, mutual funds, and trust funds in brokerage accounts, for example.</a:t>
            </a:r>
            <a:endParaRPr/>
          </a:p>
          <a:p>
            <a:pPr marL="228600" marR="0" lvl="0" indent="-228600" algn="l" rtl="0">
              <a:lnSpc>
                <a:spcPct val="100000"/>
              </a:lnSpc>
              <a:spcBef>
                <a:spcPts val="1000"/>
              </a:spcBef>
              <a:spcAft>
                <a:spcPts val="0"/>
              </a:spcAft>
              <a:buClr>
                <a:schemeClr val="lt1"/>
              </a:buClr>
              <a:buSzPts val="1600"/>
              <a:buFont typeface="Arial"/>
              <a:buChar char="•"/>
            </a:pPr>
            <a:r>
              <a:rPr lang="en-US" sz="1600" b="0">
                <a:solidFill>
                  <a:schemeClr val="lt1"/>
                </a:solidFill>
                <a:latin typeface="Arial"/>
                <a:ea typeface="Arial"/>
                <a:cs typeface="Arial"/>
                <a:sym typeface="Arial"/>
              </a:rPr>
              <a:t>Real Estate: Equity in rental properties, second homes, and summer homes.</a:t>
            </a:r>
            <a:endParaRPr/>
          </a:p>
          <a:p>
            <a:pPr marL="228600" marR="0" lvl="0" indent="-228600" algn="l" rtl="0">
              <a:lnSpc>
                <a:spcPct val="100000"/>
              </a:lnSpc>
              <a:spcBef>
                <a:spcPts val="1000"/>
              </a:spcBef>
              <a:spcAft>
                <a:spcPts val="0"/>
              </a:spcAft>
              <a:buClr>
                <a:schemeClr val="lt1"/>
              </a:buClr>
              <a:buSzPts val="1600"/>
              <a:buFont typeface="Arial"/>
              <a:buChar char="•"/>
            </a:pPr>
            <a:r>
              <a:rPr lang="en-US" sz="1600" b="0">
                <a:solidFill>
                  <a:schemeClr val="lt1"/>
                </a:solidFill>
                <a:latin typeface="Arial"/>
                <a:ea typeface="Arial"/>
                <a:cs typeface="Arial"/>
                <a:sym typeface="Arial"/>
              </a:rPr>
              <a:t>Student-Owned 529s: Only the 529 plans specifically naming the student applicant as beneficiary.</a:t>
            </a:r>
            <a:endParaRPr/>
          </a:p>
          <a:p>
            <a:pPr marL="228600" marR="0" lvl="0" indent="-228600" algn="l" rtl="0">
              <a:lnSpc>
                <a:spcPct val="100000"/>
              </a:lnSpc>
              <a:spcBef>
                <a:spcPts val="1000"/>
              </a:spcBef>
              <a:spcAft>
                <a:spcPts val="0"/>
              </a:spcAft>
              <a:buClr>
                <a:schemeClr val="lt1"/>
              </a:buClr>
              <a:buSzPts val="1600"/>
              <a:buFont typeface="Arial"/>
              <a:buChar char="•"/>
            </a:pPr>
            <a:r>
              <a:rPr lang="en-US" sz="1600" b="0">
                <a:solidFill>
                  <a:schemeClr val="lt1"/>
                </a:solidFill>
                <a:latin typeface="Arial"/>
                <a:ea typeface="Arial"/>
                <a:cs typeface="Arial"/>
                <a:sym typeface="Arial"/>
              </a:rPr>
              <a:t>Child Support: Total amount of child support received during the last complete calendar year.</a:t>
            </a:r>
            <a:endParaRPr/>
          </a:p>
          <a:p>
            <a:pPr marL="228600" marR="0" lvl="0" indent="-228600" algn="l" rtl="0">
              <a:lnSpc>
                <a:spcPct val="100000"/>
              </a:lnSpc>
              <a:spcBef>
                <a:spcPts val="1000"/>
              </a:spcBef>
              <a:spcAft>
                <a:spcPts val="0"/>
              </a:spcAft>
              <a:buClr>
                <a:schemeClr val="lt1"/>
              </a:buClr>
              <a:buSzPts val="1600"/>
              <a:buFont typeface="Arial"/>
              <a:buChar char="•"/>
            </a:pPr>
            <a:r>
              <a:rPr lang="en-US" sz="1600" b="0">
                <a:solidFill>
                  <a:schemeClr val="lt1"/>
                </a:solidFill>
                <a:latin typeface="Arial"/>
                <a:ea typeface="Arial"/>
                <a:cs typeface="Arial"/>
                <a:sym typeface="Arial"/>
              </a:rPr>
              <a:t>Student Assets: UGMA/UTMA accounts and other assets held in the student's name.</a:t>
            </a:r>
            <a:endParaRPr/>
          </a:p>
        </p:txBody>
      </p:sp>
      <p:sp>
        <p:nvSpPr>
          <p:cNvPr id="465" name="Google Shape;465;p27"/>
          <p:cNvSpPr/>
          <p:nvPr/>
        </p:nvSpPr>
        <p:spPr>
          <a:xfrm>
            <a:off x="6591742" y="1862138"/>
            <a:ext cx="4957320" cy="4396075"/>
          </a:xfrm>
          <a:prstGeom prst="roundRect">
            <a:avLst>
              <a:gd name="adj" fmla="val 1300"/>
            </a:avLst>
          </a:prstGeom>
          <a:solidFill>
            <a:srgbClr val="C4C4C6">
              <a:alpha val="30196"/>
            </a:srgbClr>
          </a:solidFill>
          <a:ln>
            <a:noFill/>
          </a:ln>
        </p:spPr>
        <p:txBody>
          <a:bodyPr spcFirstLastPara="1" wrap="square" lIns="228600" tIns="274300" rIns="274300" bIns="274300" anchor="t" anchorCtr="0">
            <a:spAutoFit/>
          </a:bodyPr>
          <a:lstStyle/>
          <a:p>
            <a:pPr marL="228600" marR="0" lvl="0" indent="-228600" algn="l" rtl="0">
              <a:lnSpc>
                <a:spcPct val="100000"/>
              </a:lnSpc>
              <a:spcBef>
                <a:spcPts val="0"/>
              </a:spcBef>
              <a:spcAft>
                <a:spcPts val="0"/>
              </a:spcAft>
              <a:buClr>
                <a:schemeClr val="dk1"/>
              </a:buClr>
              <a:buSzPts val="1600"/>
              <a:buFont typeface="Arial"/>
              <a:buChar char="•"/>
            </a:pPr>
            <a:r>
              <a:rPr lang="en-US" sz="1600" b="0">
                <a:solidFill>
                  <a:schemeClr val="dk1"/>
                </a:solidFill>
                <a:latin typeface="Arial"/>
                <a:ea typeface="Arial"/>
                <a:cs typeface="Arial"/>
                <a:sym typeface="Arial"/>
              </a:rPr>
              <a:t>Primary Residence: Equity in the home where the family resides.</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Retirement Accounts: Balances in 401(k), IRA, Roth IRA, and pension plans.</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Small Businesses: Family-owned/controlled businesses with 100 or fewer full-time employees.</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Sibling 529s: Parent-owned 529 accounts designated for the student’s siblings.</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Personal Items: Cars, clothing, and household furniture.</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Life Insurance: Term, Whole, Indexed Universal, and other life insurance policies.</a:t>
            </a:r>
            <a:endParaRPr/>
          </a:p>
        </p:txBody>
      </p:sp>
      <p:sp>
        <p:nvSpPr>
          <p:cNvPr id="466" name="Google Shape;466;p27"/>
          <p:cNvSpPr/>
          <p:nvPr/>
        </p:nvSpPr>
        <p:spPr>
          <a:xfrm>
            <a:off x="642938" y="1427163"/>
            <a:ext cx="5257800" cy="400050"/>
          </a:xfrm>
          <a:prstGeom prst="roundRect">
            <a:avLst>
              <a:gd name="adj" fmla="val 14285"/>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FAFSA – Reported Factors</a:t>
            </a:r>
            <a:endParaRPr/>
          </a:p>
        </p:txBody>
      </p:sp>
      <p:sp>
        <p:nvSpPr>
          <p:cNvPr id="467" name="Google Shape;467;p27"/>
          <p:cNvSpPr/>
          <p:nvPr/>
        </p:nvSpPr>
        <p:spPr>
          <a:xfrm>
            <a:off x="6591742" y="1427163"/>
            <a:ext cx="5257800" cy="400050"/>
          </a:xfrm>
          <a:prstGeom prst="roundRect">
            <a:avLst>
              <a:gd name="adj" fmla="val 14285"/>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FAFSA – Exempt Factors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8"/>
          <p:cNvSpPr txBox="1">
            <a:spLocks noGrp="1"/>
          </p:cNvSpPr>
          <p:nvPr>
            <p:ph type="title"/>
          </p:nvPr>
        </p:nvSpPr>
        <p:spPr>
          <a:xfrm>
            <a:off x="293033" y="243913"/>
            <a:ext cx="9555816" cy="484748"/>
          </a:xfrm>
          <a:prstGeom prst="rect">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FAFSA Generates the Student Aid Index (SAI)</a:t>
            </a:r>
            <a:endParaRPr/>
          </a:p>
        </p:txBody>
      </p:sp>
      <p:sp>
        <p:nvSpPr>
          <p:cNvPr id="474" name="Google Shape;474;p28"/>
          <p:cNvSpPr/>
          <p:nvPr/>
        </p:nvSpPr>
        <p:spPr>
          <a:xfrm>
            <a:off x="600207" y="1971674"/>
            <a:ext cx="3429000" cy="4229100"/>
          </a:xfrm>
          <a:prstGeom prst="roundRect">
            <a:avLst>
              <a:gd name="adj" fmla="val 1667"/>
            </a:avLst>
          </a:prstGeom>
          <a:solidFill>
            <a:srgbClr val="C4C4C6">
              <a:alpha val="30196"/>
            </a:srgbClr>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FAFSA</a:t>
            </a:r>
            <a:endParaRPr/>
          </a:p>
          <a:p>
            <a:pPr marL="0" marR="0" lvl="0" indent="0" algn="l" rtl="0">
              <a:lnSpc>
                <a:spcPct val="100000"/>
              </a:lnSpc>
              <a:spcBef>
                <a:spcPts val="1000"/>
              </a:spcBef>
              <a:spcAft>
                <a:spcPts val="0"/>
              </a:spcAft>
              <a:buClr>
                <a:schemeClr val="accent1"/>
              </a:buClr>
              <a:buSzPts val="2000"/>
              <a:buFont typeface="Arial"/>
              <a:buNone/>
            </a:pPr>
            <a:r>
              <a:rPr lang="en-US" sz="2000" b="0">
                <a:solidFill>
                  <a:schemeClr val="accent1"/>
                </a:solidFill>
                <a:latin typeface="Arial"/>
                <a:ea typeface="Arial"/>
                <a:cs typeface="Arial"/>
                <a:sym typeface="Arial"/>
              </a:rPr>
              <a:t>Completed Online</a:t>
            </a:r>
            <a:endParaRPr/>
          </a:p>
          <a:p>
            <a:pPr marL="0" marR="0" lvl="0" indent="0" algn="l" rtl="0">
              <a:lnSpc>
                <a:spcPct val="100000"/>
              </a:lnSpc>
              <a:spcBef>
                <a:spcPts val="1000"/>
              </a:spcBef>
              <a:spcAft>
                <a:spcPts val="0"/>
              </a:spcAft>
              <a:buClr>
                <a:schemeClr val="lt1"/>
              </a:buClr>
              <a:buSzPts val="2000"/>
              <a:buFont typeface="Arial"/>
              <a:buNone/>
            </a:pPr>
            <a:endParaRPr sz="2000" b="1">
              <a:solidFill>
                <a:schemeClr val="accent1"/>
              </a:solidFill>
              <a:latin typeface="Arial"/>
              <a:ea typeface="Arial"/>
              <a:cs typeface="Arial"/>
              <a:sym typeface="Arial"/>
            </a:endParaRPr>
          </a:p>
        </p:txBody>
      </p:sp>
      <p:sp>
        <p:nvSpPr>
          <p:cNvPr id="475" name="Google Shape;475;p28"/>
          <p:cNvSpPr/>
          <p:nvPr/>
        </p:nvSpPr>
        <p:spPr>
          <a:xfrm>
            <a:off x="4412455" y="1971674"/>
            <a:ext cx="3429000" cy="4229100"/>
          </a:xfrm>
          <a:prstGeom prst="roundRect">
            <a:avLst>
              <a:gd name="adj" fmla="val 1667"/>
            </a:avLst>
          </a:prstGeom>
          <a:solidFill>
            <a:srgbClr val="C4C4C6">
              <a:alpha val="30196"/>
            </a:srgbClr>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SAI</a:t>
            </a:r>
            <a:endParaRPr/>
          </a:p>
          <a:p>
            <a:pPr marL="0" marR="0" lvl="0" indent="0" algn="l" rtl="0">
              <a:lnSpc>
                <a:spcPct val="100000"/>
              </a:lnSpc>
              <a:spcBef>
                <a:spcPts val="1000"/>
              </a:spcBef>
              <a:spcAft>
                <a:spcPts val="0"/>
              </a:spcAft>
              <a:buClr>
                <a:schemeClr val="accent1"/>
              </a:buClr>
              <a:buSzPts val="2000"/>
              <a:buFont typeface="Arial"/>
              <a:buNone/>
            </a:pPr>
            <a:r>
              <a:rPr lang="en-US" sz="2000" b="0">
                <a:solidFill>
                  <a:schemeClr val="accent1"/>
                </a:solidFill>
                <a:latin typeface="Arial"/>
                <a:ea typeface="Arial"/>
                <a:cs typeface="Arial"/>
                <a:sym typeface="Arial"/>
              </a:rPr>
              <a:t>Generated From FAFSA</a:t>
            </a:r>
            <a:endParaRPr/>
          </a:p>
          <a:p>
            <a:pPr marL="0" marR="0" lvl="0" indent="0" algn="l" rtl="0">
              <a:lnSpc>
                <a:spcPct val="100000"/>
              </a:lnSpc>
              <a:spcBef>
                <a:spcPts val="1000"/>
              </a:spcBef>
              <a:spcAft>
                <a:spcPts val="0"/>
              </a:spcAft>
              <a:buClr>
                <a:schemeClr val="lt1"/>
              </a:buClr>
              <a:buSzPts val="2000"/>
              <a:buFont typeface="Arial"/>
              <a:buNone/>
            </a:pPr>
            <a:endParaRPr sz="2000" b="1">
              <a:solidFill>
                <a:schemeClr val="accent1"/>
              </a:solidFill>
              <a:latin typeface="Arial"/>
              <a:ea typeface="Arial"/>
              <a:cs typeface="Arial"/>
              <a:sym typeface="Arial"/>
            </a:endParaRPr>
          </a:p>
        </p:txBody>
      </p:sp>
      <p:sp>
        <p:nvSpPr>
          <p:cNvPr id="476" name="Google Shape;476;p28"/>
          <p:cNvSpPr/>
          <p:nvPr/>
        </p:nvSpPr>
        <p:spPr>
          <a:xfrm>
            <a:off x="8224837" y="1971674"/>
            <a:ext cx="3429001" cy="4229100"/>
          </a:xfrm>
          <a:prstGeom prst="roundRect">
            <a:avLst>
              <a:gd name="adj" fmla="val 1667"/>
            </a:avLst>
          </a:prstGeom>
          <a:solidFill>
            <a:srgbClr val="C4C4C6">
              <a:alpha val="30196"/>
            </a:srgbClr>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Federal Need</a:t>
            </a:r>
            <a:endParaRPr/>
          </a:p>
          <a:p>
            <a:pPr marL="0" marR="0" lvl="0" indent="0" algn="l" rtl="0">
              <a:lnSpc>
                <a:spcPct val="100000"/>
              </a:lnSpc>
              <a:spcBef>
                <a:spcPts val="1000"/>
              </a:spcBef>
              <a:spcAft>
                <a:spcPts val="0"/>
              </a:spcAft>
              <a:buClr>
                <a:schemeClr val="accent1"/>
              </a:buClr>
              <a:buSzPts val="2000"/>
              <a:buFont typeface="Arial"/>
              <a:buNone/>
            </a:pPr>
            <a:r>
              <a:rPr lang="en-US" sz="2000" b="0">
                <a:solidFill>
                  <a:schemeClr val="accent1"/>
                </a:solidFill>
                <a:latin typeface="Arial"/>
                <a:ea typeface="Arial"/>
                <a:cs typeface="Arial"/>
                <a:sym typeface="Arial"/>
              </a:rPr>
              <a:t>COA minus SAI</a:t>
            </a:r>
            <a:endParaRPr/>
          </a:p>
          <a:p>
            <a:pPr marL="0" marR="0" lvl="0" indent="0" algn="l" rtl="0">
              <a:lnSpc>
                <a:spcPct val="100000"/>
              </a:lnSpc>
              <a:spcBef>
                <a:spcPts val="1000"/>
              </a:spcBef>
              <a:spcAft>
                <a:spcPts val="0"/>
              </a:spcAft>
              <a:buClr>
                <a:schemeClr val="lt1"/>
              </a:buClr>
              <a:buSzPts val="2000"/>
              <a:buFont typeface="Arial"/>
              <a:buNone/>
            </a:pPr>
            <a:endParaRPr sz="2000" b="1">
              <a:solidFill>
                <a:schemeClr val="accent1"/>
              </a:solidFill>
              <a:latin typeface="Arial"/>
              <a:ea typeface="Arial"/>
              <a:cs typeface="Arial"/>
              <a:sym typeface="Arial"/>
            </a:endParaRPr>
          </a:p>
        </p:txBody>
      </p:sp>
      <p:sp>
        <p:nvSpPr>
          <p:cNvPr id="477" name="Google Shape;477;p28"/>
          <p:cNvSpPr/>
          <p:nvPr/>
        </p:nvSpPr>
        <p:spPr>
          <a:xfrm>
            <a:off x="1133475" y="3429000"/>
            <a:ext cx="2357438" cy="23574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478" name="Google Shape;478;p28"/>
          <p:cNvGrpSpPr/>
          <p:nvPr/>
        </p:nvGrpSpPr>
        <p:grpSpPr>
          <a:xfrm>
            <a:off x="4945857" y="3429000"/>
            <a:ext cx="2357438" cy="2357438"/>
            <a:chOff x="4917281" y="3429000"/>
            <a:chExt cx="2357438" cy="2357438"/>
          </a:xfrm>
        </p:grpSpPr>
        <p:sp>
          <p:nvSpPr>
            <p:cNvPr id="479" name="Google Shape;479;p28"/>
            <p:cNvSpPr/>
            <p:nvPr/>
          </p:nvSpPr>
          <p:spPr>
            <a:xfrm>
              <a:off x="4917281" y="3429000"/>
              <a:ext cx="2357438" cy="23574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0" name="Google Shape;480;p28"/>
            <p:cNvSpPr/>
            <p:nvPr/>
          </p:nvSpPr>
          <p:spPr>
            <a:xfrm>
              <a:off x="5491162" y="4063206"/>
              <a:ext cx="1209675" cy="1089025"/>
            </a:xfrm>
            <a:prstGeom prst="rect">
              <a:avLst/>
            </a:prstGeom>
            <a:noFill/>
            <a:ln>
              <a:noFill/>
            </a:ln>
          </p:spPr>
          <p:txBody>
            <a:bodyPr/>
            <a:lstStyle/>
            <a:p>
              <a:endParaRPr lang="en-US"/>
            </a:p>
          </p:txBody>
        </p:sp>
      </p:grpSp>
      <p:grpSp>
        <p:nvGrpSpPr>
          <p:cNvPr id="481" name="Google Shape;481;p28"/>
          <p:cNvGrpSpPr/>
          <p:nvPr/>
        </p:nvGrpSpPr>
        <p:grpSpPr>
          <a:xfrm>
            <a:off x="8884443" y="3429000"/>
            <a:ext cx="2357438" cy="2357438"/>
            <a:chOff x="8729663" y="3429000"/>
            <a:chExt cx="2357438" cy="2357438"/>
          </a:xfrm>
        </p:grpSpPr>
        <p:sp>
          <p:nvSpPr>
            <p:cNvPr id="482" name="Google Shape;482;p28"/>
            <p:cNvSpPr/>
            <p:nvPr/>
          </p:nvSpPr>
          <p:spPr>
            <a:xfrm>
              <a:off x="8729663" y="3429000"/>
              <a:ext cx="2357438" cy="23574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3" name="Google Shape;483;p28"/>
            <p:cNvSpPr/>
            <p:nvPr/>
          </p:nvSpPr>
          <p:spPr>
            <a:xfrm>
              <a:off x="9294019" y="3974306"/>
              <a:ext cx="1228725" cy="1177925"/>
            </a:xfrm>
            <a:prstGeom prst="rect">
              <a:avLst/>
            </a:prstGeom>
            <a:noFill/>
            <a:ln>
              <a:noFill/>
            </a:ln>
          </p:spPr>
          <p:txBody>
            <a:bodyPr/>
            <a:lstStyle/>
            <a:p>
              <a:endParaRPr lang="en-US"/>
            </a:p>
          </p:txBody>
        </p:sp>
      </p:grpSp>
      <p:sp>
        <p:nvSpPr>
          <p:cNvPr id="484" name="Google Shape;484;p28"/>
          <p:cNvSpPr/>
          <p:nvPr/>
        </p:nvSpPr>
        <p:spPr>
          <a:xfrm>
            <a:off x="1648683" y="4179093"/>
            <a:ext cx="1241425" cy="857250"/>
          </a:xfrm>
          <a:prstGeom prst="rect">
            <a:avLst/>
          </a:prstGeom>
          <a:noFill/>
          <a:ln>
            <a:noFill/>
          </a:ln>
        </p:spPr>
        <p:txBody>
          <a:bodyPr/>
          <a:lstStyle/>
          <a:p>
            <a:endParaRPr lang="en-US"/>
          </a:p>
        </p:txBody>
      </p:sp>
      <p:sp>
        <p:nvSpPr>
          <p:cNvPr id="485" name="Google Shape;485;p28"/>
          <p:cNvSpPr/>
          <p:nvPr/>
        </p:nvSpPr>
        <p:spPr>
          <a:xfrm>
            <a:off x="794496" y="1605914"/>
            <a:ext cx="3035396" cy="365760"/>
          </a:xfrm>
          <a:prstGeom prst="round2SameRect">
            <a:avLst>
              <a:gd name="adj1" fmla="val 16667"/>
              <a:gd name="adj2" fmla="val 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800" b="1">
                <a:solidFill>
                  <a:schemeClr val="accent5"/>
                </a:solidFill>
                <a:latin typeface="Arial"/>
                <a:ea typeface="Arial"/>
                <a:cs typeface="Arial"/>
                <a:sym typeface="Arial"/>
              </a:rPr>
              <a:t>1</a:t>
            </a:r>
            <a:endParaRPr/>
          </a:p>
        </p:txBody>
      </p:sp>
      <p:sp>
        <p:nvSpPr>
          <p:cNvPr id="486" name="Google Shape;486;p28"/>
          <p:cNvSpPr/>
          <p:nvPr/>
        </p:nvSpPr>
        <p:spPr>
          <a:xfrm>
            <a:off x="4611753" y="1605914"/>
            <a:ext cx="3035396" cy="365760"/>
          </a:xfrm>
          <a:prstGeom prst="round2SameRect">
            <a:avLst>
              <a:gd name="adj1" fmla="val 16667"/>
              <a:gd name="adj2" fmla="val 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800" b="1">
                <a:solidFill>
                  <a:schemeClr val="accent5"/>
                </a:solidFill>
                <a:latin typeface="Arial"/>
                <a:ea typeface="Arial"/>
                <a:cs typeface="Arial"/>
                <a:sym typeface="Arial"/>
              </a:rPr>
              <a:t>2</a:t>
            </a:r>
            <a:endParaRPr/>
          </a:p>
        </p:txBody>
      </p:sp>
      <p:sp>
        <p:nvSpPr>
          <p:cNvPr id="487" name="Google Shape;487;p28"/>
          <p:cNvSpPr/>
          <p:nvPr/>
        </p:nvSpPr>
        <p:spPr>
          <a:xfrm>
            <a:off x="8429011" y="1605914"/>
            <a:ext cx="3035396" cy="365760"/>
          </a:xfrm>
          <a:prstGeom prst="round2SameRect">
            <a:avLst>
              <a:gd name="adj1" fmla="val 16667"/>
              <a:gd name="adj2" fmla="val 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800" b="1">
                <a:solidFill>
                  <a:schemeClr val="accent5"/>
                </a:solidFill>
                <a:latin typeface="Arial"/>
                <a:ea typeface="Arial"/>
                <a:cs typeface="Arial"/>
                <a:sym typeface="Arial"/>
              </a:rPr>
              <a:t>3</a:t>
            </a:r>
            <a:endParaRPr/>
          </a:p>
        </p:txBody>
      </p:sp>
      <p:pic>
        <p:nvPicPr>
          <p:cNvPr id="2" name="Graphic 1">
            <a:extLst>
              <a:ext uri="{FF2B5EF4-FFF2-40B4-BE49-F238E27FC236}">
                <a16:creationId xmlns:a16="http://schemas.microsoft.com/office/drawing/2014/main" id="{34F0A3D3-0BA5-1D81-2E8E-3285FFAABD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48683" y="4150545"/>
            <a:ext cx="1241425" cy="857250"/>
          </a:xfrm>
          <a:prstGeom prst="rect">
            <a:avLst/>
          </a:prstGeom>
        </p:spPr>
      </p:pic>
      <p:pic>
        <p:nvPicPr>
          <p:cNvPr id="3" name="Graphic 2">
            <a:extLst>
              <a:ext uri="{FF2B5EF4-FFF2-40B4-BE49-F238E27FC236}">
                <a16:creationId xmlns:a16="http://schemas.microsoft.com/office/drawing/2014/main" id="{4D05DF0E-1975-8F9F-352D-6D157D95F4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19738" y="4034658"/>
            <a:ext cx="1209675" cy="1089025"/>
          </a:xfrm>
          <a:prstGeom prst="rect">
            <a:avLst/>
          </a:prstGeom>
        </p:spPr>
      </p:pic>
      <p:pic>
        <p:nvPicPr>
          <p:cNvPr id="4" name="Graphic 3">
            <a:extLst>
              <a:ext uri="{FF2B5EF4-FFF2-40B4-BE49-F238E27FC236}">
                <a16:creationId xmlns:a16="http://schemas.microsoft.com/office/drawing/2014/main" id="{D0DE7B19-12B6-F755-EC5D-DAB6562763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48799" y="3990208"/>
            <a:ext cx="1228725" cy="11779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29"/>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The Private School Difference</a:t>
            </a:r>
            <a:endParaRPr/>
          </a:p>
        </p:txBody>
      </p:sp>
      <p:sp>
        <p:nvSpPr>
          <p:cNvPr id="494" name="Google Shape;494;p29"/>
          <p:cNvSpPr>
            <a:spLocks noGrp="1"/>
          </p:cNvSpPr>
          <p:nvPr>
            <p:ph type="body" idx="1"/>
          </p:nvPr>
        </p:nvSpPr>
        <p:spPr>
          <a:xfrm>
            <a:off x="601774" y="2423312"/>
            <a:ext cx="3429000" cy="1773198"/>
          </a:xfrm>
          <a:prstGeom prst="roundRect">
            <a:avLst>
              <a:gd name="adj" fmla="val 3222"/>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Private colleges require the comprehensive </a:t>
            </a:r>
            <a:r>
              <a:rPr lang="en-US" b="1"/>
              <a:t>College Scholarship Services (CSS) Profile </a:t>
            </a:r>
            <a:r>
              <a:rPr lang="en-US"/>
              <a:t>for institutional aid.</a:t>
            </a:r>
            <a:endParaRPr/>
          </a:p>
        </p:txBody>
      </p:sp>
      <p:sp>
        <p:nvSpPr>
          <p:cNvPr id="495" name="Google Shape;495;p29"/>
          <p:cNvSpPr>
            <a:spLocks noGrp="1"/>
          </p:cNvSpPr>
          <p:nvPr>
            <p:ph type="body" idx="2"/>
          </p:nvPr>
        </p:nvSpPr>
        <p:spPr>
          <a:xfrm>
            <a:off x="4381500" y="2423312"/>
            <a:ext cx="3429000" cy="1438632"/>
          </a:xfrm>
          <a:prstGeom prst="roundRect">
            <a:avLst>
              <a:gd name="adj" fmla="val 3972"/>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Completing this form can expand your opportunities for the amount of aid you can receive.</a:t>
            </a:r>
            <a:endParaRPr/>
          </a:p>
        </p:txBody>
      </p:sp>
      <p:sp>
        <p:nvSpPr>
          <p:cNvPr id="496" name="Google Shape;496;p29"/>
          <p:cNvSpPr>
            <a:spLocks noGrp="1"/>
          </p:cNvSpPr>
          <p:nvPr>
            <p:ph type="body" idx="3"/>
          </p:nvPr>
        </p:nvSpPr>
        <p:spPr>
          <a:xfrm>
            <a:off x="8161226" y="2423311"/>
            <a:ext cx="3429000" cy="2231753"/>
          </a:xfrm>
          <a:prstGeom prst="roundRect">
            <a:avLst>
              <a:gd name="adj" fmla="val 2560"/>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This form allows the college to create a detailed evaluation of the entire student and family profile, often including academics and finances.</a:t>
            </a:r>
            <a:endParaRPr/>
          </a:p>
        </p:txBody>
      </p:sp>
      <p:sp>
        <p:nvSpPr>
          <p:cNvPr id="497" name="Google Shape;497;p29"/>
          <p:cNvSpPr>
            <a:spLocks noGrp="1"/>
          </p:cNvSpPr>
          <p:nvPr>
            <p:ph type="body" idx="4"/>
          </p:nvPr>
        </p:nvSpPr>
        <p:spPr>
          <a:xfrm>
            <a:off x="601774" y="1988316"/>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Beyond Federal Aid</a:t>
            </a:r>
            <a:endParaRPr/>
          </a:p>
        </p:txBody>
      </p:sp>
      <p:sp>
        <p:nvSpPr>
          <p:cNvPr id="498" name="Google Shape;498;p29"/>
          <p:cNvSpPr>
            <a:spLocks noGrp="1"/>
          </p:cNvSpPr>
          <p:nvPr>
            <p:ph type="body" idx="5"/>
          </p:nvPr>
        </p:nvSpPr>
        <p:spPr>
          <a:xfrm>
            <a:off x="4381500" y="1988316"/>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Endowment Access</a:t>
            </a:r>
            <a:endParaRPr/>
          </a:p>
        </p:txBody>
      </p:sp>
      <p:sp>
        <p:nvSpPr>
          <p:cNvPr id="499" name="Google Shape;499;p29"/>
          <p:cNvSpPr>
            <a:spLocks noGrp="1"/>
          </p:cNvSpPr>
          <p:nvPr>
            <p:ph type="body" idx="6"/>
          </p:nvPr>
        </p:nvSpPr>
        <p:spPr>
          <a:xfrm>
            <a:off x="8161226" y="1988316"/>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The Holistic Evaluation</a:t>
            </a:r>
            <a:endParaRPr/>
          </a:p>
        </p:txBody>
      </p:sp>
      <p:sp>
        <p:nvSpPr>
          <p:cNvPr id="500" name="Google Shape;500;p29"/>
          <p:cNvSpPr/>
          <p:nvPr/>
        </p:nvSpPr>
        <p:spPr>
          <a:xfrm>
            <a:off x="586510" y="4655065"/>
            <a:ext cx="11003716" cy="1504355"/>
          </a:xfrm>
          <a:prstGeom prst="roundRect">
            <a:avLst>
              <a:gd name="adj" fmla="val 3798"/>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a:solidFill>
                  <a:schemeClr val="accent5"/>
                </a:solidFill>
                <a:latin typeface="Arial"/>
                <a:ea typeface="Arial"/>
                <a:cs typeface="Arial"/>
                <a:sym typeface="Arial"/>
              </a:rPr>
              <a:t>Key Takeaway: </a:t>
            </a:r>
            <a:r>
              <a:rPr lang="en-US" sz="2000">
                <a:solidFill>
                  <a:schemeClr val="accent5"/>
                </a:solidFill>
                <a:latin typeface="Arial"/>
                <a:ea typeface="Arial"/>
                <a:cs typeface="Arial"/>
                <a:sym typeface="Arial"/>
              </a:rPr>
              <a:t>Don’t limit your options inadvertently.</a:t>
            </a:r>
            <a:endParaRPr/>
          </a:p>
          <a:p>
            <a:pPr marL="342900" marR="0" lvl="0" indent="-342900" algn="l" rtl="0">
              <a:spcBef>
                <a:spcPts val="600"/>
              </a:spcBef>
              <a:spcAft>
                <a:spcPts val="0"/>
              </a:spcAft>
              <a:buClr>
                <a:schemeClr val="accent5"/>
              </a:buClr>
              <a:buSzPts val="2000"/>
              <a:buFont typeface="Arial"/>
              <a:buChar char="•"/>
            </a:pPr>
            <a:r>
              <a:rPr lang="en-US" sz="2000" i="1">
                <a:solidFill>
                  <a:schemeClr val="accent5"/>
                </a:solidFill>
                <a:latin typeface="Arial"/>
                <a:ea typeface="Arial"/>
                <a:cs typeface="Arial"/>
                <a:sym typeface="Arial"/>
              </a:rPr>
              <a:t>If a good-fit school seems too expensive to apply to, don’t forget you may receive a generous aid package if accepted.</a:t>
            </a:r>
            <a:endParaRPr/>
          </a:p>
        </p:txBody>
      </p:sp>
      <p:cxnSp>
        <p:nvCxnSpPr>
          <p:cNvPr id="501" name="Google Shape;501;p29"/>
          <p:cNvCxnSpPr/>
          <p:nvPr/>
        </p:nvCxnSpPr>
        <p:spPr>
          <a:xfrm>
            <a:off x="586509" y="2087094"/>
            <a:ext cx="0" cy="1920240"/>
          </a:xfrm>
          <a:prstGeom prst="straightConnector1">
            <a:avLst/>
          </a:prstGeom>
          <a:noFill/>
          <a:ln w="19050" cap="flat" cmpd="sng">
            <a:solidFill>
              <a:schemeClr val="accent1"/>
            </a:solidFill>
            <a:prstDash val="solid"/>
            <a:miter lim="8000"/>
            <a:headEnd type="none" w="sm" len="sm"/>
            <a:tailEnd type="none" w="sm" len="sm"/>
          </a:ln>
        </p:spPr>
      </p:cxnSp>
      <p:cxnSp>
        <p:nvCxnSpPr>
          <p:cNvPr id="502" name="Google Shape;502;p29"/>
          <p:cNvCxnSpPr/>
          <p:nvPr/>
        </p:nvCxnSpPr>
        <p:spPr>
          <a:xfrm>
            <a:off x="4381500" y="2087095"/>
            <a:ext cx="0" cy="1554480"/>
          </a:xfrm>
          <a:prstGeom prst="straightConnector1">
            <a:avLst/>
          </a:prstGeom>
          <a:noFill/>
          <a:ln w="19050" cap="flat" cmpd="sng">
            <a:solidFill>
              <a:schemeClr val="accent1"/>
            </a:solidFill>
            <a:prstDash val="solid"/>
            <a:miter lim="8000"/>
            <a:headEnd type="none" w="sm" len="sm"/>
            <a:tailEnd type="none" w="sm" len="sm"/>
          </a:ln>
        </p:spPr>
      </p:cxnSp>
      <p:cxnSp>
        <p:nvCxnSpPr>
          <p:cNvPr id="503" name="Google Shape;503;p29"/>
          <p:cNvCxnSpPr/>
          <p:nvPr/>
        </p:nvCxnSpPr>
        <p:spPr>
          <a:xfrm>
            <a:off x="8161226" y="2087094"/>
            <a:ext cx="0" cy="2194560"/>
          </a:xfrm>
          <a:prstGeom prst="straightConnector1">
            <a:avLst/>
          </a:prstGeom>
          <a:noFill/>
          <a:ln w="19050" cap="flat" cmpd="sng">
            <a:solidFill>
              <a:schemeClr val="accent1"/>
            </a:solidFill>
            <a:prstDash val="solid"/>
            <a:miter lim="8000"/>
            <a:headEnd type="none" w="sm" len="sm"/>
            <a:tailEnd type="none" w="sm" len="sm"/>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0"/>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CSS Key Factors</a:t>
            </a:r>
            <a:endParaRPr/>
          </a:p>
        </p:txBody>
      </p:sp>
      <p:sp>
        <p:nvSpPr>
          <p:cNvPr id="510" name="Google Shape;510;p30"/>
          <p:cNvSpPr/>
          <p:nvPr/>
        </p:nvSpPr>
        <p:spPr>
          <a:xfrm>
            <a:off x="659567" y="1649026"/>
            <a:ext cx="10927830" cy="3418284"/>
          </a:xfrm>
          <a:prstGeom prst="roundRect">
            <a:avLst>
              <a:gd name="adj" fmla="val 1671"/>
            </a:avLst>
          </a:prstGeom>
          <a:noFill/>
          <a:ln>
            <a:noFill/>
          </a:ln>
        </p:spPr>
        <p:txBody>
          <a:bodyPr spcFirstLastPara="1" wrap="square" lIns="0" tIns="0" rIns="0" bIns="228600" anchor="t" anchorCtr="0">
            <a:spAutoFit/>
          </a:bodyPr>
          <a:lstStyle/>
          <a:p>
            <a:pPr marL="0" marR="0" lvl="0" indent="0" algn="l" rtl="0">
              <a:spcBef>
                <a:spcPts val="0"/>
              </a:spcBef>
              <a:spcAft>
                <a:spcPts val="0"/>
              </a:spcAft>
              <a:buNone/>
            </a:pPr>
            <a:r>
              <a:rPr lang="en-US" sz="2000" b="1">
                <a:solidFill>
                  <a:schemeClr val="accent1"/>
                </a:solidFill>
                <a:latin typeface="Arial"/>
                <a:ea typeface="Arial"/>
                <a:cs typeface="Arial"/>
                <a:sym typeface="Arial"/>
              </a:rPr>
              <a:t>Required By Elite Institutions for Aid</a:t>
            </a:r>
            <a:br>
              <a:rPr lang="en-US" sz="2000" b="1">
                <a:solidFill>
                  <a:schemeClr val="accent1"/>
                </a:solidFill>
                <a:latin typeface="Arial"/>
                <a:ea typeface="Arial"/>
                <a:cs typeface="Arial"/>
                <a:sym typeface="Arial"/>
              </a:rPr>
            </a:br>
            <a:r>
              <a:rPr lang="en-US" sz="2000">
                <a:solidFill>
                  <a:schemeClr val="dk1"/>
                </a:solidFill>
                <a:latin typeface="Arial"/>
                <a:ea typeface="Arial"/>
                <a:cs typeface="Arial"/>
                <a:sym typeface="Arial"/>
              </a:rPr>
              <a:t>Used by over 250 of the most prestigious colleges and universities in the U.S.</a:t>
            </a:r>
            <a:endParaRPr/>
          </a:p>
          <a:p>
            <a:pPr marL="0" marR="0" lvl="0" indent="0" algn="l" rtl="0">
              <a:spcBef>
                <a:spcPts val="1000"/>
              </a:spcBef>
              <a:spcAft>
                <a:spcPts val="0"/>
              </a:spcAft>
              <a:buNone/>
            </a:pPr>
            <a:r>
              <a:rPr lang="en-US" sz="2000" b="1">
                <a:solidFill>
                  <a:schemeClr val="accent1"/>
                </a:solidFill>
                <a:latin typeface="Arial"/>
                <a:ea typeface="Arial"/>
                <a:cs typeface="Arial"/>
                <a:sym typeface="Arial"/>
              </a:rPr>
              <a:t>Deep Financial Audit</a:t>
            </a:r>
            <a:br>
              <a:rPr lang="en-US" sz="2000" b="1">
                <a:solidFill>
                  <a:schemeClr val="accent1"/>
                </a:solidFill>
                <a:latin typeface="Arial"/>
                <a:ea typeface="Arial"/>
                <a:cs typeface="Arial"/>
                <a:sym typeface="Arial"/>
              </a:rPr>
            </a:br>
            <a:r>
              <a:rPr lang="en-US" sz="2000">
                <a:solidFill>
                  <a:schemeClr val="dk1"/>
                </a:solidFill>
                <a:latin typeface="Arial"/>
                <a:ea typeface="Arial"/>
                <a:cs typeface="Arial"/>
                <a:sym typeface="Arial"/>
              </a:rPr>
              <a:t>Features over 275 detailed questions, making it far more comprehensive than the FAFSA.</a:t>
            </a:r>
            <a:endParaRPr/>
          </a:p>
          <a:p>
            <a:pPr marL="0" marR="0" lvl="0" indent="0" algn="l" rtl="0">
              <a:spcBef>
                <a:spcPts val="1000"/>
              </a:spcBef>
              <a:spcAft>
                <a:spcPts val="0"/>
              </a:spcAft>
              <a:buNone/>
            </a:pPr>
            <a:r>
              <a:rPr lang="en-US" sz="2000" b="1">
                <a:solidFill>
                  <a:schemeClr val="accent1"/>
                </a:solidFill>
                <a:latin typeface="Arial"/>
                <a:ea typeface="Arial"/>
                <a:cs typeface="Arial"/>
                <a:sym typeface="Arial"/>
              </a:rPr>
              <a:t>Asset Evaluation</a:t>
            </a:r>
            <a:br>
              <a:rPr lang="en-US" sz="2000" b="1">
                <a:solidFill>
                  <a:schemeClr val="accent1"/>
                </a:solidFill>
                <a:latin typeface="Arial"/>
                <a:ea typeface="Arial"/>
                <a:cs typeface="Arial"/>
                <a:sym typeface="Arial"/>
              </a:rPr>
            </a:br>
            <a:r>
              <a:rPr lang="en-US" sz="2000">
                <a:solidFill>
                  <a:schemeClr val="dk1"/>
                </a:solidFill>
                <a:latin typeface="Arial"/>
                <a:ea typeface="Arial"/>
                <a:cs typeface="Arial"/>
                <a:sym typeface="Arial"/>
              </a:rPr>
              <a:t>Evaluates categories excluded by federal forms, including home equity, business assets, and retirement accounts.</a:t>
            </a:r>
            <a:endParaRPr/>
          </a:p>
          <a:p>
            <a:pPr marL="0" marR="0" lvl="0" indent="0" algn="l" rtl="0">
              <a:spcBef>
                <a:spcPts val="1000"/>
              </a:spcBef>
              <a:spcAft>
                <a:spcPts val="0"/>
              </a:spcAft>
              <a:buNone/>
            </a:pPr>
            <a:r>
              <a:rPr lang="en-US" sz="2000" b="1">
                <a:solidFill>
                  <a:schemeClr val="accent1"/>
                </a:solidFill>
                <a:latin typeface="Arial"/>
                <a:ea typeface="Arial"/>
                <a:cs typeface="Arial"/>
                <a:sym typeface="Arial"/>
              </a:rPr>
              <a:t>Institution-Specific Timelines</a:t>
            </a:r>
            <a:br>
              <a:rPr lang="en-US" sz="2000" b="1">
                <a:solidFill>
                  <a:schemeClr val="accent1"/>
                </a:solidFill>
                <a:latin typeface="Arial"/>
                <a:ea typeface="Arial"/>
                <a:cs typeface="Arial"/>
                <a:sym typeface="Arial"/>
              </a:rPr>
            </a:br>
            <a:r>
              <a:rPr lang="en-US" sz="2000">
                <a:solidFill>
                  <a:schemeClr val="dk1"/>
                </a:solidFill>
                <a:latin typeface="Arial"/>
                <a:ea typeface="Arial"/>
                <a:cs typeface="Arial"/>
                <a:sym typeface="Arial"/>
              </a:rPr>
              <a:t>Deadlines vary by school, requiring careful individual monitoring.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31"/>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17" name="Google Shape;517;p31"/>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518" name="Google Shape;518;p31"/>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CSS - Exempt and Reported Financial Factors</a:t>
            </a:r>
            <a:endParaRPr/>
          </a:p>
        </p:txBody>
      </p:sp>
      <p:sp>
        <p:nvSpPr>
          <p:cNvPr id="519" name="Google Shape;519;p31"/>
          <p:cNvSpPr/>
          <p:nvPr/>
        </p:nvSpPr>
        <p:spPr>
          <a:xfrm>
            <a:off x="631824" y="1796822"/>
            <a:ext cx="5464175" cy="4566136"/>
          </a:xfrm>
          <a:prstGeom prst="roundRect">
            <a:avLst>
              <a:gd name="adj" fmla="val 1251"/>
            </a:avLst>
          </a:prstGeom>
          <a:solidFill>
            <a:schemeClr val="accent5"/>
          </a:solidFill>
          <a:ln>
            <a:noFill/>
          </a:ln>
        </p:spPr>
        <p:txBody>
          <a:bodyPr spcFirstLastPara="1" wrap="square" lIns="228600" tIns="274300" rIns="274300" bIns="274300" anchor="t" anchorCtr="0">
            <a:spAutoFit/>
          </a:bodyPr>
          <a:lstStyle/>
          <a:p>
            <a:pPr marL="228600" marR="0" lvl="0" indent="-228600" algn="l" rtl="0">
              <a:lnSpc>
                <a:spcPct val="100000"/>
              </a:lnSpc>
              <a:spcBef>
                <a:spcPts val="0"/>
              </a:spcBef>
              <a:spcAft>
                <a:spcPts val="0"/>
              </a:spcAft>
              <a:buClr>
                <a:schemeClr val="lt1"/>
              </a:buClr>
              <a:buSzPts val="1600"/>
              <a:buFont typeface="Arial"/>
              <a:buChar char="•"/>
            </a:pPr>
            <a:r>
              <a:rPr lang="en-US" sz="1600" b="0" dirty="0">
                <a:solidFill>
                  <a:schemeClr val="lt1"/>
                </a:solidFill>
                <a:latin typeface="Arial"/>
                <a:ea typeface="Arial"/>
                <a:cs typeface="Arial"/>
                <a:sym typeface="Arial"/>
              </a:rPr>
              <a:t>Primary Home Equity: Current market value minus all mortgages and home equity lines of credit.</a:t>
            </a:r>
            <a:endParaRPr dirty="0"/>
          </a:p>
          <a:p>
            <a:pPr marL="228600" marR="0" lvl="0" indent="-228600" algn="l" rtl="0">
              <a:lnSpc>
                <a:spcPct val="100000"/>
              </a:lnSpc>
              <a:spcBef>
                <a:spcPts val="1000"/>
              </a:spcBef>
              <a:spcAft>
                <a:spcPts val="0"/>
              </a:spcAft>
              <a:buClr>
                <a:schemeClr val="lt1"/>
              </a:buClr>
              <a:buSzPts val="1600"/>
              <a:buFont typeface="Arial"/>
              <a:buChar char="•"/>
            </a:pPr>
            <a:r>
              <a:rPr lang="en-US" sz="1600" b="0" dirty="0">
                <a:solidFill>
                  <a:schemeClr val="lt1"/>
                </a:solidFill>
                <a:latin typeface="Arial"/>
                <a:ea typeface="Arial"/>
                <a:cs typeface="Arial"/>
                <a:sym typeface="Arial"/>
              </a:rPr>
              <a:t>All Parent-Owned 529s: Includes accounts for the student applicant AND all siblings.</a:t>
            </a:r>
            <a:endParaRPr dirty="0"/>
          </a:p>
          <a:p>
            <a:pPr marL="228600" marR="0" lvl="0" indent="-228600" algn="l" rtl="0">
              <a:lnSpc>
                <a:spcPct val="100000"/>
              </a:lnSpc>
              <a:spcBef>
                <a:spcPts val="1000"/>
              </a:spcBef>
              <a:spcAft>
                <a:spcPts val="0"/>
              </a:spcAft>
              <a:buClr>
                <a:schemeClr val="lt1"/>
              </a:buClr>
              <a:buSzPts val="1600"/>
              <a:buFont typeface="Arial"/>
              <a:buChar char="•"/>
            </a:pPr>
            <a:r>
              <a:rPr lang="en-US" sz="1600" b="0" dirty="0">
                <a:solidFill>
                  <a:schemeClr val="lt1"/>
                </a:solidFill>
                <a:latin typeface="Arial"/>
                <a:ea typeface="Arial"/>
                <a:cs typeface="Arial"/>
                <a:sym typeface="Arial"/>
              </a:rPr>
              <a:t>Non-Parent 529s: Plans naming the student as beneficiary but owned by grandparents or others.</a:t>
            </a:r>
            <a:endParaRPr dirty="0"/>
          </a:p>
          <a:p>
            <a:pPr marL="228600" marR="0" lvl="0" indent="-228600" algn="l" rtl="0">
              <a:lnSpc>
                <a:spcPct val="100000"/>
              </a:lnSpc>
              <a:spcBef>
                <a:spcPts val="1000"/>
              </a:spcBef>
              <a:spcAft>
                <a:spcPts val="0"/>
              </a:spcAft>
              <a:buClr>
                <a:schemeClr val="lt1"/>
              </a:buClr>
              <a:buSzPts val="1600"/>
              <a:buFont typeface="Arial"/>
              <a:buChar char="•"/>
            </a:pPr>
            <a:r>
              <a:rPr lang="en-US" sz="1600" b="0" dirty="0">
                <a:solidFill>
                  <a:schemeClr val="lt1"/>
                </a:solidFill>
                <a:latin typeface="Arial"/>
                <a:ea typeface="Arial"/>
                <a:cs typeface="Arial"/>
                <a:sym typeface="Arial"/>
              </a:rPr>
              <a:t>All Businesses &amp; Farms: Net worth of all business interests, regardless of employee count (no small business exemption).</a:t>
            </a:r>
            <a:endParaRPr dirty="0"/>
          </a:p>
          <a:p>
            <a:pPr marL="228600" marR="0" lvl="0" indent="-228600" algn="l" rtl="0">
              <a:lnSpc>
                <a:spcPct val="100000"/>
              </a:lnSpc>
              <a:spcBef>
                <a:spcPts val="1000"/>
              </a:spcBef>
              <a:spcAft>
                <a:spcPts val="0"/>
              </a:spcAft>
              <a:buClr>
                <a:schemeClr val="lt1"/>
              </a:buClr>
              <a:buSzPts val="1600"/>
              <a:buFont typeface="Arial"/>
              <a:buChar char="•"/>
            </a:pPr>
            <a:r>
              <a:rPr lang="en-US" sz="1600" b="0" dirty="0">
                <a:solidFill>
                  <a:schemeClr val="lt1"/>
                </a:solidFill>
                <a:latin typeface="Arial"/>
                <a:ea typeface="Arial"/>
                <a:cs typeface="Arial"/>
                <a:sym typeface="Arial"/>
              </a:rPr>
              <a:t>Trust Funds: The total value of all trust funds, including those for the student and parents.</a:t>
            </a:r>
            <a:endParaRPr dirty="0"/>
          </a:p>
          <a:p>
            <a:pPr marL="228600" marR="0" lvl="0" indent="-228600" algn="l" rtl="0">
              <a:lnSpc>
                <a:spcPct val="100000"/>
              </a:lnSpc>
              <a:spcBef>
                <a:spcPts val="1000"/>
              </a:spcBef>
              <a:spcAft>
                <a:spcPts val="0"/>
              </a:spcAft>
              <a:buClr>
                <a:schemeClr val="lt1"/>
              </a:buClr>
              <a:buSzPts val="1600"/>
              <a:buFont typeface="Arial"/>
              <a:buChar char="•"/>
            </a:pPr>
            <a:r>
              <a:rPr lang="en-US" sz="1600" b="0" dirty="0">
                <a:solidFill>
                  <a:schemeClr val="lt1"/>
                </a:solidFill>
                <a:latin typeface="Arial"/>
                <a:ea typeface="Arial"/>
                <a:cs typeface="Arial"/>
                <a:sym typeface="Arial"/>
              </a:rPr>
              <a:t>Other Real Estate: Purchase price, year, and market value of all secondary properties.</a:t>
            </a:r>
            <a:endParaRPr dirty="0"/>
          </a:p>
        </p:txBody>
      </p:sp>
      <p:sp>
        <p:nvSpPr>
          <p:cNvPr id="520" name="Google Shape;520;p31"/>
          <p:cNvSpPr/>
          <p:nvPr/>
        </p:nvSpPr>
        <p:spPr>
          <a:xfrm>
            <a:off x="6487570" y="1796822"/>
            <a:ext cx="5072606" cy="4566136"/>
          </a:xfrm>
          <a:prstGeom prst="roundRect">
            <a:avLst>
              <a:gd name="adj" fmla="val 1251"/>
            </a:avLst>
          </a:prstGeom>
          <a:solidFill>
            <a:srgbClr val="C4C4C6">
              <a:alpha val="30196"/>
            </a:srgbClr>
          </a:solidFill>
          <a:ln>
            <a:noFill/>
          </a:ln>
        </p:spPr>
        <p:txBody>
          <a:bodyPr spcFirstLastPara="1" wrap="square" lIns="228600" tIns="274300" rIns="274300" bIns="274300" anchor="t" anchorCtr="0">
            <a:noAutofit/>
          </a:bodyPr>
          <a:lstStyle/>
          <a:p>
            <a:pPr marL="228600" marR="0" lvl="0" indent="-228600" algn="l" rtl="0">
              <a:lnSpc>
                <a:spcPct val="100000"/>
              </a:lnSpc>
              <a:spcBef>
                <a:spcPts val="0"/>
              </a:spcBef>
              <a:spcAft>
                <a:spcPts val="0"/>
              </a:spcAft>
              <a:buClr>
                <a:schemeClr val="dk1"/>
              </a:buClr>
              <a:buSzPts val="1600"/>
              <a:buFont typeface="Arial"/>
              <a:buChar char="•"/>
            </a:pPr>
            <a:r>
              <a:rPr lang="en-US" sz="1600" b="0">
                <a:solidFill>
                  <a:schemeClr val="dk1"/>
                </a:solidFill>
                <a:latin typeface="Arial"/>
                <a:ea typeface="Arial"/>
                <a:cs typeface="Arial"/>
                <a:sym typeface="Arial"/>
              </a:rPr>
              <a:t>Retirement Account Balances: Generally asked for on the form but excluded from the main investment calculation.</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Personal Property: Items like family cars, appliances, and clothing are typically not reported.</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Life Insurance: Not required unless a specific school asks for it in a supplemental question.</a:t>
            </a:r>
            <a:endParaRPr/>
          </a:p>
          <a:p>
            <a:pPr marL="228600" marR="0" lvl="0" indent="-228600" algn="l" rtl="0">
              <a:lnSpc>
                <a:spcPct val="100000"/>
              </a:lnSpc>
              <a:spcBef>
                <a:spcPts val="1000"/>
              </a:spcBef>
              <a:spcAft>
                <a:spcPts val="0"/>
              </a:spcAft>
              <a:buClr>
                <a:schemeClr val="dk1"/>
              </a:buClr>
              <a:buSzPts val="1600"/>
              <a:buFont typeface="Arial"/>
              <a:buChar char="•"/>
            </a:pPr>
            <a:r>
              <a:rPr lang="en-US" sz="1600" b="0">
                <a:solidFill>
                  <a:schemeClr val="dk1"/>
                </a:solidFill>
                <a:latin typeface="Arial"/>
                <a:ea typeface="Arial"/>
                <a:cs typeface="Arial"/>
                <a:sym typeface="Arial"/>
              </a:rPr>
              <a:t>Consumer Debt: Debts not related to reported assets (like credit card debt) do not reduce your asset value.</a:t>
            </a:r>
            <a:endParaRPr/>
          </a:p>
        </p:txBody>
      </p:sp>
      <p:sp>
        <p:nvSpPr>
          <p:cNvPr id="521" name="Google Shape;521;p31"/>
          <p:cNvSpPr/>
          <p:nvPr/>
        </p:nvSpPr>
        <p:spPr>
          <a:xfrm>
            <a:off x="631582" y="1362114"/>
            <a:ext cx="52578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CSS – Reported Factors</a:t>
            </a:r>
            <a:endParaRPr/>
          </a:p>
        </p:txBody>
      </p:sp>
      <p:sp>
        <p:nvSpPr>
          <p:cNvPr id="522" name="Google Shape;522;p31"/>
          <p:cNvSpPr/>
          <p:nvPr/>
        </p:nvSpPr>
        <p:spPr>
          <a:xfrm>
            <a:off x="6487570" y="1361847"/>
            <a:ext cx="5257800" cy="400050"/>
          </a:xfrm>
          <a:prstGeom prst="roundRect">
            <a:avLst>
              <a:gd name="adj" fmla="val 14285"/>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CSS – Exempt Factors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2"/>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How Schools Use the CSS</a:t>
            </a:r>
            <a:endParaRPr/>
          </a:p>
        </p:txBody>
      </p:sp>
      <p:sp>
        <p:nvSpPr>
          <p:cNvPr id="529" name="Google Shape;529;p32"/>
          <p:cNvSpPr/>
          <p:nvPr/>
        </p:nvSpPr>
        <p:spPr>
          <a:xfrm>
            <a:off x="616172" y="1369279"/>
            <a:ext cx="7818648" cy="400110"/>
          </a:xfrm>
          <a:prstGeom prst="roundRect">
            <a:avLst>
              <a:gd name="adj" fmla="val 14283"/>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Need Calculations Are Unique to Each School and Applicant</a:t>
            </a:r>
            <a:endParaRPr/>
          </a:p>
        </p:txBody>
      </p:sp>
      <p:sp>
        <p:nvSpPr>
          <p:cNvPr id="530" name="Google Shape;530;p32"/>
          <p:cNvSpPr/>
          <p:nvPr/>
        </p:nvSpPr>
        <p:spPr>
          <a:xfrm>
            <a:off x="610996" y="1796633"/>
            <a:ext cx="10894336" cy="2382441"/>
          </a:xfrm>
          <a:prstGeom prst="roundRect">
            <a:avLst>
              <a:gd name="adj" fmla="val 2398"/>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Remember, as part of this calculation, they’ll consider SEM, which can inform the following:</a:t>
            </a:r>
            <a:endParaRPr/>
          </a:p>
          <a:p>
            <a:pPr marL="228600" marR="0" lvl="0" indent="-228600" algn="l" rtl="0">
              <a:lnSpc>
                <a:spcPct val="100000"/>
              </a:lnSpc>
              <a:spcBef>
                <a:spcPts val="1000"/>
              </a:spcBef>
              <a:spcAft>
                <a:spcPts val="0"/>
              </a:spcAft>
              <a:buClr>
                <a:schemeClr val="dk1"/>
              </a:buClr>
              <a:buSzPts val="2000"/>
              <a:buFont typeface="Arial"/>
              <a:buChar char="•"/>
            </a:pPr>
            <a:r>
              <a:rPr lang="en-US" sz="2000">
                <a:solidFill>
                  <a:schemeClr val="dk1"/>
                </a:solidFill>
                <a:latin typeface="Arial"/>
                <a:ea typeface="Arial"/>
                <a:cs typeface="Arial"/>
                <a:sym typeface="Arial"/>
              </a:rPr>
              <a:t>How greatly they’d like the applicant to attend at that time in the admissions process.</a:t>
            </a:r>
            <a:endParaRPr/>
          </a:p>
          <a:p>
            <a:pPr marL="228600" marR="0" lvl="0" indent="-228600" algn="l" rtl="0">
              <a:lnSpc>
                <a:spcPct val="100000"/>
              </a:lnSpc>
              <a:spcBef>
                <a:spcPts val="1000"/>
              </a:spcBef>
              <a:spcAft>
                <a:spcPts val="0"/>
              </a:spcAft>
              <a:buClr>
                <a:schemeClr val="dk1"/>
              </a:buClr>
              <a:buSzPts val="2000"/>
              <a:buFont typeface="Arial"/>
              <a:buChar char="•"/>
            </a:pPr>
            <a:r>
              <a:rPr lang="en-US" sz="2000">
                <a:solidFill>
                  <a:schemeClr val="dk1"/>
                </a:solidFill>
                <a:latin typeface="Arial"/>
                <a:ea typeface="Arial"/>
                <a:cs typeface="Arial"/>
                <a:sym typeface="Arial"/>
              </a:rPr>
              <a:t>What their budget is for aid at that point in the admissions process.</a:t>
            </a:r>
            <a:endParaRPr/>
          </a:p>
          <a:p>
            <a:pPr marL="228600" marR="0" lvl="0" indent="-228600" algn="l" rtl="0">
              <a:lnSpc>
                <a:spcPct val="100000"/>
              </a:lnSpc>
              <a:spcBef>
                <a:spcPts val="1000"/>
              </a:spcBef>
              <a:spcAft>
                <a:spcPts val="0"/>
              </a:spcAft>
              <a:buClr>
                <a:schemeClr val="dk1"/>
              </a:buClr>
              <a:buSzPts val="2000"/>
              <a:buFont typeface="Arial"/>
              <a:buChar char="•"/>
            </a:pPr>
            <a:r>
              <a:rPr lang="en-US" sz="2000">
                <a:solidFill>
                  <a:schemeClr val="dk1"/>
                </a:solidFill>
                <a:latin typeface="Arial"/>
                <a:ea typeface="Arial"/>
                <a:cs typeface="Arial"/>
                <a:sym typeface="Arial"/>
              </a:rPr>
              <a:t>Whether they’ll provide gift, merit, or loan aid, or a combination of both.</a:t>
            </a:r>
            <a:endParaRPr/>
          </a:p>
          <a:p>
            <a:pPr marL="228600" marR="0" lvl="0" indent="-228600" algn="l" rtl="0">
              <a:lnSpc>
                <a:spcPct val="100000"/>
              </a:lnSpc>
              <a:spcBef>
                <a:spcPts val="1000"/>
              </a:spcBef>
              <a:spcAft>
                <a:spcPts val="0"/>
              </a:spcAft>
              <a:buClr>
                <a:schemeClr val="dk1"/>
              </a:buClr>
              <a:buSzPts val="2000"/>
              <a:buFont typeface="Arial"/>
              <a:buChar char="•"/>
            </a:pPr>
            <a:r>
              <a:rPr lang="en-US" sz="2000">
                <a:solidFill>
                  <a:schemeClr val="dk1"/>
                </a:solidFill>
                <a:latin typeface="Arial"/>
                <a:ea typeface="Arial"/>
                <a:cs typeface="Arial"/>
                <a:sym typeface="Arial"/>
              </a:rPr>
              <a:t>How they manage competing offers you negotiate with to meet a greater percentage of your need.</a:t>
            </a:r>
            <a:endParaRPr/>
          </a:p>
        </p:txBody>
      </p:sp>
      <p:sp>
        <p:nvSpPr>
          <p:cNvPr id="531" name="Google Shape;531;p32"/>
          <p:cNvSpPr/>
          <p:nvPr/>
        </p:nvSpPr>
        <p:spPr>
          <a:xfrm>
            <a:off x="628650" y="4549770"/>
            <a:ext cx="10890970" cy="1425178"/>
          </a:xfrm>
          <a:prstGeom prst="roundRect">
            <a:avLst>
              <a:gd name="adj" fmla="val 4010"/>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a:solidFill>
                  <a:schemeClr val="accent5"/>
                </a:solidFill>
                <a:latin typeface="Arial"/>
                <a:ea typeface="Arial"/>
                <a:cs typeface="Arial"/>
                <a:sym typeface="Arial"/>
              </a:rPr>
              <a:t>Note: </a:t>
            </a:r>
            <a:r>
              <a:rPr lang="en-US" sz="2000">
                <a:solidFill>
                  <a:schemeClr val="accent5"/>
                </a:solidFill>
                <a:latin typeface="Arial"/>
                <a:ea typeface="Arial"/>
                <a:cs typeface="Arial"/>
                <a:sym typeface="Arial"/>
              </a:rPr>
              <a:t>Your understanding of your need, the government’s understanding of need, and the school’s understanding of your need may all be different. Regardless, you still want to pay the least.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33"/>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Form Submission Timelines</a:t>
            </a:r>
            <a:endParaRPr/>
          </a:p>
        </p:txBody>
      </p:sp>
      <p:sp>
        <p:nvSpPr>
          <p:cNvPr id="538" name="Google Shape;538;p33"/>
          <p:cNvSpPr/>
          <p:nvPr/>
        </p:nvSpPr>
        <p:spPr>
          <a:xfrm>
            <a:off x="634482" y="1640608"/>
            <a:ext cx="7822301" cy="400110"/>
          </a:xfrm>
          <a:prstGeom prst="roundRect">
            <a:avLst>
              <a:gd name="adj" fmla="val 14283"/>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dirty="0">
                <a:solidFill>
                  <a:schemeClr val="accent1"/>
                </a:solidFill>
                <a:latin typeface="Arial"/>
                <a:ea typeface="Arial"/>
                <a:cs typeface="Arial"/>
                <a:sym typeface="Arial"/>
              </a:rPr>
              <a:t>Why the Priority Window is Key</a:t>
            </a:r>
            <a:endParaRPr dirty="0"/>
          </a:p>
        </p:txBody>
      </p:sp>
      <p:sp>
        <p:nvSpPr>
          <p:cNvPr id="539" name="Google Shape;539;p33"/>
          <p:cNvSpPr/>
          <p:nvPr/>
        </p:nvSpPr>
        <p:spPr>
          <a:xfrm>
            <a:off x="634482" y="2040718"/>
            <a:ext cx="5655482" cy="3237012"/>
          </a:xfrm>
          <a:prstGeom prst="roundRect">
            <a:avLst>
              <a:gd name="adj" fmla="val 1765"/>
            </a:avLst>
          </a:prstGeom>
          <a:noFill/>
          <a:ln>
            <a:noFill/>
          </a:ln>
        </p:spPr>
        <p:txBody>
          <a:bodyPr spcFirstLastPara="1" wrap="square" lIns="0" tIns="0" rIns="0" bIns="0" anchor="t" anchorCtr="0">
            <a:spAutoFit/>
          </a:bodyPr>
          <a:lstStyle/>
          <a:p>
            <a:pPr marL="228600" marR="0" lvl="0" indent="-228600" algn="l" rtl="0">
              <a:lnSpc>
                <a:spcPct val="100000"/>
              </a:lnSpc>
              <a:spcBef>
                <a:spcPts val="0"/>
              </a:spcBef>
              <a:spcAft>
                <a:spcPts val="0"/>
              </a:spcAft>
              <a:buClr>
                <a:schemeClr val="dk1"/>
              </a:buClr>
              <a:buSzPts val="2000"/>
              <a:buFont typeface="Arial"/>
              <a:buChar char="•"/>
            </a:pPr>
            <a:r>
              <a:rPr lang="en-US" sz="2000" b="1" dirty="0">
                <a:solidFill>
                  <a:schemeClr val="dk1"/>
                </a:solidFill>
                <a:latin typeface="Arial"/>
                <a:ea typeface="Arial"/>
                <a:cs typeface="Arial"/>
                <a:sym typeface="Arial"/>
              </a:rPr>
              <a:t>First-Come, First-Served: </a:t>
            </a:r>
            <a:r>
              <a:rPr lang="en-US" sz="2000" dirty="0">
                <a:solidFill>
                  <a:schemeClr val="dk1"/>
                </a:solidFill>
                <a:latin typeface="Arial"/>
                <a:ea typeface="Arial"/>
                <a:cs typeface="Arial"/>
                <a:sym typeface="Arial"/>
              </a:rPr>
              <a:t>Many schools have limited institutional grant money. Even if the FAFSA deadline is a year away, the school's </a:t>
            </a:r>
            <a:r>
              <a:rPr lang="en-US" sz="2000" b="1" dirty="0">
                <a:solidFill>
                  <a:schemeClr val="dk1"/>
                </a:solidFill>
                <a:latin typeface="Arial"/>
                <a:ea typeface="Arial"/>
                <a:cs typeface="Arial"/>
                <a:sym typeface="Arial"/>
              </a:rPr>
              <a:t>priority filing date </a:t>
            </a:r>
            <a:r>
              <a:rPr lang="en-US" sz="2000" dirty="0">
                <a:solidFill>
                  <a:schemeClr val="dk1"/>
                </a:solidFill>
                <a:latin typeface="Arial"/>
                <a:ea typeface="Arial"/>
                <a:cs typeface="Arial"/>
                <a:sym typeface="Arial"/>
              </a:rPr>
              <a:t>is the real deadline if you want institutional money.</a:t>
            </a:r>
          </a:p>
          <a:p>
            <a:pPr marL="228600" marR="0" lvl="0" indent="-228600" algn="l" rtl="0">
              <a:lnSpc>
                <a:spcPct val="100000"/>
              </a:lnSpc>
              <a:spcBef>
                <a:spcPts val="1000"/>
              </a:spcBef>
              <a:spcAft>
                <a:spcPts val="0"/>
              </a:spcAft>
              <a:buClr>
                <a:schemeClr val="dk1"/>
              </a:buClr>
              <a:buSzPts val="2000"/>
              <a:buFont typeface="Arial"/>
              <a:buChar char="•"/>
            </a:pPr>
            <a:r>
              <a:rPr lang="en-US" sz="2000" b="1" dirty="0">
                <a:solidFill>
                  <a:schemeClr val="dk1"/>
                </a:solidFill>
                <a:latin typeface="Arial"/>
                <a:ea typeface="Arial"/>
                <a:cs typeface="Arial"/>
                <a:sym typeface="Arial"/>
              </a:rPr>
              <a:t>Early Decision/Action: </a:t>
            </a:r>
            <a:r>
              <a:rPr lang="en-US" sz="2000" dirty="0">
                <a:solidFill>
                  <a:schemeClr val="dk1"/>
                </a:solidFill>
                <a:latin typeface="Arial"/>
                <a:ea typeface="Arial"/>
                <a:cs typeface="Arial"/>
                <a:sym typeface="Arial"/>
              </a:rPr>
              <a:t>If your student is applying for Early Decision, the CSS Profile is almost always due in </a:t>
            </a:r>
            <a:r>
              <a:rPr lang="en-US" sz="2000" b="1" dirty="0">
                <a:solidFill>
                  <a:schemeClr val="dk1"/>
                </a:solidFill>
                <a:latin typeface="Arial"/>
                <a:ea typeface="Arial"/>
                <a:cs typeface="Arial"/>
                <a:sym typeface="Arial"/>
              </a:rPr>
              <a:t>November</a:t>
            </a:r>
            <a:r>
              <a:rPr lang="en-US" sz="2000" dirty="0">
                <a:solidFill>
                  <a:schemeClr val="dk1"/>
                </a:solidFill>
                <a:latin typeface="Arial"/>
                <a:ea typeface="Arial"/>
                <a:cs typeface="Arial"/>
                <a:sym typeface="Arial"/>
              </a:rPr>
              <a:t>, while some schools may allow the FAFSA to follow slightly later if there are federal system delays.</a:t>
            </a:r>
            <a:endParaRPr dirty="0"/>
          </a:p>
        </p:txBody>
      </p:sp>
      <p:pic>
        <p:nvPicPr>
          <p:cNvPr id="540" name="Google Shape;540;p33" descr="Worker typing on laptop"/>
          <p:cNvPicPr preferRelativeResize="0"/>
          <p:nvPr/>
        </p:nvPicPr>
        <p:blipFill rotWithShape="1">
          <a:blip r:embed="rId3">
            <a:alphaModFix/>
          </a:blip>
          <a:srcRect/>
          <a:stretch/>
        </p:blipFill>
        <p:spPr>
          <a:xfrm>
            <a:off x="7088119" y="1909327"/>
            <a:ext cx="4491701" cy="3368403"/>
          </a:xfrm>
          <a:prstGeom prst="roundRect">
            <a:avLst>
              <a:gd name="adj" fmla="val 1696"/>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4"/>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46" name="Google Shape;546;p34"/>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547" name="Google Shape;547;p34"/>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Form Submission Timelines</a:t>
            </a:r>
            <a:endParaRPr/>
          </a:p>
        </p:txBody>
      </p:sp>
      <p:sp>
        <p:nvSpPr>
          <p:cNvPr id="548" name="Google Shape;548;p34"/>
          <p:cNvSpPr/>
          <p:nvPr/>
        </p:nvSpPr>
        <p:spPr>
          <a:xfrm>
            <a:off x="638350" y="2566811"/>
            <a:ext cx="3042399" cy="3557016"/>
          </a:xfrm>
          <a:prstGeom prst="roundRect">
            <a:avLst>
              <a:gd name="adj" fmla="val 1878"/>
            </a:avLst>
          </a:prstGeom>
          <a:solidFill>
            <a:schemeClr val="accent4"/>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1800"/>
              <a:buFont typeface="Arial"/>
              <a:buNone/>
            </a:pPr>
            <a:r>
              <a:rPr lang="en-US" sz="1800" b="0">
                <a:solidFill>
                  <a:schemeClr val="lt1"/>
                </a:solidFill>
                <a:latin typeface="Arial"/>
                <a:ea typeface="Arial"/>
                <a:cs typeface="Arial"/>
                <a:sym typeface="Arial"/>
              </a:rPr>
              <a:t>Forms Open</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Early Decision (ED I)</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Early Action (EA)</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Early Decision (ED II)</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Regular Decision (RD)</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State Grant Deadline</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Final Federal Deadline</a:t>
            </a:r>
            <a:endParaRPr/>
          </a:p>
        </p:txBody>
      </p:sp>
      <p:sp>
        <p:nvSpPr>
          <p:cNvPr id="549" name="Google Shape;549;p34"/>
          <p:cNvSpPr/>
          <p:nvPr/>
        </p:nvSpPr>
        <p:spPr>
          <a:xfrm>
            <a:off x="3890725" y="2566811"/>
            <a:ext cx="3757925" cy="3559857"/>
          </a:xfrm>
          <a:prstGeom prst="roundRect">
            <a:avLst>
              <a:gd name="adj" fmla="val 1605"/>
            </a:avLst>
          </a:prstGeom>
          <a:solidFill>
            <a:schemeClr val="accent1"/>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1800"/>
              <a:buFont typeface="Arial"/>
              <a:buNone/>
            </a:pPr>
            <a:r>
              <a:rPr lang="en-US" sz="1800" b="0">
                <a:solidFill>
                  <a:schemeClr val="lt1"/>
                </a:solidFill>
                <a:latin typeface="Arial"/>
                <a:ea typeface="Arial"/>
                <a:cs typeface="Arial"/>
                <a:sym typeface="Arial"/>
              </a:rPr>
              <a:t>October 1</a:t>
            </a:r>
            <a:r>
              <a:rPr lang="en-US" sz="1800" b="0" baseline="30000">
                <a:solidFill>
                  <a:schemeClr val="lt1"/>
                </a:solidFill>
                <a:latin typeface="Arial"/>
                <a:ea typeface="Arial"/>
                <a:cs typeface="Arial"/>
                <a:sym typeface="Arial"/>
              </a:rPr>
              <a:t>st</a:t>
            </a:r>
            <a:endParaRPr sz="1800" b="0">
              <a:solidFill>
                <a:schemeClr val="lt1"/>
              </a:solidFill>
              <a:latin typeface="Arial"/>
              <a:ea typeface="Arial"/>
              <a:cs typeface="Arial"/>
              <a:sym typeface="Arial"/>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Nov 1st – Nov 15th</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Nov 1st – Dec 1st</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Jan 1st – Jan 15th</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Feb 1st – Feb 15th (Priority)</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March 1st (Common date)</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June 30th (End of school year)</a:t>
            </a:r>
            <a:endParaRPr/>
          </a:p>
        </p:txBody>
      </p:sp>
      <p:sp>
        <p:nvSpPr>
          <p:cNvPr id="550" name="Google Shape;550;p34"/>
          <p:cNvSpPr/>
          <p:nvPr/>
        </p:nvSpPr>
        <p:spPr>
          <a:xfrm>
            <a:off x="7858626" y="2566811"/>
            <a:ext cx="3721221" cy="3559857"/>
          </a:xfrm>
          <a:prstGeom prst="roundRect">
            <a:avLst>
              <a:gd name="adj" fmla="val 1605"/>
            </a:avLst>
          </a:prstGeom>
          <a:solidFill>
            <a:schemeClr val="accent5"/>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1800"/>
              <a:buFont typeface="Arial"/>
              <a:buNone/>
            </a:pPr>
            <a:r>
              <a:rPr lang="en-US" sz="1800" b="0">
                <a:solidFill>
                  <a:schemeClr val="lt1"/>
                </a:solidFill>
                <a:latin typeface="Arial"/>
                <a:ea typeface="Arial"/>
                <a:cs typeface="Arial"/>
                <a:sym typeface="Arial"/>
              </a:rPr>
              <a:t>October 1</a:t>
            </a:r>
            <a:r>
              <a:rPr lang="en-US" sz="1800" b="0" baseline="30000">
                <a:solidFill>
                  <a:schemeClr val="lt1"/>
                </a:solidFill>
                <a:latin typeface="Arial"/>
                <a:ea typeface="Arial"/>
                <a:cs typeface="Arial"/>
                <a:sym typeface="Arial"/>
              </a:rPr>
              <a:t>st</a:t>
            </a:r>
            <a:endParaRPr sz="1800" b="0">
              <a:solidFill>
                <a:schemeClr val="lt1"/>
              </a:solidFill>
              <a:latin typeface="Arial"/>
              <a:ea typeface="Arial"/>
              <a:cs typeface="Arial"/>
              <a:sym typeface="Arial"/>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Nov 1st – Nov 15th (Strict)</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Nov 1st – Dec 1st (Strict)</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Jan 1st – Jan 15th (Strict)</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Feb 1st – Feb 15th (Strict)</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N/A (Rarely used for state aid)</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N/A (Determined by school)</a:t>
            </a:r>
            <a:endParaRPr/>
          </a:p>
        </p:txBody>
      </p:sp>
      <p:sp>
        <p:nvSpPr>
          <p:cNvPr id="551" name="Google Shape;551;p34"/>
          <p:cNvSpPr/>
          <p:nvPr/>
        </p:nvSpPr>
        <p:spPr>
          <a:xfrm>
            <a:off x="638350" y="2131815"/>
            <a:ext cx="34290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Milestone</a:t>
            </a:r>
            <a:endParaRPr/>
          </a:p>
        </p:txBody>
      </p:sp>
      <p:sp>
        <p:nvSpPr>
          <p:cNvPr id="552" name="Google Shape;552;p34"/>
          <p:cNvSpPr/>
          <p:nvPr/>
        </p:nvSpPr>
        <p:spPr>
          <a:xfrm>
            <a:off x="3909076" y="2131815"/>
            <a:ext cx="3721222"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FAFSA (Federal &amp; State Aid)</a:t>
            </a:r>
            <a:endParaRPr/>
          </a:p>
        </p:txBody>
      </p:sp>
      <p:sp>
        <p:nvSpPr>
          <p:cNvPr id="553" name="Google Shape;553;p34"/>
          <p:cNvSpPr/>
          <p:nvPr/>
        </p:nvSpPr>
        <p:spPr>
          <a:xfrm>
            <a:off x="7858626" y="2131815"/>
            <a:ext cx="3903885"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CSS Profile (Institutional Aid)</a:t>
            </a:r>
            <a:endParaRPr/>
          </a:p>
        </p:txBody>
      </p:sp>
      <p:cxnSp>
        <p:nvCxnSpPr>
          <p:cNvPr id="554" name="Google Shape;554;p34"/>
          <p:cNvCxnSpPr/>
          <p:nvPr/>
        </p:nvCxnSpPr>
        <p:spPr>
          <a:xfrm>
            <a:off x="612153" y="3210447"/>
            <a:ext cx="10983191" cy="0"/>
          </a:xfrm>
          <a:prstGeom prst="straightConnector1">
            <a:avLst/>
          </a:prstGeom>
          <a:noFill/>
          <a:ln w="9525" cap="flat" cmpd="sng">
            <a:solidFill>
              <a:schemeClr val="lt1"/>
            </a:solidFill>
            <a:prstDash val="solid"/>
            <a:miter lim="8000"/>
            <a:headEnd type="none" w="sm" len="sm"/>
            <a:tailEnd type="none" w="sm" len="sm"/>
          </a:ln>
        </p:spPr>
      </p:cxnSp>
      <p:cxnSp>
        <p:nvCxnSpPr>
          <p:cNvPr id="555" name="Google Shape;555;p34"/>
          <p:cNvCxnSpPr/>
          <p:nvPr/>
        </p:nvCxnSpPr>
        <p:spPr>
          <a:xfrm>
            <a:off x="612153" y="3621402"/>
            <a:ext cx="10983191" cy="0"/>
          </a:xfrm>
          <a:prstGeom prst="straightConnector1">
            <a:avLst/>
          </a:prstGeom>
          <a:noFill/>
          <a:ln w="9525" cap="flat" cmpd="sng">
            <a:solidFill>
              <a:schemeClr val="lt1"/>
            </a:solidFill>
            <a:prstDash val="solid"/>
            <a:miter lim="8000"/>
            <a:headEnd type="none" w="sm" len="sm"/>
            <a:tailEnd type="none" w="sm" len="sm"/>
          </a:ln>
        </p:spPr>
      </p:cxnSp>
      <p:cxnSp>
        <p:nvCxnSpPr>
          <p:cNvPr id="556" name="Google Shape;556;p34"/>
          <p:cNvCxnSpPr/>
          <p:nvPr/>
        </p:nvCxnSpPr>
        <p:spPr>
          <a:xfrm>
            <a:off x="612153" y="4037039"/>
            <a:ext cx="10983191" cy="0"/>
          </a:xfrm>
          <a:prstGeom prst="straightConnector1">
            <a:avLst/>
          </a:prstGeom>
          <a:noFill/>
          <a:ln w="9525" cap="flat" cmpd="sng">
            <a:solidFill>
              <a:schemeClr val="lt1"/>
            </a:solidFill>
            <a:prstDash val="solid"/>
            <a:miter lim="8000"/>
            <a:headEnd type="none" w="sm" len="sm"/>
            <a:tailEnd type="none" w="sm" len="sm"/>
          </a:ln>
        </p:spPr>
      </p:cxnSp>
      <p:cxnSp>
        <p:nvCxnSpPr>
          <p:cNvPr id="557" name="Google Shape;557;p34"/>
          <p:cNvCxnSpPr/>
          <p:nvPr/>
        </p:nvCxnSpPr>
        <p:spPr>
          <a:xfrm>
            <a:off x="612153" y="4437260"/>
            <a:ext cx="10983191" cy="0"/>
          </a:xfrm>
          <a:prstGeom prst="straightConnector1">
            <a:avLst/>
          </a:prstGeom>
          <a:noFill/>
          <a:ln w="9525" cap="flat" cmpd="sng">
            <a:solidFill>
              <a:schemeClr val="lt1"/>
            </a:solidFill>
            <a:prstDash val="solid"/>
            <a:miter lim="8000"/>
            <a:headEnd type="none" w="sm" len="sm"/>
            <a:tailEnd type="none" w="sm" len="sm"/>
          </a:ln>
        </p:spPr>
      </p:cxnSp>
      <p:cxnSp>
        <p:nvCxnSpPr>
          <p:cNvPr id="558" name="Google Shape;558;p34"/>
          <p:cNvCxnSpPr/>
          <p:nvPr/>
        </p:nvCxnSpPr>
        <p:spPr>
          <a:xfrm>
            <a:off x="612153" y="4837139"/>
            <a:ext cx="10983191" cy="0"/>
          </a:xfrm>
          <a:prstGeom prst="straightConnector1">
            <a:avLst/>
          </a:prstGeom>
          <a:noFill/>
          <a:ln w="9525" cap="flat" cmpd="sng">
            <a:solidFill>
              <a:schemeClr val="lt1"/>
            </a:solidFill>
            <a:prstDash val="solid"/>
            <a:miter lim="8000"/>
            <a:headEnd type="none" w="sm" len="sm"/>
            <a:tailEnd type="none" w="sm" len="sm"/>
          </a:ln>
        </p:spPr>
      </p:cxnSp>
      <p:cxnSp>
        <p:nvCxnSpPr>
          <p:cNvPr id="559" name="Google Shape;559;p34"/>
          <p:cNvCxnSpPr/>
          <p:nvPr/>
        </p:nvCxnSpPr>
        <p:spPr>
          <a:xfrm>
            <a:off x="612153" y="5226627"/>
            <a:ext cx="10983191" cy="0"/>
          </a:xfrm>
          <a:prstGeom prst="straightConnector1">
            <a:avLst/>
          </a:prstGeom>
          <a:noFill/>
          <a:ln w="9525" cap="flat" cmpd="sng">
            <a:solidFill>
              <a:schemeClr val="lt1"/>
            </a:solidFill>
            <a:prstDash val="solid"/>
            <a:miter lim="8000"/>
            <a:headEnd type="none" w="sm" len="sm"/>
            <a:tailEnd type="none" w="sm" len="sm"/>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35"/>
          <p:cNvSpPr txBox="1">
            <a:spLocks noGrp="1"/>
          </p:cNvSpPr>
          <p:nvPr>
            <p:ph type="body" idx="1"/>
          </p:nvPr>
        </p:nvSpPr>
        <p:spPr>
          <a:xfrm>
            <a:off x="655637" y="1633871"/>
            <a:ext cx="10939463" cy="3898503"/>
          </a:xfrm>
          <a:prstGeom prst="roundRect">
            <a:avLst>
              <a:gd name="adj" fmla="val 1465"/>
            </a:avLst>
          </a:prstGeom>
          <a:noFill/>
          <a:ln>
            <a:noFill/>
          </a:ln>
        </p:spPr>
        <p:txBody>
          <a:bodyPr spcFirstLastPara="1" wrap="square" lIns="0" tIns="0" rIns="0" bIns="0" anchor="ctr" anchorCtr="0">
            <a:spAutoFit/>
          </a:bodyPr>
          <a:lstStyle/>
          <a:p>
            <a:pPr marL="228600" lvl="0" indent="-228600" algn="l" rtl="0">
              <a:lnSpc>
                <a:spcPct val="100000"/>
              </a:lnSpc>
              <a:spcBef>
                <a:spcPts val="0"/>
              </a:spcBef>
              <a:spcAft>
                <a:spcPts val="0"/>
              </a:spcAft>
              <a:buClr>
                <a:schemeClr val="accent1"/>
              </a:buClr>
              <a:buSzPts val="2000"/>
              <a:buNone/>
            </a:pPr>
            <a:r>
              <a:rPr lang="en-US"/>
              <a:t>File No Matter Your Income.</a:t>
            </a:r>
            <a:endParaRPr/>
          </a:p>
          <a:p>
            <a:pPr marL="0" lvl="1" indent="0" algn="l" rtl="0">
              <a:lnSpc>
                <a:spcPct val="100000"/>
              </a:lnSpc>
              <a:spcBef>
                <a:spcPts val="0"/>
              </a:spcBef>
              <a:spcAft>
                <a:spcPts val="0"/>
              </a:spcAft>
              <a:buClr>
                <a:schemeClr val="dk1"/>
              </a:buClr>
              <a:buSzPts val="2000"/>
              <a:buNone/>
            </a:pPr>
            <a:r>
              <a:rPr lang="en-US"/>
              <a:t>Even high earners should file.</a:t>
            </a:r>
            <a:endParaRPr/>
          </a:p>
          <a:p>
            <a:pPr marL="228600" lvl="0" indent="-228600" algn="l" rtl="0">
              <a:lnSpc>
                <a:spcPct val="100000"/>
              </a:lnSpc>
              <a:spcBef>
                <a:spcPts val="1000"/>
              </a:spcBef>
              <a:spcAft>
                <a:spcPts val="0"/>
              </a:spcAft>
              <a:buClr>
                <a:schemeClr val="accent1"/>
              </a:buClr>
              <a:buSzPts val="2000"/>
              <a:buNone/>
            </a:pPr>
            <a:r>
              <a:rPr lang="en-US"/>
              <a:t>Exclude your primary residence equity on the FAFSA.</a:t>
            </a:r>
            <a:endParaRPr/>
          </a:p>
          <a:p>
            <a:pPr marL="0" lvl="1" indent="0" algn="l" rtl="0">
              <a:lnSpc>
                <a:spcPct val="100000"/>
              </a:lnSpc>
              <a:spcBef>
                <a:spcPts val="0"/>
              </a:spcBef>
              <a:spcAft>
                <a:spcPts val="0"/>
              </a:spcAft>
              <a:buClr>
                <a:schemeClr val="dk1"/>
              </a:buClr>
              <a:buSzPts val="2000"/>
              <a:buNone/>
            </a:pPr>
            <a:r>
              <a:rPr lang="en-US"/>
              <a:t>It’s not required and reporting it can spike your SAI.</a:t>
            </a:r>
            <a:endParaRPr/>
          </a:p>
          <a:p>
            <a:pPr marL="228600" lvl="0" indent="-228600" algn="l" rtl="0">
              <a:lnSpc>
                <a:spcPct val="100000"/>
              </a:lnSpc>
              <a:spcBef>
                <a:spcPts val="1000"/>
              </a:spcBef>
              <a:spcAft>
                <a:spcPts val="0"/>
              </a:spcAft>
              <a:buClr>
                <a:schemeClr val="accent1"/>
              </a:buClr>
              <a:buSzPts val="2000"/>
              <a:buNone/>
            </a:pPr>
            <a:r>
              <a:rPr lang="en-US"/>
              <a:t>Use the AGI Baseline.</a:t>
            </a:r>
            <a:endParaRPr/>
          </a:p>
          <a:p>
            <a:pPr marL="0" lvl="1" indent="0" algn="l" rtl="0">
              <a:lnSpc>
                <a:spcPct val="100000"/>
              </a:lnSpc>
              <a:spcBef>
                <a:spcPts val="0"/>
              </a:spcBef>
              <a:spcAft>
                <a:spcPts val="0"/>
              </a:spcAft>
              <a:buClr>
                <a:schemeClr val="dk1"/>
              </a:buClr>
              <a:buSzPts val="2000"/>
              <a:buNone/>
            </a:pPr>
            <a:r>
              <a:rPr lang="en-US"/>
              <a:t>Always report your Adjusted Gross Income (AGI) rather than your gross income to ensure the formula uses your true taxable floor.</a:t>
            </a:r>
            <a:endParaRPr/>
          </a:p>
          <a:p>
            <a:pPr marL="228600" lvl="0" indent="-228600" algn="l" rtl="0">
              <a:lnSpc>
                <a:spcPct val="100000"/>
              </a:lnSpc>
              <a:spcBef>
                <a:spcPts val="1000"/>
              </a:spcBef>
              <a:spcAft>
                <a:spcPts val="0"/>
              </a:spcAft>
              <a:buClr>
                <a:schemeClr val="accent1"/>
              </a:buClr>
              <a:buSzPts val="2000"/>
              <a:buNone/>
            </a:pPr>
            <a:r>
              <a:rPr lang="en-US"/>
              <a:t>Audit Assets.</a:t>
            </a:r>
            <a:endParaRPr/>
          </a:p>
          <a:p>
            <a:pPr marL="0" lvl="1" indent="0" algn="l" rtl="0">
              <a:lnSpc>
                <a:spcPct val="100000"/>
              </a:lnSpc>
              <a:spcBef>
                <a:spcPts val="0"/>
              </a:spcBef>
              <a:spcAft>
                <a:spcPts val="0"/>
              </a:spcAft>
              <a:buClr>
                <a:schemeClr val="dk1"/>
              </a:buClr>
              <a:buSzPts val="2000"/>
              <a:buNone/>
            </a:pPr>
            <a:r>
              <a:rPr lang="en-US"/>
              <a:t>Reporting a parent-owned 529 as a student asset can hinder aid eligibility.</a:t>
            </a:r>
            <a:endParaRPr/>
          </a:p>
          <a:p>
            <a:pPr marL="228600" lvl="0" indent="-228600" algn="l" rtl="0">
              <a:lnSpc>
                <a:spcPct val="100000"/>
              </a:lnSpc>
              <a:spcBef>
                <a:spcPts val="1000"/>
              </a:spcBef>
              <a:spcAft>
                <a:spcPts val="0"/>
              </a:spcAft>
              <a:buClr>
                <a:schemeClr val="accent1"/>
              </a:buClr>
              <a:buSzPts val="2000"/>
              <a:buNone/>
            </a:pPr>
            <a:r>
              <a:rPr lang="en-US"/>
              <a:t>Seek Specialized Aid Guidance.</a:t>
            </a:r>
            <a:endParaRPr/>
          </a:p>
          <a:p>
            <a:pPr marL="0" lvl="1" indent="0" algn="l" rtl="0">
              <a:lnSpc>
                <a:spcPct val="100000"/>
              </a:lnSpc>
              <a:spcBef>
                <a:spcPts val="0"/>
              </a:spcBef>
              <a:spcAft>
                <a:spcPts val="0"/>
              </a:spcAft>
              <a:buClr>
                <a:schemeClr val="dk1"/>
              </a:buClr>
              <a:buSzPts val="2000"/>
              <a:buNone/>
            </a:pPr>
            <a:r>
              <a:rPr lang="en-US"/>
              <a:t>Partner with a college funding specialist.</a:t>
            </a:r>
            <a:endParaRPr/>
          </a:p>
        </p:txBody>
      </p:sp>
      <p:sp>
        <p:nvSpPr>
          <p:cNvPr id="566" name="Google Shape;566;p35"/>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Financial Aid Best Practices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36"/>
          <p:cNvSpPr txBox="1">
            <a:spLocks noGrp="1"/>
          </p:cNvSpPr>
          <p:nvPr>
            <p:ph type="title"/>
          </p:nvPr>
        </p:nvSpPr>
        <p:spPr>
          <a:xfrm>
            <a:off x="320040" y="3186626"/>
            <a:ext cx="11551920" cy="484748"/>
          </a:xfrm>
          <a:prstGeom prst="roundRect">
            <a:avLst>
              <a:gd name="adj" fmla="val 11789"/>
            </a:avLst>
          </a:prstGeom>
          <a:noFill/>
          <a:ln>
            <a:noFill/>
          </a:ln>
        </p:spPr>
        <p:txBody>
          <a:bodyPr spcFirstLastPara="1" wrap="square" lIns="0" tIns="0" rIns="0" bIns="0" anchor="b" anchorCtr="0">
            <a:spAutoFit/>
          </a:bodyPr>
          <a:lstStyle/>
          <a:p>
            <a:pPr marL="0" lvl="0" indent="0" algn="ctr" rtl="0">
              <a:lnSpc>
                <a:spcPct val="90000"/>
              </a:lnSpc>
              <a:spcBef>
                <a:spcPts val="0"/>
              </a:spcBef>
              <a:spcAft>
                <a:spcPts val="0"/>
              </a:spcAft>
              <a:buClr>
                <a:schemeClr val="lt1"/>
              </a:buClr>
              <a:buSzPts val="3500"/>
              <a:buFont typeface="Arial"/>
              <a:buNone/>
            </a:pPr>
            <a:r>
              <a:rPr lang="en-US"/>
              <a:t>Funding the Cost</a:t>
            </a:r>
            <a:endParaRPr/>
          </a:p>
        </p:txBody>
      </p:sp>
      <p:sp>
        <p:nvSpPr>
          <p:cNvPr id="573" name="Google Shape;573;p36"/>
          <p:cNvSpPr/>
          <p:nvPr/>
        </p:nvSpPr>
        <p:spPr>
          <a:xfrm>
            <a:off x="3869635" y="2333825"/>
            <a:ext cx="4452730" cy="615553"/>
          </a:xfrm>
          <a:prstGeom prst="roundRect">
            <a:avLst>
              <a:gd name="adj" fmla="val 9284"/>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a:solidFill>
                  <a:schemeClr val="lt1"/>
                </a:solidFill>
                <a:latin typeface="Arial"/>
                <a:ea typeface="Arial"/>
                <a:cs typeface="Arial"/>
                <a:sym typeface="Arial"/>
              </a:rPr>
              <a:t>Pillar 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7"/>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Reducing Costs vs Funding College</a:t>
            </a:r>
            <a:endParaRPr/>
          </a:p>
        </p:txBody>
      </p:sp>
      <p:sp>
        <p:nvSpPr>
          <p:cNvPr id="580" name="Google Shape;580;p37"/>
          <p:cNvSpPr>
            <a:spLocks noGrp="1"/>
          </p:cNvSpPr>
          <p:nvPr>
            <p:ph type="body" idx="1"/>
          </p:nvPr>
        </p:nvSpPr>
        <p:spPr>
          <a:xfrm>
            <a:off x="601774" y="3279577"/>
            <a:ext cx="3429000" cy="2386568"/>
          </a:xfrm>
          <a:prstGeom prst="roundRect">
            <a:avLst>
              <a:gd name="adj" fmla="val 2394"/>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Aid reduces the bill, but a strategy to pay the remaining balance is equally vital. </a:t>
            </a:r>
            <a:endParaRPr b="1"/>
          </a:p>
          <a:p>
            <a:pPr marL="0" lvl="0" indent="0" algn="l" rtl="0">
              <a:lnSpc>
                <a:spcPct val="100000"/>
              </a:lnSpc>
              <a:spcBef>
                <a:spcPts val="1000"/>
              </a:spcBef>
              <a:spcAft>
                <a:spcPts val="0"/>
              </a:spcAft>
              <a:buClr>
                <a:schemeClr val="dk1"/>
              </a:buClr>
              <a:buSzPts val="2000"/>
              <a:buFont typeface="Arial"/>
              <a:buNone/>
            </a:pPr>
            <a:endParaRPr/>
          </a:p>
          <a:p>
            <a:pPr marL="0" lvl="0" indent="0" algn="l" rtl="0">
              <a:lnSpc>
                <a:spcPct val="100000"/>
              </a:lnSpc>
              <a:spcBef>
                <a:spcPts val="1000"/>
              </a:spcBef>
              <a:spcAft>
                <a:spcPts val="0"/>
              </a:spcAft>
              <a:buClr>
                <a:schemeClr val="dk1"/>
              </a:buClr>
              <a:buSzPts val="2000"/>
              <a:buFont typeface="Arial"/>
              <a:buNone/>
            </a:pPr>
            <a:endParaRPr/>
          </a:p>
        </p:txBody>
      </p:sp>
      <p:sp>
        <p:nvSpPr>
          <p:cNvPr id="581" name="Google Shape;581;p37"/>
          <p:cNvSpPr>
            <a:spLocks noGrp="1"/>
          </p:cNvSpPr>
          <p:nvPr>
            <p:ph type="body" idx="2"/>
          </p:nvPr>
        </p:nvSpPr>
        <p:spPr>
          <a:xfrm>
            <a:off x="4381500" y="3279577"/>
            <a:ext cx="3429000" cy="1438632"/>
          </a:xfrm>
          <a:prstGeom prst="roundRect">
            <a:avLst>
              <a:gd name="adj" fmla="val 3972"/>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Specific vehicles, like 529 plans, life insurance, and custodial accounts, can impact your SAI.</a:t>
            </a:r>
            <a:endParaRPr/>
          </a:p>
        </p:txBody>
      </p:sp>
      <p:sp>
        <p:nvSpPr>
          <p:cNvPr id="582" name="Google Shape;582;p37"/>
          <p:cNvSpPr>
            <a:spLocks noGrp="1"/>
          </p:cNvSpPr>
          <p:nvPr>
            <p:ph type="body" idx="3"/>
          </p:nvPr>
        </p:nvSpPr>
        <p:spPr>
          <a:xfrm>
            <a:off x="8161226" y="2971800"/>
            <a:ext cx="3429000" cy="1349038"/>
          </a:xfrm>
          <a:prstGeom prst="roundRect">
            <a:avLst>
              <a:gd name="adj" fmla="val 4236"/>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dk1"/>
              </a:buClr>
              <a:buSzPts val="2000"/>
              <a:buFont typeface="Arial"/>
              <a:buNone/>
            </a:pPr>
            <a:r>
              <a:rPr lang="en-US"/>
              <a:t>Other strategies and tools can be used to fund education while optimizing financial aid eligibility.</a:t>
            </a:r>
            <a:endParaRPr/>
          </a:p>
        </p:txBody>
      </p:sp>
      <p:sp>
        <p:nvSpPr>
          <p:cNvPr id="583" name="Google Shape;583;p37"/>
          <p:cNvSpPr>
            <a:spLocks noGrp="1"/>
          </p:cNvSpPr>
          <p:nvPr>
            <p:ph type="body" idx="4"/>
          </p:nvPr>
        </p:nvSpPr>
        <p:spPr>
          <a:xfrm>
            <a:off x="601774" y="2536804"/>
            <a:ext cx="3429000" cy="707886"/>
          </a:xfrm>
          <a:prstGeom prst="roundRect">
            <a:avLst>
              <a:gd name="adj" fmla="val 807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Cost Reduction vs.</a:t>
            </a:r>
            <a:br>
              <a:rPr lang="en-US"/>
            </a:br>
            <a:r>
              <a:rPr lang="en-US"/>
              <a:t>Long-Term Funding</a:t>
            </a:r>
            <a:endParaRPr/>
          </a:p>
        </p:txBody>
      </p:sp>
      <p:sp>
        <p:nvSpPr>
          <p:cNvPr id="584" name="Google Shape;584;p37"/>
          <p:cNvSpPr>
            <a:spLocks noGrp="1"/>
          </p:cNvSpPr>
          <p:nvPr>
            <p:ph type="body" idx="5"/>
          </p:nvPr>
        </p:nvSpPr>
        <p:spPr>
          <a:xfrm>
            <a:off x="4381500" y="2536804"/>
            <a:ext cx="3429000" cy="707886"/>
          </a:xfrm>
          <a:prstGeom prst="roundRect">
            <a:avLst>
              <a:gd name="adj" fmla="val 807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Navigating</a:t>
            </a:r>
            <a:br>
              <a:rPr lang="en-US"/>
            </a:br>
            <a:r>
              <a:rPr lang="en-US"/>
              <a:t>Strategic Trade-offs</a:t>
            </a:r>
            <a:endParaRPr/>
          </a:p>
        </p:txBody>
      </p:sp>
      <p:sp>
        <p:nvSpPr>
          <p:cNvPr id="585" name="Google Shape;585;p37"/>
          <p:cNvSpPr>
            <a:spLocks noGrp="1"/>
          </p:cNvSpPr>
          <p:nvPr>
            <p:ph type="body" idx="6"/>
          </p:nvPr>
        </p:nvSpPr>
        <p:spPr>
          <a:xfrm>
            <a:off x="8161226" y="2536804"/>
            <a:ext cx="3429000" cy="400110"/>
          </a:xfrm>
          <a:prstGeom prst="roundRect">
            <a:avLst>
              <a:gd name="adj" fmla="val 14283"/>
            </a:avLst>
          </a:prstGeom>
          <a:noFill/>
          <a:ln>
            <a:noFill/>
          </a:ln>
        </p:spPr>
        <p:txBody>
          <a:bodyPr spcFirstLastPara="1" wrap="square" lIns="228600" tIns="0" rIns="0" bIns="91425" anchor="t" anchorCtr="0">
            <a:spAutoFit/>
          </a:bodyPr>
          <a:lstStyle/>
          <a:p>
            <a:pPr marL="0" lvl="0" indent="0" algn="l" rtl="0">
              <a:lnSpc>
                <a:spcPct val="100000"/>
              </a:lnSpc>
              <a:spcBef>
                <a:spcPts val="0"/>
              </a:spcBef>
              <a:spcAft>
                <a:spcPts val="0"/>
              </a:spcAft>
              <a:buClr>
                <a:schemeClr val="accent1"/>
              </a:buClr>
              <a:buSzPts val="2000"/>
              <a:buNone/>
            </a:pPr>
            <a:r>
              <a:rPr lang="en-US"/>
              <a:t>Optimizing Eligibility</a:t>
            </a:r>
            <a:endParaRPr/>
          </a:p>
        </p:txBody>
      </p:sp>
      <p:cxnSp>
        <p:nvCxnSpPr>
          <p:cNvPr id="586" name="Google Shape;586;p37"/>
          <p:cNvCxnSpPr/>
          <p:nvPr/>
        </p:nvCxnSpPr>
        <p:spPr>
          <a:xfrm>
            <a:off x="601774" y="2599634"/>
            <a:ext cx="0" cy="1920240"/>
          </a:xfrm>
          <a:prstGeom prst="straightConnector1">
            <a:avLst/>
          </a:prstGeom>
          <a:noFill/>
          <a:ln w="19050" cap="flat" cmpd="sng">
            <a:solidFill>
              <a:schemeClr val="accent1"/>
            </a:solidFill>
            <a:prstDash val="solid"/>
            <a:miter lim="8000"/>
            <a:headEnd type="none" w="sm" len="sm"/>
            <a:tailEnd type="none" w="sm" len="sm"/>
          </a:ln>
        </p:spPr>
      </p:cxnSp>
      <p:cxnSp>
        <p:nvCxnSpPr>
          <p:cNvPr id="587" name="Google Shape;587;p37"/>
          <p:cNvCxnSpPr/>
          <p:nvPr/>
        </p:nvCxnSpPr>
        <p:spPr>
          <a:xfrm>
            <a:off x="4381500" y="2599633"/>
            <a:ext cx="0" cy="1920240"/>
          </a:xfrm>
          <a:prstGeom prst="straightConnector1">
            <a:avLst/>
          </a:prstGeom>
          <a:noFill/>
          <a:ln w="19050" cap="flat" cmpd="sng">
            <a:solidFill>
              <a:schemeClr val="accent1"/>
            </a:solidFill>
            <a:prstDash val="solid"/>
            <a:miter lim="8000"/>
            <a:headEnd type="none" w="sm" len="sm"/>
            <a:tailEnd type="none" w="sm" len="sm"/>
          </a:ln>
        </p:spPr>
      </p:cxnSp>
      <p:cxnSp>
        <p:nvCxnSpPr>
          <p:cNvPr id="588" name="Google Shape;588;p37"/>
          <p:cNvCxnSpPr/>
          <p:nvPr/>
        </p:nvCxnSpPr>
        <p:spPr>
          <a:xfrm>
            <a:off x="8162350" y="2599634"/>
            <a:ext cx="0" cy="1600200"/>
          </a:xfrm>
          <a:prstGeom prst="straightConnector1">
            <a:avLst/>
          </a:prstGeom>
          <a:noFill/>
          <a:ln w="19050" cap="flat" cmpd="sng">
            <a:solidFill>
              <a:schemeClr val="accent1"/>
            </a:solidFill>
            <a:prstDash val="solid"/>
            <a:miter lim="8000"/>
            <a:headEnd type="none" w="sm" len="sm"/>
            <a:tailEnd type="none" w="sm" len="sm"/>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38"/>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95" name="Google Shape;595;p38"/>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596" name="Google Shape;596;p38"/>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Remembering How to Fill the Gap</a:t>
            </a:r>
            <a:endParaRPr/>
          </a:p>
        </p:txBody>
      </p:sp>
      <p:sp>
        <p:nvSpPr>
          <p:cNvPr id="597" name="Google Shape;597;p38"/>
          <p:cNvSpPr/>
          <p:nvPr/>
        </p:nvSpPr>
        <p:spPr>
          <a:xfrm>
            <a:off x="633779" y="2166417"/>
            <a:ext cx="5295534" cy="2680860"/>
          </a:xfrm>
          <a:prstGeom prst="roundRect">
            <a:avLst>
              <a:gd name="adj" fmla="val 2131"/>
            </a:avLst>
          </a:prstGeom>
          <a:solidFill>
            <a:schemeClr val="accent1"/>
          </a:solidFill>
          <a:ln>
            <a:noFill/>
          </a:ln>
        </p:spPr>
        <p:txBody>
          <a:bodyPr spcFirstLastPara="1" wrap="square" lIns="274300" tIns="274300" rIns="274300" bIns="274300" anchor="t" anchorCtr="0">
            <a:noAutofit/>
          </a:bodyPr>
          <a:lstStyle/>
          <a:p>
            <a:pPr marL="228600" marR="0" lvl="0" indent="-228600" algn="l" rtl="0">
              <a:lnSpc>
                <a:spcPct val="100000"/>
              </a:lnSpc>
              <a:spcBef>
                <a:spcPts val="0"/>
              </a:spcBef>
              <a:spcAft>
                <a:spcPts val="0"/>
              </a:spcAft>
              <a:buClr>
                <a:schemeClr val="lt1"/>
              </a:buClr>
              <a:buSzPts val="2000"/>
              <a:buFont typeface="Arial"/>
              <a:buChar char="•"/>
            </a:pPr>
            <a:r>
              <a:rPr lang="en-US" sz="2000" b="0">
                <a:solidFill>
                  <a:schemeClr val="lt1"/>
                </a:solidFill>
                <a:latin typeface="Arial"/>
                <a:ea typeface="Arial"/>
                <a:cs typeface="Arial"/>
                <a:sym typeface="Arial"/>
              </a:rPr>
              <a:t>Savings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u="sng">
                <a:solidFill>
                  <a:schemeClr val="lt1"/>
                </a:solidFill>
                <a:latin typeface="Arial"/>
                <a:ea typeface="Arial"/>
                <a:cs typeface="Arial"/>
                <a:sym typeface="Arial"/>
              </a:rPr>
              <a:t>529 plans</a:t>
            </a:r>
            <a:br>
              <a:rPr lang="en-US" sz="2000" b="0">
                <a:solidFill>
                  <a:schemeClr val="lt1"/>
                </a:solidFill>
                <a:latin typeface="Arial"/>
                <a:ea typeface="Arial"/>
                <a:cs typeface="Arial"/>
                <a:sym typeface="Arial"/>
              </a:rPr>
            </a:br>
            <a:r>
              <a:rPr lang="en-US" sz="2000" b="0">
                <a:solidFill>
                  <a:schemeClr val="lt1"/>
                </a:solidFill>
                <a:latin typeface="Arial"/>
                <a:ea typeface="Arial"/>
                <a:cs typeface="Arial"/>
                <a:sym typeface="Arial"/>
              </a:rPr>
              <a:t>Investments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Life Insurance</a:t>
            </a:r>
            <a:endParaRPr/>
          </a:p>
        </p:txBody>
      </p:sp>
      <p:sp>
        <p:nvSpPr>
          <p:cNvPr id="598" name="Google Shape;598;p38"/>
          <p:cNvSpPr/>
          <p:nvPr/>
        </p:nvSpPr>
        <p:spPr>
          <a:xfrm>
            <a:off x="6369050" y="2166418"/>
            <a:ext cx="5221177" cy="2680860"/>
          </a:xfrm>
          <a:prstGeom prst="roundRect">
            <a:avLst>
              <a:gd name="adj" fmla="val 2131"/>
            </a:avLst>
          </a:prstGeom>
          <a:solidFill>
            <a:schemeClr val="accent5"/>
          </a:solidFill>
          <a:ln>
            <a:noFill/>
          </a:ln>
        </p:spPr>
        <p:txBody>
          <a:bodyPr spcFirstLastPara="1" wrap="square" lIns="274300" tIns="274300" rIns="274300" bIns="274300" anchor="t" anchorCtr="0">
            <a:noAutofit/>
          </a:bodyPr>
          <a:lstStyle/>
          <a:p>
            <a:pPr marL="228600" marR="0" lvl="0" indent="-228600" algn="l" rtl="0">
              <a:lnSpc>
                <a:spcPct val="100000"/>
              </a:lnSpc>
              <a:spcBef>
                <a:spcPts val="0"/>
              </a:spcBef>
              <a:spcAft>
                <a:spcPts val="0"/>
              </a:spcAft>
              <a:buClr>
                <a:schemeClr val="lt1"/>
              </a:buClr>
              <a:buSzPts val="2000"/>
              <a:buFont typeface="Arial"/>
              <a:buChar char="•"/>
            </a:pPr>
            <a:r>
              <a:rPr lang="en-US" sz="2000" b="0">
                <a:solidFill>
                  <a:schemeClr val="lt1"/>
                </a:solidFill>
                <a:latin typeface="Arial"/>
                <a:ea typeface="Arial"/>
                <a:cs typeface="Arial"/>
                <a:sym typeface="Arial"/>
              </a:rPr>
              <a:t>Federal loans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PLUS loans</a:t>
            </a:r>
            <a:br>
              <a:rPr lang="en-US" sz="2000" b="0">
                <a:solidFill>
                  <a:schemeClr val="lt1"/>
                </a:solidFill>
                <a:latin typeface="Arial"/>
                <a:ea typeface="Arial"/>
                <a:cs typeface="Arial"/>
                <a:sym typeface="Arial"/>
              </a:rPr>
            </a:br>
            <a:r>
              <a:rPr lang="en-US" sz="2000" b="0">
                <a:solidFill>
                  <a:schemeClr val="lt1"/>
                </a:solidFill>
                <a:latin typeface="Arial"/>
                <a:ea typeface="Arial"/>
                <a:cs typeface="Arial"/>
                <a:sym typeface="Arial"/>
              </a:rPr>
              <a:t>Private loans</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Home equity</a:t>
            </a:r>
            <a:endParaRPr/>
          </a:p>
          <a:p>
            <a:pPr marL="228600" marR="0" lvl="0" indent="-228600" algn="l" rtl="0">
              <a:lnSpc>
                <a:spcPct val="100000"/>
              </a:lnSpc>
              <a:spcBef>
                <a:spcPts val="1000"/>
              </a:spcBef>
              <a:spcAft>
                <a:spcPts val="0"/>
              </a:spcAft>
              <a:buClr>
                <a:schemeClr val="lt1"/>
              </a:buClr>
              <a:buSzPts val="2000"/>
              <a:buFont typeface="Arial"/>
              <a:buChar char="•"/>
            </a:pPr>
            <a:r>
              <a:rPr lang="en-US" sz="2000" b="0">
                <a:solidFill>
                  <a:schemeClr val="lt1"/>
                </a:solidFill>
                <a:latin typeface="Arial"/>
                <a:ea typeface="Arial"/>
                <a:cs typeface="Arial"/>
                <a:sym typeface="Arial"/>
              </a:rPr>
              <a:t>Life Insurance</a:t>
            </a:r>
            <a:endParaRPr/>
          </a:p>
        </p:txBody>
      </p:sp>
      <p:sp>
        <p:nvSpPr>
          <p:cNvPr id="599" name="Google Shape;599;p38"/>
          <p:cNvSpPr/>
          <p:nvPr/>
        </p:nvSpPr>
        <p:spPr>
          <a:xfrm>
            <a:off x="670878" y="1731425"/>
            <a:ext cx="52578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Assets</a:t>
            </a:r>
            <a:endParaRPr/>
          </a:p>
        </p:txBody>
      </p:sp>
      <p:sp>
        <p:nvSpPr>
          <p:cNvPr id="600" name="Google Shape;600;p38"/>
          <p:cNvSpPr/>
          <p:nvPr/>
        </p:nvSpPr>
        <p:spPr>
          <a:xfrm>
            <a:off x="6369525" y="1731425"/>
            <a:ext cx="52578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Borrowing</a:t>
            </a:r>
            <a:endParaRPr/>
          </a:p>
        </p:txBody>
      </p:sp>
      <p:sp>
        <p:nvSpPr>
          <p:cNvPr id="601" name="Google Shape;601;p38"/>
          <p:cNvSpPr/>
          <p:nvPr/>
        </p:nvSpPr>
        <p:spPr>
          <a:xfrm>
            <a:off x="670878" y="1212858"/>
            <a:ext cx="10956447" cy="461665"/>
          </a:xfrm>
          <a:prstGeom prst="roundRect">
            <a:avLst>
              <a:gd name="adj" fmla="val 12379"/>
            </a:avLst>
          </a:prstGeom>
          <a:noFill/>
          <a:ln>
            <a:noFill/>
          </a:ln>
        </p:spPr>
        <p:txBody>
          <a:bodyPr spcFirstLastPara="1" wrap="square" lIns="0" tIns="0" rIns="0" bIns="91425" anchor="b"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dirty="0">
                <a:solidFill>
                  <a:schemeClr val="accent5"/>
                </a:solidFill>
                <a:latin typeface="Arial"/>
                <a:ea typeface="Arial"/>
                <a:cs typeface="Arial"/>
                <a:sym typeface="Arial"/>
              </a:rPr>
              <a:t>Every Family Has Two Buckets to Fund College</a:t>
            </a:r>
            <a:endParaRPr dirty="0"/>
          </a:p>
        </p:txBody>
      </p:sp>
      <p:grpSp>
        <p:nvGrpSpPr>
          <p:cNvPr id="602" name="Google Shape;602;p38"/>
          <p:cNvGrpSpPr/>
          <p:nvPr/>
        </p:nvGrpSpPr>
        <p:grpSpPr>
          <a:xfrm>
            <a:off x="3734730" y="2809140"/>
            <a:ext cx="1209675" cy="1230294"/>
            <a:chOff x="4284654" y="1585912"/>
            <a:chExt cx="3624117" cy="3685888"/>
          </a:xfrm>
        </p:grpSpPr>
        <p:grpSp>
          <p:nvGrpSpPr>
            <p:cNvPr id="603" name="Google Shape;603;p38"/>
            <p:cNvGrpSpPr/>
            <p:nvPr/>
          </p:nvGrpSpPr>
          <p:grpSpPr>
            <a:xfrm>
              <a:off x="4284654" y="1585912"/>
              <a:ext cx="3624117" cy="3685888"/>
              <a:chOff x="4284654" y="1585912"/>
              <a:chExt cx="3624117" cy="3685888"/>
            </a:xfrm>
          </p:grpSpPr>
          <p:sp>
            <p:nvSpPr>
              <p:cNvPr id="604" name="Google Shape;604;p38"/>
              <p:cNvSpPr/>
              <p:nvPr/>
            </p:nvSpPr>
            <p:spPr>
              <a:xfrm>
                <a:off x="4284654" y="1585912"/>
                <a:ext cx="3624117" cy="3341941"/>
              </a:xfrm>
              <a:prstGeom prst="roundRect">
                <a:avLst>
                  <a:gd name="adj" fmla="val 5123"/>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5" name="Google Shape;605;p38"/>
              <p:cNvSpPr/>
              <p:nvPr/>
            </p:nvSpPr>
            <p:spPr>
              <a:xfrm>
                <a:off x="4626765" y="2941415"/>
                <a:ext cx="9508" cy="630936"/>
              </a:xfrm>
              <a:custGeom>
                <a:avLst/>
                <a:gdLst/>
                <a:ahLst/>
                <a:cxnLst/>
                <a:rect l="l" t="t" r="r" b="b"/>
                <a:pathLst>
                  <a:path w="9508" h="630936" extrusionOk="0">
                    <a:moveTo>
                      <a:pt x="0" y="63093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6" name="Google Shape;606;p38"/>
              <p:cNvSpPr/>
              <p:nvPr/>
            </p:nvSpPr>
            <p:spPr>
              <a:xfrm>
                <a:off x="4626765" y="1939956"/>
                <a:ext cx="2939990" cy="2633757"/>
              </a:xfrm>
              <a:custGeom>
                <a:avLst/>
                <a:gdLst/>
                <a:ahLst/>
                <a:cxnLst/>
                <a:rect l="l" t="t" r="r" b="b"/>
                <a:pathLst>
                  <a:path w="2939990" h="2633757" extrusionOk="0">
                    <a:moveTo>
                      <a:pt x="0" y="469487"/>
                    </a:moveTo>
                    <a:lnTo>
                      <a:pt x="0" y="118110"/>
                    </a:lnTo>
                    <a:cubicBezTo>
                      <a:pt x="0" y="52864"/>
                      <a:pt x="52771" y="0"/>
                      <a:pt x="117904" y="0"/>
                    </a:cubicBezTo>
                    <a:lnTo>
                      <a:pt x="2822086" y="0"/>
                    </a:lnTo>
                    <a:cubicBezTo>
                      <a:pt x="2887219" y="0"/>
                      <a:pt x="2939990" y="52864"/>
                      <a:pt x="2939990" y="118110"/>
                    </a:cubicBezTo>
                    <a:lnTo>
                      <a:pt x="2939990" y="2515648"/>
                    </a:lnTo>
                    <a:cubicBezTo>
                      <a:pt x="2939990" y="2580894"/>
                      <a:pt x="2887219" y="2633758"/>
                      <a:pt x="2822086" y="2633758"/>
                    </a:cubicBezTo>
                    <a:lnTo>
                      <a:pt x="117904" y="2633758"/>
                    </a:lnTo>
                    <a:cubicBezTo>
                      <a:pt x="52771" y="2633758"/>
                      <a:pt x="0" y="2580894"/>
                      <a:pt x="0" y="2515648"/>
                    </a:cubicBezTo>
                    <a:lnTo>
                      <a:pt x="0" y="21642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607" name="Google Shape;607;p38"/>
              <p:cNvGrpSpPr/>
              <p:nvPr/>
            </p:nvGrpSpPr>
            <p:grpSpPr>
              <a:xfrm>
                <a:off x="4484330" y="2409444"/>
                <a:ext cx="284966" cy="1694878"/>
                <a:chOff x="4484330" y="2409444"/>
                <a:chExt cx="284966" cy="1694878"/>
              </a:xfrm>
            </p:grpSpPr>
            <p:sp>
              <p:nvSpPr>
                <p:cNvPr id="608" name="Google Shape;608;p38"/>
                <p:cNvSpPr/>
                <p:nvPr/>
              </p:nvSpPr>
              <p:spPr>
                <a:xfrm>
                  <a:off x="4484330" y="2409444"/>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9" name="Google Shape;609;p38"/>
                <p:cNvSpPr/>
                <p:nvPr/>
              </p:nvSpPr>
              <p:spPr>
                <a:xfrm>
                  <a:off x="4484330" y="3572351"/>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10" name="Google Shape;610;p38"/>
              <p:cNvGrpSpPr/>
              <p:nvPr/>
            </p:nvGrpSpPr>
            <p:grpSpPr>
              <a:xfrm>
                <a:off x="4653674" y="4927853"/>
                <a:ext cx="2886077" cy="343947"/>
                <a:chOff x="4653674" y="4927853"/>
                <a:chExt cx="2886077" cy="343947"/>
              </a:xfrm>
            </p:grpSpPr>
            <p:sp>
              <p:nvSpPr>
                <p:cNvPr id="611" name="Google Shape;611;p38"/>
                <p:cNvSpPr/>
                <p:nvPr/>
              </p:nvSpPr>
              <p:spPr>
                <a:xfrm>
                  <a:off x="4653674"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2" name="Google Shape;612;p38"/>
                <p:cNvSpPr/>
                <p:nvPr/>
              </p:nvSpPr>
              <p:spPr>
                <a:xfrm>
                  <a:off x="6990738"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13" name="Google Shape;613;p38"/>
              <p:cNvGrpSpPr/>
              <p:nvPr/>
            </p:nvGrpSpPr>
            <p:grpSpPr>
              <a:xfrm>
                <a:off x="5384868" y="2586513"/>
                <a:ext cx="1423784" cy="1426273"/>
                <a:chOff x="5384868" y="2586513"/>
                <a:chExt cx="1423784" cy="1426273"/>
              </a:xfrm>
            </p:grpSpPr>
            <p:sp>
              <p:nvSpPr>
                <p:cNvPr id="614" name="Google Shape;614;p38"/>
                <p:cNvSpPr/>
                <p:nvPr/>
              </p:nvSpPr>
              <p:spPr>
                <a:xfrm>
                  <a:off x="5384868" y="2586513"/>
                  <a:ext cx="1423784" cy="1426273"/>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5" name="Google Shape;615;p38"/>
                <p:cNvSpPr/>
                <p:nvPr/>
              </p:nvSpPr>
              <p:spPr>
                <a:xfrm>
                  <a:off x="5698740" y="2900934"/>
                  <a:ext cx="796041" cy="797432"/>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6" name="Google Shape;616;p38"/>
                <p:cNvSpPr/>
                <p:nvPr/>
              </p:nvSpPr>
              <p:spPr>
                <a:xfrm>
                  <a:off x="6096760" y="2586513"/>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7" name="Google Shape;617;p38"/>
                <p:cNvSpPr/>
                <p:nvPr/>
              </p:nvSpPr>
              <p:spPr>
                <a:xfrm>
                  <a:off x="6096760" y="3898677"/>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8" name="Google Shape;618;p38"/>
                <p:cNvSpPr/>
                <p:nvPr/>
              </p:nvSpPr>
              <p:spPr>
                <a:xfrm>
                  <a:off x="6694742"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9" name="Google Shape;619;p38"/>
                <p:cNvSpPr/>
                <p:nvPr/>
              </p:nvSpPr>
              <p:spPr>
                <a:xfrm>
                  <a:off x="5384868"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0" name="Google Shape;620;p38"/>
                <p:cNvSpPr/>
                <p:nvPr/>
              </p:nvSpPr>
              <p:spPr>
                <a:xfrm>
                  <a:off x="6616108" y="2945225"/>
                  <a:ext cx="98601" cy="57054"/>
                </a:xfrm>
                <a:custGeom>
                  <a:avLst/>
                  <a:gdLst/>
                  <a:ahLst/>
                  <a:cxnLst/>
                  <a:rect l="l" t="t" r="r" b="b"/>
                  <a:pathLst>
                    <a:path w="98601" h="57054" extrusionOk="0">
                      <a:moveTo>
                        <a:pt x="98602"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1" name="Google Shape;621;p38"/>
                <p:cNvSpPr/>
                <p:nvPr/>
              </p:nvSpPr>
              <p:spPr>
                <a:xfrm>
                  <a:off x="5481568" y="3601783"/>
                  <a:ext cx="98506" cy="57054"/>
                </a:xfrm>
                <a:custGeom>
                  <a:avLst/>
                  <a:gdLst/>
                  <a:ahLst/>
                  <a:cxnLst/>
                  <a:rect l="l" t="t" r="r" b="b"/>
                  <a:pathLst>
                    <a:path w="98506" h="57054" extrusionOk="0">
                      <a:moveTo>
                        <a:pt x="98507"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2" name="Google Shape;622;p38"/>
                <p:cNvSpPr/>
                <p:nvPr/>
              </p:nvSpPr>
              <p:spPr>
                <a:xfrm>
                  <a:off x="6394563" y="3819239"/>
                  <a:ext cx="56860" cy="98774"/>
                </a:xfrm>
                <a:custGeom>
                  <a:avLst/>
                  <a:gdLst/>
                  <a:ahLst/>
                  <a:cxnLst/>
                  <a:rect l="l" t="t" r="r" b="b"/>
                  <a:pathLst>
                    <a:path w="56860" h="98774" extrusionOk="0">
                      <a:moveTo>
                        <a:pt x="56860" y="98774"/>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3" name="Google Shape;623;p38"/>
                <p:cNvSpPr/>
                <p:nvPr/>
              </p:nvSpPr>
              <p:spPr>
                <a:xfrm>
                  <a:off x="5739245" y="2683002"/>
                  <a:ext cx="56955" cy="98679"/>
                </a:xfrm>
                <a:custGeom>
                  <a:avLst/>
                  <a:gdLst/>
                  <a:ahLst/>
                  <a:cxnLst/>
                  <a:rect l="l" t="t" r="r" b="b"/>
                  <a:pathLst>
                    <a:path w="56955" h="98679" extrusionOk="0">
                      <a:moveTo>
                        <a:pt x="56955" y="98679"/>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4" name="Google Shape;624;p38"/>
                <p:cNvSpPr/>
                <p:nvPr/>
              </p:nvSpPr>
              <p:spPr>
                <a:xfrm>
                  <a:off x="6612114" y="360368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5" name="Google Shape;625;p38"/>
                <p:cNvSpPr/>
                <p:nvPr/>
              </p:nvSpPr>
              <p:spPr>
                <a:xfrm>
                  <a:off x="5477289" y="294817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6" name="Google Shape;626;p38"/>
                <p:cNvSpPr/>
                <p:nvPr/>
              </p:nvSpPr>
              <p:spPr>
                <a:xfrm>
                  <a:off x="6398271" y="2683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7" name="Google Shape;627;p38"/>
                <p:cNvSpPr/>
                <p:nvPr/>
              </p:nvSpPr>
              <p:spPr>
                <a:xfrm>
                  <a:off x="5743809" y="3820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628" name="Google Shape;628;p38"/>
            <p:cNvGrpSpPr/>
            <p:nvPr/>
          </p:nvGrpSpPr>
          <p:grpSpPr>
            <a:xfrm>
              <a:off x="4284654" y="1585912"/>
              <a:ext cx="3624117" cy="3685888"/>
              <a:chOff x="4284654" y="1585912"/>
              <a:chExt cx="3624117" cy="3685888"/>
            </a:xfrm>
          </p:grpSpPr>
          <p:sp>
            <p:nvSpPr>
              <p:cNvPr id="629" name="Google Shape;629;p38"/>
              <p:cNvSpPr/>
              <p:nvPr/>
            </p:nvSpPr>
            <p:spPr>
              <a:xfrm>
                <a:off x="4284654" y="1585912"/>
                <a:ext cx="3624117" cy="3341941"/>
              </a:xfrm>
              <a:prstGeom prst="roundRect">
                <a:avLst>
                  <a:gd name="adj" fmla="val 5123"/>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0" name="Google Shape;630;p38"/>
              <p:cNvSpPr/>
              <p:nvPr/>
            </p:nvSpPr>
            <p:spPr>
              <a:xfrm>
                <a:off x="4626765" y="2941415"/>
                <a:ext cx="9508" cy="630936"/>
              </a:xfrm>
              <a:custGeom>
                <a:avLst/>
                <a:gdLst/>
                <a:ahLst/>
                <a:cxnLst/>
                <a:rect l="l" t="t" r="r" b="b"/>
                <a:pathLst>
                  <a:path w="9508" h="630936" extrusionOk="0">
                    <a:moveTo>
                      <a:pt x="0" y="63093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1" name="Google Shape;631;p38"/>
              <p:cNvSpPr/>
              <p:nvPr/>
            </p:nvSpPr>
            <p:spPr>
              <a:xfrm>
                <a:off x="4626765" y="1939956"/>
                <a:ext cx="2939990" cy="2633757"/>
              </a:xfrm>
              <a:custGeom>
                <a:avLst/>
                <a:gdLst/>
                <a:ahLst/>
                <a:cxnLst/>
                <a:rect l="l" t="t" r="r" b="b"/>
                <a:pathLst>
                  <a:path w="2939990" h="2633757" extrusionOk="0">
                    <a:moveTo>
                      <a:pt x="0" y="469487"/>
                    </a:moveTo>
                    <a:lnTo>
                      <a:pt x="0" y="118110"/>
                    </a:lnTo>
                    <a:cubicBezTo>
                      <a:pt x="0" y="52864"/>
                      <a:pt x="52771" y="0"/>
                      <a:pt x="117904" y="0"/>
                    </a:cubicBezTo>
                    <a:lnTo>
                      <a:pt x="2822086" y="0"/>
                    </a:lnTo>
                    <a:cubicBezTo>
                      <a:pt x="2887219" y="0"/>
                      <a:pt x="2939990" y="52864"/>
                      <a:pt x="2939990" y="118110"/>
                    </a:cubicBezTo>
                    <a:lnTo>
                      <a:pt x="2939990" y="2515648"/>
                    </a:lnTo>
                    <a:cubicBezTo>
                      <a:pt x="2939990" y="2580894"/>
                      <a:pt x="2887219" y="2633758"/>
                      <a:pt x="2822086" y="2633758"/>
                    </a:cubicBezTo>
                    <a:lnTo>
                      <a:pt x="117904" y="2633758"/>
                    </a:lnTo>
                    <a:cubicBezTo>
                      <a:pt x="52771" y="2633758"/>
                      <a:pt x="0" y="2580894"/>
                      <a:pt x="0" y="2515648"/>
                    </a:cubicBezTo>
                    <a:lnTo>
                      <a:pt x="0" y="21642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632" name="Google Shape;632;p38"/>
              <p:cNvGrpSpPr/>
              <p:nvPr/>
            </p:nvGrpSpPr>
            <p:grpSpPr>
              <a:xfrm>
                <a:off x="4484330" y="2409444"/>
                <a:ext cx="284966" cy="1694878"/>
                <a:chOff x="4484330" y="2409444"/>
                <a:chExt cx="284966" cy="1694878"/>
              </a:xfrm>
            </p:grpSpPr>
            <p:sp>
              <p:nvSpPr>
                <p:cNvPr id="633" name="Google Shape;633;p38"/>
                <p:cNvSpPr/>
                <p:nvPr/>
              </p:nvSpPr>
              <p:spPr>
                <a:xfrm>
                  <a:off x="4484330" y="2409444"/>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4" name="Google Shape;634;p38"/>
                <p:cNvSpPr/>
                <p:nvPr/>
              </p:nvSpPr>
              <p:spPr>
                <a:xfrm>
                  <a:off x="4484330" y="3572351"/>
                  <a:ext cx="284966" cy="531971"/>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35" name="Google Shape;635;p38"/>
              <p:cNvGrpSpPr/>
              <p:nvPr/>
            </p:nvGrpSpPr>
            <p:grpSpPr>
              <a:xfrm>
                <a:off x="4653674" y="4927853"/>
                <a:ext cx="2886077" cy="343947"/>
                <a:chOff x="4653674" y="4927853"/>
                <a:chExt cx="2886077" cy="343947"/>
              </a:xfrm>
            </p:grpSpPr>
            <p:sp>
              <p:nvSpPr>
                <p:cNvPr id="636" name="Google Shape;636;p38"/>
                <p:cNvSpPr/>
                <p:nvPr/>
              </p:nvSpPr>
              <p:spPr>
                <a:xfrm>
                  <a:off x="4653674"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7" name="Google Shape;637;p38"/>
                <p:cNvSpPr/>
                <p:nvPr/>
              </p:nvSpPr>
              <p:spPr>
                <a:xfrm>
                  <a:off x="6990738" y="4927853"/>
                  <a:ext cx="549013" cy="343947"/>
                </a:xfrm>
                <a:custGeom>
                  <a:avLst/>
                  <a:gdLst/>
                  <a:ahLst/>
                  <a:cxnLst/>
                  <a:rect l="l" t="t" r="r" b="b"/>
                  <a:pathLst>
                    <a:path w="549013" h="343947" extrusionOk="0">
                      <a:moveTo>
                        <a:pt x="549014" y="0"/>
                      </a:moveTo>
                      <a:lnTo>
                        <a:pt x="549014" y="218694"/>
                      </a:lnTo>
                      <a:cubicBezTo>
                        <a:pt x="549014" y="287846"/>
                        <a:pt x="493009" y="343948"/>
                        <a:pt x="423979" y="343948"/>
                      </a:cubicBezTo>
                      <a:lnTo>
                        <a:pt x="125035" y="343948"/>
                      </a:lnTo>
                      <a:cubicBezTo>
                        <a:pt x="56004" y="343948"/>
                        <a:pt x="0" y="287846"/>
                        <a:pt x="0" y="218694"/>
                      </a:cubicBez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38" name="Google Shape;638;p38"/>
              <p:cNvGrpSpPr/>
              <p:nvPr/>
            </p:nvGrpSpPr>
            <p:grpSpPr>
              <a:xfrm>
                <a:off x="5384868" y="2586513"/>
                <a:ext cx="1423784" cy="1426273"/>
                <a:chOff x="5384868" y="2586513"/>
                <a:chExt cx="1423784" cy="1426273"/>
              </a:xfrm>
            </p:grpSpPr>
            <p:sp>
              <p:nvSpPr>
                <p:cNvPr id="639" name="Google Shape;639;p38"/>
                <p:cNvSpPr/>
                <p:nvPr/>
              </p:nvSpPr>
              <p:spPr>
                <a:xfrm>
                  <a:off x="5384868" y="2586513"/>
                  <a:ext cx="1423784" cy="1426273"/>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0" name="Google Shape;640;p38"/>
                <p:cNvSpPr/>
                <p:nvPr/>
              </p:nvSpPr>
              <p:spPr>
                <a:xfrm>
                  <a:off x="5698740" y="2900934"/>
                  <a:ext cx="796041" cy="797432"/>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1" name="Google Shape;641;p38"/>
                <p:cNvSpPr/>
                <p:nvPr/>
              </p:nvSpPr>
              <p:spPr>
                <a:xfrm>
                  <a:off x="6096760" y="2586513"/>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2" name="Google Shape;642;p38"/>
                <p:cNvSpPr/>
                <p:nvPr/>
              </p:nvSpPr>
              <p:spPr>
                <a:xfrm>
                  <a:off x="6096760" y="3898677"/>
                  <a:ext cx="9508" cy="114109"/>
                </a:xfrm>
                <a:custGeom>
                  <a:avLst/>
                  <a:gdLst/>
                  <a:ahLst/>
                  <a:cxnLst/>
                  <a:rect l="l" t="t" r="r" b="b"/>
                  <a:pathLst>
                    <a:path w="9508" h="114109" extrusionOk="0">
                      <a:moveTo>
                        <a:pt x="0" y="0"/>
                      </a:moveTo>
                      <a:lnTo>
                        <a:pt x="0" y="114109"/>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3" name="Google Shape;643;p38"/>
                <p:cNvSpPr/>
                <p:nvPr/>
              </p:nvSpPr>
              <p:spPr>
                <a:xfrm>
                  <a:off x="6694742"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4" name="Google Shape;644;p38"/>
                <p:cNvSpPr/>
                <p:nvPr/>
              </p:nvSpPr>
              <p:spPr>
                <a:xfrm>
                  <a:off x="5384868" y="3302793"/>
                  <a:ext cx="113815" cy="9525"/>
                </a:xfrm>
                <a:custGeom>
                  <a:avLst/>
                  <a:gdLst/>
                  <a:ahLst/>
                  <a:cxnLst/>
                  <a:rect l="l" t="t" r="r" b="b"/>
                  <a:pathLst>
                    <a:path w="113815" h="9525" extrusionOk="0">
                      <a:moveTo>
                        <a:pt x="113815" y="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5" name="Google Shape;645;p38"/>
                <p:cNvSpPr/>
                <p:nvPr/>
              </p:nvSpPr>
              <p:spPr>
                <a:xfrm>
                  <a:off x="6616108" y="2945225"/>
                  <a:ext cx="98601" cy="57054"/>
                </a:xfrm>
                <a:custGeom>
                  <a:avLst/>
                  <a:gdLst/>
                  <a:ahLst/>
                  <a:cxnLst/>
                  <a:rect l="l" t="t" r="r" b="b"/>
                  <a:pathLst>
                    <a:path w="98601" h="57054" extrusionOk="0">
                      <a:moveTo>
                        <a:pt x="98602"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6" name="Google Shape;646;p38"/>
                <p:cNvSpPr/>
                <p:nvPr/>
              </p:nvSpPr>
              <p:spPr>
                <a:xfrm>
                  <a:off x="5481568" y="3601783"/>
                  <a:ext cx="98506" cy="57054"/>
                </a:xfrm>
                <a:custGeom>
                  <a:avLst/>
                  <a:gdLst/>
                  <a:ahLst/>
                  <a:cxnLst/>
                  <a:rect l="l" t="t" r="r" b="b"/>
                  <a:pathLst>
                    <a:path w="98506" h="57054" extrusionOk="0">
                      <a:moveTo>
                        <a:pt x="98507" y="0"/>
                      </a:moveTo>
                      <a:lnTo>
                        <a:pt x="0" y="57055"/>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7" name="Google Shape;647;p38"/>
                <p:cNvSpPr/>
                <p:nvPr/>
              </p:nvSpPr>
              <p:spPr>
                <a:xfrm>
                  <a:off x="6394563" y="3819239"/>
                  <a:ext cx="56860" cy="98774"/>
                </a:xfrm>
                <a:custGeom>
                  <a:avLst/>
                  <a:gdLst/>
                  <a:ahLst/>
                  <a:cxnLst/>
                  <a:rect l="l" t="t" r="r" b="b"/>
                  <a:pathLst>
                    <a:path w="56860" h="98774" extrusionOk="0">
                      <a:moveTo>
                        <a:pt x="56860" y="98774"/>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8" name="Google Shape;648;p38"/>
                <p:cNvSpPr/>
                <p:nvPr/>
              </p:nvSpPr>
              <p:spPr>
                <a:xfrm>
                  <a:off x="5739245" y="2683002"/>
                  <a:ext cx="56955" cy="98679"/>
                </a:xfrm>
                <a:custGeom>
                  <a:avLst/>
                  <a:gdLst/>
                  <a:ahLst/>
                  <a:cxnLst/>
                  <a:rect l="l" t="t" r="r" b="b"/>
                  <a:pathLst>
                    <a:path w="56955" h="98679" extrusionOk="0">
                      <a:moveTo>
                        <a:pt x="56955" y="98679"/>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9" name="Google Shape;649;p38"/>
                <p:cNvSpPr/>
                <p:nvPr/>
              </p:nvSpPr>
              <p:spPr>
                <a:xfrm>
                  <a:off x="6612114" y="360368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0" name="Google Shape;650;p38"/>
                <p:cNvSpPr/>
                <p:nvPr/>
              </p:nvSpPr>
              <p:spPr>
                <a:xfrm>
                  <a:off x="5477289" y="2948178"/>
                  <a:ext cx="98601" cy="56959"/>
                </a:xfrm>
                <a:custGeom>
                  <a:avLst/>
                  <a:gdLst/>
                  <a:ahLst/>
                  <a:cxnLst/>
                  <a:rect l="l" t="t" r="r" b="b"/>
                  <a:pathLst>
                    <a:path w="98601" h="56959" extrusionOk="0">
                      <a:moveTo>
                        <a:pt x="98602" y="56960"/>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1" name="Google Shape;651;p38"/>
                <p:cNvSpPr/>
                <p:nvPr/>
              </p:nvSpPr>
              <p:spPr>
                <a:xfrm>
                  <a:off x="6398271" y="2683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2" name="Google Shape;652;p38"/>
                <p:cNvSpPr/>
                <p:nvPr/>
              </p:nvSpPr>
              <p:spPr>
                <a:xfrm>
                  <a:off x="5743809" y="3820287"/>
                  <a:ext cx="56860" cy="98774"/>
                </a:xfrm>
                <a:custGeom>
                  <a:avLst/>
                  <a:gdLst/>
                  <a:ahLst/>
                  <a:cxnLst/>
                  <a:rect l="l" t="t" r="r" b="b"/>
                  <a:pathLst>
                    <a:path w="56860" h="98774" extrusionOk="0">
                      <a:moveTo>
                        <a:pt x="56860" y="0"/>
                      </a:moveTo>
                      <a:lnTo>
                        <a:pt x="0" y="98774"/>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grpSp>
        <p:nvGrpSpPr>
          <p:cNvPr id="653" name="Google Shape;653;p38"/>
          <p:cNvGrpSpPr/>
          <p:nvPr/>
        </p:nvGrpSpPr>
        <p:grpSpPr>
          <a:xfrm>
            <a:off x="9452307" y="2809140"/>
            <a:ext cx="1293911" cy="1239720"/>
            <a:chOff x="3671823" y="1106417"/>
            <a:chExt cx="4848449" cy="4645403"/>
          </a:xfrm>
        </p:grpSpPr>
        <p:sp>
          <p:nvSpPr>
            <p:cNvPr id="654" name="Google Shape;654;p38"/>
            <p:cNvSpPr/>
            <p:nvPr/>
          </p:nvSpPr>
          <p:spPr>
            <a:xfrm>
              <a:off x="3704050" y="5348613"/>
              <a:ext cx="4800060" cy="403207"/>
            </a:xfrm>
            <a:prstGeom prst="roundRect">
              <a:avLst>
                <a:gd name="adj" fmla="val 50000"/>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5" name="Google Shape;655;p38"/>
            <p:cNvSpPr/>
            <p:nvPr/>
          </p:nvSpPr>
          <p:spPr>
            <a:xfrm>
              <a:off x="3889238" y="5017937"/>
              <a:ext cx="4429684" cy="330675"/>
            </a:xfrm>
            <a:custGeom>
              <a:avLst/>
              <a:gdLst/>
              <a:ahLst/>
              <a:cxnLst/>
              <a:rect l="l" t="t" r="r" b="b"/>
              <a:pathLst>
                <a:path w="4429684" h="330675" extrusionOk="0">
                  <a:moveTo>
                    <a:pt x="0" y="330676"/>
                  </a:moveTo>
                  <a:lnTo>
                    <a:pt x="0" y="0"/>
                  </a:lnTo>
                  <a:lnTo>
                    <a:pt x="4429684" y="0"/>
                  </a:lnTo>
                  <a:lnTo>
                    <a:pt x="4429684" y="330676"/>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6" name="Google Shape;656;p38"/>
            <p:cNvSpPr/>
            <p:nvPr/>
          </p:nvSpPr>
          <p:spPr>
            <a:xfrm>
              <a:off x="4063779" y="4679266"/>
              <a:ext cx="885822" cy="338671"/>
            </a:xfrm>
            <a:custGeom>
              <a:avLst/>
              <a:gdLst/>
              <a:ahLst/>
              <a:cxnLst/>
              <a:rect l="l" t="t" r="r" b="b"/>
              <a:pathLst>
                <a:path w="885822" h="338671" extrusionOk="0">
                  <a:moveTo>
                    <a:pt x="885823" y="338671"/>
                  </a:moveTo>
                  <a:lnTo>
                    <a:pt x="885823" y="95662"/>
                  </a:lnTo>
                  <a:cubicBezTo>
                    <a:pt x="885823" y="42929"/>
                    <a:pt x="843138" y="0"/>
                    <a:pt x="790282" y="0"/>
                  </a:cubicBezTo>
                  <a:lnTo>
                    <a:pt x="95636" y="0"/>
                  </a:lnTo>
                  <a:cubicBezTo>
                    <a:pt x="42780" y="0"/>
                    <a:pt x="0" y="42929"/>
                    <a:pt x="0" y="95662"/>
                  </a:cubicBezTo>
                  <a:lnTo>
                    <a:pt x="0" y="3386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7" name="Google Shape;657;p38"/>
            <p:cNvSpPr/>
            <p:nvPr/>
          </p:nvSpPr>
          <p:spPr>
            <a:xfrm>
              <a:off x="4063684" y="2550434"/>
              <a:ext cx="885917" cy="387120"/>
            </a:xfrm>
            <a:custGeom>
              <a:avLst/>
              <a:gdLst/>
              <a:ahLst/>
              <a:cxnLst/>
              <a:rect l="l" t="t" r="r" b="b"/>
              <a:pathLst>
                <a:path w="885917" h="387120" extrusionOk="0">
                  <a:moveTo>
                    <a:pt x="0" y="0"/>
                  </a:moveTo>
                  <a:lnTo>
                    <a:pt x="0" y="291459"/>
                  </a:lnTo>
                  <a:cubicBezTo>
                    <a:pt x="0" y="344192"/>
                    <a:pt x="42875" y="387121"/>
                    <a:pt x="95636" y="387121"/>
                  </a:cubicBezTo>
                  <a:lnTo>
                    <a:pt x="790377" y="387121"/>
                  </a:lnTo>
                  <a:cubicBezTo>
                    <a:pt x="843233" y="387121"/>
                    <a:pt x="885918" y="344192"/>
                    <a:pt x="885918" y="291459"/>
                  </a:cubicBezTo>
                  <a:lnTo>
                    <a:pt x="885918"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8" name="Google Shape;658;p38"/>
            <p:cNvSpPr/>
            <p:nvPr/>
          </p:nvSpPr>
          <p:spPr>
            <a:xfrm>
              <a:off x="4224820"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9" name="Google Shape;659;p38"/>
            <p:cNvSpPr/>
            <p:nvPr/>
          </p:nvSpPr>
          <p:spPr>
            <a:xfrm>
              <a:off x="4788560"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0" name="Google Shape;660;p38"/>
            <p:cNvSpPr/>
            <p:nvPr/>
          </p:nvSpPr>
          <p:spPr>
            <a:xfrm>
              <a:off x="7247626" y="4679266"/>
              <a:ext cx="886012" cy="338671"/>
            </a:xfrm>
            <a:custGeom>
              <a:avLst/>
              <a:gdLst/>
              <a:ahLst/>
              <a:cxnLst/>
              <a:rect l="l" t="t" r="r" b="b"/>
              <a:pathLst>
                <a:path w="886012" h="338671" extrusionOk="0">
                  <a:moveTo>
                    <a:pt x="886013" y="338671"/>
                  </a:moveTo>
                  <a:lnTo>
                    <a:pt x="886013" y="95662"/>
                  </a:lnTo>
                  <a:cubicBezTo>
                    <a:pt x="886013" y="42929"/>
                    <a:pt x="843138" y="0"/>
                    <a:pt x="790472" y="0"/>
                  </a:cubicBezTo>
                  <a:lnTo>
                    <a:pt x="95541" y="0"/>
                  </a:lnTo>
                  <a:cubicBezTo>
                    <a:pt x="42874" y="0"/>
                    <a:pt x="0" y="42929"/>
                    <a:pt x="0" y="95662"/>
                  </a:cubicBezTo>
                  <a:lnTo>
                    <a:pt x="0" y="338671"/>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1" name="Google Shape;661;p38"/>
            <p:cNvSpPr/>
            <p:nvPr/>
          </p:nvSpPr>
          <p:spPr>
            <a:xfrm>
              <a:off x="7247721" y="2550434"/>
              <a:ext cx="886013" cy="387120"/>
            </a:xfrm>
            <a:custGeom>
              <a:avLst/>
              <a:gdLst/>
              <a:ahLst/>
              <a:cxnLst/>
              <a:rect l="l" t="t" r="r" b="b"/>
              <a:pathLst>
                <a:path w="886013" h="387120" extrusionOk="0">
                  <a:moveTo>
                    <a:pt x="0" y="0"/>
                  </a:moveTo>
                  <a:lnTo>
                    <a:pt x="0" y="291459"/>
                  </a:lnTo>
                  <a:cubicBezTo>
                    <a:pt x="0" y="344192"/>
                    <a:pt x="42875" y="387121"/>
                    <a:pt x="95541" y="387121"/>
                  </a:cubicBezTo>
                  <a:lnTo>
                    <a:pt x="790472" y="387121"/>
                  </a:lnTo>
                  <a:cubicBezTo>
                    <a:pt x="843138" y="387121"/>
                    <a:pt x="886013" y="344192"/>
                    <a:pt x="886013" y="291459"/>
                  </a:cubicBezTo>
                  <a:lnTo>
                    <a:pt x="886013"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38"/>
            <p:cNvSpPr/>
            <p:nvPr/>
          </p:nvSpPr>
          <p:spPr>
            <a:xfrm>
              <a:off x="7408858"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3" name="Google Shape;663;p38"/>
            <p:cNvSpPr/>
            <p:nvPr/>
          </p:nvSpPr>
          <p:spPr>
            <a:xfrm>
              <a:off x="7972598" y="2937460"/>
              <a:ext cx="9506" cy="1741806"/>
            </a:xfrm>
            <a:custGeom>
              <a:avLst/>
              <a:gdLst/>
              <a:ahLst/>
              <a:cxnLst/>
              <a:rect l="l" t="t" r="r" b="b"/>
              <a:pathLst>
                <a:path w="9506" h="1741806" extrusionOk="0">
                  <a:moveTo>
                    <a:pt x="0" y="1741806"/>
                  </a:moveTo>
                  <a:lnTo>
                    <a:pt x="0" y="0"/>
                  </a:lnTo>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4" name="Google Shape;664;p38"/>
            <p:cNvSpPr/>
            <p:nvPr/>
          </p:nvSpPr>
          <p:spPr>
            <a:xfrm>
              <a:off x="3671823" y="1106417"/>
              <a:ext cx="4848449" cy="1444017"/>
            </a:xfrm>
            <a:custGeom>
              <a:avLst/>
              <a:gdLst/>
              <a:ahLst/>
              <a:cxnLst/>
              <a:rect l="l" t="t" r="r" b="b"/>
              <a:pathLst>
                <a:path w="4848449" h="1444017" extrusionOk="0">
                  <a:moveTo>
                    <a:pt x="4760799" y="1444017"/>
                  </a:moveTo>
                  <a:lnTo>
                    <a:pt x="87556" y="1444017"/>
                  </a:lnTo>
                  <a:cubicBezTo>
                    <a:pt x="39167" y="1444017"/>
                    <a:pt x="0" y="1404705"/>
                    <a:pt x="0" y="1356351"/>
                  </a:cubicBezTo>
                  <a:lnTo>
                    <a:pt x="0" y="1082787"/>
                  </a:lnTo>
                  <a:cubicBezTo>
                    <a:pt x="0" y="1047568"/>
                    <a:pt x="21010" y="1015871"/>
                    <a:pt x="53332" y="1002069"/>
                  </a:cubicBezTo>
                  <a:lnTo>
                    <a:pt x="2389953" y="6996"/>
                  </a:lnTo>
                  <a:cubicBezTo>
                    <a:pt x="2411819" y="-2332"/>
                    <a:pt x="2436631" y="-2332"/>
                    <a:pt x="2458496" y="6996"/>
                  </a:cubicBezTo>
                  <a:lnTo>
                    <a:pt x="4795117" y="1001879"/>
                  </a:lnTo>
                  <a:cubicBezTo>
                    <a:pt x="4827440" y="1015681"/>
                    <a:pt x="4848449" y="1047378"/>
                    <a:pt x="4848449" y="1082596"/>
                  </a:cubicBezTo>
                  <a:lnTo>
                    <a:pt x="4848449" y="1356161"/>
                  </a:lnTo>
                  <a:cubicBezTo>
                    <a:pt x="4848449" y="1404610"/>
                    <a:pt x="4809187" y="1443827"/>
                    <a:pt x="4760894" y="1443827"/>
                  </a:cubicBezTo>
                  <a:close/>
                </a:path>
              </a:pathLst>
            </a:cu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5" name="Google Shape;665;p38"/>
            <p:cNvSpPr/>
            <p:nvPr/>
          </p:nvSpPr>
          <p:spPr>
            <a:xfrm>
              <a:off x="5781902" y="1614947"/>
              <a:ext cx="644355" cy="645169"/>
            </a:xfrm>
            <a:prstGeom prst="ellipse">
              <a:avLst/>
            </a:prstGeom>
            <a:noFill/>
            <a:ln w="22225" cap="flat" cmpd="sng">
              <a:solidFill>
                <a:schemeClr val="l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 name="Google Shape;301;p20">
            <a:extLst>
              <a:ext uri="{FF2B5EF4-FFF2-40B4-BE49-F238E27FC236}">
                <a16:creationId xmlns:a16="http://schemas.microsoft.com/office/drawing/2014/main" id="{D7EC7246-7900-4649-E0AC-27003DE84FC7}"/>
              </a:ext>
            </a:extLst>
          </p:cNvPr>
          <p:cNvSpPr/>
          <p:nvPr/>
        </p:nvSpPr>
        <p:spPr>
          <a:xfrm>
            <a:off x="633779" y="5048330"/>
            <a:ext cx="10956448" cy="1118890"/>
          </a:xfrm>
          <a:prstGeom prst="roundRect">
            <a:avLst>
              <a:gd name="adj" fmla="val 5107"/>
            </a:avLst>
          </a:prstGeom>
          <a:solidFill>
            <a:srgbClr val="60BBFF">
              <a:alpha val="20000"/>
            </a:srgbClr>
          </a:solidFill>
          <a:ln>
            <a:noFill/>
          </a:ln>
        </p:spPr>
        <p:txBody>
          <a:bodyPr spcFirstLastPara="1" wrap="square" lIns="228600" tIns="228600" rIns="228600" bIns="228600" anchor="t" anchorCtr="0">
            <a:spAutoFit/>
          </a:bodyPr>
          <a:lstStyle/>
          <a:p>
            <a:r>
              <a:rPr lang="en-US" sz="2000" b="1" dirty="0">
                <a:solidFill>
                  <a:schemeClr val="accent5"/>
                </a:solidFill>
                <a:latin typeface="Arial"/>
                <a:ea typeface="Arial"/>
                <a:cs typeface="Arial"/>
                <a:sym typeface="Arial"/>
              </a:rPr>
              <a:t>Key Takeaway</a:t>
            </a:r>
            <a:r>
              <a:rPr lang="en-US" sz="2000" b="1" dirty="0">
                <a:solidFill>
                  <a:schemeClr val="accent5"/>
                </a:solidFill>
              </a:rPr>
              <a:t>: </a:t>
            </a:r>
            <a:r>
              <a:rPr lang="en-US" sz="2000" dirty="0">
                <a:solidFill>
                  <a:schemeClr val="accent5"/>
                </a:solidFill>
                <a:latin typeface="Arial"/>
                <a:ea typeface="Arial"/>
                <a:cs typeface="Arial"/>
                <a:sym typeface="Arial"/>
              </a:rPr>
              <a:t>Strategic use of life insurance can help position assets to both save for college and qualify for aid.</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39"/>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Private vs Public: Pros</a:t>
            </a:r>
            <a:endParaRPr/>
          </a:p>
        </p:txBody>
      </p:sp>
      <p:sp>
        <p:nvSpPr>
          <p:cNvPr id="673" name="Google Shape;673;p39"/>
          <p:cNvSpPr/>
          <p:nvPr/>
        </p:nvSpPr>
        <p:spPr>
          <a:xfrm>
            <a:off x="618923" y="2137498"/>
            <a:ext cx="5394960" cy="400110"/>
          </a:xfrm>
          <a:prstGeom prst="roundRect">
            <a:avLst>
              <a:gd name="adj" fmla="val 14283"/>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Pros</a:t>
            </a:r>
            <a:endParaRPr/>
          </a:p>
        </p:txBody>
      </p:sp>
      <p:sp>
        <p:nvSpPr>
          <p:cNvPr id="674" name="Google Shape;674;p39"/>
          <p:cNvSpPr/>
          <p:nvPr/>
        </p:nvSpPr>
        <p:spPr>
          <a:xfrm>
            <a:off x="6319706" y="2137498"/>
            <a:ext cx="5253371" cy="400110"/>
          </a:xfrm>
          <a:prstGeom prst="roundRect">
            <a:avLst>
              <a:gd name="adj" fmla="val 14283"/>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Pros</a:t>
            </a:r>
            <a:endParaRPr/>
          </a:p>
        </p:txBody>
      </p:sp>
      <p:sp>
        <p:nvSpPr>
          <p:cNvPr id="675" name="Google Shape;675;p39"/>
          <p:cNvSpPr/>
          <p:nvPr/>
        </p:nvSpPr>
        <p:spPr>
          <a:xfrm>
            <a:off x="618924" y="1618931"/>
            <a:ext cx="5394960" cy="461665"/>
          </a:xfrm>
          <a:prstGeom prst="roundRect">
            <a:avLst>
              <a:gd name="adj" fmla="val 12379"/>
            </a:avLst>
          </a:prstGeom>
          <a:noFill/>
          <a:ln>
            <a:noFill/>
          </a:ln>
        </p:spPr>
        <p:txBody>
          <a:bodyPr spcFirstLastPara="1" wrap="square" lIns="0" tIns="0" rIns="0" bIns="91425" anchor="b" anchorCtr="0">
            <a:sp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Private Colleges and Universities</a:t>
            </a:r>
            <a:endParaRPr/>
          </a:p>
        </p:txBody>
      </p:sp>
      <p:sp>
        <p:nvSpPr>
          <p:cNvPr id="676" name="Google Shape;676;p39"/>
          <p:cNvSpPr/>
          <p:nvPr/>
        </p:nvSpPr>
        <p:spPr>
          <a:xfrm>
            <a:off x="6178119" y="1618931"/>
            <a:ext cx="5394960" cy="461665"/>
          </a:xfrm>
          <a:prstGeom prst="roundRect">
            <a:avLst>
              <a:gd name="adj" fmla="val 12379"/>
            </a:avLst>
          </a:prstGeom>
          <a:noFill/>
          <a:ln>
            <a:noFill/>
          </a:ln>
        </p:spPr>
        <p:txBody>
          <a:bodyPr spcFirstLastPara="1" wrap="square" lIns="0" tIns="0" rIns="0" bIns="91425" anchor="b" anchorCtr="0">
            <a:sp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Public Colleges and Universities</a:t>
            </a:r>
            <a:endParaRPr/>
          </a:p>
        </p:txBody>
      </p:sp>
      <p:sp>
        <p:nvSpPr>
          <p:cNvPr id="677" name="Google Shape;677;p39"/>
          <p:cNvSpPr/>
          <p:nvPr/>
        </p:nvSpPr>
        <p:spPr>
          <a:xfrm>
            <a:off x="618922" y="2561484"/>
            <a:ext cx="5257800" cy="2087225"/>
          </a:xfrm>
          <a:prstGeom prst="roundRect">
            <a:avLst>
              <a:gd name="adj" fmla="val 2738"/>
            </a:avLst>
          </a:prstGeom>
          <a:solidFill>
            <a:srgbClr val="C4C4C6">
              <a:alpha val="30196"/>
            </a:srgbClr>
          </a:solidFill>
          <a:ln w="12700" cap="flat" cmpd="sng">
            <a:solidFill>
              <a:schemeClr val="accent3"/>
            </a:solidFill>
            <a:prstDash val="solid"/>
            <a:round/>
            <a:headEnd type="none" w="sm" len="sm"/>
            <a:tailEnd type="none" w="sm" len="sm"/>
          </a:ln>
        </p:spPr>
        <p:txBody>
          <a:bodyPr spcFirstLastPara="1" wrap="square" lIns="228600" tIns="274300" rIns="274300" bIns="274300" anchor="t" anchorCtr="0">
            <a:spAutoFit/>
          </a:bodyPr>
          <a:lstStyle/>
          <a:p>
            <a:pPr marL="228600" marR="0" lvl="0" indent="-228600" algn="l" rtl="0">
              <a:lnSpc>
                <a:spcPct val="100000"/>
              </a:lnSpc>
              <a:spcBef>
                <a:spcPts val="0"/>
              </a:spcBef>
              <a:spcAft>
                <a:spcPts val="0"/>
              </a:spcAft>
              <a:buClr>
                <a:schemeClr val="dk1"/>
              </a:buClr>
              <a:buSzPts val="1800"/>
              <a:buFont typeface="Arial"/>
              <a:buChar char="•"/>
            </a:pPr>
            <a:r>
              <a:rPr lang="en-US" sz="1800" b="0">
                <a:solidFill>
                  <a:schemeClr val="dk1"/>
                </a:solidFill>
                <a:latin typeface="Arial"/>
                <a:ea typeface="Arial"/>
                <a:cs typeface="Arial"/>
                <a:sym typeface="Arial"/>
              </a:rPr>
              <a:t>High percentage of need met for admitted students</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b="0">
                <a:solidFill>
                  <a:schemeClr val="dk1"/>
                </a:solidFill>
                <a:latin typeface="Arial"/>
                <a:ea typeface="Arial"/>
                <a:cs typeface="Arial"/>
                <a:sym typeface="Arial"/>
              </a:rPr>
              <a:t>Aid can be more accessible and flexible than federal aid, including negotiation opportunities</a:t>
            </a:r>
            <a:endParaRPr/>
          </a:p>
        </p:txBody>
      </p:sp>
      <p:sp>
        <p:nvSpPr>
          <p:cNvPr id="678" name="Google Shape;678;p39"/>
          <p:cNvSpPr/>
          <p:nvPr/>
        </p:nvSpPr>
        <p:spPr>
          <a:xfrm>
            <a:off x="6315277" y="2561484"/>
            <a:ext cx="5257800" cy="2087224"/>
          </a:xfrm>
          <a:prstGeom prst="roundRect">
            <a:avLst>
              <a:gd name="adj" fmla="val 2738"/>
            </a:avLst>
          </a:prstGeom>
          <a:solidFill>
            <a:srgbClr val="C4C4C6">
              <a:alpha val="30196"/>
            </a:srgbClr>
          </a:solidFill>
          <a:ln w="12700" cap="flat" cmpd="sng">
            <a:solidFill>
              <a:schemeClr val="accent3"/>
            </a:solidFill>
            <a:prstDash val="solid"/>
            <a:round/>
            <a:headEnd type="none" w="sm" len="sm"/>
            <a:tailEnd type="none" w="sm" len="sm"/>
          </a:ln>
        </p:spPr>
        <p:txBody>
          <a:bodyPr spcFirstLastPara="1" wrap="square" lIns="274300" tIns="274300" rIns="274300" bIns="274300" anchor="t" anchorCtr="0">
            <a:noAutofit/>
          </a:bodyPr>
          <a:lstStyle/>
          <a:p>
            <a:pPr marL="228600" marR="0" lvl="0" indent="-228600" algn="l" rtl="0">
              <a:lnSpc>
                <a:spcPct val="100000"/>
              </a:lnSpc>
              <a:spcBef>
                <a:spcPts val="0"/>
              </a:spcBef>
              <a:spcAft>
                <a:spcPts val="0"/>
              </a:spcAft>
              <a:buClr>
                <a:schemeClr val="dk1"/>
              </a:buClr>
              <a:buSzPts val="1800"/>
              <a:buFont typeface="Arial"/>
              <a:buChar char="•"/>
            </a:pPr>
            <a:r>
              <a:rPr lang="en-US" sz="1800" b="0">
                <a:solidFill>
                  <a:schemeClr val="dk1"/>
                </a:solidFill>
                <a:latin typeface="Arial"/>
                <a:ea typeface="Arial"/>
                <a:cs typeface="Arial"/>
                <a:sym typeface="Arial"/>
              </a:rPr>
              <a:t>Low sticker price, especially if in-state</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b="0">
                <a:solidFill>
                  <a:schemeClr val="dk1"/>
                </a:solidFill>
                <a:latin typeface="Arial"/>
                <a:ea typeface="Arial"/>
                <a:cs typeface="Arial"/>
                <a:sym typeface="Arial"/>
              </a:rPr>
              <a:t>Only requires FAFSA; FAFSA requires less financial reporting to receive aid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40"/>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Private vs Public: Cons</a:t>
            </a:r>
            <a:endParaRPr/>
          </a:p>
        </p:txBody>
      </p:sp>
      <p:sp>
        <p:nvSpPr>
          <p:cNvPr id="685" name="Google Shape;685;p40"/>
          <p:cNvSpPr/>
          <p:nvPr/>
        </p:nvSpPr>
        <p:spPr>
          <a:xfrm>
            <a:off x="629314" y="2121169"/>
            <a:ext cx="5394960" cy="400110"/>
          </a:xfrm>
          <a:prstGeom prst="roundRect">
            <a:avLst>
              <a:gd name="adj" fmla="val 14283"/>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Cons</a:t>
            </a:r>
            <a:endParaRPr/>
          </a:p>
        </p:txBody>
      </p:sp>
      <p:sp>
        <p:nvSpPr>
          <p:cNvPr id="686" name="Google Shape;686;p40"/>
          <p:cNvSpPr/>
          <p:nvPr/>
        </p:nvSpPr>
        <p:spPr>
          <a:xfrm>
            <a:off x="6309314" y="2121169"/>
            <a:ext cx="5394960" cy="400110"/>
          </a:xfrm>
          <a:prstGeom prst="roundRect">
            <a:avLst>
              <a:gd name="adj" fmla="val 14283"/>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Cons</a:t>
            </a:r>
            <a:endParaRPr/>
          </a:p>
        </p:txBody>
      </p:sp>
      <p:sp>
        <p:nvSpPr>
          <p:cNvPr id="687" name="Google Shape;687;p40"/>
          <p:cNvSpPr/>
          <p:nvPr/>
        </p:nvSpPr>
        <p:spPr>
          <a:xfrm>
            <a:off x="629315" y="1602602"/>
            <a:ext cx="5394960" cy="461665"/>
          </a:xfrm>
          <a:prstGeom prst="roundRect">
            <a:avLst>
              <a:gd name="adj" fmla="val 12379"/>
            </a:avLst>
          </a:prstGeom>
          <a:noFill/>
          <a:ln>
            <a:noFill/>
          </a:ln>
        </p:spPr>
        <p:txBody>
          <a:bodyPr spcFirstLastPara="1" wrap="square" lIns="0" tIns="0" rIns="0" bIns="91425" anchor="b" anchorCtr="0">
            <a:sp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Private Colleges and Universities</a:t>
            </a:r>
            <a:endParaRPr/>
          </a:p>
        </p:txBody>
      </p:sp>
      <p:sp>
        <p:nvSpPr>
          <p:cNvPr id="688" name="Google Shape;688;p40"/>
          <p:cNvSpPr/>
          <p:nvPr/>
        </p:nvSpPr>
        <p:spPr>
          <a:xfrm>
            <a:off x="6211498" y="1602602"/>
            <a:ext cx="5394960" cy="461665"/>
          </a:xfrm>
          <a:prstGeom prst="roundRect">
            <a:avLst>
              <a:gd name="adj" fmla="val 12379"/>
            </a:avLst>
          </a:prstGeom>
          <a:noFill/>
          <a:ln>
            <a:noFill/>
          </a:ln>
        </p:spPr>
        <p:txBody>
          <a:bodyPr spcFirstLastPara="1" wrap="square" lIns="0" tIns="0" rIns="0" bIns="91425" anchor="b" anchorCtr="0">
            <a:sp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Public Colleges and Universities</a:t>
            </a:r>
            <a:endParaRPr/>
          </a:p>
        </p:txBody>
      </p:sp>
      <p:sp>
        <p:nvSpPr>
          <p:cNvPr id="689" name="Google Shape;689;p40"/>
          <p:cNvSpPr/>
          <p:nvPr/>
        </p:nvSpPr>
        <p:spPr>
          <a:xfrm>
            <a:off x="629314" y="2545155"/>
            <a:ext cx="5257800" cy="1542504"/>
          </a:xfrm>
          <a:prstGeom prst="roundRect">
            <a:avLst>
              <a:gd name="adj" fmla="val 3705"/>
            </a:avLst>
          </a:prstGeom>
          <a:solidFill>
            <a:srgbClr val="C4C4C6">
              <a:alpha val="30196"/>
            </a:srgbClr>
          </a:solidFill>
          <a:ln w="12700" cap="flat" cmpd="sng">
            <a:solidFill>
              <a:schemeClr val="accent2"/>
            </a:solidFill>
            <a:prstDash val="solid"/>
            <a:round/>
            <a:headEnd type="none" w="sm" len="sm"/>
            <a:tailEnd type="none" w="sm" len="sm"/>
          </a:ln>
        </p:spPr>
        <p:txBody>
          <a:bodyPr spcFirstLastPara="1" wrap="square" lIns="274300" tIns="274300" rIns="274300" bIns="274300" anchor="t" anchorCtr="0">
            <a:spAutoFit/>
          </a:bodyPr>
          <a:lstStyle/>
          <a:p>
            <a:pPr marL="228600" marR="0" lvl="0" indent="-228600" algn="l" rtl="0">
              <a:lnSpc>
                <a:spcPct val="100000"/>
              </a:lnSpc>
              <a:spcBef>
                <a:spcPts val="0"/>
              </a:spcBef>
              <a:spcAft>
                <a:spcPts val="0"/>
              </a:spcAft>
              <a:buClr>
                <a:schemeClr val="dk1"/>
              </a:buClr>
              <a:buSzPts val="1800"/>
              <a:buFont typeface="Arial"/>
              <a:buChar char="•"/>
            </a:pPr>
            <a:r>
              <a:rPr lang="en-US" sz="1800" b="0">
                <a:solidFill>
                  <a:schemeClr val="dk1"/>
                </a:solidFill>
                <a:latin typeface="Arial"/>
                <a:ea typeface="Arial"/>
                <a:cs typeface="Arial"/>
                <a:sym typeface="Arial"/>
              </a:rPr>
              <a:t>Requires the more extensive CSS form to calculate need and award additional aid</a:t>
            </a:r>
            <a:endParaRPr/>
          </a:p>
          <a:p>
            <a:pPr marL="228600" marR="0" lvl="0" indent="-228600" algn="l" rtl="0">
              <a:lnSpc>
                <a:spcPct val="100000"/>
              </a:lnSpc>
              <a:spcBef>
                <a:spcPts val="1000"/>
              </a:spcBef>
              <a:spcAft>
                <a:spcPts val="0"/>
              </a:spcAft>
              <a:buClr>
                <a:schemeClr val="dk1"/>
              </a:buClr>
              <a:buSzPts val="1800"/>
              <a:buFont typeface="Arial"/>
              <a:buChar char="•"/>
            </a:pPr>
            <a:r>
              <a:rPr lang="en-US" sz="1800" b="0">
                <a:solidFill>
                  <a:schemeClr val="dk1"/>
                </a:solidFill>
                <a:latin typeface="Arial"/>
                <a:ea typeface="Arial"/>
                <a:cs typeface="Arial"/>
                <a:sym typeface="Arial"/>
              </a:rPr>
              <a:t>May have more competitive admissions</a:t>
            </a:r>
            <a:endParaRPr/>
          </a:p>
        </p:txBody>
      </p:sp>
      <p:sp>
        <p:nvSpPr>
          <p:cNvPr id="690" name="Google Shape;690;p40"/>
          <p:cNvSpPr/>
          <p:nvPr/>
        </p:nvSpPr>
        <p:spPr>
          <a:xfrm>
            <a:off x="6304886" y="2545155"/>
            <a:ext cx="5257800" cy="1542504"/>
          </a:xfrm>
          <a:prstGeom prst="roundRect">
            <a:avLst>
              <a:gd name="adj" fmla="val 3705"/>
            </a:avLst>
          </a:prstGeom>
          <a:solidFill>
            <a:srgbClr val="C4C4C6">
              <a:alpha val="30196"/>
            </a:srgbClr>
          </a:solidFill>
          <a:ln w="12700" cap="flat" cmpd="sng">
            <a:solidFill>
              <a:schemeClr val="accent2"/>
            </a:solidFill>
            <a:prstDash val="solid"/>
            <a:round/>
            <a:headEnd type="none" w="sm" len="sm"/>
            <a:tailEnd type="none" w="sm" len="sm"/>
          </a:ln>
        </p:spPr>
        <p:txBody>
          <a:bodyPr spcFirstLastPara="1" wrap="square" lIns="274300" tIns="274300" rIns="274300" bIns="274300" anchor="t" anchorCtr="0">
            <a:noAutofit/>
          </a:bodyPr>
          <a:lstStyle/>
          <a:p>
            <a:pPr marL="228600" marR="0" lvl="0" indent="-228600" algn="l" rtl="0">
              <a:lnSpc>
                <a:spcPct val="100000"/>
              </a:lnSpc>
              <a:spcBef>
                <a:spcPts val="0"/>
              </a:spcBef>
              <a:spcAft>
                <a:spcPts val="0"/>
              </a:spcAft>
              <a:buClr>
                <a:schemeClr val="dk1"/>
              </a:buClr>
              <a:buSzPts val="1800"/>
              <a:buFont typeface="Arial"/>
              <a:buChar char="•"/>
            </a:pPr>
            <a:r>
              <a:rPr lang="en-US" sz="1800" b="0">
                <a:solidFill>
                  <a:schemeClr val="dk1"/>
                </a:solidFill>
                <a:latin typeface="Arial"/>
                <a:ea typeface="Arial"/>
                <a:cs typeface="Arial"/>
                <a:sym typeface="Arial"/>
              </a:rPr>
              <a:t>Often has lower endowments, meaning a potentially lower percentage of need granted</a:t>
            </a:r>
            <a:endParaRPr/>
          </a:p>
        </p:txBody>
      </p:sp>
      <p:sp>
        <p:nvSpPr>
          <p:cNvPr id="691" name="Google Shape;691;p40"/>
          <p:cNvSpPr/>
          <p:nvPr/>
        </p:nvSpPr>
        <p:spPr>
          <a:xfrm>
            <a:off x="629314" y="4816277"/>
            <a:ext cx="10933372" cy="791766"/>
          </a:xfrm>
          <a:prstGeom prst="roundRect">
            <a:avLst>
              <a:gd name="adj" fmla="val 7218"/>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a:solidFill>
                  <a:schemeClr val="accent5"/>
                </a:solidFill>
                <a:latin typeface="Arial"/>
                <a:ea typeface="Arial"/>
                <a:cs typeface="Arial"/>
                <a:sym typeface="Arial"/>
              </a:rPr>
              <a:t>Reminder: </a:t>
            </a:r>
            <a:r>
              <a:rPr lang="en-US" sz="2000">
                <a:solidFill>
                  <a:schemeClr val="accent5"/>
                </a:solidFill>
                <a:latin typeface="Arial"/>
                <a:ea typeface="Arial"/>
                <a:cs typeface="Arial"/>
                <a:sym typeface="Arial"/>
              </a:rPr>
              <a:t>Each school evaluates and responds to applicants’ need differently.</a:t>
            </a:r>
            <a:endParaRPr sz="2000" i="1">
              <a:solidFill>
                <a:schemeClr val="accent5"/>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41"/>
          <p:cNvSpPr txBox="1">
            <a:spLocks noGrp="1"/>
          </p:cNvSpPr>
          <p:nvPr>
            <p:ph type="title"/>
          </p:nvPr>
        </p:nvSpPr>
        <p:spPr>
          <a:xfrm>
            <a:off x="320040" y="3186626"/>
            <a:ext cx="11551920" cy="484748"/>
          </a:xfrm>
          <a:prstGeom prst="roundRect">
            <a:avLst>
              <a:gd name="adj" fmla="val 11789"/>
            </a:avLst>
          </a:prstGeom>
          <a:noFill/>
          <a:ln>
            <a:noFill/>
          </a:ln>
        </p:spPr>
        <p:txBody>
          <a:bodyPr spcFirstLastPara="1" wrap="square" lIns="0" tIns="0" rIns="0" bIns="0" anchor="b" anchorCtr="0">
            <a:spAutoFit/>
          </a:bodyPr>
          <a:lstStyle/>
          <a:p>
            <a:pPr marL="0" lvl="0" indent="0" algn="ctr" rtl="0">
              <a:lnSpc>
                <a:spcPct val="90000"/>
              </a:lnSpc>
              <a:spcBef>
                <a:spcPts val="0"/>
              </a:spcBef>
              <a:spcAft>
                <a:spcPts val="0"/>
              </a:spcAft>
              <a:buClr>
                <a:schemeClr val="lt1"/>
              </a:buClr>
              <a:buSzPts val="3500"/>
              <a:buFont typeface="Arial"/>
              <a:buNone/>
            </a:pPr>
            <a:r>
              <a:rPr lang="en-US"/>
              <a:t>Case Studies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42"/>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Case Study 1</a:t>
            </a:r>
            <a:endParaRPr/>
          </a:p>
        </p:txBody>
      </p:sp>
      <p:sp>
        <p:nvSpPr>
          <p:cNvPr id="704" name="Google Shape;704;p42"/>
          <p:cNvSpPr/>
          <p:nvPr/>
        </p:nvSpPr>
        <p:spPr>
          <a:xfrm>
            <a:off x="1111827" y="-602673"/>
            <a:ext cx="65" cy="338554"/>
          </a:xfrm>
          <a:prstGeom prst="roundRect">
            <a:avLst>
              <a:gd name="adj" fmla="val 50000"/>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705" name="Google Shape;705;p42"/>
          <p:cNvSpPr/>
          <p:nvPr/>
        </p:nvSpPr>
        <p:spPr>
          <a:xfrm>
            <a:off x="3160645" y="2362650"/>
            <a:ext cx="4114800" cy="2064259"/>
          </a:xfrm>
          <a:prstGeom prst="roundRect">
            <a:avLst>
              <a:gd name="adj" fmla="val 2768"/>
            </a:avLst>
          </a:prstGeom>
          <a:solidFill>
            <a:schemeClr val="accent1"/>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1800"/>
              <a:buFont typeface="Arial"/>
              <a:buNone/>
            </a:pPr>
            <a:r>
              <a:rPr lang="en-US" sz="1800" b="0">
                <a:solidFill>
                  <a:schemeClr val="lt1"/>
                </a:solidFill>
                <a:latin typeface="Arial"/>
                <a:ea typeface="Arial"/>
                <a:cs typeface="Arial"/>
                <a:sym typeface="Arial"/>
              </a:rPr>
              <a:t>$92,000 / year</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$68,000 (74% gift)</a:t>
            </a:r>
            <a:endParaRPr/>
          </a:p>
          <a:p>
            <a:pPr marL="0" marR="0" lvl="0" indent="0" algn="l" rtl="0">
              <a:lnSpc>
                <a:spcPct val="100000"/>
              </a:lnSpc>
              <a:spcBef>
                <a:spcPts val="1000"/>
              </a:spcBef>
              <a:spcAft>
                <a:spcPts val="0"/>
              </a:spcAft>
              <a:buClr>
                <a:schemeClr val="lt1"/>
              </a:buClr>
              <a:buSzPts val="1800"/>
              <a:buFont typeface="Arial"/>
              <a:buNone/>
            </a:pPr>
            <a:r>
              <a:rPr lang="en-US" sz="1800" b="1">
                <a:solidFill>
                  <a:schemeClr val="lt1"/>
                </a:solidFill>
                <a:latin typeface="Arial"/>
                <a:ea typeface="Arial"/>
                <a:cs typeface="Arial"/>
                <a:sym typeface="Arial"/>
              </a:rPr>
              <a:t>$24,000 / year</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$96,000 total </a:t>
            </a:r>
            <a:endParaRPr/>
          </a:p>
        </p:txBody>
      </p:sp>
      <p:sp>
        <p:nvSpPr>
          <p:cNvPr id="706" name="Google Shape;706;p42"/>
          <p:cNvSpPr/>
          <p:nvPr/>
        </p:nvSpPr>
        <p:spPr>
          <a:xfrm>
            <a:off x="7516760" y="2362650"/>
            <a:ext cx="4041910" cy="2064259"/>
          </a:xfrm>
          <a:prstGeom prst="roundRect">
            <a:avLst>
              <a:gd name="adj" fmla="val 2768"/>
            </a:avLst>
          </a:prstGeom>
          <a:solidFill>
            <a:schemeClr val="accent5"/>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1800"/>
              <a:buFont typeface="Arial"/>
              <a:buNone/>
            </a:pPr>
            <a:r>
              <a:rPr lang="en-US" sz="1800" b="0">
                <a:solidFill>
                  <a:schemeClr val="lt1"/>
                </a:solidFill>
                <a:latin typeface="Arial"/>
                <a:ea typeface="Arial"/>
                <a:cs typeface="Arial"/>
                <a:sym typeface="Arial"/>
              </a:rPr>
              <a:t>$36,000 / year</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$6,000 (16% gift)</a:t>
            </a:r>
            <a:endParaRPr/>
          </a:p>
          <a:p>
            <a:pPr marL="0" marR="0" lvl="0" indent="0" algn="l" rtl="0">
              <a:lnSpc>
                <a:spcPct val="100000"/>
              </a:lnSpc>
              <a:spcBef>
                <a:spcPts val="1000"/>
              </a:spcBef>
              <a:spcAft>
                <a:spcPts val="0"/>
              </a:spcAft>
              <a:buClr>
                <a:schemeClr val="lt1"/>
              </a:buClr>
              <a:buSzPts val="1800"/>
              <a:buFont typeface="Arial"/>
              <a:buNone/>
            </a:pPr>
            <a:r>
              <a:rPr lang="en-US" sz="1800" b="1">
                <a:solidFill>
                  <a:schemeClr val="lt1"/>
                </a:solidFill>
                <a:latin typeface="Arial"/>
                <a:ea typeface="Arial"/>
                <a:cs typeface="Arial"/>
                <a:sym typeface="Arial"/>
              </a:rPr>
              <a:t>$30,000 / year </a:t>
            </a:r>
            <a:endParaRPr/>
          </a:p>
          <a:p>
            <a:pPr marL="0" marR="0" lvl="0" indent="0" algn="l" rtl="0">
              <a:lnSpc>
                <a:spcPct val="100000"/>
              </a:lnSpc>
              <a:spcBef>
                <a:spcPts val="1000"/>
              </a:spcBef>
              <a:spcAft>
                <a:spcPts val="0"/>
              </a:spcAft>
              <a:buClr>
                <a:schemeClr val="lt1"/>
              </a:buClr>
              <a:buSzPts val="1800"/>
              <a:buFont typeface="Arial"/>
              <a:buNone/>
            </a:pPr>
            <a:r>
              <a:rPr lang="en-US" sz="1800" b="0">
                <a:solidFill>
                  <a:schemeClr val="lt1"/>
                </a:solidFill>
                <a:latin typeface="Arial"/>
                <a:ea typeface="Arial"/>
                <a:cs typeface="Arial"/>
                <a:sym typeface="Arial"/>
              </a:rPr>
              <a:t>$120,000 total</a:t>
            </a:r>
            <a:endParaRPr/>
          </a:p>
        </p:txBody>
      </p:sp>
      <p:sp>
        <p:nvSpPr>
          <p:cNvPr id="707" name="Google Shape;707;p42"/>
          <p:cNvSpPr/>
          <p:nvPr/>
        </p:nvSpPr>
        <p:spPr>
          <a:xfrm>
            <a:off x="3160645" y="1927654"/>
            <a:ext cx="4114800" cy="400110"/>
          </a:xfrm>
          <a:prstGeom prst="roundRect">
            <a:avLst>
              <a:gd name="adj" fmla="val 14283"/>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Private School</a:t>
            </a:r>
            <a:endParaRPr/>
          </a:p>
        </p:txBody>
      </p:sp>
      <p:sp>
        <p:nvSpPr>
          <p:cNvPr id="708" name="Google Shape;708;p42"/>
          <p:cNvSpPr/>
          <p:nvPr/>
        </p:nvSpPr>
        <p:spPr>
          <a:xfrm>
            <a:off x="7516760" y="1927654"/>
            <a:ext cx="4114800" cy="400110"/>
          </a:xfrm>
          <a:prstGeom prst="roundRect">
            <a:avLst>
              <a:gd name="adj" fmla="val 14283"/>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State School</a:t>
            </a:r>
            <a:endParaRPr/>
          </a:p>
        </p:txBody>
      </p:sp>
      <p:sp>
        <p:nvSpPr>
          <p:cNvPr id="709" name="Google Shape;709;p42"/>
          <p:cNvSpPr/>
          <p:nvPr/>
        </p:nvSpPr>
        <p:spPr>
          <a:xfrm>
            <a:off x="560440" y="2362650"/>
            <a:ext cx="2711382" cy="2066508"/>
          </a:xfrm>
          <a:prstGeom prst="roundRect">
            <a:avLst>
              <a:gd name="adj" fmla="val 2765"/>
            </a:avLst>
          </a:prstGeom>
          <a:noFill/>
          <a:ln>
            <a:noFill/>
          </a:ln>
        </p:spPr>
        <p:txBody>
          <a:bodyPr spcFirstLastPara="1" wrap="square" lIns="274300" tIns="274300" rIns="274300" bIns="274300" anchor="t" anchorCtr="0">
            <a:spAutoFit/>
          </a:bodyPr>
          <a:lstStyle/>
          <a:p>
            <a:pPr marL="0" marR="0" lvl="0" indent="0" algn="r" rtl="0">
              <a:spcBef>
                <a:spcPts val="0"/>
              </a:spcBef>
              <a:spcAft>
                <a:spcPts val="0"/>
              </a:spcAft>
              <a:buNone/>
            </a:pPr>
            <a:r>
              <a:rPr lang="en-US" sz="1800">
                <a:solidFill>
                  <a:schemeClr val="dk1"/>
                </a:solidFill>
                <a:latin typeface="Arial"/>
                <a:ea typeface="Arial"/>
                <a:cs typeface="Arial"/>
                <a:sym typeface="Arial"/>
              </a:rPr>
              <a:t>Sticker Price (COA)</a:t>
            </a:r>
            <a:endParaRPr/>
          </a:p>
          <a:p>
            <a:pPr marL="0" marR="0" lvl="0" indent="0" algn="r" rtl="0">
              <a:spcBef>
                <a:spcPts val="1000"/>
              </a:spcBef>
              <a:spcAft>
                <a:spcPts val="0"/>
              </a:spcAft>
              <a:buNone/>
            </a:pPr>
            <a:r>
              <a:rPr lang="en-US" sz="1800">
                <a:solidFill>
                  <a:schemeClr val="dk1"/>
                </a:solidFill>
                <a:latin typeface="Arial"/>
                <a:ea typeface="Arial"/>
                <a:cs typeface="Arial"/>
                <a:sym typeface="Arial"/>
              </a:rPr>
              <a:t>Gift Aid Received</a:t>
            </a:r>
            <a:endParaRPr/>
          </a:p>
          <a:p>
            <a:pPr marL="0" marR="0" lvl="0" indent="0" algn="r" rtl="0">
              <a:spcBef>
                <a:spcPts val="1000"/>
              </a:spcBef>
              <a:spcAft>
                <a:spcPts val="0"/>
              </a:spcAft>
              <a:buNone/>
            </a:pPr>
            <a:r>
              <a:rPr lang="en-US" sz="1800">
                <a:solidFill>
                  <a:schemeClr val="dk1"/>
                </a:solidFill>
                <a:latin typeface="Arial"/>
                <a:ea typeface="Arial"/>
                <a:cs typeface="Arial"/>
                <a:sym typeface="Arial"/>
              </a:rPr>
              <a:t>Your Out-of-Pocket</a:t>
            </a:r>
            <a:endParaRPr/>
          </a:p>
          <a:p>
            <a:pPr marL="0" marR="0" lvl="0" indent="0" algn="r" rtl="0">
              <a:spcBef>
                <a:spcPts val="1000"/>
              </a:spcBef>
              <a:spcAft>
                <a:spcPts val="0"/>
              </a:spcAft>
              <a:buNone/>
            </a:pPr>
            <a:r>
              <a:rPr lang="en-US" sz="1800">
                <a:solidFill>
                  <a:schemeClr val="dk1"/>
                </a:solidFill>
                <a:latin typeface="Arial"/>
                <a:ea typeface="Arial"/>
                <a:cs typeface="Arial"/>
                <a:sym typeface="Arial"/>
              </a:rPr>
              <a:t>Over 4 Years</a:t>
            </a:r>
            <a:endParaRPr/>
          </a:p>
        </p:txBody>
      </p:sp>
      <p:sp>
        <p:nvSpPr>
          <p:cNvPr id="710" name="Google Shape;710;p42"/>
          <p:cNvSpPr/>
          <p:nvPr/>
        </p:nvSpPr>
        <p:spPr>
          <a:xfrm>
            <a:off x="611553" y="1283065"/>
            <a:ext cx="10891837" cy="461963"/>
          </a:xfrm>
          <a:prstGeom prst="roundRect">
            <a:avLst>
              <a:gd name="adj" fmla="val 12371"/>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Private vs. State School — The Math</a:t>
            </a:r>
            <a:endParaRPr/>
          </a:p>
        </p:txBody>
      </p:sp>
      <p:sp>
        <p:nvSpPr>
          <p:cNvPr id="711" name="Google Shape;711;p42"/>
          <p:cNvSpPr/>
          <p:nvPr/>
        </p:nvSpPr>
        <p:spPr>
          <a:xfrm>
            <a:off x="633331" y="4896723"/>
            <a:ext cx="10930020" cy="1180862"/>
          </a:xfrm>
          <a:prstGeom prst="roundRect">
            <a:avLst>
              <a:gd name="adj" fmla="val 4839"/>
            </a:avLst>
          </a:prstGeom>
          <a:solidFill>
            <a:srgbClr val="60BBFF">
              <a:alpha val="20000"/>
            </a:srgbClr>
          </a:solidFill>
          <a:ln>
            <a:noFill/>
          </a:ln>
        </p:spPr>
        <p:txBody>
          <a:bodyPr spcFirstLastPara="1" wrap="square" lIns="274300" tIns="274300" rIns="274300" bIns="274300" anchor="t" anchorCtr="0">
            <a:spAutoFit/>
          </a:bodyPr>
          <a:lstStyle/>
          <a:p>
            <a:pPr marL="0" marR="0" lvl="0" indent="0" algn="l" rtl="0">
              <a:lnSpc>
                <a:spcPct val="100000"/>
              </a:lnSpc>
              <a:spcBef>
                <a:spcPts val="0"/>
              </a:spcBef>
              <a:spcAft>
                <a:spcPts val="0"/>
              </a:spcAft>
              <a:buClr>
                <a:schemeClr val="accent5"/>
              </a:buClr>
              <a:buSzPts val="2000"/>
              <a:buFont typeface="Arial"/>
              <a:buNone/>
            </a:pPr>
            <a:r>
              <a:rPr lang="en-US" sz="2000" b="0">
                <a:solidFill>
                  <a:schemeClr val="accent5"/>
                </a:solidFill>
                <a:latin typeface="Arial"/>
                <a:ea typeface="Arial"/>
                <a:cs typeface="Arial"/>
                <a:sym typeface="Arial"/>
              </a:rPr>
              <a:t>Most state schools have rigid budgets and limited merit pools—they rarely bid for students by offering large discounts based on evaluated fit or class profile.</a:t>
            </a:r>
            <a:endParaRPr/>
          </a:p>
        </p:txBody>
      </p:sp>
      <p:sp>
        <p:nvSpPr>
          <p:cNvPr id="712" name="Google Shape;712;p42"/>
          <p:cNvSpPr/>
          <p:nvPr/>
        </p:nvSpPr>
        <p:spPr>
          <a:xfrm>
            <a:off x="633330" y="4426909"/>
            <a:ext cx="4494169" cy="434935"/>
          </a:xfrm>
          <a:prstGeom prst="roundRect">
            <a:avLst>
              <a:gd name="adj" fmla="val 13139"/>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dirty="0">
                <a:solidFill>
                  <a:schemeClr val="accent1"/>
                </a:solidFill>
                <a:latin typeface="Arial"/>
                <a:ea typeface="Arial"/>
                <a:cs typeface="Arial"/>
                <a:sym typeface="Arial"/>
              </a:rPr>
              <a:t>The Result</a:t>
            </a:r>
            <a:endParaRPr dirty="0"/>
          </a:p>
        </p:txBody>
      </p:sp>
      <p:sp>
        <p:nvSpPr>
          <p:cNvPr id="713" name="Google Shape;713;p42"/>
          <p:cNvSpPr txBox="1"/>
          <p:nvPr/>
        </p:nvSpPr>
        <p:spPr>
          <a:xfrm>
            <a:off x="633330" y="6260068"/>
            <a:ext cx="609372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*Hypothetical example shown for illustrative purposes only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43"/>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20" name="Google Shape;720;p43"/>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721" name="Google Shape;721;p43"/>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Case Study 2</a:t>
            </a:r>
            <a:endParaRPr/>
          </a:p>
        </p:txBody>
      </p:sp>
      <p:sp>
        <p:nvSpPr>
          <p:cNvPr id="722" name="Google Shape;722;p43"/>
          <p:cNvSpPr/>
          <p:nvPr/>
        </p:nvSpPr>
        <p:spPr>
          <a:xfrm>
            <a:off x="671513" y="2295524"/>
            <a:ext cx="5257800" cy="3195577"/>
          </a:xfrm>
          <a:prstGeom prst="roundRect">
            <a:avLst>
              <a:gd name="adj" fmla="val 1788"/>
            </a:avLst>
          </a:prstGeom>
          <a:solidFill>
            <a:schemeClr val="accent1"/>
          </a:solidFill>
          <a:ln>
            <a:noFill/>
          </a:ln>
        </p:spPr>
        <p:txBody>
          <a:bodyPr spcFirstLastPara="1" wrap="square" lIns="274300" tIns="274300" rIns="274300" bIns="274300" anchor="t" anchorCtr="0">
            <a:noAutofit/>
          </a:bodyPr>
          <a:lstStyle/>
          <a:p>
            <a:pPr marL="228600" marR="0" lvl="0" indent="-228600" algn="l" rtl="0">
              <a:lnSpc>
                <a:spcPct val="100000"/>
              </a:lnSpc>
              <a:spcBef>
                <a:spcPts val="0"/>
              </a:spcBef>
              <a:spcAft>
                <a:spcPts val="0"/>
              </a:spcAft>
              <a:buClr>
                <a:schemeClr val="lt1"/>
              </a:buClr>
              <a:buSzPts val="1700"/>
              <a:buFont typeface="Arial"/>
              <a:buChar char="•"/>
            </a:pPr>
            <a:r>
              <a:rPr lang="en-US" sz="1700" b="0">
                <a:solidFill>
                  <a:schemeClr val="lt1"/>
                </a:solidFill>
                <a:latin typeface="Arial"/>
                <a:ea typeface="Arial"/>
                <a:cs typeface="Arial"/>
                <a:sym typeface="Arial"/>
              </a:rPr>
              <a:t>Divorced parents; annual income of $55,000. Robert had $23,500 in his own name.</a:t>
            </a:r>
            <a:endParaRPr/>
          </a:p>
          <a:p>
            <a:pPr marL="228600" marR="0" lvl="0" indent="-228600" algn="l" rtl="0">
              <a:lnSpc>
                <a:spcPct val="100000"/>
              </a:lnSpc>
              <a:spcBef>
                <a:spcPts val="1000"/>
              </a:spcBef>
              <a:spcAft>
                <a:spcPts val="0"/>
              </a:spcAft>
              <a:buClr>
                <a:schemeClr val="lt1"/>
              </a:buClr>
              <a:buSzPts val="1700"/>
              <a:buFont typeface="Arial"/>
              <a:buChar char="•"/>
            </a:pPr>
            <a:r>
              <a:rPr lang="en-US" sz="1700" b="0">
                <a:solidFill>
                  <a:schemeClr val="lt1"/>
                </a:solidFill>
                <a:latin typeface="Arial"/>
                <a:ea typeface="Arial"/>
                <a:cs typeface="Arial"/>
                <a:sym typeface="Arial"/>
              </a:rPr>
              <a:t>Likely to get into the University of California, San Diego, but tuition was $46,353.</a:t>
            </a:r>
            <a:endParaRPr sz="1700" b="0">
              <a:solidFill>
                <a:schemeClr val="lt1"/>
              </a:solidFill>
              <a:latin typeface="Arial"/>
              <a:ea typeface="Arial"/>
              <a:cs typeface="Arial"/>
              <a:sym typeface="Arial"/>
            </a:endParaRPr>
          </a:p>
          <a:p>
            <a:pPr marL="228600" marR="0" lvl="0" indent="-228600" algn="l" rtl="0">
              <a:lnSpc>
                <a:spcPct val="100000"/>
              </a:lnSpc>
              <a:spcBef>
                <a:spcPts val="1000"/>
              </a:spcBef>
              <a:spcAft>
                <a:spcPts val="0"/>
              </a:spcAft>
              <a:buClr>
                <a:schemeClr val="lt1"/>
              </a:buClr>
              <a:buSzPts val="1700"/>
              <a:buFont typeface="Arial"/>
              <a:buChar char="•"/>
            </a:pPr>
            <a:r>
              <a:rPr lang="en-US" sz="1700" b="1">
                <a:solidFill>
                  <a:schemeClr val="lt1"/>
                </a:solidFill>
                <a:latin typeface="Arial"/>
                <a:ea typeface="Arial"/>
                <a:cs typeface="Arial"/>
                <a:sym typeface="Arial"/>
              </a:rPr>
              <a:t>High student asset ownership was hurting aid eligibility. His SAI was only $16,210.</a:t>
            </a:r>
            <a:endParaRPr/>
          </a:p>
        </p:txBody>
      </p:sp>
      <p:sp>
        <p:nvSpPr>
          <p:cNvPr id="723" name="Google Shape;723;p43"/>
          <p:cNvSpPr/>
          <p:nvPr/>
        </p:nvSpPr>
        <p:spPr>
          <a:xfrm>
            <a:off x="6304852" y="2295524"/>
            <a:ext cx="5257800" cy="3195578"/>
          </a:xfrm>
          <a:prstGeom prst="roundRect">
            <a:avLst>
              <a:gd name="adj" fmla="val 1788"/>
            </a:avLst>
          </a:prstGeom>
          <a:solidFill>
            <a:schemeClr val="accent5"/>
          </a:solidFill>
          <a:ln>
            <a:noFill/>
          </a:ln>
        </p:spPr>
        <p:txBody>
          <a:bodyPr spcFirstLastPara="1" wrap="square" lIns="274300" tIns="274300" rIns="274300" bIns="274300" anchor="t" anchorCtr="0">
            <a:spAutoFit/>
          </a:bodyPr>
          <a:lstStyle/>
          <a:p>
            <a:pPr marL="228600" marR="0" lvl="0" indent="-228600" algn="l" rtl="0">
              <a:lnSpc>
                <a:spcPct val="100000"/>
              </a:lnSpc>
              <a:spcBef>
                <a:spcPts val="0"/>
              </a:spcBef>
              <a:spcAft>
                <a:spcPts val="0"/>
              </a:spcAft>
              <a:buClr>
                <a:schemeClr val="lt1"/>
              </a:buClr>
              <a:buSzPts val="1700"/>
              <a:buFont typeface="Arial"/>
              <a:buChar char="•"/>
            </a:pPr>
            <a:r>
              <a:rPr lang="en-US" sz="1700" b="0">
                <a:solidFill>
                  <a:schemeClr val="lt1"/>
                </a:solidFill>
                <a:latin typeface="Arial"/>
                <a:ea typeface="Arial"/>
                <a:cs typeface="Arial"/>
                <a:sym typeface="Arial"/>
              </a:rPr>
              <a:t>SAI determines the contributing parent in divorce cases as the one who provides the most financial support, regardless of residency.</a:t>
            </a:r>
            <a:endParaRPr/>
          </a:p>
          <a:p>
            <a:pPr marL="228600" marR="0" lvl="0" indent="-228600" algn="l" rtl="0">
              <a:lnSpc>
                <a:spcPct val="100000"/>
              </a:lnSpc>
              <a:spcBef>
                <a:spcPts val="1000"/>
              </a:spcBef>
              <a:spcAft>
                <a:spcPts val="0"/>
              </a:spcAft>
              <a:buClr>
                <a:schemeClr val="lt1"/>
              </a:buClr>
              <a:buSzPts val="1700"/>
              <a:buFont typeface="Arial"/>
              <a:buChar char="•"/>
            </a:pPr>
            <a:r>
              <a:rPr lang="en-US" sz="1700" b="0">
                <a:solidFill>
                  <a:schemeClr val="lt1"/>
                </a:solidFill>
                <a:latin typeface="Arial"/>
                <a:ea typeface="Arial"/>
                <a:cs typeface="Arial"/>
                <a:sym typeface="Arial"/>
              </a:rPr>
              <a:t>Reposition Robert’s assets during base reporting years to the </a:t>
            </a:r>
            <a:r>
              <a:rPr lang="en-US" sz="1700" b="1">
                <a:solidFill>
                  <a:schemeClr val="lt1"/>
                </a:solidFill>
                <a:latin typeface="Arial"/>
                <a:ea typeface="Arial"/>
                <a:cs typeface="Arial"/>
                <a:sym typeface="Arial"/>
              </a:rPr>
              <a:t>non-contributing parent</a:t>
            </a:r>
            <a:r>
              <a:rPr lang="en-US" sz="1700" b="0">
                <a:solidFill>
                  <a:schemeClr val="lt1"/>
                </a:solidFill>
                <a:latin typeface="Arial"/>
                <a:ea typeface="Arial"/>
                <a:cs typeface="Arial"/>
                <a:sym typeface="Arial"/>
              </a:rPr>
              <a:t>.</a:t>
            </a:r>
            <a:endParaRPr/>
          </a:p>
          <a:p>
            <a:pPr marL="228600" marR="0" lvl="0" indent="-228600" algn="l" rtl="0">
              <a:lnSpc>
                <a:spcPct val="100000"/>
              </a:lnSpc>
              <a:spcBef>
                <a:spcPts val="1000"/>
              </a:spcBef>
              <a:spcAft>
                <a:spcPts val="0"/>
              </a:spcAft>
              <a:buClr>
                <a:schemeClr val="lt1"/>
              </a:buClr>
              <a:buSzPts val="1700"/>
              <a:buFont typeface="Arial"/>
              <a:buChar char="•"/>
            </a:pPr>
            <a:r>
              <a:rPr lang="en-US" sz="1700" b="0">
                <a:solidFill>
                  <a:schemeClr val="lt1"/>
                </a:solidFill>
                <a:latin typeface="Arial"/>
                <a:ea typeface="Arial"/>
                <a:cs typeface="Arial"/>
                <a:sym typeface="Arial"/>
              </a:rPr>
              <a:t>New SAI $4,176, qualifying Robert for a $42,177 aid package.</a:t>
            </a:r>
            <a:endParaRPr/>
          </a:p>
        </p:txBody>
      </p:sp>
      <p:sp>
        <p:nvSpPr>
          <p:cNvPr id="724" name="Google Shape;724;p43"/>
          <p:cNvSpPr/>
          <p:nvPr/>
        </p:nvSpPr>
        <p:spPr>
          <a:xfrm>
            <a:off x="670879" y="1861267"/>
            <a:ext cx="5030071"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Situation</a:t>
            </a:r>
            <a:endParaRPr/>
          </a:p>
        </p:txBody>
      </p:sp>
      <p:sp>
        <p:nvSpPr>
          <p:cNvPr id="725" name="Google Shape;725;p43"/>
          <p:cNvSpPr/>
          <p:nvPr/>
        </p:nvSpPr>
        <p:spPr>
          <a:xfrm>
            <a:off x="6304872" y="1861267"/>
            <a:ext cx="5216249"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Strategy</a:t>
            </a:r>
            <a:endParaRPr/>
          </a:p>
        </p:txBody>
      </p:sp>
      <p:sp>
        <p:nvSpPr>
          <p:cNvPr id="726" name="Google Shape;726;p43"/>
          <p:cNvSpPr/>
          <p:nvPr/>
        </p:nvSpPr>
        <p:spPr>
          <a:xfrm>
            <a:off x="625907" y="1342700"/>
            <a:ext cx="10891775" cy="461665"/>
          </a:xfrm>
          <a:prstGeom prst="roundRect">
            <a:avLst>
              <a:gd name="adj" fmla="val 12379"/>
            </a:avLst>
          </a:prstGeom>
          <a:noFill/>
          <a:ln>
            <a:noFill/>
          </a:ln>
        </p:spPr>
        <p:txBody>
          <a:bodyPr spcFirstLastPara="1" wrap="square" lIns="0" tIns="0" rIns="0" bIns="91425" anchor="b"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Robert — Divorced Parents, State School</a:t>
            </a:r>
            <a:endParaRPr/>
          </a:p>
        </p:txBody>
      </p:sp>
      <p:sp>
        <p:nvSpPr>
          <p:cNvPr id="727" name="Google Shape;727;p43"/>
          <p:cNvSpPr/>
          <p:nvPr/>
        </p:nvSpPr>
        <p:spPr>
          <a:xfrm>
            <a:off x="1111827" y="-602673"/>
            <a:ext cx="90" cy="338554"/>
          </a:xfrm>
          <a:prstGeom prst="roundRect">
            <a:avLst>
              <a:gd name="adj" fmla="val 50000"/>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728" name="Google Shape;728;p43"/>
          <p:cNvSpPr txBox="1"/>
          <p:nvPr/>
        </p:nvSpPr>
        <p:spPr>
          <a:xfrm>
            <a:off x="633330" y="6260068"/>
            <a:ext cx="609372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*Hypothetical example shown for illustrative purposes only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44"/>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35" name="Google Shape;735;p44"/>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736" name="Google Shape;736;p44"/>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Case Study 3</a:t>
            </a:r>
            <a:endParaRPr/>
          </a:p>
        </p:txBody>
      </p:sp>
      <p:sp>
        <p:nvSpPr>
          <p:cNvPr id="737" name="Google Shape;737;p44"/>
          <p:cNvSpPr/>
          <p:nvPr/>
        </p:nvSpPr>
        <p:spPr>
          <a:xfrm>
            <a:off x="627115" y="2130118"/>
            <a:ext cx="5302198" cy="2734433"/>
          </a:xfrm>
          <a:prstGeom prst="roundRect">
            <a:avLst>
              <a:gd name="adj" fmla="val 2090"/>
            </a:avLst>
          </a:prstGeom>
          <a:solidFill>
            <a:schemeClr val="accent1"/>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lt1"/>
              </a:buClr>
              <a:buSzPts val="1700"/>
              <a:buFont typeface="Arial"/>
              <a:buNone/>
            </a:pPr>
            <a:r>
              <a:rPr lang="en-US" sz="1700" b="0" dirty="0">
                <a:solidFill>
                  <a:schemeClr val="lt1"/>
                </a:solidFill>
                <a:latin typeface="Arial"/>
                <a:ea typeface="Arial"/>
                <a:cs typeface="Arial"/>
                <a:sym typeface="Arial"/>
              </a:rPr>
              <a:t>Kevin's household income was $450,000, and their reportable assets were at $1.1 million. </a:t>
            </a:r>
            <a:endParaRPr dirty="0"/>
          </a:p>
          <a:p>
            <a:pPr marL="0" marR="0" lvl="0" indent="0" algn="l" rtl="0">
              <a:lnSpc>
                <a:spcPct val="100000"/>
              </a:lnSpc>
              <a:spcBef>
                <a:spcPts val="1000"/>
              </a:spcBef>
              <a:spcAft>
                <a:spcPts val="0"/>
              </a:spcAft>
              <a:buClr>
                <a:schemeClr val="lt1"/>
              </a:buClr>
              <a:buSzPts val="1700"/>
              <a:buFont typeface="Arial"/>
              <a:buNone/>
            </a:pPr>
            <a:r>
              <a:rPr lang="en-US" sz="1700" b="0" dirty="0">
                <a:solidFill>
                  <a:schemeClr val="lt1"/>
                </a:solidFill>
                <a:latin typeface="Arial"/>
                <a:ea typeface="Arial"/>
                <a:cs typeface="Arial"/>
                <a:sym typeface="Arial"/>
              </a:rPr>
              <a:t>Kevin’s target school is Baylor, with a tuition cost that year of $78,452.</a:t>
            </a:r>
            <a:endParaRPr dirty="0"/>
          </a:p>
          <a:p>
            <a:pPr marL="0" marR="0" lvl="0" indent="0" algn="l" rtl="0">
              <a:lnSpc>
                <a:spcPct val="100000"/>
              </a:lnSpc>
              <a:spcBef>
                <a:spcPts val="1000"/>
              </a:spcBef>
              <a:spcAft>
                <a:spcPts val="0"/>
              </a:spcAft>
              <a:buClr>
                <a:schemeClr val="lt1"/>
              </a:buClr>
              <a:buSzPts val="1700"/>
              <a:buFont typeface="Arial"/>
              <a:buNone/>
            </a:pPr>
            <a:r>
              <a:rPr lang="en-US" sz="1700" b="0" dirty="0">
                <a:solidFill>
                  <a:schemeClr val="lt1"/>
                </a:solidFill>
                <a:latin typeface="Arial"/>
                <a:ea typeface="Arial"/>
                <a:cs typeface="Arial"/>
                <a:sym typeface="Arial"/>
              </a:rPr>
              <a:t>Most families would assume they get nothing.</a:t>
            </a:r>
            <a:endParaRPr dirty="0"/>
          </a:p>
        </p:txBody>
      </p:sp>
      <p:sp>
        <p:nvSpPr>
          <p:cNvPr id="738" name="Google Shape;738;p44"/>
          <p:cNvSpPr/>
          <p:nvPr/>
        </p:nvSpPr>
        <p:spPr>
          <a:xfrm>
            <a:off x="642216" y="1770771"/>
            <a:ext cx="5030071"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Situation</a:t>
            </a:r>
            <a:endParaRPr/>
          </a:p>
        </p:txBody>
      </p:sp>
      <p:sp>
        <p:nvSpPr>
          <p:cNvPr id="739" name="Google Shape;739;p44"/>
          <p:cNvSpPr/>
          <p:nvPr/>
        </p:nvSpPr>
        <p:spPr>
          <a:xfrm>
            <a:off x="599335" y="1296985"/>
            <a:ext cx="10891775" cy="461665"/>
          </a:xfrm>
          <a:prstGeom prst="roundRect">
            <a:avLst>
              <a:gd name="adj" fmla="val 12379"/>
            </a:avLst>
          </a:prstGeom>
          <a:noFill/>
          <a:ln>
            <a:noFill/>
          </a:ln>
        </p:spPr>
        <p:txBody>
          <a:bodyPr spcFirstLastPara="1" wrap="square" lIns="0" tIns="0" rIns="0" bIns="91425" anchor="b"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Kevin — High-Income Earning Family</a:t>
            </a:r>
            <a:endParaRPr/>
          </a:p>
        </p:txBody>
      </p:sp>
      <p:sp>
        <p:nvSpPr>
          <p:cNvPr id="740" name="Google Shape;740;p44"/>
          <p:cNvSpPr/>
          <p:nvPr/>
        </p:nvSpPr>
        <p:spPr>
          <a:xfrm>
            <a:off x="1111827" y="-602673"/>
            <a:ext cx="90" cy="338554"/>
          </a:xfrm>
          <a:prstGeom prst="roundRect">
            <a:avLst>
              <a:gd name="adj" fmla="val 50000"/>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2200">
              <a:solidFill>
                <a:schemeClr val="dk1"/>
              </a:solidFill>
              <a:latin typeface="Arial"/>
              <a:ea typeface="Arial"/>
              <a:cs typeface="Arial"/>
              <a:sym typeface="Arial"/>
            </a:endParaRPr>
          </a:p>
        </p:txBody>
      </p:sp>
      <p:sp>
        <p:nvSpPr>
          <p:cNvPr id="741" name="Google Shape;741;p44"/>
          <p:cNvSpPr/>
          <p:nvPr/>
        </p:nvSpPr>
        <p:spPr>
          <a:xfrm>
            <a:off x="6302248" y="2138490"/>
            <a:ext cx="5277950" cy="2734433"/>
          </a:xfrm>
          <a:prstGeom prst="roundRect">
            <a:avLst>
              <a:gd name="adj" fmla="val 2090"/>
            </a:avLst>
          </a:prstGeom>
          <a:solidFill>
            <a:schemeClr val="accent5"/>
          </a:solidFill>
          <a:ln>
            <a:noFill/>
          </a:ln>
        </p:spPr>
        <p:txBody>
          <a:bodyPr spcFirstLastPara="1" wrap="square" lIns="274300" tIns="274300" rIns="274300" bIns="274300" anchor="t" anchorCtr="0">
            <a:noAutofit/>
          </a:bodyPr>
          <a:lstStyle/>
          <a:p>
            <a:pPr marR="0" lvl="0" algn="l" rtl="0">
              <a:lnSpc>
                <a:spcPct val="100000"/>
              </a:lnSpc>
              <a:spcAft>
                <a:spcPts val="1000"/>
              </a:spcAft>
              <a:buClr>
                <a:schemeClr val="lt1"/>
              </a:buClr>
              <a:buSzPts val="1700"/>
              <a:buFont typeface="Arial"/>
              <a:buNone/>
            </a:pPr>
            <a:r>
              <a:rPr lang="en-US" sz="1700" b="1" dirty="0">
                <a:solidFill>
                  <a:schemeClr val="lt1"/>
                </a:solidFill>
                <a:latin typeface="Arial"/>
                <a:ea typeface="Arial"/>
                <a:cs typeface="Arial"/>
                <a:sym typeface="Arial"/>
              </a:rPr>
              <a:t>Income Adjustment</a:t>
            </a:r>
            <a:endParaRPr dirty="0"/>
          </a:p>
          <a:p>
            <a:pPr marR="0" lvl="0" algn="l" rtl="0">
              <a:lnSpc>
                <a:spcPct val="100000"/>
              </a:lnSpc>
              <a:spcAft>
                <a:spcPts val="1000"/>
              </a:spcAft>
              <a:buClr>
                <a:schemeClr val="lt1"/>
              </a:buClr>
              <a:buSzPts val="1700"/>
              <a:buFont typeface="Arial"/>
              <a:buNone/>
            </a:pPr>
            <a:r>
              <a:rPr lang="en-US" sz="1700" b="0" dirty="0">
                <a:solidFill>
                  <a:schemeClr val="lt1"/>
                </a:solidFill>
                <a:latin typeface="Arial"/>
                <a:ea typeface="Arial"/>
                <a:cs typeface="Arial"/>
                <a:sym typeface="Arial"/>
              </a:rPr>
              <a:t>Sought to increase income deferrals to lower their Adjusted Gross Income (AGI).</a:t>
            </a:r>
            <a:endParaRPr lang="en-US" dirty="0"/>
          </a:p>
          <a:p>
            <a:pPr marR="0" lvl="0" algn="l" rtl="0">
              <a:lnSpc>
                <a:spcPct val="100000"/>
              </a:lnSpc>
              <a:spcAft>
                <a:spcPts val="1000"/>
              </a:spcAft>
              <a:buClr>
                <a:schemeClr val="lt1"/>
              </a:buClr>
              <a:buSzPts val="1700"/>
              <a:buFont typeface="Arial"/>
              <a:buNone/>
            </a:pPr>
            <a:r>
              <a:rPr lang="en-US" sz="1700" b="1" dirty="0">
                <a:solidFill>
                  <a:schemeClr val="lt1"/>
                </a:solidFill>
                <a:latin typeface="Arial"/>
                <a:ea typeface="Arial"/>
                <a:cs typeface="Arial"/>
                <a:sym typeface="Arial"/>
              </a:rPr>
              <a:t>Asset Adjustment</a:t>
            </a:r>
            <a:endParaRPr dirty="0"/>
          </a:p>
          <a:p>
            <a:pPr marR="0" lvl="0" algn="l" rtl="0">
              <a:lnSpc>
                <a:spcPct val="100000"/>
              </a:lnSpc>
              <a:spcAft>
                <a:spcPts val="1000"/>
              </a:spcAft>
              <a:buClr>
                <a:schemeClr val="lt1"/>
              </a:buClr>
              <a:buSzPts val="1700"/>
              <a:buFont typeface="Arial"/>
              <a:buNone/>
            </a:pPr>
            <a:r>
              <a:rPr lang="en-US" sz="1700" b="0" dirty="0">
                <a:solidFill>
                  <a:schemeClr val="lt1"/>
                </a:solidFill>
                <a:latin typeface="Arial"/>
                <a:ea typeface="Arial"/>
                <a:cs typeface="Arial"/>
                <a:sym typeface="Arial"/>
              </a:rPr>
              <a:t>Moved $1.1 million from reportable accounts </a:t>
            </a:r>
            <a:r>
              <a:rPr lang="en-US" sz="1700" b="1" dirty="0">
                <a:solidFill>
                  <a:schemeClr val="lt1"/>
                </a:solidFill>
                <a:latin typeface="Arial"/>
                <a:ea typeface="Arial"/>
                <a:cs typeface="Arial"/>
                <a:sym typeface="Arial"/>
              </a:rPr>
              <a:t>into non-reportable vehicles</a:t>
            </a:r>
            <a:r>
              <a:rPr lang="en-US" sz="1700" b="0" dirty="0">
                <a:solidFill>
                  <a:schemeClr val="lt1"/>
                </a:solidFill>
                <a:latin typeface="Arial"/>
                <a:ea typeface="Arial"/>
                <a:cs typeface="Arial"/>
                <a:sym typeface="Arial"/>
              </a:rPr>
              <a:t> like </a:t>
            </a:r>
            <a:r>
              <a:rPr lang="en-US" sz="1700" b="1" dirty="0">
                <a:solidFill>
                  <a:schemeClr val="lt1"/>
                </a:solidFill>
                <a:latin typeface="Arial"/>
                <a:ea typeface="Arial"/>
                <a:cs typeface="Arial"/>
                <a:sym typeface="Arial"/>
              </a:rPr>
              <a:t>non-qualified annuities</a:t>
            </a:r>
            <a:r>
              <a:rPr lang="en-US" sz="1700" b="0" dirty="0">
                <a:solidFill>
                  <a:schemeClr val="lt1"/>
                </a:solidFill>
                <a:latin typeface="Arial"/>
                <a:ea typeface="Arial"/>
                <a:cs typeface="Arial"/>
                <a:sym typeface="Arial"/>
              </a:rPr>
              <a:t> and </a:t>
            </a:r>
            <a:r>
              <a:rPr lang="en-US" sz="1700" b="1" dirty="0">
                <a:solidFill>
                  <a:schemeClr val="lt1"/>
                </a:solidFill>
                <a:latin typeface="Arial"/>
                <a:ea typeface="Arial"/>
                <a:cs typeface="Arial"/>
                <a:sym typeface="Arial"/>
              </a:rPr>
              <a:t>cash-value life insurance.</a:t>
            </a:r>
            <a:endParaRPr dirty="0"/>
          </a:p>
        </p:txBody>
      </p:sp>
      <p:sp>
        <p:nvSpPr>
          <p:cNvPr id="742" name="Google Shape;742;p44"/>
          <p:cNvSpPr/>
          <p:nvPr/>
        </p:nvSpPr>
        <p:spPr>
          <a:xfrm>
            <a:off x="6045222" y="1740995"/>
            <a:ext cx="5030071"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Strategy</a:t>
            </a:r>
            <a:endParaRPr/>
          </a:p>
        </p:txBody>
      </p:sp>
      <p:sp>
        <p:nvSpPr>
          <p:cNvPr id="743" name="Google Shape;743;p44"/>
          <p:cNvSpPr/>
          <p:nvPr/>
        </p:nvSpPr>
        <p:spPr>
          <a:xfrm>
            <a:off x="684149" y="5035964"/>
            <a:ext cx="2742162"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endParaRPr sz="2000" b="1" dirty="0">
              <a:solidFill>
                <a:schemeClr val="accent1"/>
              </a:solidFill>
              <a:latin typeface="Arial"/>
              <a:ea typeface="Arial"/>
              <a:cs typeface="Arial"/>
              <a:sym typeface="Arial"/>
            </a:endParaRPr>
          </a:p>
          <a:p>
            <a:pPr marL="0" marR="0" lvl="0" indent="0" algn="l" rtl="0">
              <a:lnSpc>
                <a:spcPct val="100000"/>
              </a:lnSpc>
              <a:spcBef>
                <a:spcPts val="1000"/>
              </a:spcBef>
              <a:spcAft>
                <a:spcPts val="0"/>
              </a:spcAft>
              <a:buClr>
                <a:schemeClr val="accent1"/>
              </a:buClr>
              <a:buSzPts val="2000"/>
              <a:buFont typeface="Arial"/>
              <a:buNone/>
            </a:pPr>
            <a:r>
              <a:rPr lang="en-US" sz="2000" b="1" dirty="0">
                <a:solidFill>
                  <a:schemeClr val="accent1"/>
                </a:solidFill>
                <a:latin typeface="Arial"/>
                <a:ea typeface="Arial"/>
                <a:cs typeface="Arial"/>
                <a:sym typeface="Arial"/>
              </a:rPr>
              <a:t>The Result</a:t>
            </a:r>
            <a:endParaRPr dirty="0"/>
          </a:p>
        </p:txBody>
      </p:sp>
      <p:sp>
        <p:nvSpPr>
          <p:cNvPr id="744" name="Google Shape;744;p44"/>
          <p:cNvSpPr/>
          <p:nvPr/>
        </p:nvSpPr>
        <p:spPr>
          <a:xfrm>
            <a:off x="642215" y="5415818"/>
            <a:ext cx="10955053" cy="732481"/>
          </a:xfrm>
          <a:prstGeom prst="roundRect">
            <a:avLst>
              <a:gd name="adj" fmla="val 7802"/>
            </a:avLst>
          </a:prstGeom>
          <a:solidFill>
            <a:srgbClr val="60BBFF">
              <a:alpha val="20000"/>
            </a:srgbClr>
          </a:solidFill>
          <a:ln>
            <a:noFill/>
          </a:ln>
        </p:spPr>
        <p:txBody>
          <a:bodyPr spcFirstLastPara="1" wrap="square" lIns="274300" tIns="274300" rIns="274300" bIns="274320" anchor="ctr" anchorCtr="0">
            <a:noAutofit/>
          </a:bodyPr>
          <a:lstStyle/>
          <a:p>
            <a:pPr marL="228600" marR="0" lvl="0" indent="-228600" algn="l" rtl="0">
              <a:lnSpc>
                <a:spcPct val="100000"/>
              </a:lnSpc>
              <a:spcBef>
                <a:spcPts val="0"/>
              </a:spcBef>
              <a:spcAft>
                <a:spcPts val="0"/>
              </a:spcAft>
              <a:buClr>
                <a:schemeClr val="accent5"/>
              </a:buClr>
              <a:buSzPts val="1700"/>
              <a:buFont typeface="Arial"/>
              <a:buChar char="•"/>
            </a:pPr>
            <a:r>
              <a:rPr lang="en-US" sz="1700" b="0">
                <a:solidFill>
                  <a:schemeClr val="accent5"/>
                </a:solidFill>
                <a:latin typeface="Arial"/>
                <a:ea typeface="Arial"/>
                <a:cs typeface="Arial"/>
                <a:sym typeface="Arial"/>
              </a:rPr>
              <a:t>Final Tuition: $11,298.	•   Aid: ~$67k</a:t>
            </a:r>
            <a:endParaRPr/>
          </a:p>
        </p:txBody>
      </p:sp>
      <p:sp>
        <p:nvSpPr>
          <p:cNvPr id="745" name="Google Shape;745;p44"/>
          <p:cNvSpPr txBox="1"/>
          <p:nvPr/>
        </p:nvSpPr>
        <p:spPr>
          <a:xfrm>
            <a:off x="633330" y="6260068"/>
            <a:ext cx="609372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*Hypothetical example shown for illustrative purposes only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5"/>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52" name="Google Shape;752;p45"/>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753" name="Google Shape;753;p45"/>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Case Study 4</a:t>
            </a:r>
            <a:endParaRPr/>
          </a:p>
        </p:txBody>
      </p:sp>
      <p:sp>
        <p:nvSpPr>
          <p:cNvPr id="754" name="Google Shape;754;p45"/>
          <p:cNvSpPr/>
          <p:nvPr/>
        </p:nvSpPr>
        <p:spPr>
          <a:xfrm>
            <a:off x="670878" y="2296257"/>
            <a:ext cx="5425121" cy="3864639"/>
          </a:xfrm>
          <a:prstGeom prst="roundRect">
            <a:avLst>
              <a:gd name="adj" fmla="val 1478"/>
            </a:avLst>
          </a:prstGeom>
          <a:solidFill>
            <a:schemeClr val="accent1"/>
          </a:solidFill>
          <a:ln>
            <a:noFill/>
          </a:ln>
        </p:spPr>
        <p:txBody>
          <a:bodyPr spcFirstLastPara="1" wrap="square" lIns="274300" tIns="274300" rIns="274300" bIns="274300" anchor="t" anchorCtr="0">
            <a:noAutofit/>
          </a:bodyPr>
          <a:lstStyle/>
          <a:p>
            <a:pPr marL="285750" marR="0" lvl="0" indent="-285750" algn="l" rtl="0">
              <a:lnSpc>
                <a:spcPct val="100000"/>
              </a:lnSpc>
              <a:spcBef>
                <a:spcPts val="0"/>
              </a:spcBef>
              <a:spcAft>
                <a:spcPts val="0"/>
              </a:spcAft>
              <a:buClr>
                <a:schemeClr val="lt1"/>
              </a:buClr>
              <a:buSzPts val="1700"/>
              <a:buFont typeface="Arial"/>
              <a:buChar char="•"/>
            </a:pPr>
            <a:r>
              <a:rPr lang="en-US" sz="1700" b="1">
                <a:solidFill>
                  <a:schemeClr val="lt1"/>
                </a:solidFill>
                <a:latin typeface="Arial"/>
                <a:ea typeface="Arial"/>
                <a:cs typeface="Arial"/>
                <a:sym typeface="Arial"/>
              </a:rPr>
              <a:t>The Family:</a:t>
            </a:r>
            <a:r>
              <a:rPr lang="en-US" sz="1700" b="0">
                <a:solidFill>
                  <a:schemeClr val="lt1"/>
                </a:solidFill>
                <a:latin typeface="Arial"/>
                <a:ea typeface="Arial"/>
                <a:cs typeface="Arial"/>
                <a:sym typeface="Arial"/>
              </a:rPr>
              <a:t> Alice’s target school is Vassar College. Her family income is </a:t>
            </a:r>
            <a:r>
              <a:rPr lang="en-US" sz="1700" b="1">
                <a:solidFill>
                  <a:schemeClr val="lt1"/>
                </a:solidFill>
                <a:latin typeface="Arial"/>
                <a:ea typeface="Arial"/>
                <a:cs typeface="Arial"/>
                <a:sym typeface="Arial"/>
              </a:rPr>
              <a:t>$225,000</a:t>
            </a:r>
            <a:r>
              <a:rPr lang="en-US" sz="1700" b="0">
                <a:solidFill>
                  <a:schemeClr val="lt1"/>
                </a:solidFill>
                <a:latin typeface="Arial"/>
                <a:ea typeface="Arial"/>
                <a:cs typeface="Arial"/>
                <a:sym typeface="Arial"/>
              </a:rPr>
              <a:t> per year. They earn too much for federal Pell grants, but not enough to easily pay $90,000 every year.</a:t>
            </a:r>
            <a:endParaRPr sz="1700" b="0">
              <a:solidFill>
                <a:schemeClr val="lt1"/>
              </a:solidFill>
              <a:latin typeface="Arial"/>
              <a:ea typeface="Arial"/>
              <a:cs typeface="Arial"/>
              <a:sym typeface="Arial"/>
            </a:endParaRPr>
          </a:p>
          <a:p>
            <a:pPr marL="285750" marR="0" lvl="0" indent="-285750" algn="l" rtl="0">
              <a:lnSpc>
                <a:spcPct val="100000"/>
              </a:lnSpc>
              <a:spcBef>
                <a:spcPts val="1000"/>
              </a:spcBef>
              <a:spcAft>
                <a:spcPts val="0"/>
              </a:spcAft>
              <a:buClr>
                <a:schemeClr val="lt1"/>
              </a:buClr>
              <a:buSzPts val="1700"/>
              <a:buFont typeface="Arial"/>
              <a:buChar char="•"/>
            </a:pPr>
            <a:r>
              <a:rPr lang="en-US" sz="1700" b="1">
                <a:solidFill>
                  <a:schemeClr val="lt1"/>
                </a:solidFill>
                <a:latin typeface="Arial"/>
                <a:ea typeface="Arial"/>
                <a:cs typeface="Arial"/>
                <a:sym typeface="Arial"/>
              </a:rPr>
              <a:t>The Assets:</a:t>
            </a:r>
            <a:r>
              <a:rPr lang="en-US" sz="1700" b="0">
                <a:solidFill>
                  <a:schemeClr val="lt1"/>
                </a:solidFill>
                <a:latin typeface="Arial"/>
                <a:ea typeface="Arial"/>
                <a:cs typeface="Arial"/>
                <a:sym typeface="Arial"/>
              </a:rPr>
              <a:t> 10 years before college, they have </a:t>
            </a:r>
            <a:r>
              <a:rPr lang="en-US" sz="1700" b="1">
                <a:solidFill>
                  <a:schemeClr val="lt1"/>
                </a:solidFill>
                <a:latin typeface="Arial"/>
                <a:ea typeface="Arial"/>
                <a:cs typeface="Arial"/>
                <a:sym typeface="Arial"/>
              </a:rPr>
              <a:t>$350,000</a:t>
            </a:r>
            <a:r>
              <a:rPr lang="en-US" sz="1700" b="0">
                <a:solidFill>
                  <a:schemeClr val="lt1"/>
                </a:solidFill>
                <a:latin typeface="Arial"/>
                <a:ea typeface="Arial"/>
                <a:cs typeface="Arial"/>
                <a:sym typeface="Arial"/>
              </a:rPr>
              <a:t> in a 529 account.</a:t>
            </a:r>
            <a:endParaRPr/>
          </a:p>
          <a:p>
            <a:pPr marL="285750" marR="0" lvl="0" indent="-285750" algn="l" rtl="0">
              <a:lnSpc>
                <a:spcPct val="100000"/>
              </a:lnSpc>
              <a:spcBef>
                <a:spcPts val="1000"/>
              </a:spcBef>
              <a:spcAft>
                <a:spcPts val="0"/>
              </a:spcAft>
              <a:buClr>
                <a:schemeClr val="lt1"/>
              </a:buClr>
              <a:buSzPts val="1700"/>
              <a:buFont typeface="Arial"/>
              <a:buChar char="•"/>
            </a:pPr>
            <a:r>
              <a:rPr lang="en-US" sz="1700" b="1">
                <a:solidFill>
                  <a:schemeClr val="lt1"/>
                </a:solidFill>
                <a:latin typeface="Arial"/>
                <a:ea typeface="Arial"/>
                <a:cs typeface="Arial"/>
                <a:sym typeface="Arial"/>
              </a:rPr>
              <a:t>The Problem:</a:t>
            </a:r>
            <a:r>
              <a:rPr lang="en-US" sz="1700" b="0">
                <a:solidFill>
                  <a:schemeClr val="lt1"/>
                </a:solidFill>
                <a:latin typeface="Arial"/>
                <a:ea typeface="Arial"/>
                <a:cs typeface="Arial"/>
                <a:sym typeface="Arial"/>
              </a:rPr>
              <a:t> If they continue saving in these </a:t>
            </a:r>
            <a:r>
              <a:rPr lang="en-US" sz="1700" b="1">
                <a:solidFill>
                  <a:schemeClr val="lt1"/>
                </a:solidFill>
                <a:latin typeface="Arial"/>
                <a:ea typeface="Arial"/>
                <a:cs typeface="Arial"/>
                <a:sym typeface="Arial"/>
              </a:rPr>
              <a:t>reportable</a:t>
            </a:r>
            <a:r>
              <a:rPr lang="en-US" sz="1700" b="0">
                <a:solidFill>
                  <a:schemeClr val="lt1"/>
                </a:solidFill>
                <a:latin typeface="Arial"/>
                <a:ea typeface="Arial"/>
                <a:cs typeface="Arial"/>
                <a:sym typeface="Arial"/>
              </a:rPr>
              <a:t> accounts, Alice’s own savings may disqualify her from institutional aid.</a:t>
            </a:r>
            <a:endParaRPr sz="1700" b="0">
              <a:solidFill>
                <a:schemeClr val="lt1"/>
              </a:solidFill>
              <a:latin typeface="Arial"/>
              <a:ea typeface="Arial"/>
              <a:cs typeface="Arial"/>
              <a:sym typeface="Arial"/>
            </a:endParaRPr>
          </a:p>
        </p:txBody>
      </p:sp>
      <p:sp>
        <p:nvSpPr>
          <p:cNvPr id="755" name="Google Shape;755;p45"/>
          <p:cNvSpPr/>
          <p:nvPr/>
        </p:nvSpPr>
        <p:spPr>
          <a:xfrm>
            <a:off x="6457950" y="2296257"/>
            <a:ext cx="5108804" cy="3864639"/>
          </a:xfrm>
          <a:prstGeom prst="roundRect">
            <a:avLst>
              <a:gd name="adj" fmla="val 1478"/>
            </a:avLst>
          </a:prstGeom>
          <a:solidFill>
            <a:schemeClr val="accent5"/>
          </a:solidFill>
          <a:ln>
            <a:noFill/>
          </a:ln>
        </p:spPr>
        <p:txBody>
          <a:bodyPr spcFirstLastPara="1" wrap="square" lIns="274300" tIns="274300" rIns="274300" bIns="274300" anchor="t" anchorCtr="0">
            <a:noAutofit/>
          </a:bodyPr>
          <a:lstStyle/>
          <a:p>
            <a:pPr marL="285750" marR="0" lvl="0" indent="-285750" algn="l" rtl="0">
              <a:lnSpc>
                <a:spcPct val="100000"/>
              </a:lnSpc>
              <a:spcBef>
                <a:spcPts val="0"/>
              </a:spcBef>
              <a:spcAft>
                <a:spcPts val="0"/>
              </a:spcAft>
              <a:buClr>
                <a:schemeClr val="lt1"/>
              </a:buClr>
              <a:buSzPts val="1700"/>
              <a:buFont typeface="Arial"/>
              <a:buChar char="•"/>
            </a:pPr>
            <a:r>
              <a:rPr lang="en-US" sz="1700" b="1" dirty="0">
                <a:solidFill>
                  <a:schemeClr val="lt1"/>
                </a:solidFill>
                <a:latin typeface="Arial"/>
                <a:ea typeface="Arial"/>
                <a:cs typeface="Arial"/>
                <a:sym typeface="Arial"/>
              </a:rPr>
              <a:t>Asset Migration:</a:t>
            </a:r>
            <a:r>
              <a:rPr lang="en-US" sz="1700" b="0" dirty="0">
                <a:solidFill>
                  <a:schemeClr val="lt1"/>
                </a:solidFill>
                <a:latin typeface="Arial"/>
                <a:ea typeface="Arial"/>
                <a:cs typeface="Arial"/>
                <a:sym typeface="Arial"/>
              </a:rPr>
              <a:t> Over those 10 years prior to college, they started to move the $350,000 into a structured cash value life insurance policy.</a:t>
            </a:r>
            <a:endParaRPr dirty="0"/>
          </a:p>
          <a:p>
            <a:pPr marL="285750" marR="0" lvl="0" indent="-285750" algn="l" rtl="0">
              <a:lnSpc>
                <a:spcPct val="100000"/>
              </a:lnSpc>
              <a:spcBef>
                <a:spcPts val="1000"/>
              </a:spcBef>
              <a:spcAft>
                <a:spcPts val="0"/>
              </a:spcAft>
              <a:buClr>
                <a:schemeClr val="lt1"/>
              </a:buClr>
              <a:buSzPts val="1700"/>
              <a:buFont typeface="Arial"/>
              <a:buChar char="•"/>
            </a:pPr>
            <a:r>
              <a:rPr lang="en-US" sz="1700" b="1" dirty="0">
                <a:solidFill>
                  <a:schemeClr val="lt1"/>
                </a:solidFill>
                <a:latin typeface="Arial"/>
                <a:ea typeface="Arial"/>
                <a:cs typeface="Arial"/>
                <a:sym typeface="Arial"/>
              </a:rPr>
              <a:t>Tax-Deferred Growth:</a:t>
            </a:r>
            <a:r>
              <a:rPr lang="en-US" sz="1700" b="0" dirty="0">
                <a:solidFill>
                  <a:schemeClr val="lt1"/>
                </a:solidFill>
                <a:latin typeface="Arial"/>
                <a:ea typeface="Arial"/>
                <a:cs typeface="Arial"/>
                <a:sym typeface="Arial"/>
              </a:rPr>
              <a:t> The money and regular contributions grow with a floor, protected from market volatility, reaching $750,000 over 10 years.</a:t>
            </a:r>
            <a:endParaRPr dirty="0"/>
          </a:p>
          <a:p>
            <a:pPr marL="285750" marR="0" lvl="0" indent="-285750" algn="l" rtl="0">
              <a:lnSpc>
                <a:spcPct val="100000"/>
              </a:lnSpc>
              <a:spcBef>
                <a:spcPts val="1000"/>
              </a:spcBef>
              <a:spcAft>
                <a:spcPts val="0"/>
              </a:spcAft>
              <a:buClr>
                <a:schemeClr val="lt1"/>
              </a:buClr>
              <a:buSzPts val="1700"/>
              <a:buFont typeface="Arial"/>
              <a:buChar char="•"/>
            </a:pPr>
            <a:r>
              <a:rPr lang="en-US" sz="1700" b="1" dirty="0">
                <a:solidFill>
                  <a:schemeClr val="lt1"/>
                </a:solidFill>
                <a:latin typeface="Arial"/>
                <a:ea typeface="Arial"/>
                <a:cs typeface="Arial"/>
                <a:sym typeface="Arial"/>
              </a:rPr>
              <a:t>Replaced Income:</a:t>
            </a:r>
            <a:r>
              <a:rPr lang="en-US" sz="1700" b="0" dirty="0">
                <a:solidFill>
                  <a:schemeClr val="lt1"/>
                </a:solidFill>
                <a:latin typeface="Arial"/>
                <a:ea typeface="Arial"/>
                <a:cs typeface="Arial"/>
                <a:sym typeface="Arial"/>
              </a:rPr>
              <a:t> Certain policies could allow them to take cash value loans to help increase their retirement contributions and cover their costs simultaneously.</a:t>
            </a:r>
            <a:endParaRPr dirty="0"/>
          </a:p>
        </p:txBody>
      </p:sp>
      <p:sp>
        <p:nvSpPr>
          <p:cNvPr id="756" name="Google Shape;756;p45"/>
          <p:cNvSpPr/>
          <p:nvPr/>
        </p:nvSpPr>
        <p:spPr>
          <a:xfrm>
            <a:off x="670879" y="1861267"/>
            <a:ext cx="5257800"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Situation</a:t>
            </a:r>
            <a:endParaRPr/>
          </a:p>
        </p:txBody>
      </p:sp>
      <p:sp>
        <p:nvSpPr>
          <p:cNvPr id="757" name="Google Shape;757;p45"/>
          <p:cNvSpPr/>
          <p:nvPr/>
        </p:nvSpPr>
        <p:spPr>
          <a:xfrm>
            <a:off x="6457951" y="1861267"/>
            <a:ext cx="5108804" cy="400110"/>
          </a:xfrm>
          <a:prstGeom prst="roundRect">
            <a:avLst>
              <a:gd name="adj" fmla="val 14283"/>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Strategy</a:t>
            </a:r>
            <a:endParaRPr/>
          </a:p>
        </p:txBody>
      </p:sp>
      <p:sp>
        <p:nvSpPr>
          <p:cNvPr id="758" name="Google Shape;758;p45"/>
          <p:cNvSpPr/>
          <p:nvPr/>
        </p:nvSpPr>
        <p:spPr>
          <a:xfrm>
            <a:off x="640897" y="1342700"/>
            <a:ext cx="10891775" cy="461665"/>
          </a:xfrm>
          <a:prstGeom prst="roundRect">
            <a:avLst>
              <a:gd name="adj" fmla="val 12379"/>
            </a:avLst>
          </a:prstGeom>
          <a:noFill/>
          <a:ln>
            <a:noFill/>
          </a:ln>
        </p:spPr>
        <p:txBody>
          <a:bodyPr spcFirstLastPara="1" wrap="square" lIns="0" tIns="0" rIns="0" bIns="91425" anchor="b"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Alice’s Long-Term Funding Strategy</a:t>
            </a:r>
            <a:endParaRPr/>
          </a:p>
        </p:txBody>
      </p:sp>
      <p:sp>
        <p:nvSpPr>
          <p:cNvPr id="759" name="Google Shape;759;p45"/>
          <p:cNvSpPr txBox="1"/>
          <p:nvPr/>
        </p:nvSpPr>
        <p:spPr>
          <a:xfrm>
            <a:off x="633330" y="6260068"/>
            <a:ext cx="609372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*Hypothetical example shown for illustrative purposes only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46"/>
          <p:cNvSpPr/>
          <p:nvPr/>
        </p:nvSpPr>
        <p:spPr>
          <a:xfrm>
            <a:off x="1" y="0"/>
            <a:ext cx="12192000" cy="914400"/>
          </a:xfrm>
          <a:prstGeom prst="roundRect">
            <a:avLst>
              <a:gd name="adj" fmla="val 6250"/>
            </a:avLst>
          </a:prstGeom>
          <a:solidFill>
            <a:schemeClr val="accent1"/>
          </a:solidFill>
          <a:ln>
            <a:noFill/>
          </a:ln>
        </p:spPr>
        <p:txBody>
          <a:bodyPr spcFirstLastPara="1" wrap="square" lIns="0" tIns="0" rIns="0"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66" name="Google Shape;766;p46"/>
          <p:cNvPicPr preferRelativeResize="0"/>
          <p:nvPr/>
        </p:nvPicPr>
        <p:blipFill rotWithShape="1">
          <a:blip r:embed="rId3">
            <a:alphaModFix/>
          </a:blip>
          <a:srcRect/>
          <a:stretch/>
        </p:blipFill>
        <p:spPr>
          <a:xfrm>
            <a:off x="10325101" y="71856"/>
            <a:ext cx="1665820" cy="743372"/>
          </a:xfrm>
          <a:prstGeom prst="roundRect">
            <a:avLst>
              <a:gd name="adj" fmla="val 7687"/>
            </a:avLst>
          </a:prstGeom>
          <a:noFill/>
          <a:ln>
            <a:noFill/>
          </a:ln>
        </p:spPr>
      </p:pic>
      <p:sp>
        <p:nvSpPr>
          <p:cNvPr id="767" name="Google Shape;767;p46"/>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3500"/>
              <a:buFont typeface="Arial"/>
              <a:buNone/>
            </a:pPr>
            <a:r>
              <a:rPr lang="en-US" sz="3500" b="0" i="0" u="none" strike="noStrike" cap="none">
                <a:solidFill>
                  <a:schemeClr val="lt1"/>
                </a:solidFill>
                <a:latin typeface="Arial"/>
                <a:ea typeface="Arial"/>
                <a:cs typeface="Arial"/>
                <a:sym typeface="Arial"/>
              </a:rPr>
              <a:t>Case Study 4</a:t>
            </a:r>
            <a:endParaRPr/>
          </a:p>
        </p:txBody>
      </p:sp>
      <p:sp>
        <p:nvSpPr>
          <p:cNvPr id="768" name="Google Shape;768;p46"/>
          <p:cNvSpPr/>
          <p:nvPr/>
        </p:nvSpPr>
        <p:spPr>
          <a:xfrm>
            <a:off x="7969725" y="2259450"/>
            <a:ext cx="3657600" cy="3142729"/>
          </a:xfrm>
          <a:prstGeom prst="roundRect">
            <a:avLst>
              <a:gd name="adj" fmla="val 1818"/>
            </a:avLst>
          </a:prstGeom>
          <a:solidFill>
            <a:srgbClr val="60BBFF">
              <a:alpha val="20000"/>
            </a:srgbClr>
          </a:solidFill>
          <a:ln>
            <a:noFill/>
          </a:ln>
        </p:spPr>
        <p:txBody>
          <a:bodyPr spcFirstLastPara="1" wrap="square" lIns="274300" tIns="274300" rIns="274300" bIns="274300" anchor="t" anchorCtr="0">
            <a:noAutofit/>
          </a:bodyPr>
          <a:lstStyle/>
          <a:p>
            <a:pPr marL="0" marR="0" lvl="0" indent="0" algn="l" rtl="0">
              <a:lnSpc>
                <a:spcPct val="100000"/>
              </a:lnSpc>
              <a:spcBef>
                <a:spcPts val="0"/>
              </a:spcBef>
              <a:spcAft>
                <a:spcPts val="0"/>
              </a:spcAft>
              <a:buClr>
                <a:schemeClr val="accent5"/>
              </a:buClr>
              <a:buSzPts val="1800"/>
              <a:buFont typeface="Arial"/>
              <a:buNone/>
            </a:pPr>
            <a:r>
              <a:rPr lang="en-US" sz="1800" b="0" dirty="0">
                <a:solidFill>
                  <a:schemeClr val="accent5"/>
                </a:solidFill>
                <a:latin typeface="Arial"/>
                <a:ea typeface="Arial"/>
                <a:cs typeface="Arial"/>
                <a:sym typeface="Arial"/>
              </a:rPr>
              <a:t>Because life insurance and loans are non-reportable assets on the FAFSA and most CSS Profile formulas, the family’s expected contribution is greatly reduced via gift and need aid. This helps Alice attend Vassar if admitted.</a:t>
            </a:r>
            <a:endParaRPr dirty="0"/>
          </a:p>
        </p:txBody>
      </p:sp>
      <p:sp>
        <p:nvSpPr>
          <p:cNvPr id="769" name="Google Shape;769;p46"/>
          <p:cNvSpPr/>
          <p:nvPr/>
        </p:nvSpPr>
        <p:spPr>
          <a:xfrm>
            <a:off x="7969726" y="1857637"/>
            <a:ext cx="3657600" cy="431305"/>
          </a:xfrm>
          <a:prstGeom prst="roundRect">
            <a:avLst>
              <a:gd name="adj" fmla="val 13250"/>
            </a:avLst>
          </a:prstGeom>
          <a:noFill/>
          <a:ln>
            <a:noFill/>
          </a:ln>
        </p:spPr>
        <p:txBody>
          <a:bodyPr spcFirstLastPara="1" wrap="square" lIns="228600" tIns="0" rIns="0" bIns="91425" anchor="b" anchorCtr="0">
            <a:no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Result</a:t>
            </a:r>
            <a:endParaRPr/>
          </a:p>
        </p:txBody>
      </p:sp>
      <p:sp>
        <p:nvSpPr>
          <p:cNvPr id="770" name="Google Shape;770;p46"/>
          <p:cNvSpPr/>
          <p:nvPr/>
        </p:nvSpPr>
        <p:spPr>
          <a:xfrm>
            <a:off x="625908" y="1342700"/>
            <a:ext cx="10956447" cy="461665"/>
          </a:xfrm>
          <a:prstGeom prst="roundRect">
            <a:avLst>
              <a:gd name="adj" fmla="val 12379"/>
            </a:avLst>
          </a:prstGeom>
          <a:noFill/>
          <a:ln>
            <a:noFill/>
          </a:ln>
        </p:spPr>
        <p:txBody>
          <a:bodyPr spcFirstLastPara="1" wrap="square" lIns="0" tIns="0" rIns="0" bIns="91425" anchor="b" anchorCtr="0">
            <a:no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Alice’s Long-Term Funding Strategy</a:t>
            </a:r>
            <a:endParaRPr/>
          </a:p>
        </p:txBody>
      </p:sp>
      <p:sp>
        <p:nvSpPr>
          <p:cNvPr id="771" name="Google Shape;771;p46"/>
          <p:cNvSpPr/>
          <p:nvPr/>
        </p:nvSpPr>
        <p:spPr>
          <a:xfrm>
            <a:off x="625908" y="1857637"/>
            <a:ext cx="3269525" cy="434935"/>
          </a:xfrm>
          <a:prstGeom prst="roundRect">
            <a:avLst>
              <a:gd name="adj" fmla="val 13139"/>
            </a:avLst>
          </a:prstGeom>
          <a:noFill/>
          <a:ln>
            <a:noFill/>
          </a:ln>
        </p:spPr>
        <p:txBody>
          <a:bodyPr spcFirstLastPara="1" wrap="square" lIns="22860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The Stats</a:t>
            </a:r>
            <a:endParaRPr/>
          </a:p>
        </p:txBody>
      </p:sp>
      <p:sp>
        <p:nvSpPr>
          <p:cNvPr id="772" name="Google Shape;772;p46"/>
          <p:cNvSpPr/>
          <p:nvPr/>
        </p:nvSpPr>
        <p:spPr>
          <a:xfrm>
            <a:off x="4103779" y="2259451"/>
            <a:ext cx="3657600" cy="3142729"/>
          </a:xfrm>
          <a:prstGeom prst="roundRect">
            <a:avLst>
              <a:gd name="adj" fmla="val 1818"/>
            </a:avLst>
          </a:prstGeom>
          <a:solidFill>
            <a:srgbClr val="C4C4C6">
              <a:alpha val="30196"/>
            </a:srgbClr>
          </a:solidFill>
          <a:ln>
            <a:noFill/>
          </a:ln>
        </p:spPr>
        <p:txBody>
          <a:bodyPr spcFirstLastPara="1" wrap="square" lIns="228600" tIns="274300" rIns="274300" bIns="274300" numCol="2" spcCol="274320" anchor="t" anchorCtr="0">
            <a:noAutofit/>
          </a:bodyPr>
          <a:lstStyle/>
          <a:p>
            <a:pPr marL="0" indent="0">
              <a:spcBef>
                <a:spcPts val="1000"/>
              </a:spcBef>
              <a:buNone/>
            </a:pPr>
            <a:r>
              <a:rPr lang="en-US" sz="1800" b="1" dirty="0"/>
              <a:t>Initial</a:t>
            </a:r>
          </a:p>
          <a:p>
            <a:pPr marL="0" indent="0">
              <a:spcBef>
                <a:spcPts val="1000"/>
              </a:spcBef>
              <a:buNone/>
            </a:pPr>
            <a:r>
              <a:rPr lang="en-US" sz="1800" dirty="0"/>
              <a:t>$750,000</a:t>
            </a:r>
          </a:p>
          <a:p>
            <a:pPr marL="0" indent="0">
              <a:spcBef>
                <a:spcPts val="1000"/>
              </a:spcBef>
              <a:buNone/>
            </a:pPr>
            <a:r>
              <a:rPr lang="en-US" sz="1800" dirty="0"/>
              <a:t>$0</a:t>
            </a:r>
          </a:p>
          <a:p>
            <a:pPr marL="0" indent="0">
              <a:spcBef>
                <a:spcPts val="1000"/>
              </a:spcBef>
              <a:buNone/>
            </a:pPr>
            <a:r>
              <a:rPr lang="en-US" sz="1800" dirty="0"/>
              <a:t>$77,300</a:t>
            </a:r>
          </a:p>
          <a:p>
            <a:pPr marL="0" indent="0">
              <a:spcBef>
                <a:spcPts val="1000"/>
              </a:spcBef>
              <a:buNone/>
            </a:pPr>
            <a:r>
              <a:rPr lang="en-US" sz="1800" dirty="0"/>
              <a:t>$0</a:t>
            </a:r>
          </a:p>
          <a:p>
            <a:pPr marL="0" indent="0">
              <a:spcBef>
                <a:spcPts val="1000"/>
              </a:spcBef>
              <a:buNone/>
            </a:pPr>
            <a:r>
              <a:rPr lang="en-US" sz="1800" dirty="0"/>
              <a:t>$225,000</a:t>
            </a:r>
          </a:p>
          <a:p>
            <a:pPr marL="0" indent="0">
              <a:spcBef>
                <a:spcPts val="1000"/>
              </a:spcBef>
              <a:buNone/>
            </a:pPr>
            <a:r>
              <a:rPr lang="en-US" sz="1800" b="1" dirty="0"/>
              <a:t>Strategized</a:t>
            </a:r>
          </a:p>
          <a:p>
            <a:pPr marL="0" indent="0">
              <a:spcBef>
                <a:spcPts val="1000"/>
              </a:spcBef>
              <a:buNone/>
            </a:pPr>
            <a:r>
              <a:rPr lang="en-US" sz="1800" dirty="0"/>
              <a:t>$0</a:t>
            </a:r>
          </a:p>
          <a:p>
            <a:pPr marL="0" indent="0">
              <a:spcBef>
                <a:spcPts val="1000"/>
              </a:spcBef>
              <a:buNone/>
            </a:pPr>
            <a:r>
              <a:rPr lang="en-US" sz="1800" dirty="0"/>
              <a:t>$750,000</a:t>
            </a:r>
          </a:p>
          <a:p>
            <a:pPr marL="0" indent="0">
              <a:spcBef>
                <a:spcPts val="1000"/>
              </a:spcBef>
              <a:buNone/>
            </a:pPr>
            <a:r>
              <a:rPr lang="en-US" sz="1800" dirty="0"/>
              <a:t>$18,400</a:t>
            </a:r>
          </a:p>
          <a:p>
            <a:pPr marL="0" indent="0">
              <a:spcBef>
                <a:spcPts val="1000"/>
              </a:spcBef>
              <a:buNone/>
            </a:pPr>
            <a:r>
              <a:rPr lang="en-US" sz="1800" dirty="0"/>
              <a:t>$242,400</a:t>
            </a:r>
          </a:p>
          <a:p>
            <a:pPr marL="0" indent="0">
              <a:spcBef>
                <a:spcPts val="1000"/>
              </a:spcBef>
              <a:buNone/>
            </a:pPr>
            <a:r>
              <a:rPr lang="en-US" sz="1800" dirty="0"/>
              <a:t>$175,000</a:t>
            </a:r>
          </a:p>
        </p:txBody>
      </p:sp>
      <p:sp>
        <p:nvSpPr>
          <p:cNvPr id="773" name="Google Shape;773;p46"/>
          <p:cNvSpPr/>
          <p:nvPr/>
        </p:nvSpPr>
        <p:spPr>
          <a:xfrm>
            <a:off x="625908" y="2259451"/>
            <a:ext cx="3269526" cy="3142729"/>
          </a:xfrm>
          <a:prstGeom prst="roundRect">
            <a:avLst>
              <a:gd name="adj" fmla="val 1818"/>
            </a:avLst>
          </a:prstGeom>
          <a:solidFill>
            <a:srgbClr val="C4C4C6">
              <a:alpha val="30196"/>
            </a:srgbClr>
          </a:solidFill>
          <a:ln>
            <a:noFill/>
          </a:ln>
        </p:spPr>
        <p:txBody>
          <a:bodyPr spcFirstLastPara="1" wrap="square" lIns="228600" tIns="274300" rIns="274300" bIns="274300" anchor="t" anchorCtr="0">
            <a:noAutofit/>
          </a:bodyPr>
          <a:lstStyle/>
          <a:p>
            <a:pPr marL="0" indent="0">
              <a:spcBef>
                <a:spcPts val="1000"/>
              </a:spcBef>
              <a:buNone/>
            </a:pPr>
            <a:r>
              <a:rPr lang="en-US" sz="1800" b="1" dirty="0"/>
              <a:t>Category</a:t>
            </a:r>
          </a:p>
          <a:p>
            <a:pPr marL="0" indent="0">
              <a:spcBef>
                <a:spcPts val="1000"/>
              </a:spcBef>
              <a:buNone/>
            </a:pPr>
            <a:r>
              <a:rPr lang="en-US" sz="1800" dirty="0"/>
              <a:t>Counted Assets</a:t>
            </a:r>
          </a:p>
          <a:p>
            <a:pPr marL="0" indent="0">
              <a:spcBef>
                <a:spcPts val="1000"/>
              </a:spcBef>
              <a:buNone/>
            </a:pPr>
            <a:r>
              <a:rPr lang="en-US" sz="1800" dirty="0"/>
              <a:t>Exempted Assets</a:t>
            </a:r>
          </a:p>
          <a:p>
            <a:pPr marL="0" indent="0">
              <a:spcBef>
                <a:spcPts val="1000"/>
              </a:spcBef>
              <a:buNone/>
            </a:pPr>
            <a:r>
              <a:rPr lang="en-US" sz="1800" dirty="0"/>
              <a:t>Student Aid Index (SAI)</a:t>
            </a:r>
          </a:p>
          <a:p>
            <a:pPr marL="0" indent="0">
              <a:spcBef>
                <a:spcPts val="1000"/>
              </a:spcBef>
              <a:buNone/>
            </a:pPr>
            <a:r>
              <a:rPr lang="en-US" sz="1800" dirty="0"/>
              <a:t>Total 4-Year Aid Secured</a:t>
            </a:r>
          </a:p>
          <a:p>
            <a:pPr marL="0" indent="0">
              <a:spcBef>
                <a:spcPts val="1000"/>
              </a:spcBef>
              <a:buNone/>
            </a:pPr>
            <a:r>
              <a:rPr lang="en-US" sz="1800" dirty="0"/>
              <a:t>Reported Income (AGI)</a:t>
            </a:r>
          </a:p>
        </p:txBody>
      </p:sp>
      <p:sp>
        <p:nvSpPr>
          <p:cNvPr id="774" name="Google Shape;774;p46"/>
          <p:cNvSpPr txBox="1"/>
          <p:nvPr/>
        </p:nvSpPr>
        <p:spPr>
          <a:xfrm>
            <a:off x="633330" y="6260068"/>
            <a:ext cx="609372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*Hypothetical example shown for illustrative purposes only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47"/>
          <p:cNvSpPr txBox="1">
            <a:spLocks noGrp="1"/>
          </p:cNvSpPr>
          <p:nvPr>
            <p:ph type="title"/>
          </p:nvPr>
        </p:nvSpPr>
        <p:spPr>
          <a:xfrm>
            <a:off x="320040" y="3186626"/>
            <a:ext cx="11551920" cy="484748"/>
          </a:xfrm>
          <a:prstGeom prst="roundRect">
            <a:avLst>
              <a:gd name="adj" fmla="val 11789"/>
            </a:avLst>
          </a:prstGeom>
          <a:noFill/>
          <a:ln>
            <a:noFill/>
          </a:ln>
        </p:spPr>
        <p:txBody>
          <a:bodyPr spcFirstLastPara="1" wrap="square" lIns="0" tIns="0" rIns="0" bIns="0" anchor="b" anchorCtr="0">
            <a:spAutoFit/>
          </a:bodyPr>
          <a:lstStyle/>
          <a:p>
            <a:pPr marL="0" lvl="0" indent="0" algn="ctr" rtl="0">
              <a:lnSpc>
                <a:spcPct val="90000"/>
              </a:lnSpc>
              <a:spcBef>
                <a:spcPts val="0"/>
              </a:spcBef>
              <a:spcAft>
                <a:spcPts val="0"/>
              </a:spcAft>
              <a:buClr>
                <a:schemeClr val="lt1"/>
              </a:buClr>
              <a:buSzPts val="3500"/>
              <a:buFont typeface="Arial"/>
              <a:buNone/>
            </a:pPr>
            <a:r>
              <a:rPr lang="en-US"/>
              <a:t>Conclusion and Next Steps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48"/>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Important Takeaways</a:t>
            </a:r>
            <a:endParaRPr/>
          </a:p>
        </p:txBody>
      </p:sp>
      <p:sp>
        <p:nvSpPr>
          <p:cNvPr id="787" name="Google Shape;787;p48"/>
          <p:cNvSpPr/>
          <p:nvPr/>
        </p:nvSpPr>
        <p:spPr>
          <a:xfrm>
            <a:off x="639717" y="1683828"/>
            <a:ext cx="10949410" cy="2252960"/>
          </a:xfrm>
          <a:prstGeom prst="roundRect">
            <a:avLst>
              <a:gd name="adj" fmla="val 2536"/>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accent1"/>
              </a:buClr>
              <a:buSzPts val="2400"/>
              <a:buFont typeface="Arial"/>
              <a:buNone/>
            </a:pPr>
            <a:r>
              <a:rPr lang="en-US" sz="2400" b="1">
                <a:solidFill>
                  <a:schemeClr val="accent1"/>
                </a:solidFill>
                <a:latin typeface="Arial"/>
                <a:ea typeface="Arial"/>
                <a:cs typeface="Arial"/>
                <a:sym typeface="Arial"/>
              </a:rPr>
              <a:t>Reflect on what you’ve learned:</a:t>
            </a:r>
            <a:endParaRPr/>
          </a:p>
          <a:p>
            <a:pPr marL="0" marR="0" lvl="0" indent="0" algn="l" rtl="0">
              <a:lnSpc>
                <a:spcPct val="100000"/>
              </a:lnSpc>
              <a:spcBef>
                <a:spcPts val="1000"/>
              </a:spcBef>
              <a:spcAft>
                <a:spcPts val="0"/>
              </a:spcAft>
              <a:buClr>
                <a:schemeClr val="dk1"/>
              </a:buClr>
              <a:buSzPts val="2400"/>
              <a:buFont typeface="Arial"/>
              <a:buNone/>
            </a:pPr>
            <a:r>
              <a:rPr lang="en-US" sz="2400">
                <a:solidFill>
                  <a:schemeClr val="dk1"/>
                </a:solidFill>
                <a:latin typeface="Arial"/>
                <a:ea typeface="Arial"/>
                <a:cs typeface="Arial"/>
                <a:sym typeface="Arial"/>
              </a:rPr>
              <a:t>You learned the importance of fit in the college admissions and aid process.</a:t>
            </a:r>
            <a:endParaRPr/>
          </a:p>
          <a:p>
            <a:pPr marL="0" marR="0" lvl="0" indent="0" algn="l" rtl="0">
              <a:lnSpc>
                <a:spcPct val="100000"/>
              </a:lnSpc>
              <a:spcBef>
                <a:spcPts val="1000"/>
              </a:spcBef>
              <a:spcAft>
                <a:spcPts val="0"/>
              </a:spcAft>
              <a:buClr>
                <a:schemeClr val="dk1"/>
              </a:buClr>
              <a:buSzPts val="2400"/>
              <a:buFont typeface="Arial"/>
              <a:buNone/>
            </a:pPr>
            <a:r>
              <a:rPr lang="en-US" sz="2400">
                <a:solidFill>
                  <a:schemeClr val="dk1"/>
                </a:solidFill>
                <a:latin typeface="Arial"/>
                <a:ea typeface="Arial"/>
                <a:cs typeface="Arial"/>
                <a:sym typeface="Arial"/>
              </a:rPr>
              <a:t>You know the key forms, how they work, and timelines for qualifying for aid.</a:t>
            </a:r>
            <a:endParaRPr/>
          </a:p>
          <a:p>
            <a:pPr marL="0" marR="0" lvl="0" indent="0" algn="l" rtl="0">
              <a:lnSpc>
                <a:spcPct val="100000"/>
              </a:lnSpc>
              <a:spcBef>
                <a:spcPts val="1000"/>
              </a:spcBef>
              <a:spcAft>
                <a:spcPts val="0"/>
              </a:spcAft>
              <a:buClr>
                <a:schemeClr val="dk1"/>
              </a:buClr>
              <a:buSzPts val="2400"/>
              <a:buFont typeface="Arial"/>
              <a:buNone/>
            </a:pPr>
            <a:r>
              <a:rPr lang="en-US" sz="2400">
                <a:solidFill>
                  <a:schemeClr val="dk1"/>
                </a:solidFill>
                <a:latin typeface="Arial"/>
                <a:ea typeface="Arial"/>
                <a:cs typeface="Arial"/>
                <a:sym typeface="Arial"/>
              </a:rPr>
              <a:t>You learned about tools and scenarios that show it’s possible to fund college, increase potential aid eligibility, and plan for retirement.</a:t>
            </a:r>
            <a:endParaRPr/>
          </a:p>
        </p:txBody>
      </p:sp>
      <p:sp>
        <p:nvSpPr>
          <p:cNvPr id="788" name="Google Shape;788;p48"/>
          <p:cNvSpPr/>
          <p:nvPr/>
        </p:nvSpPr>
        <p:spPr>
          <a:xfrm>
            <a:off x="602901" y="4353032"/>
            <a:ext cx="11023042" cy="1108472"/>
          </a:xfrm>
          <a:prstGeom prst="roundRect">
            <a:avLst>
              <a:gd name="adj" fmla="val 5155"/>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b="1">
                <a:solidFill>
                  <a:schemeClr val="accent5"/>
                </a:solidFill>
                <a:latin typeface="Arial"/>
                <a:ea typeface="Arial"/>
                <a:cs typeface="Arial"/>
                <a:sym typeface="Arial"/>
              </a:rPr>
              <a:t>But do you know how to apply these principles to your unique student and individual financial situation?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9"/>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Your Next Steps</a:t>
            </a:r>
            <a:endParaRPr/>
          </a:p>
        </p:txBody>
      </p:sp>
      <p:sp>
        <p:nvSpPr>
          <p:cNvPr id="795" name="Google Shape;795;p49"/>
          <p:cNvSpPr/>
          <p:nvPr/>
        </p:nvSpPr>
        <p:spPr>
          <a:xfrm>
            <a:off x="602901" y="1423328"/>
            <a:ext cx="6096055" cy="434935"/>
          </a:xfrm>
          <a:prstGeom prst="roundRect">
            <a:avLst>
              <a:gd name="adj" fmla="val 13139"/>
            </a:avLst>
          </a:prstGeom>
          <a:noFill/>
          <a:ln>
            <a:noFill/>
          </a:ln>
        </p:spPr>
        <p:txBody>
          <a:bodyPr spcFirstLastPara="1" wrap="square" lIns="0" tIns="0" rIns="0" bIns="91425" anchor="b" anchorCtr="0">
            <a:spAutoFit/>
          </a:bodyPr>
          <a:lstStyle/>
          <a:p>
            <a:pPr marL="0" marR="0" lvl="0" indent="0" algn="l" rtl="0">
              <a:lnSpc>
                <a:spcPct val="100000"/>
              </a:lnSpc>
              <a:spcBef>
                <a:spcPts val="0"/>
              </a:spcBef>
              <a:spcAft>
                <a:spcPts val="0"/>
              </a:spcAft>
              <a:buClr>
                <a:schemeClr val="accent1"/>
              </a:buClr>
              <a:buSzPts val="2000"/>
              <a:buFont typeface="Arial"/>
              <a:buNone/>
            </a:pPr>
            <a:r>
              <a:rPr lang="en-US" sz="2000" b="1">
                <a:solidFill>
                  <a:schemeClr val="accent1"/>
                </a:solidFill>
                <a:latin typeface="Arial"/>
                <a:ea typeface="Arial"/>
                <a:cs typeface="Arial"/>
                <a:sym typeface="Arial"/>
              </a:rPr>
              <a:t>Connect with a financial advisor who can…</a:t>
            </a:r>
            <a:endParaRPr/>
          </a:p>
        </p:txBody>
      </p:sp>
      <p:sp>
        <p:nvSpPr>
          <p:cNvPr id="796" name="Google Shape;796;p49"/>
          <p:cNvSpPr/>
          <p:nvPr/>
        </p:nvSpPr>
        <p:spPr>
          <a:xfrm>
            <a:off x="602901" y="1885507"/>
            <a:ext cx="6558279" cy="2397978"/>
          </a:xfrm>
          <a:prstGeom prst="roundRect">
            <a:avLst>
              <a:gd name="adj" fmla="val 2383"/>
            </a:avLst>
          </a:prstGeom>
          <a:noFill/>
          <a:ln>
            <a:noFill/>
          </a:ln>
        </p:spPr>
        <p:txBody>
          <a:bodyPr spcFirstLastPara="1" wrap="square" lIns="0" tIns="0" rIns="0" bIns="91425" anchor="t" anchorCtr="0">
            <a:sp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a:solidFill>
                  <a:schemeClr val="dk1"/>
                </a:solidFill>
                <a:latin typeface="Arial"/>
                <a:ea typeface="Arial"/>
                <a:cs typeface="Arial"/>
                <a:sym typeface="Arial"/>
              </a:rPr>
              <a:t>Help coordinate your funding options and financial aid profile alongside your protection needs to help support tuition requirements without sacrificing your long-term financial strategies.</a:t>
            </a:r>
            <a:endParaRPr/>
          </a:p>
          <a:p>
            <a:pPr marL="342900" marR="0" lvl="0" indent="-342900" algn="l" rtl="0">
              <a:lnSpc>
                <a:spcPct val="100000"/>
              </a:lnSpc>
              <a:spcBef>
                <a:spcPts val="1000"/>
              </a:spcBef>
              <a:spcAft>
                <a:spcPts val="0"/>
              </a:spcAft>
              <a:buClr>
                <a:schemeClr val="dk1"/>
              </a:buClr>
              <a:buSzPts val="2000"/>
              <a:buFont typeface="Arial"/>
              <a:buChar char="•"/>
            </a:pPr>
            <a:r>
              <a:rPr lang="en-US" sz="2000" b="0">
                <a:solidFill>
                  <a:schemeClr val="dk1"/>
                </a:solidFill>
                <a:latin typeface="Arial"/>
                <a:ea typeface="Arial"/>
                <a:cs typeface="Arial"/>
                <a:sym typeface="Arial"/>
              </a:rPr>
              <a:t>Connect you with a professional college planning service to help your student optimize their admissions profile.</a:t>
            </a:r>
            <a:endParaRPr/>
          </a:p>
        </p:txBody>
      </p:sp>
      <p:sp>
        <p:nvSpPr>
          <p:cNvPr id="797" name="Google Shape;797;p49"/>
          <p:cNvSpPr/>
          <p:nvPr/>
        </p:nvSpPr>
        <p:spPr>
          <a:xfrm>
            <a:off x="7519460" y="1990685"/>
            <a:ext cx="4126579" cy="1931849"/>
          </a:xfrm>
          <a:prstGeom prst="roundRect">
            <a:avLst>
              <a:gd name="adj" fmla="val 2958"/>
            </a:avLst>
          </a:prstGeom>
          <a:solidFill>
            <a:schemeClr val="accent1"/>
          </a:solidFill>
          <a:ln>
            <a:noFill/>
          </a:ln>
        </p:spPr>
        <p:txBody>
          <a:bodyPr spcFirstLastPara="1" wrap="square" lIns="274300" tIns="274300" rIns="274300" bIns="274300" anchor="t" anchorCtr="0">
            <a:spAutoFit/>
          </a:bodyPr>
          <a:lstStyle/>
          <a:p>
            <a:pPr marL="0" marR="0" lvl="0" indent="0" algn="l" rtl="0">
              <a:lnSpc>
                <a:spcPct val="100000"/>
              </a:lnSpc>
              <a:spcBef>
                <a:spcPts val="0"/>
              </a:spcBef>
              <a:spcAft>
                <a:spcPts val="0"/>
              </a:spcAft>
              <a:buClr>
                <a:schemeClr val="lt1"/>
              </a:buClr>
              <a:buSzPts val="2000"/>
              <a:buFont typeface="Arial"/>
              <a:buNone/>
            </a:pPr>
            <a:r>
              <a:rPr lang="en-US" sz="2000" b="0">
                <a:solidFill>
                  <a:schemeClr val="lt1"/>
                </a:solidFill>
                <a:latin typeface="Arial"/>
                <a:ea typeface="Arial"/>
                <a:cs typeface="Arial"/>
                <a:sym typeface="Arial"/>
              </a:rPr>
              <a:t>Reach out to us today.</a:t>
            </a:r>
            <a:endParaRPr/>
          </a:p>
          <a:p>
            <a:pPr marL="0" marR="0" lvl="0" indent="0" algn="l" rtl="0">
              <a:lnSpc>
                <a:spcPct val="100000"/>
              </a:lnSpc>
              <a:spcBef>
                <a:spcPts val="1000"/>
              </a:spcBef>
              <a:spcAft>
                <a:spcPts val="0"/>
              </a:spcAft>
              <a:buClr>
                <a:schemeClr val="lt1"/>
              </a:buClr>
              <a:buSzPts val="2000"/>
              <a:buFont typeface="Arial"/>
              <a:buNone/>
            </a:pPr>
            <a:r>
              <a:rPr lang="en-US" sz="2000" b="0">
                <a:solidFill>
                  <a:schemeClr val="lt1"/>
                </a:solidFill>
                <a:latin typeface="Arial"/>
                <a:ea typeface="Arial"/>
                <a:cs typeface="Arial"/>
                <a:sym typeface="Arial"/>
              </a:rPr>
              <a:t>Our goal is to provide a great outcome for your student and your finances.</a:t>
            </a:r>
            <a:endParaRPr/>
          </a:p>
        </p:txBody>
      </p:sp>
      <p:sp>
        <p:nvSpPr>
          <p:cNvPr id="798" name="Google Shape;798;p49"/>
          <p:cNvSpPr/>
          <p:nvPr/>
        </p:nvSpPr>
        <p:spPr>
          <a:xfrm>
            <a:off x="7519460" y="1452894"/>
            <a:ext cx="4106483" cy="461665"/>
          </a:xfrm>
          <a:prstGeom prst="roundRect">
            <a:avLst>
              <a:gd name="adj" fmla="val 12379"/>
            </a:avLst>
          </a:prstGeom>
          <a:noFill/>
          <a:ln>
            <a:noFill/>
          </a:ln>
        </p:spPr>
        <p:txBody>
          <a:bodyPr spcFirstLastPara="1" wrap="square" lIns="0" tIns="0" rIns="0" bIns="91425" anchor="b" anchorCtr="0">
            <a:spAutoFit/>
          </a:bodyPr>
          <a:lstStyle/>
          <a:p>
            <a:pPr marL="0" marR="0" lvl="0" indent="0" algn="l" rtl="0">
              <a:lnSpc>
                <a:spcPct val="100000"/>
              </a:lnSpc>
              <a:spcBef>
                <a:spcPts val="0"/>
              </a:spcBef>
              <a:spcAft>
                <a:spcPts val="0"/>
              </a:spcAft>
              <a:buClr>
                <a:schemeClr val="accent5"/>
              </a:buClr>
              <a:buSzPts val="2400"/>
              <a:buFont typeface="Arial"/>
              <a:buNone/>
            </a:pPr>
            <a:r>
              <a:rPr lang="en-US" sz="2400" b="1">
                <a:solidFill>
                  <a:schemeClr val="accent5"/>
                </a:solidFill>
                <a:latin typeface="Arial"/>
                <a:ea typeface="Arial"/>
                <a:cs typeface="Arial"/>
                <a:sym typeface="Arial"/>
              </a:rPr>
              <a:t>Schedule an Appointment</a:t>
            </a:r>
            <a:endParaRPr/>
          </a:p>
        </p:txBody>
      </p:sp>
      <p:sp>
        <p:nvSpPr>
          <p:cNvPr id="799" name="Google Shape;799;p49"/>
          <p:cNvSpPr/>
          <p:nvPr/>
        </p:nvSpPr>
        <p:spPr>
          <a:xfrm>
            <a:off x="602901" y="4791964"/>
            <a:ext cx="11023042" cy="1108472"/>
          </a:xfrm>
          <a:prstGeom prst="roundRect">
            <a:avLst>
              <a:gd name="adj" fmla="val 5155"/>
            </a:avLst>
          </a:prstGeom>
          <a:solidFill>
            <a:srgbClr val="60BBFF">
              <a:alpha val="20000"/>
            </a:srgbClr>
          </a:solidFill>
          <a:ln>
            <a:noFill/>
          </a:ln>
        </p:spPr>
        <p:txBody>
          <a:bodyPr spcFirstLastPara="1" wrap="square" lIns="228600" tIns="228600" rIns="228600" bIns="228600" anchor="t" anchorCtr="0">
            <a:spAutoFit/>
          </a:bodyPr>
          <a:lstStyle/>
          <a:p>
            <a:pPr marL="0" marR="0" lvl="0" indent="0" algn="l" rtl="0">
              <a:spcBef>
                <a:spcPts val="0"/>
              </a:spcBef>
              <a:spcAft>
                <a:spcPts val="0"/>
              </a:spcAft>
              <a:buNone/>
            </a:pPr>
            <a:r>
              <a:rPr lang="en-US" sz="2000">
                <a:solidFill>
                  <a:schemeClr val="accent5"/>
                </a:solidFill>
                <a:latin typeface="Arial"/>
                <a:ea typeface="Arial"/>
                <a:cs typeface="Arial"/>
                <a:sym typeface="Arial"/>
              </a:rPr>
              <a:t>You wouldn't file your taxes without planning first. College is no different. Let us show you exactly how to pay for college without taking from your retirement.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50"/>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Sources Referenced</a:t>
            </a:r>
            <a:endParaRPr/>
          </a:p>
        </p:txBody>
      </p:sp>
      <p:sp>
        <p:nvSpPr>
          <p:cNvPr id="806" name="Google Shape;806;p50"/>
          <p:cNvSpPr/>
          <p:nvPr/>
        </p:nvSpPr>
        <p:spPr>
          <a:xfrm>
            <a:off x="602901" y="1283017"/>
            <a:ext cx="10972800" cy="4142160"/>
          </a:xfrm>
          <a:prstGeom prst="roundRect">
            <a:avLst>
              <a:gd name="adj" fmla="val 1379"/>
            </a:avLst>
          </a:prstGeom>
          <a:noFill/>
          <a:ln>
            <a:noFill/>
          </a:ln>
        </p:spPr>
        <p:txBody>
          <a:bodyPr spcFirstLastPara="1" wrap="square" lIns="0" tIns="0" rIns="0" bIns="0" anchor="t" anchorCtr="0">
            <a:spAutoFit/>
          </a:bodyPr>
          <a:lstStyle/>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Ma, Jennifer, et al. </a:t>
            </a:r>
            <a:r>
              <a:rPr lang="en-US" sz="1600" i="1" dirty="0">
                <a:solidFill>
                  <a:schemeClr val="dk1"/>
                </a:solidFill>
                <a:latin typeface="Arial"/>
                <a:ea typeface="Arial"/>
                <a:cs typeface="Arial"/>
                <a:sym typeface="Arial"/>
              </a:rPr>
              <a:t>Trends in College Pricing and Student Aid 2025</a:t>
            </a:r>
            <a:r>
              <a:rPr lang="en-US" sz="1600" dirty="0">
                <a:solidFill>
                  <a:schemeClr val="dk1"/>
                </a:solidFill>
                <a:latin typeface="Arial"/>
                <a:ea typeface="Arial"/>
                <a:cs typeface="Arial"/>
                <a:sym typeface="Arial"/>
              </a:rPr>
              <a:t>. College Board, Nov. 2025, </a:t>
            </a:r>
            <a:r>
              <a:rPr lang="en-US" sz="1600" dirty="0" err="1">
                <a:solidFill>
                  <a:schemeClr val="dk1"/>
                </a:solidFill>
                <a:latin typeface="Arial"/>
                <a:ea typeface="Arial"/>
                <a:cs typeface="Arial"/>
                <a:sym typeface="Arial"/>
              </a:rPr>
              <a:t>research.collegeboard.org</a:t>
            </a:r>
            <a:r>
              <a:rPr lang="en-US" sz="1600" dirty="0">
                <a:solidFill>
                  <a:schemeClr val="dk1"/>
                </a:solidFill>
                <a:latin typeface="Arial"/>
                <a:ea typeface="Arial"/>
                <a:cs typeface="Arial"/>
                <a:sym typeface="Arial"/>
              </a:rPr>
              <a:t>/media/pdf/Trends-in-College-Pricing-and-Student-Aid-2025-final_1.pdf</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AACRAO. “Essentials of Strategic Enrollment Management.” </a:t>
            </a:r>
            <a:r>
              <a:rPr lang="en-US" sz="1600" i="1" dirty="0">
                <a:solidFill>
                  <a:schemeClr val="dk1"/>
                </a:solidFill>
                <a:latin typeface="Arial"/>
                <a:ea typeface="Arial"/>
                <a:cs typeface="Arial"/>
                <a:sym typeface="Arial"/>
              </a:rPr>
              <a:t>American Association of Collegiate Registrars and Admissions Officers</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https://www.aacrao.org/training/essentials-of-strategic-enrollment-management-8/</a:t>
            </a: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College Board. “CSS Profile for Parents.” </a:t>
            </a:r>
            <a:r>
              <a:rPr lang="en-US" sz="1600" i="1" dirty="0">
                <a:solidFill>
                  <a:schemeClr val="dk1"/>
                </a:solidFill>
                <a:latin typeface="Arial"/>
                <a:ea typeface="Arial"/>
                <a:cs typeface="Arial"/>
                <a:sym typeface="Arial"/>
              </a:rPr>
              <a:t>College Board</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https://cssprofile.collegeboard.org/profile-for-parents</a:t>
            </a: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Federal Student Aid. “2024-2025 Federal Student Aid Handbook. Vol. 3, Ch. 2: Cost of Attendance.” </a:t>
            </a:r>
            <a:r>
              <a:rPr lang="en-US" sz="1600" i="1" dirty="0">
                <a:solidFill>
                  <a:schemeClr val="dk1"/>
                </a:solidFill>
                <a:latin typeface="Arial"/>
                <a:ea typeface="Arial"/>
                <a:cs typeface="Arial"/>
                <a:sym typeface="Arial"/>
              </a:rPr>
              <a:t>U.S. Department of Education</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https://fsapartners.ed.gov/knowledge-center/fsa-handbook/2024-2025/vol3/ch2-cost-attendance-budget</a:t>
            </a: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Federal Student Aid. “FAFSA®: Free Application for Federal Student Aid.” </a:t>
            </a:r>
            <a:r>
              <a:rPr lang="en-US" sz="1600" i="1" dirty="0">
                <a:solidFill>
                  <a:schemeClr val="dk1"/>
                </a:solidFill>
                <a:latin typeface="Arial"/>
                <a:ea typeface="Arial"/>
                <a:cs typeface="Arial"/>
                <a:sym typeface="Arial"/>
              </a:rPr>
              <a:t>U.S. Department of Education</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www.studentaid.gov/h/apply-for-aid/fafsa</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Federal Student Aid. “What Is the Student Aid Index (SAI)?” </a:t>
            </a:r>
            <a:r>
              <a:rPr lang="en-US" sz="1600" i="1" dirty="0">
                <a:solidFill>
                  <a:schemeClr val="dk1"/>
                </a:solidFill>
                <a:latin typeface="Arial"/>
                <a:ea typeface="Arial"/>
                <a:cs typeface="Arial"/>
                <a:sym typeface="Arial"/>
              </a:rPr>
              <a:t>U.S. Department of Education</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7">
                  <a:extLst>
                    <a:ext uri="{A12FA001-AC4F-418D-AE19-62706E023703}">
                      <ahyp:hlinkClr xmlns:ahyp="http://schemas.microsoft.com/office/drawing/2018/hyperlinkcolor" val="tx"/>
                    </a:ext>
                  </a:extLst>
                </a:hlinkClick>
              </a:rPr>
              <a:t>www.studentaid.gov/help-center/answers/article/what-is-sai</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Internal Revenue Service. “About Publication 970, Tax Benefits for Education.” </a:t>
            </a:r>
            <a:r>
              <a:rPr lang="en-US" sz="1600" i="1" dirty="0">
                <a:solidFill>
                  <a:schemeClr val="dk1"/>
                </a:solidFill>
                <a:latin typeface="Arial"/>
                <a:ea typeface="Arial"/>
                <a:cs typeface="Arial"/>
                <a:sym typeface="Arial"/>
              </a:rPr>
              <a:t>Department of the Treasury</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8">
                  <a:extLst>
                    <a:ext uri="{A12FA001-AC4F-418D-AE19-62706E023703}">
                      <ahyp:hlinkClr xmlns:ahyp="http://schemas.microsoft.com/office/drawing/2018/hyperlinkcolor" val="tx"/>
                    </a:ext>
                  </a:extLst>
                </a:hlinkClick>
              </a:rPr>
              <a:t>www.irs.gov/forms-pubs/about-publication-970</a:t>
            </a:r>
            <a:r>
              <a:rPr lang="en-US" sz="1600" dirty="0">
                <a:solidFill>
                  <a:schemeClr val="dk1"/>
                </a:solidFill>
                <a:latin typeface="Arial"/>
                <a:ea typeface="Arial"/>
                <a:cs typeface="Arial"/>
                <a:sym typeface="Arial"/>
              </a:rPr>
              <a:t>.</a:t>
            </a:r>
            <a:endParaRPr sz="1600" dirty="0">
              <a:solidFill>
                <a:srgbClr val="1A1A2E"/>
              </a:solidFill>
              <a:latin typeface="Arial" panose="020B0604020202020204" pitchFamily="34" charset="0"/>
              <a:ea typeface="Open Sans"/>
              <a:cs typeface="Arial" panose="020B0604020202020204" pitchFamily="34" charset="0"/>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51"/>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Sources Referenced</a:t>
            </a:r>
            <a:endParaRPr/>
          </a:p>
        </p:txBody>
      </p:sp>
      <p:sp>
        <p:nvSpPr>
          <p:cNvPr id="812" name="Google Shape;812;p51"/>
          <p:cNvSpPr/>
          <p:nvPr/>
        </p:nvSpPr>
        <p:spPr>
          <a:xfrm>
            <a:off x="602901" y="1283017"/>
            <a:ext cx="10972800" cy="5014193"/>
          </a:xfrm>
          <a:prstGeom prst="roundRect">
            <a:avLst>
              <a:gd name="adj" fmla="val 1139"/>
            </a:avLst>
          </a:prstGeom>
          <a:noFill/>
          <a:ln>
            <a:noFill/>
          </a:ln>
        </p:spPr>
        <p:txBody>
          <a:bodyPr spcFirstLastPara="1" wrap="square" lIns="0" tIns="0" rIns="0" bIns="0" anchor="t" anchorCtr="0">
            <a:spAutoFit/>
          </a:bodyPr>
          <a:lstStyle/>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Investopedia. “Expected Family Contribution (EFC) Definition.” </a:t>
            </a:r>
            <a:r>
              <a:rPr lang="en-US" sz="1600" i="1" dirty="0">
                <a:solidFill>
                  <a:schemeClr val="dk1"/>
                </a:solidFill>
                <a:latin typeface="Arial"/>
                <a:ea typeface="Arial"/>
                <a:cs typeface="Arial"/>
                <a:sym typeface="Arial"/>
              </a:rPr>
              <a:t>Investopedia</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www.investopedia.com/terms/e/expected-family-contribution.asp</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Investopedia. “Understanding Scholarships: Need-Based vs. Merit-Based.” </a:t>
            </a:r>
            <a:r>
              <a:rPr lang="en-US" sz="1600" i="1" dirty="0">
                <a:solidFill>
                  <a:schemeClr val="dk1"/>
                </a:solidFill>
                <a:latin typeface="Arial"/>
                <a:ea typeface="Arial"/>
                <a:cs typeface="Arial"/>
                <a:sym typeface="Arial"/>
              </a:rPr>
              <a:t>Investopedia</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www.investopedia.com/understanding-scholarships-need-and-merit-4783132</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National Association for College Admission Counseling. “Factors in the Admission Decision.” </a:t>
            </a:r>
            <a:r>
              <a:rPr lang="en-US" sz="1600" i="1" dirty="0">
                <a:solidFill>
                  <a:schemeClr val="dk1"/>
                </a:solidFill>
                <a:latin typeface="Arial"/>
                <a:ea typeface="Arial"/>
                <a:cs typeface="Arial"/>
                <a:sym typeface="Arial"/>
              </a:rPr>
              <a:t>NACAC</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www.nacacnet.org/factors-in-the-admission-decision/</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NerdWallet. “How to Write a Financial Aid Appeal Letter.” </a:t>
            </a:r>
            <a:r>
              <a:rPr lang="en-US" sz="1600" i="1" dirty="0">
                <a:solidFill>
                  <a:schemeClr val="dk1"/>
                </a:solidFill>
                <a:latin typeface="Arial"/>
                <a:ea typeface="Arial"/>
                <a:cs typeface="Arial"/>
                <a:sym typeface="Arial"/>
              </a:rPr>
              <a:t>NerdWallet</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www.nerdwallet.com/student-loans/learn/financial-aid-appeal-letter</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err="1">
                <a:solidFill>
                  <a:schemeClr val="dk1"/>
                </a:solidFill>
                <a:latin typeface="Arial"/>
                <a:ea typeface="Arial"/>
                <a:cs typeface="Arial"/>
                <a:sym typeface="Arial"/>
              </a:rPr>
              <a:t>Savingforcollege.com</a:t>
            </a:r>
            <a:r>
              <a:rPr lang="en-US" sz="1600" dirty="0">
                <a:solidFill>
                  <a:schemeClr val="dk1"/>
                </a:solidFill>
                <a:latin typeface="Arial"/>
                <a:ea typeface="Arial"/>
                <a:cs typeface="Arial"/>
                <a:sym typeface="Arial"/>
              </a:rPr>
              <a:t>. “What You Can Pay for With a 529 Plan.” Saving for College. </a:t>
            </a:r>
            <a:r>
              <a:rPr lang="en-US" sz="1600" u="sng" dirty="0">
                <a:solidFill>
                  <a:schemeClr val="dk1"/>
                </a:solidFill>
                <a:latin typeface="Arial"/>
                <a:ea typeface="Arial"/>
                <a:cs typeface="Arial"/>
                <a:sym typeface="Arial"/>
                <a:hlinkClick r:id="rId7">
                  <a:extLst>
                    <a:ext uri="{A12FA001-AC4F-418D-AE19-62706E023703}">
                      <ahyp:hlinkClr xmlns:ahyp="http://schemas.microsoft.com/office/drawing/2018/hyperlinkcolor" val="tx"/>
                    </a:ext>
                  </a:extLst>
                </a:hlinkClick>
              </a:rPr>
              <a:t>www.savingforcollege.com/article/what-you-can-pay-for-with-a-529-plan</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r>
              <a:rPr lang="en-US" sz="1600" dirty="0" err="1">
                <a:solidFill>
                  <a:schemeClr val="dk1"/>
                </a:solidFill>
                <a:latin typeface="Arial"/>
                <a:ea typeface="Arial"/>
                <a:cs typeface="Arial"/>
                <a:sym typeface="Arial"/>
              </a:rPr>
              <a:t>SmartAsset</a:t>
            </a:r>
            <a:r>
              <a:rPr lang="en-US" sz="1600" dirty="0">
                <a:solidFill>
                  <a:schemeClr val="dk1"/>
                </a:solidFill>
                <a:latin typeface="Arial"/>
                <a:ea typeface="Arial"/>
                <a:cs typeface="Arial"/>
                <a:sym typeface="Arial"/>
              </a:rPr>
              <a:t>. “How Does a 529 Plan Affect Financial Aid?” </a:t>
            </a:r>
            <a:r>
              <a:rPr lang="en-US" sz="1600" i="1" dirty="0" err="1">
                <a:solidFill>
                  <a:schemeClr val="dk1"/>
                </a:solidFill>
                <a:latin typeface="Arial"/>
                <a:ea typeface="Arial"/>
                <a:cs typeface="Arial"/>
                <a:sym typeface="Arial"/>
              </a:rPr>
              <a:t>SmartAsset</a:t>
            </a:r>
            <a:r>
              <a:rPr lang="en-US" sz="1600" dirty="0">
                <a:solidFill>
                  <a:schemeClr val="dk1"/>
                </a:solidFill>
                <a:latin typeface="Arial"/>
                <a:ea typeface="Arial"/>
                <a:cs typeface="Arial"/>
                <a:sym typeface="Arial"/>
              </a:rPr>
              <a:t>, </a:t>
            </a:r>
            <a:r>
              <a:rPr lang="en-US" sz="1600" u="sng" dirty="0">
                <a:solidFill>
                  <a:schemeClr val="dk1"/>
                </a:solidFill>
                <a:latin typeface="Arial"/>
                <a:ea typeface="Arial"/>
                <a:cs typeface="Arial"/>
                <a:sym typeface="Arial"/>
                <a:hlinkClick r:id="rId8">
                  <a:extLst>
                    <a:ext uri="{A12FA001-AC4F-418D-AE19-62706E023703}">
                      <ahyp:hlinkClr xmlns:ahyp="http://schemas.microsoft.com/office/drawing/2018/hyperlinkcolor" val="tx"/>
                    </a:ext>
                  </a:extLst>
                </a:hlinkClick>
              </a:rPr>
              <a:t>www.smartasset.com/student-loans/will-529-plan-affect-financial-aid</a:t>
            </a:r>
            <a:r>
              <a:rPr lang="en-US" sz="1600" dirty="0">
                <a:solidFill>
                  <a:schemeClr val="dk1"/>
                </a:solidFill>
                <a:latin typeface="Arial"/>
                <a:ea typeface="Arial"/>
                <a:cs typeface="Arial"/>
                <a:sym typeface="Arial"/>
              </a:rPr>
              <a:t>.</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Chany, Kalman A., and Geoff Martz. </a:t>
            </a:r>
            <a:r>
              <a:rPr lang="en-US" sz="1600" i="1" dirty="0">
                <a:solidFill>
                  <a:schemeClr val="dk1"/>
                </a:solidFill>
                <a:latin typeface="Arial"/>
                <a:ea typeface="Arial"/>
                <a:cs typeface="Arial"/>
                <a:sym typeface="Arial"/>
              </a:rPr>
              <a:t>Paying for College, 2026: Everything You Need to Maximize Financial Aid and Afford College</a:t>
            </a:r>
            <a:r>
              <a:rPr lang="en-US" sz="1600" dirty="0">
                <a:solidFill>
                  <a:schemeClr val="dk1"/>
                </a:solidFill>
                <a:latin typeface="Arial"/>
                <a:ea typeface="Arial"/>
                <a:cs typeface="Arial"/>
                <a:sym typeface="Arial"/>
              </a:rPr>
              <a:t>. 2026 ed., The Princeton Review, 2025.</a:t>
            </a:r>
            <a:endParaRPr sz="1600" dirty="0"/>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r>
              <a:rPr lang="en-US" sz="1600" dirty="0">
                <a:solidFill>
                  <a:schemeClr val="dk1"/>
                </a:solidFill>
                <a:latin typeface="Arial"/>
                <a:ea typeface="Arial"/>
                <a:cs typeface="Arial"/>
                <a:sym typeface="Arial"/>
              </a:rPr>
              <a:t>Allianz Life, </a:t>
            </a:r>
            <a:r>
              <a:rPr lang="en-US" sz="1600" i="1" dirty="0">
                <a:solidFill>
                  <a:schemeClr val="dk1"/>
                </a:solidFill>
                <a:latin typeface="Arial"/>
                <a:ea typeface="Arial"/>
                <a:cs typeface="Arial"/>
                <a:sym typeface="Arial"/>
              </a:rPr>
              <a:t>What We Offer: Life Insurance for College Funding</a:t>
            </a:r>
            <a:r>
              <a:rPr lang="en-US" sz="1600" dirty="0">
                <a:solidFill>
                  <a:schemeClr val="dk1"/>
                </a:solidFill>
                <a:latin typeface="Arial"/>
                <a:ea typeface="Arial"/>
                <a:cs typeface="Arial"/>
                <a:sym typeface="Arial"/>
              </a:rPr>
              <a:t>. 2026., </a:t>
            </a:r>
            <a:r>
              <a:rPr lang="en-US" sz="1600" u="sng" dirty="0">
                <a:solidFill>
                  <a:schemeClr val="dk1"/>
                </a:solidFill>
                <a:latin typeface="Arial"/>
                <a:ea typeface="Arial"/>
                <a:cs typeface="Arial"/>
                <a:sym typeface="Arial"/>
                <a:hlinkClick r:id="rId9">
                  <a:extLst>
                    <a:ext uri="{A12FA001-AC4F-418D-AE19-62706E023703}">
                      <ahyp:hlinkClr xmlns:ahyp="http://schemas.microsoft.com/office/drawing/2018/hyperlinkcolor" val="tx"/>
                    </a:ext>
                  </a:extLst>
                </a:hlinkClick>
              </a:rPr>
              <a:t>https://www.allianzlife.com/what-we-offer/Life-Insurance/College-Funding</a:t>
            </a:r>
            <a:endParaRPr sz="1600" dirty="0">
              <a:solidFill>
                <a:schemeClr val="dk1"/>
              </a:solidFill>
              <a:latin typeface="Arial"/>
              <a:ea typeface="Arial"/>
              <a:cs typeface="Arial"/>
              <a:sym typeface="Arial"/>
            </a:endParaRPr>
          </a:p>
          <a:p>
            <a:pPr marL="0" marR="0" lvl="0" indent="0" algn="l" rtl="0">
              <a:lnSpc>
                <a:spcPts val="1700"/>
              </a:lnSpc>
              <a:spcBef>
                <a:spcPts val="0"/>
              </a:spcBef>
              <a:spcAft>
                <a:spcPts val="0"/>
              </a:spcAft>
              <a:buNone/>
            </a:pPr>
            <a:endParaRPr sz="1600" dirty="0">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52"/>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Disclosures</a:t>
            </a:r>
            <a:endParaRPr/>
          </a:p>
        </p:txBody>
      </p:sp>
      <p:sp>
        <p:nvSpPr>
          <p:cNvPr id="819" name="Google Shape;819;p52"/>
          <p:cNvSpPr/>
          <p:nvPr/>
        </p:nvSpPr>
        <p:spPr>
          <a:xfrm>
            <a:off x="609600" y="1271016"/>
            <a:ext cx="10972800" cy="4521751"/>
          </a:xfrm>
          <a:prstGeom prst="roundRect">
            <a:avLst>
              <a:gd name="adj" fmla="val 1263"/>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a:ea typeface="Arial"/>
                <a:cs typeface="Arial"/>
                <a:sym typeface="Arial"/>
              </a:rPr>
              <a:t>An annuity is intended to be a long-term, tax-deferred retirement vehicle. Earnings are taxable as ordinary income when distributed, and if withdrawn before age 59½, may be subject to a 10% federal tax penalty. If the annuity will fund an IRA or other tax qualified plan, the tax deferral feature offers no additional value. Qualified distributions from a Roth IRA are generally excluded from gross income, but taxes and penalties may apply to non-qualified distributions. Consult a tax advisor for specific information. Guarantees are backed by the financial strength and claims-paying ability of the issuing insurance company.</a:t>
            </a:r>
            <a:endParaRPr dirty="0"/>
          </a:p>
          <a:p>
            <a:pPr marL="0" marR="0" lvl="0" indent="0" algn="l" rtl="0">
              <a:spcBef>
                <a:spcPts val="700"/>
              </a:spcBef>
              <a:spcAft>
                <a:spcPts val="0"/>
              </a:spcAft>
              <a:buNone/>
            </a:pPr>
            <a:r>
              <a:rPr lang="en-US" sz="1600" dirty="0">
                <a:solidFill>
                  <a:schemeClr val="dk1"/>
                </a:solidFill>
                <a:latin typeface="Arial"/>
                <a:ea typeface="Arial"/>
                <a:cs typeface="Arial"/>
                <a:sym typeface="Arial"/>
              </a:rPr>
              <a:t>Any comments regarding safe or secure investments or guarantees of income refer only to fixed insurance products and do not refer in any way to securities or investment advisory products. Fixed index annuities with income riders are long-term investments and are not a direct or indirect investment in the stock market and while protecting principal against all stock market losses, will in almost all cases earn a lower rate of return than the stock market in positive stock market growth years, meaning you will not receive full stock market participation. Income riders in a fixed index annuity may provide a specified and guaranteed lifetime income amount and a specified and guaranteed “roll-up rate” that increases the guaranteed minimum withdrawal benefit which increases future guaranteed lifetime income but is not available in a lump sum. Fixed income annuities typically contain a margin/spread/asset or administrative fee that subtracts a set percentage from the gain in the index being tracked. These features reduce your return in the same way that a direct fee would even if the annuity is called a "no fee" annuity. Income riders will typically carry an annual fee of approximately 1%, and your fee could be higher or lower. Principal guarantees, lifetime income guarantees, and guaranteed death benefits discussed are backed by the financial strength and claims-paying ability of the issuing insurance company.</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53"/>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Disclosures</a:t>
            </a:r>
            <a:endParaRPr/>
          </a:p>
        </p:txBody>
      </p:sp>
      <p:sp>
        <p:nvSpPr>
          <p:cNvPr id="826" name="Google Shape;826;p53"/>
          <p:cNvSpPr/>
          <p:nvPr/>
        </p:nvSpPr>
        <p:spPr>
          <a:xfrm>
            <a:off x="612648" y="1271016"/>
            <a:ext cx="10922000" cy="5006499"/>
          </a:xfrm>
          <a:prstGeom prst="roundRect">
            <a:avLst>
              <a:gd name="adj" fmla="val 1141"/>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a:ea typeface="Arial"/>
                <a:cs typeface="Arial"/>
                <a:sym typeface="Arial"/>
              </a:rPr>
              <a:t>This information is provided as general information and is not intended to be specific financial guidance. Before you make any decisions regarding your personal financial situation, you should consult a financial or tax professional to discuss your individual circumstances and objectives. This material is intended for educational purposes only and is not intended to serve as the basis for any purchasing decision. </a:t>
            </a:r>
            <a:endParaRPr dirty="0"/>
          </a:p>
          <a:p>
            <a:pPr marL="0" marR="0" lvl="0" indent="0" algn="l" rtl="0">
              <a:spcBef>
                <a:spcPts val="700"/>
              </a:spcBef>
              <a:spcAft>
                <a:spcPts val="0"/>
              </a:spcAft>
              <a:buNone/>
            </a:pPr>
            <a:r>
              <a:rPr lang="en-US" sz="1600" dirty="0">
                <a:solidFill>
                  <a:schemeClr val="dk1"/>
                </a:solidFill>
                <a:latin typeface="Arial"/>
                <a:ea typeface="Arial"/>
                <a:cs typeface="Arial"/>
                <a:sym typeface="Arial"/>
              </a:rPr>
              <a:t>The hypothetical examples are shown for illustrative purposes only and is not guaranteed. The characters in the examples are fictional only. Your actual experience will vary. Past performance and individual success stories are not indicative of future results or investment success. Your experience may vary significantly based on individual financial circumstances, market conditions, and investment timing. An annuity is intended to be a long-term, tax-deferred retirement vehicle. Earnings are taxable as ordinary income when distributed, and if withdrawn before age 59.5 may be subject to a 10% federal tax penalty. If the annuity will fund an IRA or other tax qualified plan, the tax deferral feature offers no additional value. Qualified distributions from a Roth IRA are generally excluded from gross income, but taxes and penalties may apply to non-qualified distributions. Consult a tax advisor for specific information. Guarantees are backed by the financial strength and claims-paying ability of the issuing insurance company. </a:t>
            </a:r>
            <a:endParaRPr dirty="0"/>
          </a:p>
          <a:p>
            <a:pPr marL="0" marR="0" lvl="0" indent="0" algn="l" rtl="0">
              <a:spcBef>
                <a:spcPts val="700"/>
              </a:spcBef>
              <a:spcAft>
                <a:spcPts val="0"/>
              </a:spcAft>
              <a:buNone/>
            </a:pPr>
            <a:r>
              <a:rPr lang="en-US" sz="1600" dirty="0">
                <a:solidFill>
                  <a:schemeClr val="dk1"/>
                </a:solidFill>
                <a:latin typeface="Arial"/>
                <a:ea typeface="Arial"/>
                <a:cs typeface="Arial"/>
                <a:sym typeface="Arial"/>
              </a:rPr>
              <a:t>Policy loans and withdrawals will reduce available cash values and death </a:t>
            </a:r>
            <a:r>
              <a:rPr lang="en-US" sz="1600" dirty="0" err="1">
                <a:solidFill>
                  <a:schemeClr val="dk1"/>
                </a:solidFill>
                <a:latin typeface="Arial"/>
                <a:ea typeface="Arial"/>
                <a:cs typeface="Arial"/>
                <a:sym typeface="Arial"/>
              </a:rPr>
              <a:t>benefits,and</a:t>
            </a:r>
            <a:r>
              <a:rPr lang="en-US" sz="1600" dirty="0">
                <a:solidFill>
                  <a:schemeClr val="dk1"/>
                </a:solidFill>
                <a:latin typeface="Arial"/>
                <a:ea typeface="Arial"/>
                <a:cs typeface="Arial"/>
                <a:sym typeface="Arial"/>
              </a:rPr>
              <a:t> may cause the policy to lapse or affect any guarantees against lapse. Additional premium payments may be required to keep the policy in force. </a:t>
            </a:r>
            <a:endParaRPr dirty="0"/>
          </a:p>
          <a:p>
            <a:pPr marL="0" marR="0" lvl="0" indent="0" algn="l" rtl="0">
              <a:spcBef>
                <a:spcPts val="700"/>
              </a:spcBef>
              <a:spcAft>
                <a:spcPts val="0"/>
              </a:spcAft>
              <a:buNone/>
            </a:pPr>
            <a:r>
              <a:rPr lang="en-US" sz="1600" dirty="0">
                <a:solidFill>
                  <a:schemeClr val="dk1"/>
                </a:solidFill>
                <a:latin typeface="Arial"/>
                <a:ea typeface="Arial"/>
                <a:cs typeface="Arial"/>
                <a:sym typeface="Arial"/>
              </a:rPr>
              <a:t>In the event of a lapse, outstanding policy loans in excess of unrecovered cost basis will be subject to ordinary income tax. Tax laws are subject to change. Clients should consult their tax professional. The source(s) used to prepare this material is/are believed to be true, accurate and reliable, but is/are not guaranteed.</a:t>
            </a:r>
            <a:r>
              <a:rPr lang="en-US" sz="1400" dirty="0">
                <a:solidFill>
                  <a:schemeClr val="dk1"/>
                </a:solidFill>
                <a:latin typeface="Arial"/>
                <a:ea typeface="Arial"/>
                <a:cs typeface="Arial"/>
                <a:sym typeface="Arial"/>
              </a:rPr>
              <a:t>  </a:t>
            </a:r>
            <a:endParaRPr dirty="0"/>
          </a:p>
          <a:p>
            <a:pPr marL="0" marR="0" lvl="0" indent="0" algn="l" rtl="0">
              <a:spcBef>
                <a:spcPts val="700"/>
              </a:spcBef>
              <a:spcAft>
                <a:spcPts val="0"/>
              </a:spcAft>
              <a:buNone/>
            </a:pPr>
            <a:r>
              <a:rPr lang="en-US" sz="1400" dirty="0">
                <a:solidFill>
                  <a:schemeClr val="dk1"/>
                </a:solidFill>
                <a:latin typeface="Arial"/>
                <a:ea typeface="Arial"/>
                <a:cs typeface="Arial"/>
                <a:sym typeface="Arial"/>
              </a:rPr>
              <a:t>SWG5712860-0726</a:t>
            </a:r>
            <a:endParaRPr sz="1600" dirty="0">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54"/>
          <p:cNvSpPr txBox="1">
            <a:spLocks noGrp="1"/>
          </p:cNvSpPr>
          <p:nvPr>
            <p:ph type="title"/>
          </p:nvPr>
        </p:nvSpPr>
        <p:spPr>
          <a:xfrm>
            <a:off x="320040" y="228600"/>
            <a:ext cx="9555816" cy="484748"/>
          </a:xfrm>
          <a:prstGeom prst="roundRect">
            <a:avLst>
              <a:gd name="adj" fmla="val 11789"/>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3500"/>
              <a:buFont typeface="Arial"/>
              <a:buNone/>
            </a:pPr>
            <a:r>
              <a:rPr lang="en-US"/>
              <a:t>Advisor Disclosure</a:t>
            </a:r>
            <a:endParaRPr/>
          </a:p>
        </p:txBody>
      </p:sp>
      <p:sp>
        <p:nvSpPr>
          <p:cNvPr id="3" name="Google Shape;826;p53">
            <a:extLst>
              <a:ext uri="{FF2B5EF4-FFF2-40B4-BE49-F238E27FC236}">
                <a16:creationId xmlns:a16="http://schemas.microsoft.com/office/drawing/2014/main" id="{DDE81586-AB89-049E-01C3-B4B2507120EA}"/>
              </a:ext>
            </a:extLst>
          </p:cNvPr>
          <p:cNvSpPr/>
          <p:nvPr/>
        </p:nvSpPr>
        <p:spPr>
          <a:xfrm>
            <a:off x="612648" y="1271016"/>
            <a:ext cx="10922000" cy="246221"/>
          </a:xfrm>
          <a:prstGeom prst="roundRect">
            <a:avLst>
              <a:gd name="adj" fmla="val 23210"/>
            </a:avLst>
          </a:prstGeom>
          <a:noFill/>
          <a:ln>
            <a:noFill/>
          </a:ln>
        </p:spPr>
        <p:txBody>
          <a:bodyPr spcFirstLastPara="1" wrap="square" lIns="0" tIns="0" rIns="0" bIns="0" anchor="t" anchorCtr="0">
            <a:spAutoFit/>
          </a:bodyPr>
          <a:lstStyle/>
          <a:p>
            <a:pPr lvl="0"/>
            <a:r>
              <a:rPr lang="en-US" sz="1600" dirty="0">
                <a:solidFill>
                  <a:schemeClr val="dk1"/>
                </a:solidFill>
              </a:rPr>
              <a:t>Lorem Ipsum</a:t>
            </a:r>
            <a:endParaRPr lang="en-US" dirty="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Simplicity 051126 v01">
      <a:dk1>
        <a:srgbClr val="3F3F3F"/>
      </a:dk1>
      <a:lt1>
        <a:srgbClr val="FFFFFF"/>
      </a:lt1>
      <a:dk2>
        <a:srgbClr val="3F3F3F"/>
      </a:dk2>
      <a:lt2>
        <a:srgbClr val="E8E8E8"/>
      </a:lt2>
      <a:accent1>
        <a:srgbClr val="0076BD"/>
      </a:accent1>
      <a:accent2>
        <a:srgbClr val="EE6350"/>
      </a:accent2>
      <a:accent3>
        <a:srgbClr val="30934C"/>
      </a:accent3>
      <a:accent4>
        <a:srgbClr val="0F9ED5"/>
      </a:accent4>
      <a:accent5>
        <a:srgbClr val="004371"/>
      </a:accent5>
      <a:accent6>
        <a:srgbClr val="6E6F71"/>
      </a:accent6>
      <a:hlink>
        <a:srgbClr val="004371"/>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12127</Words>
  <Application>Microsoft Macintosh PowerPoint</Application>
  <PresentationFormat>Widescreen</PresentationFormat>
  <Paragraphs>886</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NTR</vt:lpstr>
      <vt:lpstr>Office Theme</vt:lpstr>
      <vt:lpstr>PowerPoint Presentation</vt:lpstr>
      <vt:lpstr>Setting the Stage for Strategic College Planning</vt:lpstr>
      <vt:lpstr>PowerPoint Presentation</vt:lpstr>
      <vt:lpstr>Balancing College Funding and Retirement</vt:lpstr>
      <vt:lpstr>Sticker Price Illusion and The Cost of Education</vt:lpstr>
      <vt:lpstr>The Data Tells the Story</vt:lpstr>
      <vt:lpstr>The Data Tells the Story</vt:lpstr>
      <vt:lpstr>The Aid System and Admissions</vt:lpstr>
      <vt:lpstr>Six Financial Planning Considerations</vt:lpstr>
      <vt:lpstr>The Considerations and College Planning</vt:lpstr>
      <vt:lpstr>What You Will Learn Today</vt:lpstr>
      <vt:lpstr>Getting In</vt:lpstr>
      <vt:lpstr>How School College Admissions Work</vt:lpstr>
      <vt:lpstr>How the College Sees the Student</vt:lpstr>
      <vt:lpstr>How the College Sees the Student</vt:lpstr>
      <vt:lpstr>How the College Sees the Student</vt:lpstr>
      <vt:lpstr>How the College Sees the Student</vt:lpstr>
      <vt:lpstr>How the College Sees the Student</vt:lpstr>
      <vt:lpstr>How the College Sees the Student</vt:lpstr>
      <vt:lpstr>Mastering the Admissions Portfolio</vt:lpstr>
      <vt:lpstr>The Strategic Value of Application Timing</vt:lpstr>
      <vt:lpstr>Cost and Financial Aid</vt:lpstr>
      <vt:lpstr>Funding College Without Aid</vt:lpstr>
      <vt:lpstr>Misconceptions and Truths About Aid Eligibility</vt:lpstr>
      <vt:lpstr>Three Aid Banks</vt:lpstr>
      <vt:lpstr>FAFSA Basics and Key Insights</vt:lpstr>
      <vt:lpstr>FAFSA - Exempt and Reported Financial Factors</vt:lpstr>
      <vt:lpstr>FAFSA Generates the Student Aid Index (SAI)</vt:lpstr>
      <vt:lpstr>The Private School Difference</vt:lpstr>
      <vt:lpstr>CSS Key Factors</vt:lpstr>
      <vt:lpstr>CSS - Exempt and Reported Financial Factors</vt:lpstr>
      <vt:lpstr>How Schools Use the CSS</vt:lpstr>
      <vt:lpstr>Form Submission Timelines</vt:lpstr>
      <vt:lpstr>Form Submission Timelines</vt:lpstr>
      <vt:lpstr>Financial Aid Best Practices</vt:lpstr>
      <vt:lpstr>Funding the Cost</vt:lpstr>
      <vt:lpstr>Reducing Costs vs Funding College</vt:lpstr>
      <vt:lpstr>Remembering How to Fill the Gap</vt:lpstr>
      <vt:lpstr>Private vs Public: Pros</vt:lpstr>
      <vt:lpstr>Private vs Public: Cons</vt:lpstr>
      <vt:lpstr>Case Studies</vt:lpstr>
      <vt:lpstr>Case Study 1</vt:lpstr>
      <vt:lpstr>Case Study 2</vt:lpstr>
      <vt:lpstr>Case Study 3</vt:lpstr>
      <vt:lpstr>Case Study 4</vt:lpstr>
      <vt:lpstr>Case Study 4</vt:lpstr>
      <vt:lpstr>Conclusion and Next Steps</vt:lpstr>
      <vt:lpstr>Important Takeaways</vt:lpstr>
      <vt:lpstr>Your Next Steps</vt:lpstr>
      <vt:lpstr>Sources Referenced</vt:lpstr>
      <vt:lpstr>Sources Referenced</vt:lpstr>
      <vt:lpstr>Disclosures</vt:lpstr>
      <vt:lpstr>Disclosures</vt:lpstr>
      <vt:lpstr>Advisor Disclosure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Jeff Sprague</dc:creator>
  <cp:lastModifiedBy>Jeff Sprague</cp:lastModifiedBy>
  <cp:revision>38</cp:revision>
  <dcterms:created xsi:type="dcterms:W3CDTF">2026-05-13T18:29:27Z</dcterms:created>
  <dcterms:modified xsi:type="dcterms:W3CDTF">2026-08-26T20:26:28Z</dcterms:modified>
</cp:coreProperties>
</file>