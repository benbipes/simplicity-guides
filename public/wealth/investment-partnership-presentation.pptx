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7" r:id="rId2"/>
  </p:sldMasterIdLst>
  <p:notesMasterIdLst>
    <p:notesMasterId r:id="rId36"/>
  </p:notesMasterIdLst>
  <p:handoutMasterIdLst>
    <p:handoutMasterId r:id="rId37"/>
  </p:handoutMasterIdLst>
  <p:sldIdLst>
    <p:sldId id="4841" r:id="rId3"/>
    <p:sldId id="261" r:id="rId4"/>
    <p:sldId id="260" r:id="rId5"/>
    <p:sldId id="4826" r:id="rId6"/>
    <p:sldId id="267" r:id="rId7"/>
    <p:sldId id="4814" r:id="rId8"/>
    <p:sldId id="263" r:id="rId9"/>
    <p:sldId id="264" r:id="rId10"/>
    <p:sldId id="265" r:id="rId11"/>
    <p:sldId id="266" r:id="rId12"/>
    <p:sldId id="268" r:id="rId13"/>
    <p:sldId id="4815" r:id="rId14"/>
    <p:sldId id="4816" r:id="rId15"/>
    <p:sldId id="4817" r:id="rId16"/>
    <p:sldId id="285" r:id="rId17"/>
    <p:sldId id="4833" r:id="rId18"/>
    <p:sldId id="4839" r:id="rId19"/>
    <p:sldId id="4819" r:id="rId20"/>
    <p:sldId id="4840" r:id="rId21"/>
    <p:sldId id="269" r:id="rId22"/>
    <p:sldId id="281" r:id="rId23"/>
    <p:sldId id="271" r:id="rId24"/>
    <p:sldId id="4830" r:id="rId25"/>
    <p:sldId id="4831" r:id="rId26"/>
    <p:sldId id="4827" r:id="rId27"/>
    <p:sldId id="4828" r:id="rId28"/>
    <p:sldId id="4829" r:id="rId29"/>
    <p:sldId id="275" r:id="rId30"/>
    <p:sldId id="276" r:id="rId31"/>
    <p:sldId id="277" r:id="rId32"/>
    <p:sldId id="278" r:id="rId33"/>
    <p:sldId id="279" r:id="rId34"/>
    <p:sldId id="282"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C114"/>
    <a:srgbClr val="D5ECB6"/>
    <a:srgbClr val="0076BD"/>
    <a:srgbClr val="024372"/>
    <a:srgbClr val="0F4C7A"/>
    <a:srgbClr val="0276BD"/>
    <a:srgbClr val="5B9BD5"/>
    <a:srgbClr val="0076BC"/>
    <a:srgbClr val="939393"/>
    <a:srgbClr val="0043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60" autoAdjust="0"/>
    <p:restoredTop sz="75666" autoAdjust="0"/>
  </p:normalViewPr>
  <p:slideViewPr>
    <p:cSldViewPr snapToGrid="0">
      <p:cViewPr varScale="1">
        <p:scale>
          <a:sx n="68" d="100"/>
          <a:sy n="68" d="100"/>
        </p:scale>
        <p:origin x="1446" y="72"/>
      </p:cViewPr>
      <p:guideLst/>
    </p:cSldViewPr>
  </p:slideViewPr>
  <p:notesTextViewPr>
    <p:cViewPr>
      <p:scale>
        <a:sx n="1" d="1"/>
        <a:sy n="1" d="1"/>
      </p:scale>
      <p:origin x="0" y="0"/>
    </p:cViewPr>
  </p:notesTextViewPr>
  <p:notesViewPr>
    <p:cSldViewPr snapToGrid="0">
      <p:cViewPr varScale="1">
        <p:scale>
          <a:sx n="53" d="100"/>
          <a:sy n="53" d="100"/>
        </p:scale>
        <p:origin x="2659" y="5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05193C-D6C3-3D16-D093-FCA7F962C0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050FB56-FAB7-4439-580A-82E3EBD5A52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EE6B9F5-8715-4BFF-867E-FE318AAF328A}" type="datetimeFigureOut">
              <a:rPr lang="en-US" smtClean="0"/>
              <a:t>3/25/2026</a:t>
            </a:fld>
            <a:endParaRPr lang="en-US"/>
          </a:p>
        </p:txBody>
      </p:sp>
      <p:sp>
        <p:nvSpPr>
          <p:cNvPr id="4" name="Footer Placeholder 3">
            <a:extLst>
              <a:ext uri="{FF2B5EF4-FFF2-40B4-BE49-F238E27FC236}">
                <a16:creationId xmlns:a16="http://schemas.microsoft.com/office/drawing/2014/main" id="{FA6A00D1-0D19-398F-6281-ACD9E94FB4B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CF8F302-F491-6FB1-B3A4-C5C33F10E99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ABA2A33-DADC-441B-BA71-333242B1DC18}" type="slidenum">
              <a:rPr lang="en-US" smtClean="0"/>
              <a:t>‹#›</a:t>
            </a:fld>
            <a:endParaRPr lang="en-US"/>
          </a:p>
        </p:txBody>
      </p:sp>
    </p:spTree>
    <p:extLst>
      <p:ext uri="{BB962C8B-B14F-4D97-AF65-F5344CB8AC3E}">
        <p14:creationId xmlns:p14="http://schemas.microsoft.com/office/powerpoint/2010/main" val="9935109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147056-CB97-43D4-8EA8-43E2B69A1859}" type="datetimeFigureOut">
              <a:rPr lang="en-US" smtClean="0"/>
              <a:t>3/25/2026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5D22D-36FE-4BE3-A701-57EBF6FF10C4}" type="slidenum">
              <a:rPr lang="en-US" smtClean="0"/>
              <a:t>‹#›</a:t>
            </a:fld>
            <a:endParaRPr lang="en-US"/>
          </a:p>
        </p:txBody>
      </p:sp>
    </p:spTree>
    <p:extLst>
      <p:ext uri="{BB962C8B-B14F-4D97-AF65-F5344CB8AC3E}">
        <p14:creationId xmlns:p14="http://schemas.microsoft.com/office/powerpoint/2010/main" val="3663026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81808-8B28-F816-54B5-3D6ADED406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7B0D0B-D22D-56A6-DACE-6759D2D14C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3D7DE-BA0D-3603-6B2E-2CE9FB6A941F}"/>
              </a:ext>
            </a:extLst>
          </p:cNvPr>
          <p:cNvSpPr>
            <a:spLocks noGrp="1"/>
          </p:cNvSpPr>
          <p:nvPr>
            <p:ph type="body" idx="1"/>
          </p:nvPr>
        </p:nvSpPr>
        <p:spPr/>
        <p:txBody>
          <a:bodyPr/>
          <a:lstStyle/>
          <a:p>
            <a:r>
              <a:rPr lang="en-US" dirty="0"/>
              <a:t>Protecting one’s future requires one simple focus and that is creating an environment for investors to to achieve their financial goals with the least amount of personal risk. </a:t>
            </a:r>
          </a:p>
          <a:p>
            <a:endParaRPr lang="en-US" dirty="0"/>
          </a:p>
          <a:p>
            <a:r>
              <a:rPr lang="en-US" dirty="0"/>
              <a:t>Accomplishing this requires a proven and intelligent approach for helping this come to fruition. </a:t>
            </a:r>
          </a:p>
          <a:p>
            <a:endParaRPr lang="en-US" dirty="0"/>
          </a:p>
          <a:p>
            <a:r>
              <a:rPr lang="en-US" dirty="0"/>
              <a:t>During this presentation, I will be walking you through our three-step process on how we are executing this at ______________(Financial Firm Name).</a:t>
            </a:r>
          </a:p>
          <a:p>
            <a:endParaRPr lang="en-US" dirty="0"/>
          </a:p>
          <a:p>
            <a:r>
              <a:rPr lang="en-US" dirty="0"/>
              <a:t>I believe at the end of this presentation; you will have a clear understanding of what this looks like and how it may benefit your personal financial situation.</a:t>
            </a:r>
          </a:p>
          <a:p>
            <a:endParaRPr lang="en-US" dirty="0"/>
          </a:p>
        </p:txBody>
      </p:sp>
      <p:sp>
        <p:nvSpPr>
          <p:cNvPr id="4" name="Slide Number Placeholder 3">
            <a:extLst>
              <a:ext uri="{FF2B5EF4-FFF2-40B4-BE49-F238E27FC236}">
                <a16:creationId xmlns:a16="http://schemas.microsoft.com/office/drawing/2014/main" id="{052B740E-42A0-138B-0613-615083F91BA7}"/>
              </a:ext>
            </a:extLst>
          </p:cNvPr>
          <p:cNvSpPr>
            <a:spLocks noGrp="1"/>
          </p:cNvSpPr>
          <p:nvPr>
            <p:ph type="sldNum" sz="quarter" idx="5"/>
          </p:nvPr>
        </p:nvSpPr>
        <p:spPr/>
        <p:txBody>
          <a:bodyPr/>
          <a:lstStyle/>
          <a:p>
            <a:fld id="{7DB5D22D-36FE-4BE3-A701-57EBF6FF10C4}" type="slidenum">
              <a:rPr lang="en-US" smtClean="0"/>
              <a:t>1</a:t>
            </a:fld>
            <a:endParaRPr lang="en-US" dirty="0"/>
          </a:p>
        </p:txBody>
      </p:sp>
    </p:spTree>
    <p:extLst>
      <p:ext uri="{BB962C8B-B14F-4D97-AF65-F5344CB8AC3E}">
        <p14:creationId xmlns:p14="http://schemas.microsoft.com/office/powerpoint/2010/main" val="13931420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be successful in life and in business, it is all about aligning yourself with the right partners.</a:t>
            </a:r>
          </a:p>
          <a:p>
            <a:endParaRPr lang="en-US" dirty="0"/>
          </a:p>
          <a:p>
            <a:r>
              <a:rPr lang="en-US" dirty="0"/>
              <a:t>This is why we have partnered with Simplicity Wealth, one of the nation’s leading independent financial institutions to help us deliver the level of service and investments that we believe our clients deserve.</a:t>
            </a:r>
          </a:p>
        </p:txBody>
      </p:sp>
      <p:sp>
        <p:nvSpPr>
          <p:cNvPr id="4" name="Slide Number Placeholder 3"/>
          <p:cNvSpPr>
            <a:spLocks noGrp="1"/>
          </p:cNvSpPr>
          <p:nvPr>
            <p:ph type="sldNum" sz="quarter" idx="5"/>
          </p:nvPr>
        </p:nvSpPr>
        <p:spPr/>
        <p:txBody>
          <a:bodyPr/>
          <a:lstStyle/>
          <a:p>
            <a:fld id="{7DB5D22D-36FE-4BE3-A701-57EBF6FF10C4}" type="slidenum">
              <a:rPr lang="en-US" smtClean="0"/>
              <a:t>2</a:t>
            </a:fld>
            <a:endParaRPr lang="en-US" dirty="0"/>
          </a:p>
        </p:txBody>
      </p:sp>
    </p:spTree>
    <p:extLst>
      <p:ext uri="{BB962C8B-B14F-4D97-AF65-F5344CB8AC3E}">
        <p14:creationId xmlns:p14="http://schemas.microsoft.com/office/powerpoint/2010/main" val="2837003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As part of our partnership with Simplicity, we have a three-step approach that are based on six fundamental financial planning considerations…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endParaRPr>
          </a:p>
          <a:p>
            <a:pPr marL="171450" indent="-171450" algn="l">
              <a:buFont typeface="Arial" panose="020B0604020202020204" pitchFamily="34" charset="0"/>
              <a:buChar char="•"/>
            </a:pPr>
            <a:r>
              <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First, Start Smart – </a:t>
            </a:r>
            <a:r>
              <a:rPr lang="en-US" sz="1800" b="0" i="0" u="none" strike="noStrike" baseline="0" dirty="0">
                <a:latin typeface="ArialNova"/>
              </a:rPr>
              <a:t>First, we gain a thorough understanding of your current financial situation, goals and objectives, and the key considerations that should be addressed when developing your strategic plan.</a:t>
            </a:r>
          </a:p>
          <a:p>
            <a:pPr marL="171450" indent="-171450" algn="l">
              <a:buFont typeface="Arial" panose="020B0604020202020204" pitchFamily="34" charset="0"/>
              <a:buChar char="•"/>
            </a:pPr>
            <a:endParaRPr kumimoji="0" lang="en-US" sz="1800" b="0" i="0" u="none" strike="noStrike" kern="1200" cap="none" spc="0" normalizeH="0" baseline="0" noProof="0" dirty="0">
              <a:ln>
                <a:noFill/>
              </a:ln>
              <a:solidFill>
                <a:prstClr val="black"/>
              </a:solidFill>
              <a:effectLst/>
              <a:uLnTx/>
              <a:uFillTx/>
              <a:latin typeface="ArialNova"/>
              <a:ea typeface="+mn-ea"/>
              <a:cs typeface="+mn-cs"/>
            </a:endParaRPr>
          </a:p>
          <a:p>
            <a:pPr marL="171450" indent="-171450" algn="l">
              <a:buFont typeface="Arial" panose="020B0604020202020204" pitchFamily="34" charset="0"/>
              <a:buChar char="•"/>
            </a:pPr>
            <a:r>
              <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Apply Discipline-  </a:t>
            </a:r>
            <a:r>
              <a:rPr lang="en-US" sz="1800" b="0" i="0" u="none" strike="noStrike" baseline="0" dirty="0">
                <a:latin typeface="ArialNova"/>
              </a:rPr>
              <a:t>Next, we design an investment strategy that actively works to optimize your wealth and protect your finances, keeping your goals and objectives at the forefront of our planning process.</a:t>
            </a:r>
          </a:p>
          <a:p>
            <a:pPr algn="l"/>
            <a:endPar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endParaRPr>
          </a:p>
          <a:p>
            <a:pPr marL="171450" indent="-171450" algn="l">
              <a:buFont typeface="Arial" panose="020B0604020202020204" pitchFamily="34" charset="0"/>
              <a:buChar char="•"/>
            </a:pPr>
            <a:r>
              <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Communicate Progress – </a:t>
            </a:r>
            <a:r>
              <a:rPr lang="en-US" sz="1800" b="0" i="0" u="none" strike="noStrike" baseline="0" dirty="0">
                <a:latin typeface="ArialNova"/>
              </a:rPr>
              <a:t>Lastly and continually, we work to ensure transparency of your investment plan by providing visibility, proactive outreach, and accessibility to our team throughout our working relationship.</a:t>
            </a:r>
            <a:endPar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endParaRPr>
          </a:p>
          <a:p>
            <a:endParaRPr lang="en-US" dirty="0"/>
          </a:p>
        </p:txBody>
      </p:sp>
      <p:sp>
        <p:nvSpPr>
          <p:cNvPr id="4" name="Slide Number Placeholder 3"/>
          <p:cNvSpPr>
            <a:spLocks noGrp="1"/>
          </p:cNvSpPr>
          <p:nvPr>
            <p:ph type="sldNum" sz="quarter" idx="5"/>
          </p:nvPr>
        </p:nvSpPr>
        <p:spPr/>
        <p:txBody>
          <a:bodyPr/>
          <a:lstStyle/>
          <a:p>
            <a:fld id="{7DB5D22D-36FE-4BE3-A701-57EBF6FF10C4}" type="slidenum">
              <a:rPr lang="en-US" smtClean="0"/>
              <a:t>3</a:t>
            </a:fld>
            <a:endParaRPr lang="en-US" dirty="0"/>
          </a:p>
        </p:txBody>
      </p:sp>
    </p:spTree>
    <p:extLst>
      <p:ext uri="{BB962C8B-B14F-4D97-AF65-F5344CB8AC3E}">
        <p14:creationId xmlns:p14="http://schemas.microsoft.com/office/powerpoint/2010/main" val="476952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2000" b="0" i="0" u="none" strike="noStrike" baseline="0" dirty="0">
                <a:solidFill>
                  <a:srgbClr val="6E6F71"/>
                </a:solidFill>
                <a:latin typeface="ArialMT"/>
              </a:rPr>
              <a:t>When it comes to one’s retirement and the income for what you need and want in life, it’s important to take a holistic view. This holistic view can be anchored to six fundamental financial considerations: </a:t>
            </a:r>
            <a:r>
              <a:rPr lang="en-US" sz="2000" b="1" i="0" u="none" strike="noStrike" baseline="0" dirty="0">
                <a:solidFill>
                  <a:srgbClr val="000000"/>
                </a:solidFill>
                <a:latin typeface="Arial-BoldMT"/>
              </a:rPr>
              <a:t>Longevity; Liquidity; Inflation; Market; Mortality; and Taxes. </a:t>
            </a:r>
            <a:r>
              <a:rPr lang="en-US" sz="2000" b="0" i="0" u="none" strike="noStrike" baseline="0" dirty="0">
                <a:solidFill>
                  <a:srgbClr val="6E6F71"/>
                </a:solidFill>
                <a:latin typeface="ArialMT"/>
              </a:rPr>
              <a:t>These considerations are comprehensive, intuitive, interrelated, and affect just about everyone to varying degrees. This approach can help you understand how best to accomplish your financial goals and overcome the considerations that are of greater concern to your specific financial situation.</a:t>
            </a:r>
          </a:p>
          <a:p>
            <a:pPr algn="l"/>
            <a:endParaRPr lang="en-US" sz="1400" b="1" dirty="0">
              <a:solidFill>
                <a:srgbClr val="003359"/>
              </a:solidFill>
              <a:latin typeface="Arial Nova" panose="020B0504020202020204" pitchFamily="34" charset="0"/>
            </a:endParaRPr>
          </a:p>
          <a:p>
            <a:pPr marL="514350" indent="-514350">
              <a:buFont typeface="+mj-lt"/>
              <a:buAutoNum type="arabicPeriod"/>
            </a:pPr>
            <a:r>
              <a:rPr lang="en-US" sz="1400" b="1" dirty="0">
                <a:solidFill>
                  <a:srgbClr val="F06837"/>
                </a:solidFill>
                <a:latin typeface="Arial Nova" panose="020B0504020202020204" pitchFamily="34" charset="0"/>
              </a:rPr>
              <a:t>Longevity</a:t>
            </a:r>
            <a:r>
              <a:rPr lang="en-US" sz="1400" dirty="0">
                <a:solidFill>
                  <a:srgbClr val="F65747"/>
                </a:solidFill>
                <a:latin typeface="Arial Nova" panose="020B0504020202020204" pitchFamily="34" charset="0"/>
              </a:rPr>
              <a:t>: </a:t>
            </a:r>
            <a:r>
              <a:rPr lang="en-US" sz="1400" dirty="0">
                <a:latin typeface="Arial Nova" panose="020B0504020202020204" pitchFamily="34" charset="0"/>
              </a:rPr>
              <a:t>Outliving financial assets as the result of a longer life</a:t>
            </a:r>
          </a:p>
          <a:p>
            <a:pPr marL="514350" indent="-514350">
              <a:buFont typeface="+mj-lt"/>
              <a:buAutoNum type="arabicPeriod"/>
            </a:pPr>
            <a:endParaRPr lang="en-US" sz="1400" b="1" dirty="0">
              <a:latin typeface="Arial Nova" panose="020B0504020202020204" pitchFamily="34" charset="0"/>
            </a:endParaRPr>
          </a:p>
          <a:p>
            <a:pPr marL="514350" indent="-514350">
              <a:buFont typeface="+mj-lt"/>
              <a:buAutoNum type="arabicPeriod"/>
            </a:pPr>
            <a:r>
              <a:rPr lang="en-US" sz="1400" b="1" dirty="0">
                <a:solidFill>
                  <a:srgbClr val="F06837"/>
                </a:solidFill>
                <a:latin typeface="Arial Nova" panose="020B0504020202020204" pitchFamily="34" charset="0"/>
              </a:rPr>
              <a:t>Liquidity</a:t>
            </a:r>
            <a:r>
              <a:rPr lang="en-US" sz="1400" dirty="0">
                <a:solidFill>
                  <a:srgbClr val="F06837"/>
                </a:solidFill>
                <a:latin typeface="Arial Nova" panose="020B0504020202020204" pitchFamily="34" charset="0"/>
              </a:rPr>
              <a:t>: </a:t>
            </a:r>
            <a:r>
              <a:rPr lang="en-US" sz="1400" dirty="0">
                <a:latin typeface="Arial Nova" panose="020B0504020202020204" pitchFamily="34" charset="0"/>
              </a:rPr>
              <a:t>Limited access to assets to meet life’s unexpected financial needs</a:t>
            </a:r>
          </a:p>
          <a:p>
            <a:pPr marL="514350" indent="-514350">
              <a:buFont typeface="+mj-lt"/>
              <a:buAutoNum type="arabicPeriod"/>
            </a:pPr>
            <a:endParaRPr lang="en-US" sz="1400" b="1" dirty="0">
              <a:latin typeface="Arial Nova" panose="020B0504020202020204" pitchFamily="34" charset="0"/>
            </a:endParaRPr>
          </a:p>
          <a:p>
            <a:pPr marL="514350" indent="-514350">
              <a:buFont typeface="+mj-lt"/>
              <a:buAutoNum type="arabicPeriod"/>
            </a:pPr>
            <a:r>
              <a:rPr lang="en-US" sz="1400" b="1" dirty="0">
                <a:solidFill>
                  <a:srgbClr val="F06837"/>
                </a:solidFill>
                <a:latin typeface="Arial Nova" panose="020B0504020202020204" pitchFamily="34" charset="0"/>
              </a:rPr>
              <a:t>Inflation</a:t>
            </a:r>
            <a:r>
              <a:rPr lang="en-US" sz="1400" dirty="0">
                <a:solidFill>
                  <a:srgbClr val="F06837"/>
                </a:solidFill>
                <a:latin typeface="Arial Nova" panose="020B0504020202020204" pitchFamily="34" charset="0"/>
              </a:rPr>
              <a:t>: </a:t>
            </a:r>
            <a:r>
              <a:rPr lang="en-US" sz="1400" dirty="0">
                <a:latin typeface="Arial Nova" panose="020B0504020202020204" pitchFamily="34" charset="0"/>
              </a:rPr>
              <a:t>Reduction in real purchasing power as the result of increased cost of living</a:t>
            </a:r>
          </a:p>
          <a:p>
            <a:pPr marL="514350" indent="-514350">
              <a:buFont typeface="+mj-lt"/>
              <a:buAutoNum type="arabicPeriod"/>
            </a:pPr>
            <a:endParaRPr lang="en-US" sz="1400" dirty="0">
              <a:latin typeface="Arial Nova" panose="020B0504020202020204" pitchFamily="34" charset="0"/>
            </a:endParaRPr>
          </a:p>
          <a:p>
            <a:pPr marL="514350" indent="-514350">
              <a:buFont typeface="+mj-lt"/>
              <a:buAutoNum type="arabicPeriod" startAt="4"/>
            </a:pPr>
            <a:r>
              <a:rPr lang="en-US" sz="1400" b="1" dirty="0">
                <a:solidFill>
                  <a:srgbClr val="F06837"/>
                </a:solidFill>
                <a:latin typeface="Arial Nova" panose="020B0504020202020204" pitchFamily="34" charset="0"/>
              </a:rPr>
              <a:t>Market</a:t>
            </a:r>
            <a:r>
              <a:rPr lang="en-US" sz="1400" dirty="0">
                <a:solidFill>
                  <a:srgbClr val="F06837"/>
                </a:solidFill>
                <a:latin typeface="Arial Nova" panose="020B0504020202020204" pitchFamily="34" charset="0"/>
              </a:rPr>
              <a:t>: </a:t>
            </a:r>
            <a:r>
              <a:rPr lang="en-US" sz="1400" dirty="0">
                <a:latin typeface="Arial Nova" panose="020B0504020202020204" pitchFamily="34" charset="0"/>
              </a:rPr>
              <a:t>Unexpected reduction in the value of financial assets at the time of withdrawal</a:t>
            </a:r>
          </a:p>
          <a:p>
            <a:pPr marL="514350" indent="-514350">
              <a:buFont typeface="+mj-lt"/>
              <a:buAutoNum type="arabicPeriod" startAt="4"/>
            </a:pPr>
            <a:endParaRPr lang="en-US" sz="1400" b="1" dirty="0">
              <a:latin typeface="Arial Nova" panose="020B0504020202020204" pitchFamily="34" charset="0"/>
            </a:endParaRPr>
          </a:p>
          <a:p>
            <a:pPr marL="514350" indent="-514350">
              <a:buFont typeface="+mj-lt"/>
              <a:buAutoNum type="arabicPeriod" startAt="4"/>
            </a:pPr>
            <a:r>
              <a:rPr lang="en-US" sz="1400" b="1" dirty="0">
                <a:solidFill>
                  <a:srgbClr val="F06837"/>
                </a:solidFill>
                <a:latin typeface="Arial Nova" panose="020B0504020202020204" pitchFamily="34" charset="0"/>
              </a:rPr>
              <a:t>Mortality</a:t>
            </a:r>
            <a:r>
              <a:rPr lang="en-US" sz="1400" dirty="0">
                <a:solidFill>
                  <a:srgbClr val="F06837"/>
                </a:solidFill>
                <a:latin typeface="Arial Nova" panose="020B0504020202020204" pitchFamily="34" charset="0"/>
              </a:rPr>
              <a:t>: </a:t>
            </a:r>
            <a:r>
              <a:rPr lang="en-US" sz="1400" dirty="0">
                <a:latin typeface="Arial Nova" panose="020B0504020202020204" pitchFamily="34" charset="0"/>
              </a:rPr>
              <a:t>Loss of financial assets as the result of a partner’s or spouse’s death</a:t>
            </a:r>
          </a:p>
          <a:p>
            <a:pPr marL="514350" indent="-514350">
              <a:buFont typeface="+mj-lt"/>
              <a:buAutoNum type="arabicPeriod" startAt="4"/>
            </a:pPr>
            <a:endParaRPr lang="en-US" sz="1400" b="1" dirty="0">
              <a:latin typeface="Arial Nova" panose="020B0504020202020204" pitchFamily="34" charset="0"/>
            </a:endParaRPr>
          </a:p>
          <a:p>
            <a:pPr marL="514350" indent="-514350">
              <a:buFont typeface="+mj-lt"/>
              <a:buAutoNum type="arabicPeriod" startAt="4"/>
            </a:pPr>
            <a:r>
              <a:rPr lang="en-US" sz="1400" b="1" dirty="0">
                <a:solidFill>
                  <a:srgbClr val="F06837"/>
                </a:solidFill>
                <a:latin typeface="Arial Nova" panose="020B0504020202020204" pitchFamily="34" charset="0"/>
              </a:rPr>
              <a:t>Taxes</a:t>
            </a:r>
            <a:r>
              <a:rPr lang="en-US" sz="1400" dirty="0">
                <a:solidFill>
                  <a:srgbClr val="F06837"/>
                </a:solidFill>
                <a:latin typeface="Arial Nova" panose="020B0504020202020204" pitchFamily="34" charset="0"/>
              </a:rPr>
              <a:t>: </a:t>
            </a:r>
            <a:r>
              <a:rPr lang="en-US" sz="1400" dirty="0">
                <a:latin typeface="Arial Nova" panose="020B0504020202020204" pitchFamily="34" charset="0"/>
              </a:rPr>
              <a:t>Decreased income and assets and/or the impairment of legacy assets from increased taxes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spc="-70" dirty="0">
              <a:solidFill>
                <a:srgbClr val="6D6E71"/>
              </a:solidFill>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spc="-70" dirty="0">
                <a:solidFill>
                  <a:srgbClr val="6D6E71"/>
                </a:solidFill>
                <a:latin typeface="Arial"/>
                <a:cs typeface="Arial"/>
              </a:rPr>
              <a:t>We</a:t>
            </a:r>
            <a:r>
              <a:rPr lang="en-US" sz="2000" spc="-30" dirty="0">
                <a:solidFill>
                  <a:srgbClr val="6D6E71"/>
                </a:solidFill>
                <a:latin typeface="Arial"/>
                <a:cs typeface="Arial"/>
              </a:rPr>
              <a:t> </a:t>
            </a:r>
            <a:r>
              <a:rPr lang="en-US" sz="2000" spc="-35" dirty="0">
                <a:solidFill>
                  <a:srgbClr val="6D6E71"/>
                </a:solidFill>
                <a:latin typeface="Arial"/>
                <a:cs typeface="Arial"/>
              </a:rPr>
              <a:t>believe</a:t>
            </a:r>
            <a:r>
              <a:rPr lang="en-US" sz="2000" spc="-30" dirty="0">
                <a:solidFill>
                  <a:srgbClr val="6D6E71"/>
                </a:solidFill>
                <a:latin typeface="Arial"/>
                <a:cs typeface="Arial"/>
              </a:rPr>
              <a:t> </a:t>
            </a:r>
            <a:r>
              <a:rPr lang="en-US" sz="2000" spc="-25" dirty="0">
                <a:solidFill>
                  <a:srgbClr val="6D6E71"/>
                </a:solidFill>
                <a:latin typeface="Arial"/>
                <a:cs typeface="Arial"/>
              </a:rPr>
              <a:t>that</a:t>
            </a:r>
            <a:r>
              <a:rPr lang="en-US" sz="2000" spc="-30" dirty="0">
                <a:solidFill>
                  <a:srgbClr val="6D6E71"/>
                </a:solidFill>
                <a:latin typeface="Arial"/>
                <a:cs typeface="Arial"/>
              </a:rPr>
              <a:t> </a:t>
            </a:r>
            <a:r>
              <a:rPr lang="en-US" sz="2000" spc="-35" dirty="0">
                <a:solidFill>
                  <a:srgbClr val="6D6E71"/>
                </a:solidFill>
                <a:latin typeface="Arial"/>
                <a:cs typeface="Arial"/>
              </a:rPr>
              <a:t>it’s</a:t>
            </a:r>
            <a:r>
              <a:rPr lang="en-US" sz="2000" spc="-25" dirty="0">
                <a:solidFill>
                  <a:srgbClr val="6D6E71"/>
                </a:solidFill>
                <a:latin typeface="Arial"/>
                <a:cs typeface="Arial"/>
              </a:rPr>
              <a:t> </a:t>
            </a:r>
            <a:r>
              <a:rPr lang="en-US" sz="2000" spc="-20" dirty="0">
                <a:solidFill>
                  <a:srgbClr val="6D6E71"/>
                </a:solidFill>
                <a:latin typeface="Arial"/>
                <a:cs typeface="Arial"/>
              </a:rPr>
              <a:t>important</a:t>
            </a:r>
            <a:r>
              <a:rPr lang="en-US" sz="2000" spc="-30" dirty="0">
                <a:solidFill>
                  <a:srgbClr val="6D6E71"/>
                </a:solidFill>
                <a:latin typeface="Arial"/>
                <a:cs typeface="Arial"/>
              </a:rPr>
              <a:t> </a:t>
            </a:r>
            <a:r>
              <a:rPr lang="en-US" sz="2000" dirty="0">
                <a:solidFill>
                  <a:srgbClr val="6D6E71"/>
                </a:solidFill>
                <a:latin typeface="Arial"/>
                <a:cs typeface="Arial"/>
              </a:rPr>
              <a:t>to</a:t>
            </a:r>
            <a:r>
              <a:rPr lang="en-US" sz="2000" spc="-30" dirty="0">
                <a:solidFill>
                  <a:srgbClr val="6D6E71"/>
                </a:solidFill>
                <a:latin typeface="Arial"/>
                <a:cs typeface="Arial"/>
              </a:rPr>
              <a:t> </a:t>
            </a:r>
            <a:r>
              <a:rPr lang="en-US" sz="2000" spc="-45" dirty="0">
                <a:solidFill>
                  <a:srgbClr val="6D6E71"/>
                </a:solidFill>
                <a:latin typeface="Arial"/>
                <a:cs typeface="Arial"/>
              </a:rPr>
              <a:t>evaluate</a:t>
            </a:r>
            <a:r>
              <a:rPr lang="en-US" sz="2000" spc="-30" dirty="0">
                <a:solidFill>
                  <a:srgbClr val="6D6E71"/>
                </a:solidFill>
                <a:latin typeface="Arial"/>
                <a:cs typeface="Arial"/>
              </a:rPr>
              <a:t> investor</a:t>
            </a:r>
            <a:r>
              <a:rPr lang="en-US" sz="2000" spc="-25" dirty="0">
                <a:solidFill>
                  <a:srgbClr val="6D6E71"/>
                </a:solidFill>
                <a:latin typeface="Arial"/>
                <a:cs typeface="Arial"/>
              </a:rPr>
              <a:t> </a:t>
            </a:r>
            <a:r>
              <a:rPr lang="en-US" sz="2000" spc="-30" dirty="0">
                <a:solidFill>
                  <a:srgbClr val="6D6E71"/>
                </a:solidFill>
                <a:latin typeface="Arial"/>
                <a:cs typeface="Arial"/>
              </a:rPr>
              <a:t>sentiment towards </a:t>
            </a:r>
            <a:r>
              <a:rPr lang="en-US" sz="2000" spc="-20" dirty="0">
                <a:solidFill>
                  <a:srgbClr val="6D6E71"/>
                </a:solidFill>
                <a:latin typeface="Arial"/>
                <a:cs typeface="Arial"/>
              </a:rPr>
              <a:t>each </a:t>
            </a:r>
            <a:r>
              <a:rPr lang="en-US" sz="2000" spc="-30" dirty="0">
                <a:solidFill>
                  <a:srgbClr val="6D6E71"/>
                </a:solidFill>
                <a:latin typeface="Arial"/>
                <a:cs typeface="Arial"/>
              </a:rPr>
              <a:t>consideration</a:t>
            </a:r>
            <a:r>
              <a:rPr lang="en-US" sz="2000" spc="-25" dirty="0">
                <a:solidFill>
                  <a:srgbClr val="6D6E71"/>
                </a:solidFill>
                <a:latin typeface="Arial"/>
                <a:cs typeface="Arial"/>
              </a:rPr>
              <a:t> through </a:t>
            </a:r>
            <a:r>
              <a:rPr lang="en-US" sz="2000" spc="-40" dirty="0">
                <a:solidFill>
                  <a:srgbClr val="6D6E71"/>
                </a:solidFill>
                <a:latin typeface="Arial"/>
                <a:cs typeface="Arial"/>
              </a:rPr>
              <a:t>a</a:t>
            </a:r>
            <a:r>
              <a:rPr lang="en-US" sz="2000" spc="-25" dirty="0">
                <a:solidFill>
                  <a:srgbClr val="6D6E71"/>
                </a:solidFill>
                <a:latin typeface="Arial"/>
                <a:cs typeface="Arial"/>
              </a:rPr>
              <a:t> </a:t>
            </a:r>
            <a:r>
              <a:rPr lang="en-US" sz="2000" spc="-20" dirty="0">
                <a:solidFill>
                  <a:srgbClr val="6D6E71"/>
                </a:solidFill>
                <a:latin typeface="Arial"/>
                <a:cs typeface="Arial"/>
              </a:rPr>
              <a:t>succinct</a:t>
            </a:r>
            <a:r>
              <a:rPr lang="en-US" sz="2000" spc="-25" dirty="0">
                <a:solidFill>
                  <a:srgbClr val="6D6E71"/>
                </a:solidFill>
                <a:latin typeface="Arial"/>
                <a:cs typeface="Arial"/>
              </a:rPr>
              <a:t> </a:t>
            </a:r>
            <a:r>
              <a:rPr lang="en-US" sz="2000" spc="-40" dirty="0">
                <a:solidFill>
                  <a:srgbClr val="6D6E71"/>
                </a:solidFill>
                <a:latin typeface="Arial"/>
                <a:cs typeface="Arial"/>
              </a:rPr>
              <a:t>questionnaire.</a:t>
            </a:r>
            <a:r>
              <a:rPr lang="en-US" sz="2000" spc="-25" dirty="0">
                <a:solidFill>
                  <a:srgbClr val="6D6E71"/>
                </a:solidFill>
                <a:latin typeface="Arial"/>
                <a:cs typeface="Arial"/>
              </a:rPr>
              <a:t> </a:t>
            </a:r>
            <a:r>
              <a:rPr lang="en-US" sz="2000" spc="-35" dirty="0">
                <a:solidFill>
                  <a:srgbClr val="6D6E71"/>
                </a:solidFill>
                <a:latin typeface="Arial"/>
                <a:cs typeface="Arial"/>
              </a:rPr>
              <a:t>This</a:t>
            </a:r>
            <a:r>
              <a:rPr lang="en-US" sz="2000" spc="-20" dirty="0">
                <a:solidFill>
                  <a:srgbClr val="6D6E71"/>
                </a:solidFill>
                <a:latin typeface="Arial"/>
                <a:cs typeface="Arial"/>
              </a:rPr>
              <a:t> </a:t>
            </a:r>
            <a:r>
              <a:rPr lang="en-US" sz="2000" spc="-35" dirty="0">
                <a:solidFill>
                  <a:srgbClr val="6D6E71"/>
                </a:solidFill>
                <a:latin typeface="Arial"/>
                <a:cs typeface="Arial"/>
              </a:rPr>
              <a:t>allows</a:t>
            </a:r>
            <a:r>
              <a:rPr lang="en-US" sz="2000" spc="-25" dirty="0">
                <a:solidFill>
                  <a:srgbClr val="6D6E71"/>
                </a:solidFill>
                <a:latin typeface="Arial"/>
                <a:cs typeface="Arial"/>
              </a:rPr>
              <a:t> </a:t>
            </a:r>
            <a:r>
              <a:rPr lang="en-US" sz="2000" spc="-35" dirty="0">
                <a:solidFill>
                  <a:srgbClr val="6D6E71"/>
                </a:solidFill>
                <a:latin typeface="Arial"/>
                <a:cs typeface="Arial"/>
              </a:rPr>
              <a:t>us</a:t>
            </a:r>
            <a:r>
              <a:rPr lang="en-US" sz="2000" spc="-25" dirty="0">
                <a:solidFill>
                  <a:srgbClr val="6D6E71"/>
                </a:solidFill>
                <a:latin typeface="Arial"/>
                <a:cs typeface="Arial"/>
              </a:rPr>
              <a:t> </a:t>
            </a:r>
            <a:r>
              <a:rPr lang="en-US" sz="2000" dirty="0">
                <a:solidFill>
                  <a:srgbClr val="6D6E71"/>
                </a:solidFill>
                <a:latin typeface="Arial"/>
                <a:cs typeface="Arial"/>
              </a:rPr>
              <a:t>to</a:t>
            </a:r>
            <a:r>
              <a:rPr lang="en-US" sz="2000" spc="-25" dirty="0">
                <a:solidFill>
                  <a:srgbClr val="6D6E71"/>
                </a:solidFill>
                <a:latin typeface="Arial"/>
                <a:cs typeface="Arial"/>
              </a:rPr>
              <a:t> </a:t>
            </a:r>
            <a:r>
              <a:rPr lang="en-US" sz="2000" spc="-35" dirty="0">
                <a:solidFill>
                  <a:srgbClr val="6D6E71"/>
                </a:solidFill>
                <a:latin typeface="Arial"/>
                <a:cs typeface="Arial"/>
              </a:rPr>
              <a:t>examine</a:t>
            </a:r>
            <a:r>
              <a:rPr lang="en-US" sz="2000" spc="-25" dirty="0">
                <a:solidFill>
                  <a:srgbClr val="6D6E71"/>
                </a:solidFill>
                <a:latin typeface="Arial"/>
                <a:cs typeface="Arial"/>
              </a:rPr>
              <a:t> </a:t>
            </a:r>
            <a:r>
              <a:rPr lang="en-US" sz="2000" spc="-20" dirty="0">
                <a:solidFill>
                  <a:srgbClr val="6D6E71"/>
                </a:solidFill>
                <a:latin typeface="Arial"/>
                <a:cs typeface="Arial"/>
              </a:rPr>
              <a:t>the</a:t>
            </a:r>
            <a:r>
              <a:rPr lang="en-US" sz="2000" spc="-25" dirty="0">
                <a:solidFill>
                  <a:srgbClr val="6D6E71"/>
                </a:solidFill>
                <a:latin typeface="Arial"/>
                <a:cs typeface="Arial"/>
              </a:rPr>
              <a:t> </a:t>
            </a:r>
            <a:r>
              <a:rPr lang="en-US" sz="2000" spc="-30" dirty="0">
                <a:solidFill>
                  <a:srgbClr val="6D6E71"/>
                </a:solidFill>
                <a:latin typeface="Arial"/>
                <a:cs typeface="Arial"/>
              </a:rPr>
              <a:t>potential</a:t>
            </a:r>
            <a:r>
              <a:rPr lang="en-US" sz="2000" spc="-20" dirty="0">
                <a:solidFill>
                  <a:srgbClr val="6D6E71"/>
                </a:solidFill>
                <a:latin typeface="Arial"/>
                <a:cs typeface="Arial"/>
              </a:rPr>
              <a:t> </a:t>
            </a:r>
            <a:r>
              <a:rPr lang="en-US" sz="2000" spc="-30" dirty="0">
                <a:solidFill>
                  <a:srgbClr val="6D6E71"/>
                </a:solidFill>
                <a:latin typeface="Arial"/>
                <a:cs typeface="Arial"/>
              </a:rPr>
              <a:t>effects</a:t>
            </a:r>
            <a:r>
              <a:rPr lang="en-US" sz="2000" spc="-25" dirty="0">
                <a:solidFill>
                  <a:srgbClr val="6D6E71"/>
                </a:solidFill>
                <a:latin typeface="Arial"/>
                <a:cs typeface="Arial"/>
              </a:rPr>
              <a:t> </a:t>
            </a:r>
            <a:r>
              <a:rPr lang="en-US" sz="2000" spc="-25" dirty="0" err="1">
                <a:solidFill>
                  <a:srgbClr val="6D6E71"/>
                </a:solidFill>
                <a:latin typeface="Arial"/>
                <a:cs typeface="Arial"/>
              </a:rPr>
              <a:t>of</a:t>
            </a:r>
            <a:r>
              <a:rPr lang="en-US" sz="2000" spc="-35" dirty="0" err="1">
                <a:solidFill>
                  <a:srgbClr val="6D6E71"/>
                </a:solidFill>
                <a:latin typeface="Arial"/>
                <a:cs typeface="Arial"/>
              </a:rPr>
              <a:t>these</a:t>
            </a:r>
            <a:r>
              <a:rPr lang="en-US" sz="2000" spc="-40" dirty="0">
                <a:solidFill>
                  <a:srgbClr val="6D6E71"/>
                </a:solidFill>
                <a:latin typeface="Arial"/>
                <a:cs typeface="Arial"/>
              </a:rPr>
              <a:t> </a:t>
            </a:r>
            <a:r>
              <a:rPr lang="en-US" sz="2000" spc="-30" dirty="0">
                <a:solidFill>
                  <a:srgbClr val="6D6E71"/>
                </a:solidFill>
                <a:latin typeface="Arial"/>
                <a:cs typeface="Arial"/>
              </a:rPr>
              <a:t>considerations</a:t>
            </a:r>
            <a:r>
              <a:rPr lang="en-US" sz="2000" spc="-35" dirty="0">
                <a:solidFill>
                  <a:srgbClr val="6D6E71"/>
                </a:solidFill>
                <a:latin typeface="Arial"/>
                <a:cs typeface="Arial"/>
              </a:rPr>
              <a:t> </a:t>
            </a:r>
            <a:r>
              <a:rPr lang="en-US" sz="2000" dirty="0">
                <a:solidFill>
                  <a:srgbClr val="6D6E71"/>
                </a:solidFill>
                <a:latin typeface="Arial"/>
                <a:cs typeface="Arial"/>
              </a:rPr>
              <a:t>on</a:t>
            </a:r>
            <a:r>
              <a:rPr lang="en-US" sz="2000" spc="-35" dirty="0">
                <a:solidFill>
                  <a:srgbClr val="6D6E71"/>
                </a:solidFill>
                <a:latin typeface="Arial"/>
                <a:cs typeface="Arial"/>
              </a:rPr>
              <a:t> an</a:t>
            </a:r>
            <a:r>
              <a:rPr lang="en-US" sz="2000" spc="-40" dirty="0">
                <a:solidFill>
                  <a:srgbClr val="6D6E71"/>
                </a:solidFill>
                <a:latin typeface="Arial"/>
                <a:cs typeface="Arial"/>
              </a:rPr>
              <a:t> </a:t>
            </a:r>
            <a:r>
              <a:rPr lang="en-US" sz="2000" spc="-35" dirty="0">
                <a:solidFill>
                  <a:srgbClr val="6D6E71"/>
                </a:solidFill>
                <a:latin typeface="Arial"/>
                <a:cs typeface="Arial"/>
              </a:rPr>
              <a:t>investor’s </a:t>
            </a:r>
            <a:r>
              <a:rPr lang="en-US" sz="2000" spc="-45" dirty="0">
                <a:solidFill>
                  <a:srgbClr val="6D6E71"/>
                </a:solidFill>
                <a:latin typeface="Arial"/>
                <a:cs typeface="Arial"/>
              </a:rPr>
              <a:t>assets</a:t>
            </a:r>
            <a:r>
              <a:rPr lang="en-US" sz="2000" spc="-35" dirty="0">
                <a:solidFill>
                  <a:srgbClr val="6D6E71"/>
                </a:solidFill>
                <a:latin typeface="Arial"/>
                <a:cs typeface="Arial"/>
              </a:rPr>
              <a:t> today</a:t>
            </a:r>
            <a:r>
              <a:rPr lang="en-US" sz="2000" spc="-40" dirty="0">
                <a:solidFill>
                  <a:srgbClr val="6D6E71"/>
                </a:solidFill>
                <a:latin typeface="Arial"/>
                <a:cs typeface="Arial"/>
              </a:rPr>
              <a:t> </a:t>
            </a:r>
            <a:r>
              <a:rPr lang="en-US" sz="2000" spc="-30" dirty="0">
                <a:solidFill>
                  <a:srgbClr val="6D6E71"/>
                </a:solidFill>
                <a:latin typeface="Arial"/>
                <a:cs typeface="Arial"/>
              </a:rPr>
              <a:t>and</a:t>
            </a:r>
            <a:r>
              <a:rPr lang="en-US" sz="2000" spc="-35" dirty="0">
                <a:solidFill>
                  <a:srgbClr val="6D6E71"/>
                </a:solidFill>
                <a:latin typeface="Arial"/>
                <a:cs typeface="Arial"/>
              </a:rPr>
              <a:t> </a:t>
            </a:r>
            <a:r>
              <a:rPr lang="en-US" sz="2000" dirty="0">
                <a:solidFill>
                  <a:srgbClr val="6D6E71"/>
                </a:solidFill>
                <a:latin typeface="Arial"/>
                <a:cs typeface="Arial"/>
              </a:rPr>
              <a:t>in</a:t>
            </a:r>
            <a:r>
              <a:rPr lang="en-US" sz="2000" spc="-35" dirty="0">
                <a:solidFill>
                  <a:srgbClr val="6D6E71"/>
                </a:solidFill>
                <a:latin typeface="Arial"/>
                <a:cs typeface="Arial"/>
              </a:rPr>
              <a:t> </a:t>
            </a:r>
            <a:r>
              <a:rPr lang="en-US" sz="2000" spc="-20" dirty="0">
                <a:solidFill>
                  <a:srgbClr val="6D6E71"/>
                </a:solidFill>
                <a:latin typeface="Arial"/>
                <a:cs typeface="Arial"/>
              </a:rPr>
              <a:t>the</a:t>
            </a:r>
            <a:r>
              <a:rPr lang="en-US" sz="2000" spc="-35" dirty="0">
                <a:solidFill>
                  <a:srgbClr val="6D6E71"/>
                </a:solidFill>
                <a:latin typeface="Arial"/>
                <a:cs typeface="Arial"/>
              </a:rPr>
              <a:t> </a:t>
            </a:r>
            <a:r>
              <a:rPr lang="en-US" sz="2000" spc="-10" dirty="0">
                <a:solidFill>
                  <a:srgbClr val="6D6E71"/>
                </a:solidFill>
                <a:latin typeface="Arial"/>
                <a:cs typeface="Arial"/>
              </a:rPr>
              <a:t>future.</a:t>
            </a:r>
            <a:endParaRPr lang="en-US" sz="2000" dirty="0">
              <a:latin typeface="Arial"/>
              <a:cs typeface="Arial"/>
            </a:endParaRPr>
          </a:p>
          <a:p>
            <a:endParaRPr lang="en-US" dirty="0"/>
          </a:p>
        </p:txBody>
      </p:sp>
      <p:sp>
        <p:nvSpPr>
          <p:cNvPr id="4" name="Slide Number Placeholder 3"/>
          <p:cNvSpPr>
            <a:spLocks noGrp="1"/>
          </p:cNvSpPr>
          <p:nvPr>
            <p:ph type="sldNum" sz="quarter" idx="5"/>
          </p:nvPr>
        </p:nvSpPr>
        <p:spPr/>
        <p:txBody>
          <a:bodyPr/>
          <a:lstStyle/>
          <a:p>
            <a:fld id="{7DB5D22D-36FE-4BE3-A701-57EBF6FF10C4}" type="slidenum">
              <a:rPr lang="en-US" smtClean="0"/>
              <a:t>4</a:t>
            </a:fld>
            <a:endParaRPr lang="en-US"/>
          </a:p>
        </p:txBody>
      </p:sp>
    </p:spTree>
    <p:extLst>
      <p:ext uri="{BB962C8B-B14F-4D97-AF65-F5344CB8AC3E}">
        <p14:creationId xmlns:p14="http://schemas.microsoft.com/office/powerpoint/2010/main" val="2151795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The first step in our process is starting smart. Again, </a:t>
            </a:r>
            <a:r>
              <a:rPr lang="en-US" sz="1800" b="0" i="0" u="none" strike="noStrike" baseline="0" dirty="0">
                <a:latin typeface="ArialNova"/>
              </a:rPr>
              <a:t>we gain a thorough understanding of your current financial situation, goals and objectives, and</a:t>
            </a:r>
          </a:p>
          <a:p>
            <a:pPr algn="l"/>
            <a:r>
              <a:rPr lang="en-US" sz="1800" b="0" i="0" u="none" strike="noStrike" baseline="0" dirty="0">
                <a:latin typeface="ArialNova"/>
              </a:rPr>
              <a:t>the key considerations that should be addressed when developing your strategic plan.</a:t>
            </a:r>
            <a:endParaRPr lang="en-US" dirty="0"/>
          </a:p>
        </p:txBody>
      </p:sp>
      <p:sp>
        <p:nvSpPr>
          <p:cNvPr id="4" name="Slide Number Placeholder 3"/>
          <p:cNvSpPr>
            <a:spLocks noGrp="1"/>
          </p:cNvSpPr>
          <p:nvPr>
            <p:ph type="sldNum" sz="quarter" idx="5"/>
          </p:nvPr>
        </p:nvSpPr>
        <p:spPr/>
        <p:txBody>
          <a:bodyPr/>
          <a:lstStyle/>
          <a:p>
            <a:fld id="{7DB5D22D-36FE-4BE3-A701-57EBF6FF10C4}" type="slidenum">
              <a:rPr lang="en-US" smtClean="0"/>
              <a:t>5</a:t>
            </a:fld>
            <a:endParaRPr lang="en-US" dirty="0"/>
          </a:p>
        </p:txBody>
      </p:sp>
    </p:spTree>
    <p:extLst>
      <p:ext uri="{BB962C8B-B14F-4D97-AF65-F5344CB8AC3E}">
        <p14:creationId xmlns:p14="http://schemas.microsoft.com/office/powerpoint/2010/main" val="700691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component to starting smart is understanding risk tolerance. Investment risk tolerance refers to an investor's ability and willingness to endure potential losses or fluctuations in the value of their investment portfolio. It is a measure of how much risk an investor is comfortable taking in pursuit of potential returns.</a:t>
            </a:r>
          </a:p>
          <a:p>
            <a:endParaRPr lang="en-US" dirty="0"/>
          </a:p>
          <a:p>
            <a:r>
              <a:rPr lang="en-US" dirty="0"/>
              <a:t>Another way to think about risk is what an investor CAN DO versus what an investor SHOULD DO.  Often these aren’t the same and it’s important to get an accurate read on the investor’s current financial situation and sentiment towards risk.</a:t>
            </a:r>
          </a:p>
        </p:txBody>
      </p:sp>
      <p:sp>
        <p:nvSpPr>
          <p:cNvPr id="4" name="Slide Number Placeholder 3"/>
          <p:cNvSpPr>
            <a:spLocks noGrp="1"/>
          </p:cNvSpPr>
          <p:nvPr>
            <p:ph type="sldNum" sz="quarter" idx="5"/>
          </p:nvPr>
        </p:nvSpPr>
        <p:spPr/>
        <p:txBody>
          <a:bodyPr/>
          <a:lstStyle/>
          <a:p>
            <a:fld id="{7DB5D22D-36FE-4BE3-A701-57EBF6FF10C4}" type="slidenum">
              <a:rPr lang="en-US" smtClean="0"/>
              <a:t>6</a:t>
            </a:fld>
            <a:endParaRPr lang="en-US"/>
          </a:p>
        </p:txBody>
      </p:sp>
    </p:spTree>
    <p:extLst>
      <p:ext uri="{BB962C8B-B14F-4D97-AF65-F5344CB8AC3E}">
        <p14:creationId xmlns:p14="http://schemas.microsoft.com/office/powerpoint/2010/main" val="13622644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Nova" panose="020B0504020202020204" pitchFamily="34" charset="0"/>
                <a:ea typeface="+mn-ea"/>
                <a:cs typeface="Arial"/>
                <a:sym typeface="Arial"/>
              </a:rPr>
              <a:t>Risk scoring can help us understand the client’s unique risk tolerance and allows us to help set realistic risk-return expectations in the portfolio.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76BD"/>
                </a:solidFill>
                <a:effectLst/>
                <a:uLnTx/>
                <a:uFillTx/>
                <a:latin typeface="Arial Nova" panose="020B0504020202020204" pitchFamily="34" charset="0"/>
                <a:ea typeface="+mn-ea"/>
                <a:cs typeface="Arial"/>
                <a:sym typeface="Arial"/>
              </a:rPr>
              <a:t>Through our new investment partner, Simplicity Wealth, we will leverage a proprietary algorithm that is </a:t>
            </a:r>
            <a:r>
              <a:rPr kumimoji="0" lang="en-US" sz="1200" b="0" i="0" u="none" strike="noStrike" kern="1200" cap="none" spc="0" normalizeH="0" baseline="0" noProof="0" dirty="0">
                <a:ln>
                  <a:noFill/>
                </a:ln>
                <a:solidFill>
                  <a:srgbClr val="000000"/>
                </a:solidFill>
                <a:effectLst/>
                <a:uLnTx/>
                <a:uFillTx/>
                <a:latin typeface="Arial Nova" panose="020B0504020202020204" pitchFamily="34" charset="0"/>
                <a:ea typeface="+mn-ea"/>
                <a:cs typeface="Arial"/>
                <a:sym typeface="Arial"/>
              </a:rPr>
              <a:t>based on Value at Risk (</a:t>
            </a:r>
            <a:r>
              <a:rPr kumimoji="0" lang="en-US" sz="1200" b="0" i="0" u="none" strike="noStrike" kern="1200" cap="none" spc="0" normalizeH="0" baseline="0" noProof="0" dirty="0" err="1">
                <a:ln>
                  <a:noFill/>
                </a:ln>
                <a:solidFill>
                  <a:srgbClr val="000000"/>
                </a:solidFill>
                <a:effectLst/>
                <a:uLnTx/>
                <a:uFillTx/>
                <a:latin typeface="Arial Nova" panose="020B0504020202020204" pitchFamily="34" charset="0"/>
                <a:ea typeface="+mn-ea"/>
                <a:cs typeface="Arial"/>
                <a:sym typeface="Arial"/>
              </a:rPr>
              <a:t>VaR</a:t>
            </a:r>
            <a:r>
              <a:rPr kumimoji="0" lang="en-US" sz="1200" b="0" i="0" u="none" strike="noStrike" kern="1200" cap="none" spc="0" normalizeH="0" baseline="0" noProof="0" dirty="0">
                <a:ln>
                  <a:noFill/>
                </a:ln>
                <a:solidFill>
                  <a:srgbClr val="000000"/>
                </a:solidFill>
                <a:effectLst/>
                <a:uLnTx/>
                <a:uFillTx/>
                <a:latin typeface="Arial Nova" panose="020B0504020202020204" pitchFamily="34" charset="0"/>
                <a:ea typeface="+mn-ea"/>
                <a:cs typeface="Arial"/>
                <a:sym typeface="Arial"/>
              </a:rPr>
              <a:t>) methodology and incorporates the investor’s emotional tolerance with respect to the potential </a:t>
            </a:r>
            <a:r>
              <a:rPr kumimoji="0" lang="en-US" sz="1200" b="0" i="0" u="none" strike="noStrike" kern="1200" cap="none" spc="0" normalizeH="0" baseline="0" noProof="0" dirty="0">
                <a:ln>
                  <a:noFill/>
                </a:ln>
                <a:solidFill>
                  <a:srgbClr val="0076BD"/>
                </a:solidFill>
                <a:effectLst/>
                <a:uLnTx/>
                <a:uFillTx/>
                <a:latin typeface="Arial Nova" panose="020B0504020202020204" pitchFamily="34" charset="0"/>
                <a:ea typeface="+mn-ea"/>
                <a:cs typeface="Arial"/>
                <a:sym typeface="Arial"/>
              </a:rPr>
              <a:t>magnitude</a:t>
            </a:r>
            <a:r>
              <a:rPr kumimoji="0" lang="en-US" sz="1200" b="0" i="0" u="none" strike="noStrike" kern="1200" cap="none" spc="0" normalizeH="0" baseline="0" noProof="0" dirty="0">
                <a:ln>
                  <a:noFill/>
                </a:ln>
                <a:solidFill>
                  <a:srgbClr val="000000"/>
                </a:solidFill>
                <a:effectLst/>
                <a:uLnTx/>
                <a:uFillTx/>
                <a:latin typeface="Arial Nova" panose="020B0504020202020204" pitchFamily="34" charset="0"/>
                <a:ea typeface="+mn-ea"/>
                <a:cs typeface="Arial"/>
                <a:sym typeface="Arial"/>
              </a:rPr>
              <a:t> and </a:t>
            </a:r>
            <a:r>
              <a:rPr kumimoji="0" lang="en-US" sz="1200" b="0" i="0" u="none" strike="noStrike" kern="1200" cap="none" spc="0" normalizeH="0" baseline="0" noProof="0" dirty="0">
                <a:ln>
                  <a:noFill/>
                </a:ln>
                <a:solidFill>
                  <a:srgbClr val="0076BD"/>
                </a:solidFill>
                <a:effectLst/>
                <a:uLnTx/>
                <a:uFillTx/>
                <a:latin typeface="Arial Nova" panose="020B0504020202020204" pitchFamily="34" charset="0"/>
                <a:ea typeface="+mn-ea"/>
                <a:cs typeface="Arial"/>
                <a:sym typeface="Arial"/>
              </a:rPr>
              <a:t>speed of investment loss.</a:t>
            </a:r>
          </a:p>
          <a:p>
            <a:endParaRPr lang="en-US" dirty="0"/>
          </a:p>
        </p:txBody>
      </p:sp>
      <p:sp>
        <p:nvSpPr>
          <p:cNvPr id="4" name="Slide Number Placeholder 3"/>
          <p:cNvSpPr>
            <a:spLocks noGrp="1"/>
          </p:cNvSpPr>
          <p:nvPr>
            <p:ph type="sldNum" sz="quarter" idx="5"/>
          </p:nvPr>
        </p:nvSpPr>
        <p:spPr/>
        <p:txBody>
          <a:bodyPr/>
          <a:lstStyle/>
          <a:p>
            <a:fld id="{7DB5D22D-36FE-4BE3-A701-57EBF6FF10C4}" type="slidenum">
              <a:rPr lang="en-US" smtClean="0"/>
              <a:t>7</a:t>
            </a:fld>
            <a:endParaRPr lang="en-US"/>
          </a:p>
        </p:txBody>
      </p:sp>
    </p:spTree>
    <p:extLst>
      <p:ext uri="{BB962C8B-B14F-4D97-AF65-F5344CB8AC3E}">
        <p14:creationId xmlns:p14="http://schemas.microsoft.com/office/powerpoint/2010/main" val="4168116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we have two investors with the same level of risk as it relates to the “magnitude” of loss. Meaning the maxmiune about they are willing to lose. The only difference is the “speed” meaning the experience in which that take place.</a:t>
            </a:r>
          </a:p>
          <a:p>
            <a:endParaRPr lang="en-US" dirty="0"/>
          </a:p>
          <a:p>
            <a:r>
              <a:rPr lang="en-US" dirty="0"/>
              <a:t>Investor A: The loses are experienced in 3-months</a:t>
            </a:r>
          </a:p>
          <a:p>
            <a:r>
              <a:rPr lang="en-US" dirty="0"/>
              <a:t>Investor B: The loses are experienced in 12-months</a:t>
            </a:r>
          </a:p>
          <a:p>
            <a:endParaRPr lang="en-US" dirty="0"/>
          </a:p>
          <a:p>
            <a:r>
              <a:rPr lang="en-US" dirty="0"/>
              <a:t>Again, both agreed on the front side of a total lose of 20%, but their experiences were completely different.</a:t>
            </a:r>
          </a:p>
          <a:p>
            <a:endParaRPr lang="en-US" dirty="0"/>
          </a:p>
          <a:p>
            <a:r>
              <a:rPr lang="en-US" dirty="0"/>
              <a:t>Do you think this would produce different outcomes of success?</a:t>
            </a:r>
          </a:p>
          <a:p>
            <a:endParaRPr lang="en-US" dirty="0"/>
          </a:p>
          <a:p>
            <a:r>
              <a:rPr lang="en-US" dirty="0"/>
              <a:t>The answer is obviously yes.</a:t>
            </a:r>
          </a:p>
          <a:p>
            <a:endParaRPr lang="en-US" dirty="0"/>
          </a:p>
          <a:p>
            <a:r>
              <a:rPr lang="en-US" dirty="0"/>
              <a:t>This is why I believe ”speed”/ experience is more important than magnitude with looking at established the proper right profile.</a:t>
            </a:r>
          </a:p>
          <a:p>
            <a:endParaRPr lang="en-US" dirty="0"/>
          </a:p>
          <a:p>
            <a:r>
              <a:rPr lang="en-US" dirty="0"/>
              <a:t>As mentioned, the aspect of </a:t>
            </a:r>
            <a:r>
              <a:rPr lang="en-US" dirty="0" err="1"/>
              <a:t>VaR</a:t>
            </a:r>
            <a:r>
              <a:rPr lang="en-US" dirty="0"/>
              <a:t> that is unique to this platform is that it evaluates the speed of loss. In this hypothetical example, let’s say you have $100,000 and you experience a 20% loss… does losing $20,000 feel differently in three months time versus 12-months time?</a:t>
            </a:r>
          </a:p>
        </p:txBody>
      </p:sp>
      <p:sp>
        <p:nvSpPr>
          <p:cNvPr id="4" name="Slide Number Placeholder 3"/>
          <p:cNvSpPr>
            <a:spLocks noGrp="1"/>
          </p:cNvSpPr>
          <p:nvPr>
            <p:ph type="sldNum" sz="quarter" idx="5"/>
          </p:nvPr>
        </p:nvSpPr>
        <p:spPr/>
        <p:txBody>
          <a:bodyPr/>
          <a:lstStyle/>
          <a:p>
            <a:fld id="{7DB5D22D-36FE-4BE3-A701-57EBF6FF10C4}" type="slidenum">
              <a:rPr lang="en-US" smtClean="0"/>
              <a:t>8</a:t>
            </a:fld>
            <a:endParaRPr lang="en-US"/>
          </a:p>
        </p:txBody>
      </p:sp>
    </p:spTree>
    <p:extLst>
      <p:ext uri="{BB962C8B-B14F-4D97-AF65-F5344CB8AC3E}">
        <p14:creationId xmlns:p14="http://schemas.microsoft.com/office/powerpoint/2010/main" val="14137837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help us gauge an investor’s speed of loss sentiment, we ask the question, “What percentage of loss over the course of a year would make you aware, worried, and alarmed?</a:t>
            </a:r>
          </a:p>
        </p:txBody>
      </p:sp>
      <p:sp>
        <p:nvSpPr>
          <p:cNvPr id="4" name="Slide Number Placeholder 3"/>
          <p:cNvSpPr>
            <a:spLocks noGrp="1"/>
          </p:cNvSpPr>
          <p:nvPr>
            <p:ph type="sldNum" sz="quarter" idx="5"/>
          </p:nvPr>
        </p:nvSpPr>
        <p:spPr/>
        <p:txBody>
          <a:bodyPr/>
          <a:lstStyle/>
          <a:p>
            <a:fld id="{7DB5D22D-36FE-4BE3-A701-57EBF6FF10C4}" type="slidenum">
              <a:rPr lang="en-US" smtClean="0"/>
              <a:t>9</a:t>
            </a:fld>
            <a:endParaRPr lang="en-US"/>
          </a:p>
        </p:txBody>
      </p:sp>
    </p:spTree>
    <p:extLst>
      <p:ext uri="{BB962C8B-B14F-4D97-AF65-F5344CB8AC3E}">
        <p14:creationId xmlns:p14="http://schemas.microsoft.com/office/powerpoint/2010/main" val="1010200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VAR score of 35 communicates to all parties the desired ”household” risk profile..</a:t>
            </a:r>
          </a:p>
          <a:p>
            <a:endParaRPr lang="en-US" dirty="0"/>
          </a:p>
          <a:p>
            <a:r>
              <a:rPr lang="en-US" dirty="0"/>
              <a:t>We can also see what the return/risk profile looks like for this VAR score as well.</a:t>
            </a:r>
          </a:p>
          <a:p>
            <a:endParaRPr lang="en-US" dirty="0"/>
          </a:p>
          <a:p>
            <a:r>
              <a:rPr lang="en-US" dirty="0"/>
              <a:t>The investor’s answer to that question will directly impact their </a:t>
            </a:r>
            <a:r>
              <a:rPr lang="en-US" dirty="0" err="1"/>
              <a:t>VaR</a:t>
            </a:r>
            <a:r>
              <a:rPr lang="en-US" dirty="0"/>
              <a:t> Score.</a:t>
            </a:r>
          </a:p>
        </p:txBody>
      </p:sp>
      <p:sp>
        <p:nvSpPr>
          <p:cNvPr id="4" name="Slide Number Placeholder 3"/>
          <p:cNvSpPr>
            <a:spLocks noGrp="1"/>
          </p:cNvSpPr>
          <p:nvPr>
            <p:ph type="sldNum" sz="quarter" idx="5"/>
          </p:nvPr>
        </p:nvSpPr>
        <p:spPr/>
        <p:txBody>
          <a:bodyPr/>
          <a:lstStyle/>
          <a:p>
            <a:fld id="{7DB5D22D-36FE-4BE3-A701-57EBF6FF10C4}" type="slidenum">
              <a:rPr lang="en-US" smtClean="0"/>
              <a:t>10</a:t>
            </a:fld>
            <a:endParaRPr lang="en-US"/>
          </a:p>
        </p:txBody>
      </p:sp>
    </p:spTree>
    <p:extLst>
      <p:ext uri="{BB962C8B-B14F-4D97-AF65-F5344CB8AC3E}">
        <p14:creationId xmlns:p14="http://schemas.microsoft.com/office/powerpoint/2010/main" val="4625861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a:latin typeface="ArialNova"/>
              </a:rPr>
              <a:t>Next, we design an investment strategy that actively works to optimize your wealth and protect your finances, keeping your goals and objectives at the forefront of our planning</a:t>
            </a:r>
          </a:p>
          <a:p>
            <a:pPr algn="l"/>
            <a:r>
              <a:rPr lang="en-US" sz="1800" b="0" i="0" u="none" strike="noStrike" baseline="0">
                <a:latin typeface="ArialNova"/>
              </a:rPr>
              <a:t>process.</a:t>
            </a:r>
            <a:endParaRPr lang="en-US"/>
          </a:p>
        </p:txBody>
      </p:sp>
      <p:sp>
        <p:nvSpPr>
          <p:cNvPr id="4" name="Slide Number Placeholder 3"/>
          <p:cNvSpPr>
            <a:spLocks noGrp="1"/>
          </p:cNvSpPr>
          <p:nvPr>
            <p:ph type="sldNum" sz="quarter" idx="5"/>
          </p:nvPr>
        </p:nvSpPr>
        <p:spPr/>
        <p:txBody>
          <a:bodyPr/>
          <a:lstStyle/>
          <a:p>
            <a:fld id="{7DB5D22D-36FE-4BE3-A701-57EBF6FF10C4}" type="slidenum">
              <a:rPr lang="en-US" smtClean="0"/>
              <a:t>11</a:t>
            </a:fld>
            <a:endParaRPr lang="en-US"/>
          </a:p>
        </p:txBody>
      </p:sp>
    </p:spTree>
    <p:extLst>
      <p:ext uri="{BB962C8B-B14F-4D97-AF65-F5344CB8AC3E}">
        <p14:creationId xmlns:p14="http://schemas.microsoft.com/office/powerpoint/2010/main" val="2105458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not only do we we use VAR to help design the portfolios, but equally as important we use the proprietary tool to monitor the ongoing performance. </a:t>
            </a:r>
          </a:p>
        </p:txBody>
      </p:sp>
      <p:sp>
        <p:nvSpPr>
          <p:cNvPr id="4" name="Slide Number Placeholder 3"/>
          <p:cNvSpPr>
            <a:spLocks noGrp="1"/>
          </p:cNvSpPr>
          <p:nvPr>
            <p:ph type="sldNum" sz="quarter" idx="5"/>
          </p:nvPr>
        </p:nvSpPr>
        <p:spPr/>
        <p:txBody>
          <a:bodyPr/>
          <a:lstStyle/>
          <a:p>
            <a:fld id="{7DB5D22D-36FE-4BE3-A701-57EBF6FF10C4}" type="slidenum">
              <a:rPr lang="en-US" smtClean="0"/>
              <a:t>12</a:t>
            </a:fld>
            <a:endParaRPr lang="en-US"/>
          </a:p>
        </p:txBody>
      </p:sp>
    </p:spTree>
    <p:extLst>
      <p:ext uri="{BB962C8B-B14F-4D97-AF65-F5344CB8AC3E}">
        <p14:creationId xmlns:p14="http://schemas.microsoft.com/office/powerpoint/2010/main" val="27830266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Simplicity works with over 150 third-party managers that provide more than 1,000 distinct investment strategies, forming a foundation of solutions for helping to solve different problems and investment objectives. </a:t>
            </a:r>
          </a:p>
          <a:p>
            <a:pPr marL="171450" indent="-171450">
              <a:buFontTx/>
              <a:buChar char="-"/>
            </a:pPr>
            <a:endParaRPr lang="en-US" dirty="0"/>
          </a:p>
          <a:p>
            <a:pPr marL="0" indent="0">
              <a:buFontTx/>
              <a:buNone/>
            </a:pPr>
            <a:r>
              <a:rPr lang="en-US" dirty="0"/>
              <a:t>Simplicity pursues a consistent due diligence process that culminates in a review and approval by our investment committee. </a:t>
            </a:r>
          </a:p>
          <a:p>
            <a:pPr marL="171450" indent="-171450">
              <a:buFontTx/>
              <a:buChar char="-"/>
            </a:pPr>
            <a:endParaRPr lang="en-US" dirty="0"/>
          </a:p>
          <a:p>
            <a:pPr marL="0" indent="0">
              <a:buFontTx/>
              <a:buNone/>
            </a:pPr>
            <a:r>
              <a:rPr lang="en-US" dirty="0"/>
              <a:t>The best part – we compare all those great managers to form a short list of the “best of the best” managers for client use. </a:t>
            </a:r>
          </a:p>
          <a:p>
            <a:pPr marL="171450" indent="-171450">
              <a:buFontTx/>
              <a:buChar char="-"/>
            </a:pPr>
            <a:endParaRPr lang="en-US" dirty="0"/>
          </a:p>
          <a:p>
            <a:pPr marL="0" indent="0">
              <a:buFontTx/>
              <a:buNone/>
            </a:pPr>
            <a:r>
              <a:rPr lang="en-US" dirty="0"/>
              <a:t>We continue to monitor those managers for performance persistency and through our </a:t>
            </a:r>
            <a:r>
              <a:rPr lang="en-US" dirty="0" err="1"/>
              <a:t>VaR</a:t>
            </a:r>
            <a:r>
              <a:rPr lang="en-US" dirty="0"/>
              <a:t> risk scoring to ensure that risk desired equals risk taken. </a:t>
            </a:r>
          </a:p>
          <a:p>
            <a:pPr marL="171450" indent="-171450">
              <a:buFontTx/>
              <a:buChar char="-"/>
            </a:pPr>
            <a:endParaRPr lang="en-US" dirty="0"/>
          </a:p>
          <a:p>
            <a:pPr marL="0" indent="0">
              <a:buFontTx/>
              <a:buNone/>
            </a:pPr>
            <a:r>
              <a:rPr lang="en-US" dirty="0"/>
              <a:t>THIS PROCESS IS CRITICAL FOR MANAGING CLIENT EXPECTATIONS AND SETTING THEM UP FOR SUCCESS. IT SUPPORTS YOUR FIDUCIARY DUTY AS AN ADVISOR. </a:t>
            </a:r>
          </a:p>
        </p:txBody>
      </p:sp>
      <p:sp>
        <p:nvSpPr>
          <p:cNvPr id="4" name="Slide Number Placeholder 3"/>
          <p:cNvSpPr>
            <a:spLocks noGrp="1"/>
          </p:cNvSpPr>
          <p:nvPr>
            <p:ph type="sldNum" sz="quarter" idx="5"/>
          </p:nvPr>
        </p:nvSpPr>
        <p:spPr/>
        <p:txBody>
          <a:bodyPr/>
          <a:lstStyle/>
          <a:p>
            <a:fld id="{7DB5D22D-36FE-4BE3-A701-57EBF6FF10C4}" type="slidenum">
              <a:rPr lang="en-US" smtClean="0"/>
              <a:t>13</a:t>
            </a:fld>
            <a:endParaRPr lang="en-US"/>
          </a:p>
        </p:txBody>
      </p:sp>
    </p:spTree>
    <p:extLst>
      <p:ext uri="{BB962C8B-B14F-4D97-AF65-F5344CB8AC3E}">
        <p14:creationId xmlns:p14="http://schemas.microsoft.com/office/powerpoint/2010/main" val="19043022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err="1"/>
              <a:t>VaR</a:t>
            </a:r>
            <a:r>
              <a:rPr lang="en-US" dirty="0"/>
              <a:t> not only supports decision making but is intuitive in understanding potential risk.</a:t>
            </a:r>
          </a:p>
          <a:p>
            <a:pPr marL="0" indent="0">
              <a:buFontTx/>
              <a:buNone/>
            </a:pPr>
            <a:endParaRPr lang="en-US" dirty="0"/>
          </a:p>
          <a:p>
            <a:pPr marL="0" indent="0">
              <a:buFontTx/>
              <a:buNone/>
            </a:pPr>
            <a:r>
              <a:rPr lang="en-US" dirty="0"/>
              <a:t>Let’s take a look at what at first appears to be comparable “moderate” models. We say appear comparable because Moderate is how each manager labels their portfolio.</a:t>
            </a:r>
          </a:p>
          <a:p>
            <a:pPr marL="171450" indent="-171450">
              <a:buFontTx/>
              <a:buChar char="-"/>
            </a:pPr>
            <a:endParaRPr lang="en-US" dirty="0"/>
          </a:p>
          <a:p>
            <a:pPr marL="0" indent="0">
              <a:buFontTx/>
              <a:buNone/>
            </a:pPr>
            <a:r>
              <a:rPr lang="en-US" dirty="0"/>
              <a:t>Three different managers, three moderate models. With the VaR scoring approach, you can see that all balanced moderate models are not created equal.</a:t>
            </a:r>
          </a:p>
          <a:p>
            <a:pPr marL="0" indent="0">
              <a:buFontTx/>
              <a:buNone/>
            </a:pPr>
            <a:endParaRPr lang="en-US" dirty="0"/>
          </a:p>
          <a:p>
            <a:pPr marL="0" indent="0">
              <a:buFontTx/>
              <a:buNone/>
            </a:pPr>
            <a:r>
              <a:rPr lang="en-US" dirty="0"/>
              <a:t>Our first manager is Columbia Threadneedle with a moderate conservative  VaR score of 38.</a:t>
            </a:r>
          </a:p>
          <a:p>
            <a:pPr marL="0" indent="0">
              <a:buFontTx/>
              <a:buNone/>
            </a:pPr>
            <a:endParaRPr lang="en-US" dirty="0"/>
          </a:p>
          <a:p>
            <a:pPr marL="0" indent="0">
              <a:buFontTx/>
              <a:buNone/>
            </a:pPr>
            <a:r>
              <a:rPr lang="en-US" dirty="0"/>
              <a:t>Next is </a:t>
            </a:r>
            <a:r>
              <a:rPr lang="en-US" dirty="0" err="1"/>
              <a:t>Globalt</a:t>
            </a:r>
            <a:r>
              <a:rPr lang="en-US" dirty="0"/>
              <a:t> with a moderate VaR score of 50.</a:t>
            </a:r>
          </a:p>
          <a:p>
            <a:pPr marL="0" indent="0">
              <a:buFontTx/>
              <a:buNone/>
            </a:pPr>
            <a:endParaRPr lang="en-US" dirty="0"/>
          </a:p>
          <a:p>
            <a:pPr marL="0" indent="0">
              <a:buFontTx/>
              <a:buNone/>
            </a:pPr>
            <a:r>
              <a:rPr lang="en-US" dirty="0"/>
              <a:t>And lastly, Inspire with a moderate aggressive VaR score of 61.</a:t>
            </a:r>
          </a:p>
          <a:p>
            <a:pPr marL="0" indent="0">
              <a:buFontTx/>
              <a:buNone/>
            </a:pPr>
            <a:endParaRPr lang="en-US" dirty="0"/>
          </a:p>
          <a:p>
            <a:pPr marL="0" indent="0">
              <a:buFontTx/>
              <a:buNone/>
            </a:pPr>
            <a:r>
              <a:rPr lang="en-US" dirty="0"/>
              <a:t>Can you see how these portfolios are different when viewed from the perspective of risk?</a:t>
            </a:r>
          </a:p>
        </p:txBody>
      </p:sp>
      <p:sp>
        <p:nvSpPr>
          <p:cNvPr id="4" name="Slide Number Placeholder 3"/>
          <p:cNvSpPr>
            <a:spLocks noGrp="1"/>
          </p:cNvSpPr>
          <p:nvPr>
            <p:ph type="sldNum" sz="quarter" idx="5"/>
          </p:nvPr>
        </p:nvSpPr>
        <p:spPr/>
        <p:txBody>
          <a:bodyPr/>
          <a:lstStyle/>
          <a:p>
            <a:fld id="{7DB5D22D-36FE-4BE3-A701-57EBF6FF10C4}" type="slidenum">
              <a:rPr lang="en-US" smtClean="0"/>
              <a:t>14</a:t>
            </a:fld>
            <a:endParaRPr lang="en-US"/>
          </a:p>
        </p:txBody>
      </p:sp>
    </p:spTree>
    <p:extLst>
      <p:ext uri="{BB962C8B-B14F-4D97-AF65-F5344CB8AC3E}">
        <p14:creationId xmlns:p14="http://schemas.microsoft.com/office/powerpoint/2010/main" val="1082001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Nova" panose="020B0504020202020204" pitchFamily="34" charset="0"/>
              </a:rPr>
              <a:t>As mentioned, our money managers and investment strategies are </a:t>
            </a:r>
            <a:r>
              <a:rPr lang="en-US" sz="1200" b="1" dirty="0">
                <a:solidFill>
                  <a:srgbClr val="0076BD"/>
                </a:solidFill>
                <a:latin typeface="Arial Nova" panose="020B0504020202020204" pitchFamily="34" charset="0"/>
              </a:rPr>
              <a:t>vetted and monitored on a continuous basis </a:t>
            </a:r>
            <a:r>
              <a:rPr lang="en-US" sz="1200" dirty="0">
                <a:latin typeface="Arial Nova" panose="020B0504020202020204" pitchFamily="34" charset="0"/>
              </a:rPr>
              <a:t>to help ensure clients remain on track to </a:t>
            </a:r>
            <a:r>
              <a:rPr lang="en-US" sz="1200" b="1" dirty="0">
                <a:solidFill>
                  <a:srgbClr val="0076BD"/>
                </a:solidFill>
                <a:latin typeface="Arial Nova" panose="020B0504020202020204" pitchFamily="34" charset="0"/>
              </a:rPr>
              <a:t>achieve their financial goals. </a:t>
            </a:r>
            <a:r>
              <a:rPr lang="en-US" sz="1200" b="0" dirty="0">
                <a:solidFill>
                  <a:srgbClr val="0076BD"/>
                </a:solidFill>
                <a:latin typeface="Arial Nova" panose="020B0504020202020204" pitchFamily="34" charset="0"/>
              </a:rPr>
              <a:t>Some of our key managers include…</a:t>
            </a:r>
            <a:endParaRPr lang="en-US" sz="1200" b="1" dirty="0">
              <a:solidFill>
                <a:srgbClr val="0076BD"/>
              </a:solidFill>
              <a:latin typeface="Arial Nova" panose="020B0504020202020204" pitchFamily="34" charset="0"/>
            </a:endParaRPr>
          </a:p>
          <a:p>
            <a:endParaRPr lang="en-US" dirty="0"/>
          </a:p>
        </p:txBody>
      </p:sp>
      <p:sp>
        <p:nvSpPr>
          <p:cNvPr id="4" name="Slide Number Placeholder 3"/>
          <p:cNvSpPr>
            <a:spLocks noGrp="1"/>
          </p:cNvSpPr>
          <p:nvPr>
            <p:ph type="sldNum" sz="quarter" idx="5"/>
          </p:nvPr>
        </p:nvSpPr>
        <p:spPr/>
        <p:txBody>
          <a:bodyPr/>
          <a:lstStyle/>
          <a:p>
            <a:fld id="{7DB5D22D-36FE-4BE3-A701-57EBF6FF10C4}" type="slidenum">
              <a:rPr lang="en-US" smtClean="0"/>
              <a:t>15</a:t>
            </a:fld>
            <a:endParaRPr lang="en-US"/>
          </a:p>
        </p:txBody>
      </p:sp>
    </p:spTree>
    <p:extLst>
      <p:ext uri="{BB962C8B-B14F-4D97-AF65-F5344CB8AC3E}">
        <p14:creationId xmlns:p14="http://schemas.microsoft.com/office/powerpoint/2010/main" val="35213769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Among the vetted managers available, we have… </a:t>
            </a:r>
          </a:p>
          <a:p>
            <a:endParaRPr lang="en-US" dirty="0"/>
          </a:p>
          <a:p>
            <a:pPr marL="171450" indent="-171450">
              <a:buFontTx/>
              <a:buChar char="-"/>
            </a:pPr>
            <a:r>
              <a:rPr lang="en-US" dirty="0"/>
              <a:t>Active strategies, those with an enhanced risk and return profile.</a:t>
            </a:r>
          </a:p>
          <a:p>
            <a:pPr marL="171450" indent="-171450">
              <a:buFontTx/>
              <a:buChar char="-"/>
            </a:pPr>
            <a:r>
              <a:rPr lang="en-US" dirty="0"/>
              <a:t>Passive strategies, those that aim to replicate the performance of a broad market index</a:t>
            </a:r>
          </a:p>
          <a:p>
            <a:pPr marL="171450" indent="-171450">
              <a:buFontTx/>
              <a:buChar char="-"/>
            </a:pPr>
            <a:r>
              <a:rPr lang="en-US" dirty="0"/>
              <a:t>Income strategies, those that are focused on dividend and interest concentration</a:t>
            </a:r>
          </a:p>
          <a:p>
            <a:pPr marL="171450" indent="-171450">
              <a:buFontTx/>
              <a:buChar char="-"/>
            </a:pPr>
            <a:r>
              <a:rPr lang="en-US" dirty="0"/>
              <a:t>And lastly, Sustainable impact strategies, or those that are values-based investing</a:t>
            </a:r>
          </a:p>
          <a:p>
            <a:pPr marL="0" indent="0">
              <a:buFontTx/>
              <a:buNone/>
            </a:pPr>
            <a:endParaRPr lang="en-US" dirty="0"/>
          </a:p>
          <a:p>
            <a:pPr marL="0" indent="0">
              <a:buFontTx/>
              <a:buNone/>
            </a:pPr>
            <a:r>
              <a:rPr lang="en-US" dirty="0"/>
              <a:t>It’s important to note that within each category we have Taxable and Tax-Aware strategies.</a:t>
            </a:r>
          </a:p>
        </p:txBody>
      </p:sp>
      <p:sp>
        <p:nvSpPr>
          <p:cNvPr id="4" name="Slide Number Placeholder 3"/>
          <p:cNvSpPr>
            <a:spLocks noGrp="1"/>
          </p:cNvSpPr>
          <p:nvPr>
            <p:ph type="sldNum" sz="quarter" idx="5"/>
          </p:nvPr>
        </p:nvSpPr>
        <p:spPr/>
        <p:txBody>
          <a:bodyPr/>
          <a:lstStyle/>
          <a:p>
            <a:fld id="{7DB5D22D-36FE-4BE3-A701-57EBF6FF10C4}" type="slidenum">
              <a:rPr lang="en-US" smtClean="0"/>
              <a:t>16</a:t>
            </a:fld>
            <a:endParaRPr lang="en-US"/>
          </a:p>
        </p:txBody>
      </p:sp>
    </p:spTree>
    <p:extLst>
      <p:ext uri="{BB962C8B-B14F-4D97-AF65-F5344CB8AC3E}">
        <p14:creationId xmlns:p14="http://schemas.microsoft.com/office/powerpoint/2010/main" val="3462081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dirty="0">
                <a:solidFill>
                  <a:prstClr val="black"/>
                </a:solidFill>
                <a:latin typeface="Arial Nova" panose="020B0504020202020204" pitchFamily="34" charset="0"/>
              </a:rPr>
              <a:t>We also have access to sophisticate tax services including…</a:t>
            </a:r>
          </a:p>
          <a:p>
            <a:pPr>
              <a:defRPr/>
            </a:pPr>
            <a:endParaRPr kumimoji="0" lang="en-US" sz="1200" b="1" i="0" u="none" strike="noStrike" kern="1200" cap="none" spc="0" normalizeH="0" baseline="0" noProof="0" dirty="0">
              <a:ln>
                <a:noFill/>
              </a:ln>
              <a:solidFill>
                <a:prstClr val="black"/>
              </a:solidFill>
              <a:effectLst/>
              <a:uLnTx/>
              <a:uFillTx/>
              <a:latin typeface="Arial Nova" panose="020B0504020202020204" pitchFamily="34" charset="0"/>
              <a:ea typeface="+mn-ea"/>
              <a:cs typeface="+mn-cs"/>
            </a:endParaRPr>
          </a:p>
          <a:p>
            <a:pPr>
              <a:defRPr/>
            </a:pPr>
            <a:r>
              <a:rPr kumimoji="0" lang="en-US" sz="1200" b="1" i="0" u="none" strike="noStrike" kern="1200" cap="none" spc="0" normalizeH="0" baseline="0" noProof="0" dirty="0">
                <a:ln>
                  <a:noFill/>
                </a:ln>
                <a:solidFill>
                  <a:srgbClr val="0076BD"/>
                </a:solidFill>
                <a:effectLst/>
                <a:uLnTx/>
                <a:uFillTx/>
                <a:latin typeface="Arial Nova" panose="020B0504020202020204" pitchFamily="34" charset="0"/>
                <a:ea typeface="+mn-ea"/>
                <a:cs typeface="+mn-cs"/>
              </a:rPr>
              <a:t>Direct Indexing </a:t>
            </a:r>
            <a:r>
              <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is when a target index (e.g., S&amp;P 500) is replicated using individual stocks and allows for those stocks to be individually traded. </a:t>
            </a:r>
            <a:endParaRPr lang="en-US" sz="1200" b="1" dirty="0">
              <a:solidFill>
                <a:prstClr val="black"/>
              </a:solidFill>
              <a:latin typeface="Arial Nova" panose="020B0504020202020204" pitchFamily="34" charset="0"/>
            </a:endParaRPr>
          </a:p>
          <a:p>
            <a:pPr>
              <a:defRPr/>
            </a:pPr>
            <a:endParaRPr kumimoji="0" lang="en-US" sz="1200" b="1" i="0" u="none" strike="noStrike" kern="1200" cap="none" spc="0" normalizeH="0" baseline="0" noProof="0" dirty="0">
              <a:ln>
                <a:noFill/>
              </a:ln>
              <a:solidFill>
                <a:prstClr val="black"/>
              </a:solidFill>
              <a:effectLst/>
              <a:uLnTx/>
              <a:uFillTx/>
              <a:latin typeface="Arial Nova" panose="020B0504020202020204" pitchFamily="34" charset="0"/>
              <a:ea typeface="+mn-ea"/>
              <a:cs typeface="+mn-cs"/>
            </a:endParaRPr>
          </a:p>
          <a:p>
            <a:pPr>
              <a:defRPr/>
            </a:pPr>
            <a:r>
              <a:rPr kumimoji="0" lang="en-US" sz="1200" b="1" i="0" u="none" strike="noStrike" kern="1200" cap="none" spc="0" normalizeH="0" baseline="0" noProof="0" dirty="0">
                <a:ln>
                  <a:noFill/>
                </a:ln>
                <a:solidFill>
                  <a:srgbClr val="0076BD"/>
                </a:solidFill>
                <a:effectLst/>
                <a:uLnTx/>
                <a:uFillTx/>
                <a:latin typeface="Arial Nova" panose="020B0504020202020204" pitchFamily="34" charset="0"/>
                <a:ea typeface="+mn-ea"/>
                <a:cs typeface="+mn-cs"/>
              </a:rPr>
              <a:t>Tax-Loss Harvesting </a:t>
            </a:r>
            <a:r>
              <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is selling some stocks at a loss to offset the gains realized by selling other stocks at a profit.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prstClr val="black"/>
                </a:solidFill>
                <a:latin typeface="Arial Nova" panose="020B0504020202020204" pitchFamily="34" charset="0"/>
              </a:rPr>
              <a:t>A </a:t>
            </a:r>
            <a:r>
              <a:rPr lang="en-US" sz="1200" b="1">
                <a:solidFill>
                  <a:srgbClr val="0076BD"/>
                </a:solidFill>
                <a:latin typeface="Arial Nova" panose="020B0504020202020204" pitchFamily="34" charset="0"/>
              </a:rPr>
              <a:t>Tax-Optimized Transition </a:t>
            </a:r>
            <a:r>
              <a:rPr lang="en-US" sz="1200">
                <a:solidFill>
                  <a:prstClr val="black"/>
                </a:solidFill>
                <a:latin typeface="Arial Nova" panose="020B0504020202020204" pitchFamily="34" charset="0"/>
              </a:rPr>
              <a:t>is a sophisticated transfer strategy for eliminating an investor’s tax-burdened legacy positions (a portfolio containing unrealized gains and/or losses) by gradually transferring assets to a new portfolio tax efficiently.</a:t>
            </a:r>
          </a:p>
          <a:p>
            <a:endParaRPr lang="en-US" dirty="0"/>
          </a:p>
        </p:txBody>
      </p:sp>
      <p:sp>
        <p:nvSpPr>
          <p:cNvPr id="4" name="Slide Number Placeholder 3"/>
          <p:cNvSpPr>
            <a:spLocks noGrp="1"/>
          </p:cNvSpPr>
          <p:nvPr>
            <p:ph type="sldNum" sz="quarter" idx="5"/>
          </p:nvPr>
        </p:nvSpPr>
        <p:spPr/>
        <p:txBody>
          <a:bodyPr/>
          <a:lstStyle/>
          <a:p>
            <a:fld id="{7DB5D22D-36FE-4BE3-A701-57EBF6FF10C4}" type="slidenum">
              <a:rPr lang="en-US" smtClean="0"/>
              <a:t>17</a:t>
            </a:fld>
            <a:endParaRPr lang="en-US"/>
          </a:p>
        </p:txBody>
      </p:sp>
    </p:spTree>
    <p:extLst>
      <p:ext uri="{BB962C8B-B14F-4D97-AF65-F5344CB8AC3E}">
        <p14:creationId xmlns:p14="http://schemas.microsoft.com/office/powerpoint/2010/main" val="36549503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thing that makes this platform unique is the annuity integration. When appropriate, an annuity can help lower the overall risk in a household portfolio and provide guaranteed income in retirement.</a:t>
            </a:r>
          </a:p>
          <a:p>
            <a:endParaRPr lang="en-US" dirty="0"/>
          </a:p>
          <a:p>
            <a:r>
              <a:rPr lang="en-US" dirty="0"/>
              <a:t>Historically these have been two different financial vehicles… what we did is integrate the investment portfolio and the annuity product so that you have a household – holistic snapshot of what is taking place.</a:t>
            </a:r>
          </a:p>
          <a:p>
            <a:endParaRPr lang="en-US" dirty="0"/>
          </a:p>
        </p:txBody>
      </p:sp>
      <p:sp>
        <p:nvSpPr>
          <p:cNvPr id="4" name="Slide Number Placeholder 3"/>
          <p:cNvSpPr>
            <a:spLocks noGrp="1"/>
          </p:cNvSpPr>
          <p:nvPr>
            <p:ph type="sldNum" sz="quarter" idx="5"/>
          </p:nvPr>
        </p:nvSpPr>
        <p:spPr/>
        <p:txBody>
          <a:bodyPr/>
          <a:lstStyle/>
          <a:p>
            <a:fld id="{7DB5D22D-36FE-4BE3-A701-57EBF6FF10C4}" type="slidenum">
              <a:rPr lang="en-US" smtClean="0"/>
              <a:t>18</a:t>
            </a:fld>
            <a:endParaRPr lang="en-US"/>
          </a:p>
        </p:txBody>
      </p:sp>
    </p:spTree>
    <p:extLst>
      <p:ext uri="{BB962C8B-B14F-4D97-AF65-F5344CB8AC3E}">
        <p14:creationId xmlns:p14="http://schemas.microsoft.com/office/powerpoint/2010/main" val="877256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an understanding of the vast investment offering, let’s take a quick look into the Planning process.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As mentioned, we start by obtaining your risk score though the Risk Tolerance Questionnaire – which will measure qualitative and quantitative data.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Secondly, we as you to complete the Financial Planning Considerations Questionnaire – this will help us determine your sentiment towards things like longevity, liquidity, inflation, market, mortality, and taxes. This allow provides us with the most up-to-date holistic picture of your household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Lastly, we take a deep dive into account objectives, portfolio focus, and style.  This includes tax needs – tax sensitivity, if strategies like tax-loss harvesting would benefit you, and so 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Then we look at your portfolio focus including objectives such as tax concerns, income needs, growth, risk, total return, time horizon, and annuity inclusion.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Next, we evaluate the management style. Active versus passive, market cycles, multi-manager, cost conscious, etc.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Lastly, we identify any specialty needs such as socially responsible investing, direct indexing, separately managed accounts, and so 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Once this process has been completed, we produce an investment proposal that will provide you with a comparison of your current strategy to your proposed strategy. We will then walk you through how we arrived at this recommendation.</a:t>
            </a:r>
          </a:p>
          <a:p>
            <a:endParaRPr lang="en-US" dirty="0"/>
          </a:p>
        </p:txBody>
      </p:sp>
      <p:sp>
        <p:nvSpPr>
          <p:cNvPr id="4" name="Slide Number Placeholder 3"/>
          <p:cNvSpPr>
            <a:spLocks noGrp="1"/>
          </p:cNvSpPr>
          <p:nvPr>
            <p:ph type="sldNum" sz="quarter" idx="5"/>
          </p:nvPr>
        </p:nvSpPr>
        <p:spPr/>
        <p:txBody>
          <a:bodyPr/>
          <a:lstStyle/>
          <a:p>
            <a:fld id="{7DB5D22D-36FE-4BE3-A701-57EBF6FF10C4}" type="slidenum">
              <a:rPr lang="en-US" smtClean="0"/>
              <a:t>19</a:t>
            </a:fld>
            <a:endParaRPr lang="en-US"/>
          </a:p>
        </p:txBody>
      </p:sp>
    </p:spTree>
    <p:extLst>
      <p:ext uri="{BB962C8B-B14F-4D97-AF65-F5344CB8AC3E}">
        <p14:creationId xmlns:p14="http://schemas.microsoft.com/office/powerpoint/2010/main" val="18611336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solidFill>
                  <a:srgbClr val="000000"/>
                </a:solidFill>
                <a:latin typeface="ArialNova"/>
              </a:rPr>
              <a:t>Once the investment plan has </a:t>
            </a:r>
            <a:r>
              <a:rPr lang="en-US" sz="1800" b="0" i="0" u="none" strike="noStrike" baseline="0">
                <a:solidFill>
                  <a:srgbClr val="000000"/>
                </a:solidFill>
                <a:latin typeface="ArialNova"/>
              </a:rPr>
              <a:t>been implemented, lastly </a:t>
            </a:r>
            <a:r>
              <a:rPr lang="en-US" sz="1800" b="0" i="0" u="none" strike="noStrike" baseline="0" dirty="0">
                <a:solidFill>
                  <a:srgbClr val="000000"/>
                </a:solidFill>
                <a:latin typeface="ArialNova"/>
              </a:rPr>
              <a:t>and continually, we work to ensure transparency of your investment plan by providing visibility, proactive outreach, and accessibility to our team throughout our working relationship.</a:t>
            </a:r>
          </a:p>
        </p:txBody>
      </p:sp>
      <p:sp>
        <p:nvSpPr>
          <p:cNvPr id="4" name="Slide Number Placeholder 3"/>
          <p:cNvSpPr>
            <a:spLocks noGrp="1"/>
          </p:cNvSpPr>
          <p:nvPr>
            <p:ph type="sldNum" sz="quarter" idx="5"/>
          </p:nvPr>
        </p:nvSpPr>
        <p:spPr/>
        <p:txBody>
          <a:bodyPr/>
          <a:lstStyle/>
          <a:p>
            <a:fld id="{7DB5D22D-36FE-4BE3-A701-57EBF6FF10C4}" type="slidenum">
              <a:rPr lang="en-US" smtClean="0"/>
              <a:t>20</a:t>
            </a:fld>
            <a:endParaRPr lang="en-US"/>
          </a:p>
        </p:txBody>
      </p:sp>
    </p:spTree>
    <p:extLst>
      <p:ext uri="{BB962C8B-B14F-4D97-AF65-F5344CB8AC3E}">
        <p14:creationId xmlns:p14="http://schemas.microsoft.com/office/powerpoint/2010/main" val="25781591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700">
              <a:lnSpc>
                <a:spcPct val="100000"/>
              </a:lnSpc>
              <a:spcBef>
                <a:spcPts val="1360"/>
              </a:spcBef>
            </a:pPr>
            <a:endParaRPr lang="en-US" spc="140" dirty="0"/>
          </a:p>
          <a:p>
            <a:pPr marL="12700">
              <a:lnSpc>
                <a:spcPct val="100000"/>
              </a:lnSpc>
              <a:spcBef>
                <a:spcPts val="1360"/>
              </a:spcBef>
            </a:pPr>
            <a:r>
              <a:rPr lang="en-US" sz="1000" b="1" spc="140" dirty="0">
                <a:latin typeface="Arial Nova" panose="020B0504020202020204" pitchFamily="34" charset="0"/>
              </a:rPr>
              <a:t>As part of our mission to keep clients informed, we like to say that we “ACT” </a:t>
            </a:r>
            <a:r>
              <a:rPr lang="en-US" sz="1000" b="1" spc="140" dirty="0">
                <a:solidFill>
                  <a:srgbClr val="0076BD"/>
                </a:solidFill>
                <a:latin typeface="Arial Nova" panose="020B0504020202020204" pitchFamily="34" charset="0"/>
                <a:cs typeface="Arial Narrow"/>
              </a:rPr>
              <a:t>on</a:t>
            </a:r>
            <a:r>
              <a:rPr lang="en-US" sz="1000" b="1" spc="-30" dirty="0">
                <a:solidFill>
                  <a:srgbClr val="0076BD"/>
                </a:solidFill>
                <a:latin typeface="Arial Nova" panose="020B0504020202020204" pitchFamily="34" charset="0"/>
                <a:cs typeface="Arial Narrow"/>
              </a:rPr>
              <a:t> </a:t>
            </a:r>
            <a:r>
              <a:rPr lang="en-US" sz="1000" b="1" spc="145" dirty="0">
                <a:solidFill>
                  <a:srgbClr val="0076BD"/>
                </a:solidFill>
                <a:latin typeface="Arial Nova" panose="020B0504020202020204" pitchFamily="34" charset="0"/>
                <a:cs typeface="Arial Narrow"/>
              </a:rPr>
              <a:t>each</a:t>
            </a:r>
            <a:r>
              <a:rPr lang="en-US" sz="1000" b="1" spc="-25" dirty="0">
                <a:solidFill>
                  <a:srgbClr val="0076BD"/>
                </a:solidFill>
                <a:latin typeface="Arial Nova" panose="020B0504020202020204" pitchFamily="34" charset="0"/>
                <a:cs typeface="Arial Narrow"/>
              </a:rPr>
              <a:t> </a:t>
            </a:r>
            <a:r>
              <a:rPr lang="en-US" sz="1000" b="1" spc="90" dirty="0">
                <a:solidFill>
                  <a:srgbClr val="0076BD"/>
                </a:solidFill>
                <a:latin typeface="Arial Nova" panose="020B0504020202020204" pitchFamily="34" charset="0"/>
                <a:cs typeface="Arial Narrow"/>
              </a:rPr>
              <a:t>investor’s</a:t>
            </a:r>
            <a:r>
              <a:rPr lang="en-US" sz="1000" b="1" spc="-25" dirty="0">
                <a:solidFill>
                  <a:srgbClr val="0076BD"/>
                </a:solidFill>
                <a:latin typeface="Arial Nova" panose="020B0504020202020204" pitchFamily="34" charset="0"/>
                <a:cs typeface="Arial Narrow"/>
              </a:rPr>
              <a:t> </a:t>
            </a:r>
            <a:r>
              <a:rPr lang="en-US" sz="1000" b="1" spc="80" dirty="0">
                <a:solidFill>
                  <a:srgbClr val="0076BD"/>
                </a:solidFill>
                <a:latin typeface="Arial Nova" panose="020B0504020202020204" pitchFamily="34" charset="0"/>
                <a:cs typeface="Arial Narrow"/>
              </a:rPr>
              <a:t>behalf...</a:t>
            </a:r>
          </a:p>
          <a:p>
            <a:pPr marL="12700">
              <a:lnSpc>
                <a:spcPct val="100000"/>
              </a:lnSpc>
              <a:spcBef>
                <a:spcPts val="630"/>
              </a:spcBef>
            </a:pPr>
            <a:endParaRPr lang="en-US" sz="1200" b="1" spc="80" dirty="0">
              <a:solidFill>
                <a:srgbClr val="0076BD"/>
              </a:solidFill>
              <a:latin typeface="Arial Narrow"/>
            </a:endParaRPr>
          </a:p>
          <a:p>
            <a:pPr marL="12700">
              <a:lnSpc>
                <a:spcPct val="100000"/>
              </a:lnSpc>
              <a:spcBef>
                <a:spcPts val="100"/>
              </a:spcBef>
            </a:pPr>
            <a:r>
              <a:rPr lang="en-US" sz="1600" b="1" spc="60" dirty="0">
                <a:solidFill>
                  <a:srgbClr val="0076BD"/>
                </a:solidFill>
                <a:latin typeface="Arial Narrow"/>
                <a:cs typeface="Arial Narrow"/>
              </a:rPr>
              <a:t>Accessible</a:t>
            </a:r>
            <a:r>
              <a:rPr lang="en-US" sz="1600" b="1" spc="0" dirty="0">
                <a:solidFill>
                  <a:schemeClr val="tx1"/>
                </a:solidFill>
                <a:latin typeface="Arial Narrow"/>
                <a:cs typeface="Arial Narrow"/>
              </a:rPr>
              <a:t>: </a:t>
            </a:r>
            <a:r>
              <a:rPr lang="en-US" sz="1200" spc="-70" dirty="0">
                <a:solidFill>
                  <a:srgbClr val="6D6E71"/>
                </a:solidFill>
                <a:latin typeface="Arial"/>
                <a:cs typeface="Arial"/>
              </a:rPr>
              <a:t>We</a:t>
            </a:r>
            <a:r>
              <a:rPr lang="en-US" sz="1200" spc="-40" dirty="0">
                <a:solidFill>
                  <a:srgbClr val="6D6E71"/>
                </a:solidFill>
                <a:latin typeface="Arial"/>
                <a:cs typeface="Arial"/>
              </a:rPr>
              <a:t> </a:t>
            </a:r>
            <a:r>
              <a:rPr lang="en-US" sz="1200" spc="-35" dirty="0">
                <a:solidFill>
                  <a:srgbClr val="6D6E71"/>
                </a:solidFill>
                <a:latin typeface="Arial"/>
                <a:cs typeface="Arial"/>
              </a:rPr>
              <a:t>aim</a:t>
            </a:r>
            <a:r>
              <a:rPr lang="en-US" sz="1200" spc="-40" dirty="0">
                <a:solidFill>
                  <a:srgbClr val="6D6E71"/>
                </a:solidFill>
                <a:latin typeface="Arial"/>
                <a:cs typeface="Arial"/>
              </a:rPr>
              <a:t> </a:t>
            </a:r>
            <a:r>
              <a:rPr lang="en-US" sz="1200" dirty="0">
                <a:solidFill>
                  <a:srgbClr val="6D6E71"/>
                </a:solidFill>
                <a:latin typeface="Arial"/>
                <a:cs typeface="Arial"/>
              </a:rPr>
              <a:t>to</a:t>
            </a:r>
            <a:r>
              <a:rPr lang="en-US" sz="1200" spc="-40" dirty="0">
                <a:solidFill>
                  <a:srgbClr val="6D6E71"/>
                </a:solidFill>
                <a:latin typeface="Arial"/>
                <a:cs typeface="Arial"/>
              </a:rPr>
              <a:t> </a:t>
            </a:r>
            <a:r>
              <a:rPr lang="en-US" sz="1200" dirty="0">
                <a:solidFill>
                  <a:srgbClr val="6D6E71"/>
                </a:solidFill>
                <a:latin typeface="Arial"/>
                <a:cs typeface="Arial"/>
              </a:rPr>
              <a:t>be</a:t>
            </a:r>
            <a:r>
              <a:rPr lang="en-US" sz="1200" spc="-40" dirty="0">
                <a:solidFill>
                  <a:srgbClr val="6D6E71"/>
                </a:solidFill>
                <a:latin typeface="Arial"/>
                <a:cs typeface="Arial"/>
              </a:rPr>
              <a:t> </a:t>
            </a:r>
            <a:r>
              <a:rPr lang="en-US" sz="1200" spc="-45" dirty="0">
                <a:solidFill>
                  <a:srgbClr val="6D6E71"/>
                </a:solidFill>
                <a:latin typeface="Arial"/>
                <a:cs typeface="Arial"/>
              </a:rPr>
              <a:t>available</a:t>
            </a:r>
            <a:r>
              <a:rPr lang="en-US" sz="1200" spc="-40" dirty="0">
                <a:solidFill>
                  <a:srgbClr val="6D6E71"/>
                </a:solidFill>
                <a:latin typeface="Arial"/>
                <a:cs typeface="Arial"/>
              </a:rPr>
              <a:t> </a:t>
            </a:r>
            <a:r>
              <a:rPr lang="en-US" sz="1200" dirty="0">
                <a:solidFill>
                  <a:srgbClr val="6D6E71"/>
                </a:solidFill>
                <a:latin typeface="Arial"/>
                <a:cs typeface="Arial"/>
              </a:rPr>
              <a:t>to</a:t>
            </a:r>
            <a:r>
              <a:rPr lang="en-US" sz="1200" spc="-40" dirty="0">
                <a:solidFill>
                  <a:srgbClr val="6D6E71"/>
                </a:solidFill>
                <a:latin typeface="Arial"/>
                <a:cs typeface="Arial"/>
              </a:rPr>
              <a:t> </a:t>
            </a:r>
            <a:r>
              <a:rPr lang="en-US" sz="1200" spc="-10" dirty="0">
                <a:solidFill>
                  <a:srgbClr val="6D6E71"/>
                </a:solidFill>
                <a:latin typeface="Arial"/>
                <a:cs typeface="Arial"/>
              </a:rPr>
              <a:t>our</a:t>
            </a:r>
            <a:r>
              <a:rPr lang="en-US" sz="1200" spc="-40" dirty="0">
                <a:solidFill>
                  <a:srgbClr val="6D6E71"/>
                </a:solidFill>
                <a:latin typeface="Arial"/>
                <a:cs typeface="Arial"/>
              </a:rPr>
              <a:t> </a:t>
            </a:r>
            <a:r>
              <a:rPr lang="en-US" sz="1200" spc="-25" dirty="0">
                <a:solidFill>
                  <a:srgbClr val="6D6E71"/>
                </a:solidFill>
                <a:latin typeface="Arial"/>
                <a:cs typeface="Arial"/>
              </a:rPr>
              <a:t>clients</a:t>
            </a:r>
            <a:r>
              <a:rPr lang="en-US" sz="1200" spc="-40" dirty="0">
                <a:solidFill>
                  <a:srgbClr val="6D6E71"/>
                </a:solidFill>
                <a:latin typeface="Arial"/>
                <a:cs typeface="Arial"/>
              </a:rPr>
              <a:t> </a:t>
            </a:r>
            <a:r>
              <a:rPr lang="en-US" sz="1200" spc="-30" dirty="0">
                <a:solidFill>
                  <a:srgbClr val="6D6E71"/>
                </a:solidFill>
                <a:latin typeface="Arial"/>
                <a:cs typeface="Arial"/>
              </a:rPr>
              <a:t>and</a:t>
            </a:r>
            <a:r>
              <a:rPr lang="en-US" sz="1200" spc="-40" dirty="0">
                <a:solidFill>
                  <a:srgbClr val="6D6E71"/>
                </a:solidFill>
                <a:latin typeface="Arial"/>
                <a:cs typeface="Arial"/>
              </a:rPr>
              <a:t> </a:t>
            </a:r>
            <a:r>
              <a:rPr lang="en-US" sz="1200" spc="-20" dirty="0">
                <a:solidFill>
                  <a:srgbClr val="6D6E71"/>
                </a:solidFill>
                <a:latin typeface="Arial"/>
                <a:cs typeface="Arial"/>
              </a:rPr>
              <a:t>work</a:t>
            </a:r>
            <a:r>
              <a:rPr lang="en-US" sz="1200" spc="-40" dirty="0">
                <a:solidFill>
                  <a:srgbClr val="6D6E71"/>
                </a:solidFill>
                <a:latin typeface="Arial"/>
                <a:cs typeface="Arial"/>
              </a:rPr>
              <a:t> </a:t>
            </a:r>
            <a:r>
              <a:rPr lang="en-US" sz="1200" dirty="0">
                <a:solidFill>
                  <a:srgbClr val="6D6E71"/>
                </a:solidFill>
                <a:latin typeface="Arial"/>
                <a:cs typeface="Arial"/>
              </a:rPr>
              <a:t>to</a:t>
            </a:r>
            <a:r>
              <a:rPr lang="en-US" sz="1200" spc="-35" dirty="0">
                <a:solidFill>
                  <a:srgbClr val="6D6E71"/>
                </a:solidFill>
                <a:latin typeface="Arial"/>
                <a:cs typeface="Arial"/>
              </a:rPr>
              <a:t> answer</a:t>
            </a:r>
            <a:r>
              <a:rPr lang="en-US" sz="1200" spc="-40" dirty="0">
                <a:solidFill>
                  <a:srgbClr val="6D6E71"/>
                </a:solidFill>
                <a:latin typeface="Arial"/>
                <a:cs typeface="Arial"/>
              </a:rPr>
              <a:t> </a:t>
            </a:r>
            <a:r>
              <a:rPr lang="en-US" sz="1200" spc="-30" dirty="0">
                <a:solidFill>
                  <a:srgbClr val="6D6E71"/>
                </a:solidFill>
                <a:latin typeface="Arial"/>
                <a:cs typeface="Arial"/>
              </a:rPr>
              <a:t>questions</a:t>
            </a:r>
            <a:r>
              <a:rPr lang="en-US" sz="1200" spc="-40" dirty="0">
                <a:solidFill>
                  <a:srgbClr val="6D6E71"/>
                </a:solidFill>
                <a:latin typeface="Arial"/>
                <a:cs typeface="Arial"/>
              </a:rPr>
              <a:t> </a:t>
            </a:r>
            <a:r>
              <a:rPr lang="en-US" sz="1200" spc="-30" dirty="0">
                <a:solidFill>
                  <a:srgbClr val="6D6E71"/>
                </a:solidFill>
                <a:latin typeface="Arial"/>
                <a:cs typeface="Arial"/>
              </a:rPr>
              <a:t>and</a:t>
            </a:r>
            <a:r>
              <a:rPr lang="en-US" sz="1200" spc="-40" dirty="0">
                <a:solidFill>
                  <a:srgbClr val="6D6E71"/>
                </a:solidFill>
                <a:latin typeface="Arial"/>
                <a:cs typeface="Arial"/>
              </a:rPr>
              <a:t> </a:t>
            </a:r>
            <a:r>
              <a:rPr lang="en-US" sz="1200" spc="-35" dirty="0">
                <a:solidFill>
                  <a:srgbClr val="6D6E71"/>
                </a:solidFill>
                <a:latin typeface="Arial"/>
                <a:cs typeface="Arial"/>
              </a:rPr>
              <a:t>address</a:t>
            </a:r>
            <a:r>
              <a:rPr lang="en-US" sz="1200" spc="-40" dirty="0">
                <a:solidFill>
                  <a:srgbClr val="6D6E71"/>
                </a:solidFill>
                <a:latin typeface="Arial"/>
                <a:cs typeface="Arial"/>
              </a:rPr>
              <a:t> </a:t>
            </a:r>
            <a:r>
              <a:rPr lang="en-US" sz="1200" spc="-20" dirty="0">
                <a:solidFill>
                  <a:srgbClr val="6D6E71"/>
                </a:solidFill>
                <a:latin typeface="Arial"/>
                <a:cs typeface="Arial"/>
              </a:rPr>
              <a:t>concerns</a:t>
            </a:r>
            <a:r>
              <a:rPr lang="en-US" sz="1200" spc="-40" dirty="0">
                <a:solidFill>
                  <a:srgbClr val="6D6E71"/>
                </a:solidFill>
                <a:latin typeface="Arial"/>
                <a:cs typeface="Arial"/>
              </a:rPr>
              <a:t> </a:t>
            </a:r>
            <a:r>
              <a:rPr lang="en-US" sz="1200" spc="-25" dirty="0">
                <a:solidFill>
                  <a:srgbClr val="6D6E71"/>
                </a:solidFill>
                <a:latin typeface="Arial"/>
                <a:cs typeface="Arial"/>
              </a:rPr>
              <a:t>as </a:t>
            </a:r>
            <a:r>
              <a:rPr lang="en-US" sz="1200" spc="-20" dirty="0">
                <a:solidFill>
                  <a:srgbClr val="6D6E71"/>
                </a:solidFill>
                <a:latin typeface="Arial"/>
                <a:cs typeface="Arial"/>
              </a:rPr>
              <a:t>promptly</a:t>
            </a:r>
            <a:r>
              <a:rPr lang="en-US" sz="1200" spc="-35" dirty="0">
                <a:solidFill>
                  <a:srgbClr val="6D6E71"/>
                </a:solidFill>
                <a:latin typeface="Arial"/>
                <a:cs typeface="Arial"/>
              </a:rPr>
              <a:t> </a:t>
            </a:r>
            <a:r>
              <a:rPr lang="en-US" sz="1200" spc="-55" dirty="0">
                <a:solidFill>
                  <a:srgbClr val="6D6E71"/>
                </a:solidFill>
                <a:latin typeface="Arial"/>
                <a:cs typeface="Arial"/>
              </a:rPr>
              <a:t>as</a:t>
            </a:r>
            <a:r>
              <a:rPr lang="en-US" sz="1200" spc="-30" dirty="0">
                <a:solidFill>
                  <a:srgbClr val="6D6E71"/>
                </a:solidFill>
                <a:latin typeface="Arial"/>
                <a:cs typeface="Arial"/>
              </a:rPr>
              <a:t> </a:t>
            </a:r>
            <a:r>
              <a:rPr lang="en-US" sz="1200" spc="-10" dirty="0">
                <a:solidFill>
                  <a:srgbClr val="6D6E71"/>
                </a:solidFill>
                <a:latin typeface="Arial"/>
                <a:cs typeface="Arial"/>
              </a:rPr>
              <a:t>possible.</a:t>
            </a:r>
            <a:endParaRPr lang="en-US" sz="1200" dirty="0">
              <a:latin typeface="Arial"/>
              <a:cs typeface="Arial"/>
            </a:endParaRPr>
          </a:p>
          <a:p>
            <a:pPr>
              <a:lnSpc>
                <a:spcPct val="100000"/>
              </a:lnSpc>
              <a:spcBef>
                <a:spcPts val="30"/>
              </a:spcBef>
            </a:pPr>
            <a:endParaRPr lang="en-US" sz="1600" dirty="0">
              <a:latin typeface="Arial"/>
              <a:cs typeface="Arial"/>
            </a:endParaRPr>
          </a:p>
          <a:p>
            <a:pPr marL="12700">
              <a:lnSpc>
                <a:spcPct val="100000"/>
              </a:lnSpc>
              <a:spcBef>
                <a:spcPts val="5"/>
              </a:spcBef>
            </a:pPr>
            <a:r>
              <a:rPr lang="en-US" sz="1600" b="1" spc="-10" dirty="0">
                <a:solidFill>
                  <a:srgbClr val="0076BD"/>
                </a:solidFill>
                <a:latin typeface="Arial"/>
                <a:cs typeface="Arial"/>
              </a:rPr>
              <a:t>Consistent</a:t>
            </a:r>
            <a:r>
              <a:rPr lang="en-US" sz="1600" b="1" spc="0" dirty="0">
                <a:solidFill>
                  <a:schemeClr val="tx1"/>
                </a:solidFill>
                <a:latin typeface="Arial"/>
                <a:cs typeface="Arial"/>
              </a:rPr>
              <a:t>: </a:t>
            </a:r>
            <a:r>
              <a:rPr lang="en-US" sz="1200" spc="-70" dirty="0">
                <a:solidFill>
                  <a:srgbClr val="6D6E71"/>
                </a:solidFill>
                <a:latin typeface="Arial"/>
                <a:cs typeface="Arial"/>
              </a:rPr>
              <a:t>We</a:t>
            </a:r>
            <a:r>
              <a:rPr lang="en-US" sz="1200" spc="-25" dirty="0">
                <a:solidFill>
                  <a:srgbClr val="6D6E71"/>
                </a:solidFill>
                <a:latin typeface="Arial"/>
                <a:cs typeface="Arial"/>
              </a:rPr>
              <a:t> jointly determine</a:t>
            </a:r>
            <a:r>
              <a:rPr lang="en-US" sz="1200" spc="-20" dirty="0">
                <a:solidFill>
                  <a:srgbClr val="6D6E71"/>
                </a:solidFill>
                <a:latin typeface="Arial"/>
                <a:cs typeface="Arial"/>
              </a:rPr>
              <a:t> </a:t>
            </a:r>
            <a:r>
              <a:rPr lang="en-US" sz="1200" spc="-25" dirty="0">
                <a:solidFill>
                  <a:srgbClr val="6D6E71"/>
                </a:solidFill>
                <a:latin typeface="Arial"/>
                <a:cs typeface="Arial"/>
              </a:rPr>
              <a:t>communication </a:t>
            </a:r>
            <a:r>
              <a:rPr lang="en-US" sz="1200" spc="-30" dirty="0">
                <a:solidFill>
                  <a:srgbClr val="6D6E71"/>
                </a:solidFill>
                <a:latin typeface="Arial"/>
                <a:cs typeface="Arial"/>
              </a:rPr>
              <a:t>preferences</a:t>
            </a:r>
            <a:r>
              <a:rPr lang="en-US" sz="1200" spc="-25" dirty="0">
                <a:solidFill>
                  <a:srgbClr val="6D6E71"/>
                </a:solidFill>
                <a:latin typeface="Arial"/>
                <a:cs typeface="Arial"/>
              </a:rPr>
              <a:t> </a:t>
            </a:r>
            <a:r>
              <a:rPr lang="en-US" sz="1200" spc="-30" dirty="0">
                <a:solidFill>
                  <a:srgbClr val="6D6E71"/>
                </a:solidFill>
                <a:latin typeface="Arial"/>
                <a:cs typeface="Arial"/>
              </a:rPr>
              <a:t>and</a:t>
            </a:r>
            <a:r>
              <a:rPr lang="en-US" sz="1200" spc="-20" dirty="0">
                <a:solidFill>
                  <a:srgbClr val="6D6E71"/>
                </a:solidFill>
                <a:latin typeface="Arial"/>
                <a:cs typeface="Arial"/>
              </a:rPr>
              <a:t> </a:t>
            </a:r>
            <a:r>
              <a:rPr lang="en-US" sz="1200" spc="-25" dirty="0">
                <a:solidFill>
                  <a:srgbClr val="6D6E71"/>
                </a:solidFill>
                <a:latin typeface="Arial"/>
                <a:cs typeface="Arial"/>
              </a:rPr>
              <a:t>frequency </a:t>
            </a:r>
            <a:r>
              <a:rPr lang="en-US" sz="1200" spc="-30" dirty="0">
                <a:solidFill>
                  <a:srgbClr val="6D6E71"/>
                </a:solidFill>
                <a:latin typeface="Arial"/>
                <a:cs typeface="Arial"/>
              </a:rPr>
              <a:t>and</a:t>
            </a:r>
            <a:r>
              <a:rPr lang="en-US" sz="1200" spc="-20" dirty="0">
                <a:solidFill>
                  <a:srgbClr val="6D6E71"/>
                </a:solidFill>
                <a:latin typeface="Arial"/>
                <a:cs typeface="Arial"/>
              </a:rPr>
              <a:t> </a:t>
            </a:r>
            <a:r>
              <a:rPr lang="en-US" sz="1200" spc="-25" dirty="0">
                <a:solidFill>
                  <a:srgbClr val="6D6E71"/>
                </a:solidFill>
                <a:latin typeface="Arial"/>
                <a:cs typeface="Arial"/>
              </a:rPr>
              <a:t>provide </a:t>
            </a:r>
            <a:r>
              <a:rPr lang="en-US" sz="1200" spc="-20" dirty="0">
                <a:solidFill>
                  <a:srgbClr val="6D6E71"/>
                </a:solidFill>
                <a:latin typeface="Arial"/>
                <a:cs typeface="Arial"/>
              </a:rPr>
              <a:t>critical</a:t>
            </a:r>
            <a:r>
              <a:rPr lang="en-US" sz="1200" spc="-25" dirty="0">
                <a:solidFill>
                  <a:srgbClr val="6D6E71"/>
                </a:solidFill>
                <a:latin typeface="Arial"/>
                <a:cs typeface="Arial"/>
              </a:rPr>
              <a:t> </a:t>
            </a:r>
            <a:r>
              <a:rPr lang="en-US" sz="1200" spc="-10" dirty="0">
                <a:solidFill>
                  <a:srgbClr val="6D6E71"/>
                </a:solidFill>
                <a:latin typeface="Arial"/>
                <a:cs typeface="Arial"/>
              </a:rPr>
              <a:t>market </a:t>
            </a:r>
            <a:r>
              <a:rPr lang="en-US" sz="1200" spc="-35" dirty="0">
                <a:solidFill>
                  <a:srgbClr val="6D6E71"/>
                </a:solidFill>
                <a:latin typeface="Arial"/>
                <a:cs typeface="Arial"/>
              </a:rPr>
              <a:t>updates</a:t>
            </a:r>
            <a:r>
              <a:rPr lang="en-US" sz="1200" spc="-30" dirty="0">
                <a:solidFill>
                  <a:srgbClr val="6D6E71"/>
                </a:solidFill>
                <a:latin typeface="Arial"/>
                <a:cs typeface="Arial"/>
              </a:rPr>
              <a:t> </a:t>
            </a:r>
            <a:r>
              <a:rPr lang="en-US" sz="1200" spc="-25" dirty="0">
                <a:solidFill>
                  <a:srgbClr val="6D6E71"/>
                </a:solidFill>
                <a:latin typeface="Arial"/>
                <a:cs typeface="Arial"/>
              </a:rPr>
              <a:t>throughout </a:t>
            </a:r>
            <a:r>
              <a:rPr lang="en-US" sz="1200" spc="-20" dirty="0">
                <a:solidFill>
                  <a:srgbClr val="6D6E71"/>
                </a:solidFill>
                <a:latin typeface="Arial"/>
                <a:cs typeface="Arial"/>
              </a:rPr>
              <a:t>the</a:t>
            </a:r>
            <a:r>
              <a:rPr lang="en-US" sz="1200" spc="-30" dirty="0">
                <a:solidFill>
                  <a:srgbClr val="6D6E71"/>
                </a:solidFill>
                <a:latin typeface="Arial"/>
                <a:cs typeface="Arial"/>
              </a:rPr>
              <a:t> </a:t>
            </a:r>
            <a:r>
              <a:rPr lang="en-US" sz="1200" spc="-20" dirty="0">
                <a:solidFill>
                  <a:srgbClr val="6D6E71"/>
                </a:solidFill>
                <a:latin typeface="Arial"/>
                <a:cs typeface="Arial"/>
              </a:rPr>
              <a:t>year.</a:t>
            </a:r>
            <a:endParaRPr lang="en-US" sz="1200" dirty="0">
              <a:latin typeface="Arial"/>
              <a:cs typeface="Arial"/>
            </a:endParaRPr>
          </a:p>
          <a:p>
            <a:pPr>
              <a:lnSpc>
                <a:spcPct val="100000"/>
              </a:lnSpc>
              <a:spcBef>
                <a:spcPts val="30"/>
              </a:spcBef>
            </a:pPr>
            <a:endParaRPr lang="en-US" sz="1600" dirty="0">
              <a:latin typeface="Arial"/>
              <a:cs typeface="Arial"/>
            </a:endParaRPr>
          </a:p>
          <a:p>
            <a:pPr marL="12700">
              <a:lnSpc>
                <a:spcPct val="100000"/>
              </a:lnSpc>
              <a:spcBef>
                <a:spcPts val="5"/>
              </a:spcBef>
            </a:pPr>
            <a:r>
              <a:rPr lang="en-US" sz="1600" b="1" spc="65" dirty="0">
                <a:solidFill>
                  <a:srgbClr val="0076BD"/>
                </a:solidFill>
                <a:latin typeface="Arial Narrow"/>
                <a:cs typeface="Arial Narrow"/>
              </a:rPr>
              <a:t>Transparent</a:t>
            </a:r>
            <a:r>
              <a:rPr lang="en-US" sz="1600" b="1" spc="0" dirty="0">
                <a:solidFill>
                  <a:schemeClr val="tx1"/>
                </a:solidFill>
                <a:latin typeface="Arial Narrow"/>
                <a:cs typeface="Arial Narrow"/>
              </a:rPr>
              <a:t>: </a:t>
            </a:r>
            <a:r>
              <a:rPr lang="en-US" sz="1200" spc="-10" dirty="0">
                <a:solidFill>
                  <a:srgbClr val="6D6E71"/>
                </a:solidFill>
                <a:latin typeface="Arial"/>
                <a:cs typeface="Arial"/>
              </a:rPr>
              <a:t>Our</a:t>
            </a:r>
            <a:r>
              <a:rPr lang="en-US" sz="1200" spc="-45" dirty="0">
                <a:solidFill>
                  <a:srgbClr val="6D6E71"/>
                </a:solidFill>
                <a:latin typeface="Arial"/>
                <a:cs typeface="Arial"/>
              </a:rPr>
              <a:t> </a:t>
            </a:r>
            <a:r>
              <a:rPr lang="en-US" sz="1200" spc="-25" dirty="0">
                <a:solidFill>
                  <a:srgbClr val="6D6E71"/>
                </a:solidFill>
                <a:latin typeface="Arial"/>
                <a:cs typeface="Arial"/>
              </a:rPr>
              <a:t>clients</a:t>
            </a:r>
            <a:r>
              <a:rPr lang="en-US" sz="1200" spc="-40" dirty="0">
                <a:solidFill>
                  <a:srgbClr val="6D6E71"/>
                </a:solidFill>
                <a:latin typeface="Arial"/>
                <a:cs typeface="Arial"/>
              </a:rPr>
              <a:t> </a:t>
            </a:r>
            <a:r>
              <a:rPr lang="en-US" sz="1200" spc="-45" dirty="0">
                <a:solidFill>
                  <a:srgbClr val="6D6E71"/>
                </a:solidFill>
                <a:latin typeface="Arial"/>
                <a:cs typeface="Arial"/>
              </a:rPr>
              <a:t>have </a:t>
            </a:r>
            <a:r>
              <a:rPr lang="en-US" sz="1200" spc="-35" dirty="0">
                <a:solidFill>
                  <a:srgbClr val="6D6E71"/>
                </a:solidFill>
                <a:latin typeface="Arial"/>
                <a:cs typeface="Arial"/>
              </a:rPr>
              <a:t>access</a:t>
            </a:r>
            <a:r>
              <a:rPr lang="en-US" sz="1200" spc="-40" dirty="0">
                <a:solidFill>
                  <a:srgbClr val="6D6E71"/>
                </a:solidFill>
                <a:latin typeface="Arial"/>
                <a:cs typeface="Arial"/>
              </a:rPr>
              <a:t> </a:t>
            </a:r>
            <a:r>
              <a:rPr lang="en-US" sz="1200" dirty="0">
                <a:solidFill>
                  <a:srgbClr val="6D6E71"/>
                </a:solidFill>
                <a:latin typeface="Arial"/>
                <a:cs typeface="Arial"/>
              </a:rPr>
              <a:t>to</a:t>
            </a:r>
            <a:r>
              <a:rPr lang="en-US" sz="1200" spc="-45" dirty="0">
                <a:solidFill>
                  <a:srgbClr val="6D6E71"/>
                </a:solidFill>
                <a:latin typeface="Arial"/>
                <a:cs typeface="Arial"/>
              </a:rPr>
              <a:t> </a:t>
            </a:r>
            <a:r>
              <a:rPr lang="en-US" sz="1200" spc="-40" dirty="0">
                <a:solidFill>
                  <a:srgbClr val="6D6E71"/>
                </a:solidFill>
                <a:latin typeface="Arial"/>
                <a:cs typeface="Arial"/>
              </a:rPr>
              <a:t>a </a:t>
            </a:r>
            <a:r>
              <a:rPr lang="en-US" sz="1200" spc="-25" dirty="0">
                <a:solidFill>
                  <a:srgbClr val="6D6E71"/>
                </a:solidFill>
                <a:latin typeface="Arial"/>
                <a:cs typeface="Arial"/>
              </a:rPr>
              <a:t>secured</a:t>
            </a:r>
            <a:r>
              <a:rPr lang="en-US" sz="1200" spc="-45" dirty="0">
                <a:solidFill>
                  <a:srgbClr val="6D6E71"/>
                </a:solidFill>
                <a:latin typeface="Arial"/>
                <a:cs typeface="Arial"/>
              </a:rPr>
              <a:t> </a:t>
            </a:r>
            <a:r>
              <a:rPr lang="en-US" sz="1200" spc="-30" dirty="0">
                <a:solidFill>
                  <a:srgbClr val="6D6E71"/>
                </a:solidFill>
                <a:latin typeface="Arial"/>
                <a:cs typeface="Arial"/>
              </a:rPr>
              <a:t>online</a:t>
            </a:r>
            <a:r>
              <a:rPr lang="en-US" sz="1200" spc="-40" dirty="0">
                <a:solidFill>
                  <a:srgbClr val="6D6E71"/>
                </a:solidFill>
                <a:latin typeface="Arial"/>
                <a:cs typeface="Arial"/>
              </a:rPr>
              <a:t> </a:t>
            </a:r>
            <a:r>
              <a:rPr lang="en-US" sz="1200" spc="-10" dirty="0">
                <a:solidFill>
                  <a:srgbClr val="6D6E71"/>
                </a:solidFill>
                <a:latin typeface="Arial"/>
                <a:cs typeface="Arial"/>
              </a:rPr>
              <a:t>portal</a:t>
            </a:r>
            <a:r>
              <a:rPr lang="en-US" sz="1200" spc="-45" dirty="0">
                <a:solidFill>
                  <a:srgbClr val="6D6E71"/>
                </a:solidFill>
                <a:latin typeface="Arial"/>
                <a:cs typeface="Arial"/>
              </a:rPr>
              <a:t> </a:t>
            </a:r>
            <a:r>
              <a:rPr lang="en-US" sz="1200" spc="-35" dirty="0">
                <a:solidFill>
                  <a:srgbClr val="6D6E71"/>
                </a:solidFill>
                <a:latin typeface="Arial"/>
                <a:cs typeface="Arial"/>
              </a:rPr>
              <a:t>that</a:t>
            </a:r>
            <a:r>
              <a:rPr lang="en-US" sz="1200" spc="-40" dirty="0">
                <a:solidFill>
                  <a:srgbClr val="6D6E71"/>
                </a:solidFill>
                <a:latin typeface="Arial"/>
                <a:cs typeface="Arial"/>
              </a:rPr>
              <a:t> </a:t>
            </a:r>
            <a:r>
              <a:rPr lang="en-US" sz="1200" spc="-20" dirty="0">
                <a:solidFill>
                  <a:srgbClr val="6D6E71"/>
                </a:solidFill>
                <a:latin typeface="Arial"/>
                <a:cs typeface="Arial"/>
              </a:rPr>
              <a:t>will</a:t>
            </a:r>
            <a:r>
              <a:rPr lang="en-US" sz="1200" spc="-45" dirty="0">
                <a:solidFill>
                  <a:srgbClr val="6D6E71"/>
                </a:solidFill>
                <a:latin typeface="Arial"/>
                <a:cs typeface="Arial"/>
              </a:rPr>
              <a:t> </a:t>
            </a:r>
            <a:r>
              <a:rPr lang="en-US" sz="1200" spc="-30" dirty="0">
                <a:solidFill>
                  <a:srgbClr val="6D6E71"/>
                </a:solidFill>
                <a:latin typeface="Arial"/>
                <a:cs typeface="Arial"/>
              </a:rPr>
              <a:t>allow</a:t>
            </a:r>
            <a:r>
              <a:rPr lang="en-US" sz="1200" spc="-40" dirty="0">
                <a:solidFill>
                  <a:srgbClr val="6D6E71"/>
                </a:solidFill>
                <a:latin typeface="Arial"/>
                <a:cs typeface="Arial"/>
              </a:rPr>
              <a:t> </a:t>
            </a:r>
            <a:r>
              <a:rPr lang="en-US" sz="1200" spc="-20" dirty="0">
                <a:solidFill>
                  <a:srgbClr val="6D6E71"/>
                </a:solidFill>
                <a:latin typeface="Arial"/>
                <a:cs typeface="Arial"/>
              </a:rPr>
              <a:t>them</a:t>
            </a:r>
            <a:r>
              <a:rPr lang="en-US" sz="1200" spc="-40" dirty="0">
                <a:solidFill>
                  <a:srgbClr val="6D6E71"/>
                </a:solidFill>
                <a:latin typeface="Arial"/>
                <a:cs typeface="Arial"/>
              </a:rPr>
              <a:t> </a:t>
            </a:r>
            <a:r>
              <a:rPr lang="en-US" sz="1200" dirty="0">
                <a:solidFill>
                  <a:srgbClr val="6D6E71"/>
                </a:solidFill>
                <a:latin typeface="Arial"/>
                <a:cs typeface="Arial"/>
              </a:rPr>
              <a:t>to</a:t>
            </a:r>
            <a:r>
              <a:rPr lang="en-US" sz="1200" spc="-45" dirty="0">
                <a:solidFill>
                  <a:srgbClr val="6D6E71"/>
                </a:solidFill>
                <a:latin typeface="Arial"/>
                <a:cs typeface="Arial"/>
              </a:rPr>
              <a:t> </a:t>
            </a:r>
            <a:r>
              <a:rPr lang="en-US" sz="1200" spc="-30" dirty="0">
                <a:solidFill>
                  <a:srgbClr val="6D6E71"/>
                </a:solidFill>
                <a:latin typeface="Arial"/>
                <a:cs typeface="Arial"/>
              </a:rPr>
              <a:t>view</a:t>
            </a:r>
            <a:r>
              <a:rPr lang="en-US" sz="1200" spc="-40" dirty="0">
                <a:solidFill>
                  <a:srgbClr val="6D6E71"/>
                </a:solidFill>
                <a:latin typeface="Arial"/>
                <a:cs typeface="Arial"/>
              </a:rPr>
              <a:t> </a:t>
            </a:r>
            <a:r>
              <a:rPr lang="en-US" sz="1200" spc="-20" dirty="0">
                <a:solidFill>
                  <a:srgbClr val="6D6E71"/>
                </a:solidFill>
                <a:latin typeface="Arial"/>
                <a:cs typeface="Arial"/>
              </a:rPr>
              <a:t>their</a:t>
            </a:r>
            <a:r>
              <a:rPr lang="en-US" sz="1200" spc="-45" dirty="0">
                <a:solidFill>
                  <a:srgbClr val="6D6E71"/>
                </a:solidFill>
                <a:latin typeface="Arial"/>
                <a:cs typeface="Arial"/>
              </a:rPr>
              <a:t> </a:t>
            </a:r>
            <a:r>
              <a:rPr lang="en-US" sz="1200" spc="-10" dirty="0">
                <a:solidFill>
                  <a:srgbClr val="6D6E71"/>
                </a:solidFill>
                <a:latin typeface="Arial"/>
                <a:cs typeface="Arial"/>
              </a:rPr>
              <a:t>current </a:t>
            </a:r>
            <a:r>
              <a:rPr lang="en-US" sz="1200" spc="50" dirty="0">
                <a:solidFill>
                  <a:srgbClr val="6D6E71"/>
                </a:solidFill>
                <a:latin typeface="Arial Narrow"/>
                <a:cs typeface="Arial Narrow"/>
              </a:rPr>
              <a:t>financial</a:t>
            </a:r>
            <a:r>
              <a:rPr lang="en-US" sz="1200" spc="20" dirty="0">
                <a:solidFill>
                  <a:srgbClr val="6D6E71"/>
                </a:solidFill>
                <a:latin typeface="Arial Narrow"/>
                <a:cs typeface="Arial Narrow"/>
              </a:rPr>
              <a:t> </a:t>
            </a:r>
            <a:r>
              <a:rPr lang="en-US" sz="1200" spc="70" dirty="0">
                <a:solidFill>
                  <a:srgbClr val="6D6E71"/>
                </a:solidFill>
                <a:latin typeface="Arial Narrow"/>
                <a:cs typeface="Arial Narrow"/>
              </a:rPr>
              <a:t>landscape</a:t>
            </a:r>
            <a:r>
              <a:rPr lang="en-US" sz="1200" spc="20" dirty="0">
                <a:solidFill>
                  <a:srgbClr val="6D6E71"/>
                </a:solidFill>
                <a:latin typeface="Arial Narrow"/>
                <a:cs typeface="Arial Narrow"/>
              </a:rPr>
              <a:t> </a:t>
            </a:r>
            <a:r>
              <a:rPr lang="en-US" sz="1200" spc="60" dirty="0">
                <a:solidFill>
                  <a:srgbClr val="6D6E71"/>
                </a:solidFill>
                <a:latin typeface="Arial Narrow"/>
                <a:cs typeface="Arial Narrow"/>
              </a:rPr>
              <a:t>in</a:t>
            </a:r>
            <a:r>
              <a:rPr lang="en-US" sz="1200" spc="25" dirty="0">
                <a:solidFill>
                  <a:srgbClr val="6D6E71"/>
                </a:solidFill>
                <a:latin typeface="Arial Narrow"/>
                <a:cs typeface="Arial Narrow"/>
              </a:rPr>
              <a:t> </a:t>
            </a:r>
            <a:r>
              <a:rPr lang="en-US" sz="1200" spc="85" dirty="0">
                <a:solidFill>
                  <a:srgbClr val="6D6E71"/>
                </a:solidFill>
                <a:latin typeface="Arial Narrow"/>
                <a:cs typeface="Arial Narrow"/>
              </a:rPr>
              <a:t>one</a:t>
            </a:r>
            <a:r>
              <a:rPr lang="en-US" sz="1200" spc="20" dirty="0">
                <a:solidFill>
                  <a:srgbClr val="6D6E71"/>
                </a:solidFill>
                <a:latin typeface="Arial Narrow"/>
                <a:cs typeface="Arial Narrow"/>
              </a:rPr>
              <a:t> </a:t>
            </a:r>
            <a:r>
              <a:rPr lang="en-US" sz="1200" spc="60" dirty="0">
                <a:solidFill>
                  <a:srgbClr val="6D6E71"/>
                </a:solidFill>
                <a:latin typeface="Arial Narrow"/>
                <a:cs typeface="Arial Narrow"/>
              </a:rPr>
              <a:t>location</a:t>
            </a:r>
            <a:r>
              <a:rPr lang="en-US" sz="1200" spc="25" dirty="0">
                <a:solidFill>
                  <a:srgbClr val="6D6E71"/>
                </a:solidFill>
                <a:latin typeface="Arial Narrow"/>
                <a:cs typeface="Arial Narrow"/>
              </a:rPr>
              <a:t> </a:t>
            </a:r>
            <a:r>
              <a:rPr lang="en-US" sz="1200" spc="90" dirty="0">
                <a:solidFill>
                  <a:srgbClr val="6D6E71"/>
                </a:solidFill>
                <a:latin typeface="Arial Narrow"/>
                <a:cs typeface="Arial Narrow"/>
              </a:rPr>
              <a:t>on</a:t>
            </a:r>
            <a:r>
              <a:rPr lang="en-US" sz="1200" spc="20" dirty="0">
                <a:solidFill>
                  <a:srgbClr val="6D6E71"/>
                </a:solidFill>
                <a:latin typeface="Arial Narrow"/>
                <a:cs typeface="Arial Narrow"/>
              </a:rPr>
              <a:t> </a:t>
            </a:r>
            <a:r>
              <a:rPr lang="en-US" sz="1200" spc="75" dirty="0">
                <a:solidFill>
                  <a:srgbClr val="6D6E71"/>
                </a:solidFill>
                <a:latin typeface="Arial Narrow"/>
                <a:cs typeface="Arial Narrow"/>
              </a:rPr>
              <a:t>any</a:t>
            </a:r>
            <a:r>
              <a:rPr lang="en-US" sz="1200" spc="25" dirty="0">
                <a:solidFill>
                  <a:srgbClr val="6D6E71"/>
                </a:solidFill>
                <a:latin typeface="Arial Narrow"/>
                <a:cs typeface="Arial Narrow"/>
              </a:rPr>
              <a:t> </a:t>
            </a:r>
            <a:r>
              <a:rPr lang="en-US" sz="1200" spc="60" dirty="0">
                <a:solidFill>
                  <a:srgbClr val="6D6E71"/>
                </a:solidFill>
                <a:latin typeface="Arial Narrow"/>
                <a:cs typeface="Arial Narrow"/>
              </a:rPr>
              <a:t>online</a:t>
            </a:r>
            <a:r>
              <a:rPr lang="en-US" sz="1200" spc="20" dirty="0">
                <a:solidFill>
                  <a:srgbClr val="6D6E71"/>
                </a:solidFill>
                <a:latin typeface="Arial Narrow"/>
                <a:cs typeface="Arial Narrow"/>
              </a:rPr>
              <a:t> </a:t>
            </a:r>
            <a:r>
              <a:rPr lang="en-US" sz="1200" spc="45" dirty="0">
                <a:solidFill>
                  <a:srgbClr val="6D6E71"/>
                </a:solidFill>
                <a:latin typeface="Arial Narrow"/>
                <a:cs typeface="Arial Narrow"/>
              </a:rPr>
              <a:t>device.</a:t>
            </a:r>
            <a:endParaRPr lang="en-US" sz="1200" dirty="0">
              <a:latin typeface="Arial Narrow"/>
              <a:cs typeface="Arial Narrow"/>
            </a:endParaRPr>
          </a:p>
          <a:p>
            <a:pPr marL="12700">
              <a:lnSpc>
                <a:spcPct val="100000"/>
              </a:lnSpc>
              <a:spcBef>
                <a:spcPts val="630"/>
              </a:spcBef>
            </a:pPr>
            <a:endParaRPr lang="en-US" dirty="0"/>
          </a:p>
        </p:txBody>
      </p:sp>
      <p:sp>
        <p:nvSpPr>
          <p:cNvPr id="4" name="Slide Number Placeholder 3"/>
          <p:cNvSpPr>
            <a:spLocks noGrp="1"/>
          </p:cNvSpPr>
          <p:nvPr>
            <p:ph type="sldNum" sz="quarter" idx="5"/>
          </p:nvPr>
        </p:nvSpPr>
        <p:spPr/>
        <p:txBody>
          <a:bodyPr/>
          <a:lstStyle/>
          <a:p>
            <a:fld id="{7DB5D22D-36FE-4BE3-A701-57EBF6FF10C4}" type="slidenum">
              <a:rPr lang="en-US" smtClean="0"/>
              <a:t>21</a:t>
            </a:fld>
            <a:endParaRPr lang="en-US"/>
          </a:p>
        </p:txBody>
      </p:sp>
    </p:spTree>
    <p:extLst>
      <p:ext uri="{BB962C8B-B14F-4D97-AF65-F5344CB8AC3E}">
        <p14:creationId xmlns:p14="http://schemas.microsoft.com/office/powerpoint/2010/main" val="10831301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deliver…</a:t>
            </a:r>
          </a:p>
          <a:p>
            <a:r>
              <a:rPr lang="en-US" dirty="0"/>
              <a:t> </a:t>
            </a:r>
          </a:p>
          <a:p>
            <a:pPr marL="171450" indent="-171450">
              <a:lnSpc>
                <a:spcPct val="150000"/>
              </a:lnSpc>
              <a:buClrTx/>
              <a:buFont typeface="Arial" panose="020B0604020202020204" pitchFamily="34" charset="0"/>
              <a:buChar char="•"/>
              <a:defRPr/>
            </a:pPr>
            <a:r>
              <a:rPr kumimoji="0" lang="en-US" sz="1200" b="0" i="0" u="none" strike="noStrike" kern="0" cap="none" spc="0" normalizeH="0" baseline="0" noProof="0" dirty="0">
                <a:ln>
                  <a:noFill/>
                </a:ln>
                <a:solidFill>
                  <a:srgbClr val="000000"/>
                </a:solidFill>
                <a:effectLst/>
                <a:uLnTx/>
                <a:uFillTx/>
                <a:sym typeface="Arial"/>
              </a:rPr>
              <a:t>Quarterly client account reports</a:t>
            </a:r>
          </a:p>
          <a:p>
            <a:pPr marL="171450" indent="-171450">
              <a:lnSpc>
                <a:spcPct val="150000"/>
              </a:lnSpc>
              <a:buClrTx/>
              <a:buFont typeface="Arial" panose="020B0604020202020204" pitchFamily="34" charset="0"/>
              <a:buChar char="•"/>
              <a:defRPr/>
            </a:pPr>
            <a:r>
              <a:rPr kumimoji="0" lang="en-US" sz="1200" b="0" i="0" u="none" strike="noStrike" kern="0" cap="none" spc="0" normalizeH="0" dirty="0">
                <a:ln>
                  <a:noFill/>
                </a:ln>
                <a:solidFill>
                  <a:srgbClr val="000000"/>
                </a:solidFill>
                <a:effectLst/>
                <a:uLnTx/>
                <a:uFillTx/>
                <a:sym typeface="Arial"/>
              </a:rPr>
              <a:t>Timely updates, as needed</a:t>
            </a:r>
          </a:p>
          <a:p>
            <a:pPr marL="171450" indent="-171450">
              <a:lnSpc>
                <a:spcPct val="150000"/>
              </a:lnSpc>
              <a:buClrTx/>
              <a:buFont typeface="Arial" panose="020B0604020202020204" pitchFamily="34" charset="0"/>
              <a:buChar char="•"/>
              <a:defRPr/>
            </a:pPr>
            <a:r>
              <a:rPr lang="en-US" sz="1200" kern="0" dirty="0">
                <a:solidFill>
                  <a:srgbClr val="000000"/>
                </a:solidFill>
              </a:rPr>
              <a:t>24/7 accessible online client portal</a:t>
            </a:r>
          </a:p>
          <a:p>
            <a:pPr marL="171450" indent="-171450">
              <a:lnSpc>
                <a:spcPct val="150000"/>
              </a:lnSpc>
              <a:buClrTx/>
              <a:buFont typeface="Arial" panose="020B0604020202020204" pitchFamily="34" charset="0"/>
              <a:buChar char="•"/>
              <a:defRPr/>
            </a:pPr>
            <a:r>
              <a:rPr lang="en-US" sz="1200" kern="0" dirty="0">
                <a:solidFill>
                  <a:srgbClr val="000000"/>
                </a:solidFill>
              </a:rPr>
              <a:t>Automated account communications through AssetLock</a:t>
            </a:r>
            <a:endParaRPr lang="en-US" sz="1200" kern="0" baseline="30000" dirty="0">
              <a:solidFill>
                <a:srgbClr val="000000"/>
              </a:solidFill>
            </a:endParaRPr>
          </a:p>
          <a:p>
            <a:endParaRPr lang="en-US" dirty="0"/>
          </a:p>
        </p:txBody>
      </p:sp>
      <p:sp>
        <p:nvSpPr>
          <p:cNvPr id="4" name="Slide Number Placeholder 3"/>
          <p:cNvSpPr>
            <a:spLocks noGrp="1"/>
          </p:cNvSpPr>
          <p:nvPr>
            <p:ph type="sldNum" sz="quarter" idx="5"/>
          </p:nvPr>
        </p:nvSpPr>
        <p:spPr/>
        <p:txBody>
          <a:bodyPr/>
          <a:lstStyle/>
          <a:p>
            <a:fld id="{7DB5D22D-36FE-4BE3-A701-57EBF6FF10C4}" type="slidenum">
              <a:rPr lang="en-US" smtClean="0"/>
              <a:t>22</a:t>
            </a:fld>
            <a:endParaRPr lang="en-US"/>
          </a:p>
        </p:txBody>
      </p:sp>
    </p:spTree>
    <p:extLst>
      <p:ext uri="{BB962C8B-B14F-4D97-AF65-F5344CB8AC3E}">
        <p14:creationId xmlns:p14="http://schemas.microsoft.com/office/powerpoint/2010/main" val="25007492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dive a little deeper into AssetLock.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AssetLock is </a:t>
            </a:r>
            <a:r>
              <a:rPr lang="en-US" sz="1200" b="1" dirty="0">
                <a:solidFill>
                  <a:srgbClr val="0276BD"/>
                </a:solidFill>
                <a:latin typeface="Arial Nova" panose="020B0504020202020204" pitchFamily="34" charset="0"/>
              </a:rPr>
              <a:t>a</a:t>
            </a:r>
            <a:r>
              <a:rPr kumimoji="0" lang="en-US" sz="1200" b="1" i="0" u="none" strike="noStrike" kern="1200" cap="none" spc="0" normalizeH="0" baseline="0" noProof="0" dirty="0">
                <a:ln>
                  <a:noFill/>
                </a:ln>
                <a:solidFill>
                  <a:srgbClr val="0276BD"/>
                </a:solidFill>
                <a:effectLst/>
                <a:uLnTx/>
                <a:uFillTx/>
                <a:latin typeface="Arial Nova" panose="020B0504020202020204" pitchFamily="34" charset="0"/>
                <a:ea typeface="+mn-ea"/>
                <a:cs typeface="+mn-cs"/>
              </a:rPr>
              <a:t> proprietary, investment portfolio monitoring service </a:t>
            </a:r>
            <a:r>
              <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that delivers personalized email and text communications to investors in a secure environment.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This technology keeps investors informed about the </a:t>
            </a:r>
            <a:r>
              <a:rPr kumimoji="0" lang="en-US" sz="1200" b="1" i="0" u="none" strike="noStrike" kern="1200" cap="none" spc="0" normalizeH="0" baseline="0" noProof="0" dirty="0">
                <a:ln>
                  <a:noFill/>
                </a:ln>
                <a:solidFill>
                  <a:srgbClr val="0276BD"/>
                </a:solidFill>
                <a:effectLst/>
                <a:uLnTx/>
                <a:uFillTx/>
                <a:latin typeface="Arial Nova" panose="020B0504020202020204" pitchFamily="34" charset="0"/>
                <a:ea typeface="+mn-ea"/>
                <a:cs typeface="+mn-cs"/>
              </a:rPr>
              <a:t>progression of their portfolio in accordance with their risk tolerance.</a:t>
            </a:r>
          </a:p>
          <a:p>
            <a:endParaRPr lang="en-US" dirty="0"/>
          </a:p>
          <a:p>
            <a:endParaRPr lang="en-US" dirty="0"/>
          </a:p>
        </p:txBody>
      </p:sp>
      <p:sp>
        <p:nvSpPr>
          <p:cNvPr id="4" name="Slide Number Placeholder 3"/>
          <p:cNvSpPr>
            <a:spLocks noGrp="1"/>
          </p:cNvSpPr>
          <p:nvPr>
            <p:ph type="sldNum" sz="quarter" idx="5"/>
          </p:nvPr>
        </p:nvSpPr>
        <p:spPr/>
        <p:txBody>
          <a:bodyPr/>
          <a:lstStyle/>
          <a:p>
            <a:fld id="{7DB5D22D-36FE-4BE3-A701-57EBF6FF10C4}" type="slidenum">
              <a:rPr lang="en-US" smtClean="0"/>
              <a:t>23</a:t>
            </a:fld>
            <a:endParaRPr lang="en-US"/>
          </a:p>
        </p:txBody>
      </p:sp>
    </p:spTree>
    <p:extLst>
      <p:ext uri="{BB962C8B-B14F-4D97-AF65-F5344CB8AC3E}">
        <p14:creationId xmlns:p14="http://schemas.microsoft.com/office/powerpoint/2010/main" val="13720831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Nova" panose="020B0504020202020204" pitchFamily="34" charset="0"/>
              </a:rPr>
              <a:t>Portfolio Value: </a:t>
            </a:r>
            <a:r>
              <a:rPr lang="en-US" b="0" i="0" u="none" strike="noStrike" baseline="0" dirty="0">
                <a:latin typeface="Arial Nova" panose="020B0504020202020204" pitchFamily="34" charset="0"/>
              </a:rPr>
              <a:t>Daily portfolio value based on data at the close of the Stock Market the previous business day. </a:t>
            </a:r>
            <a:endParaRPr lang="en-US" dirty="0">
              <a:latin typeface="Arial Nova" panose="020B05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solidFill>
                <a:srgbClr val="7EB8DC"/>
              </a:solidFill>
              <a:latin typeface="Arial Nova" panose="020B05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7EB8DC"/>
                </a:solidFill>
                <a:latin typeface="Arial Nova" panose="020B0504020202020204" pitchFamily="34" charset="0"/>
              </a:rPr>
              <a:t>High-Water Value: </a:t>
            </a:r>
            <a:r>
              <a:rPr lang="en-US" dirty="0">
                <a:latin typeface="Arial Nova" panose="020B0504020202020204" pitchFamily="34" charset="0"/>
              </a:rPr>
              <a:t>Highest value the account has reached. This value increases as an account grows and will not decrease with market loss.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solidFill>
                <a:schemeClr val="bg1">
                  <a:lumMod val="65000"/>
                </a:schemeClr>
              </a:solidFill>
              <a:latin typeface="Arial Nova" panose="020B0504020202020204" pitchFamily="34" charset="0"/>
            </a:endParaRPr>
          </a:p>
          <a:p>
            <a:pPr algn="l"/>
            <a:r>
              <a:rPr lang="en-US" b="1" dirty="0">
                <a:solidFill>
                  <a:schemeClr val="bg1">
                    <a:lumMod val="65000"/>
                  </a:schemeClr>
                </a:solidFill>
                <a:latin typeface="Arial Nova" panose="020B0504020202020204" pitchFamily="34" charset="0"/>
              </a:rPr>
              <a:t>AssetLock Threshold: </a:t>
            </a:r>
            <a:r>
              <a:rPr lang="en-US" b="0" i="0" u="none" strike="noStrike" baseline="0" dirty="0">
                <a:latin typeface="Arial Nova" panose="020B0504020202020204" pitchFamily="34" charset="0"/>
              </a:rPr>
              <a:t>The maximum percentage of downside the investor is willing to accept inside the portfolio as determined </a:t>
            </a:r>
            <a:r>
              <a:rPr lang="en-US" sz="1200" b="0" i="0" u="none" strike="noStrike" baseline="0" dirty="0">
                <a:latin typeface="Arial Nova" panose="020B0504020202020204" pitchFamily="34" charset="0"/>
              </a:rPr>
              <a:t>by the </a:t>
            </a:r>
            <a:r>
              <a:rPr lang="en-US" sz="1200" b="0" i="0" u="none" strike="noStrike" baseline="0" dirty="0">
                <a:solidFill>
                  <a:srgbClr val="0076BC"/>
                </a:solidFill>
                <a:latin typeface="Arial Nova" panose="020B0504020202020204" pitchFamily="34" charset="0"/>
              </a:rPr>
              <a:t>household</a:t>
            </a:r>
            <a:r>
              <a:rPr lang="en-US" sz="1200" b="0" i="0" u="none" strike="noStrike" baseline="0" dirty="0">
                <a:latin typeface="Arial Nova" panose="020B0504020202020204" pitchFamily="34" charset="0"/>
              </a:rPr>
              <a:t> and </a:t>
            </a:r>
            <a:r>
              <a:rPr lang="en-US" sz="1200" b="0" i="0" u="none" strike="noStrike" baseline="0" dirty="0">
                <a:solidFill>
                  <a:srgbClr val="0076BC"/>
                </a:solidFill>
                <a:latin typeface="Arial Nova" panose="020B0504020202020204" pitchFamily="34" charset="0"/>
              </a:rPr>
              <a:t>portfolio Value at Risk Scores.</a:t>
            </a:r>
            <a:endParaRPr lang="en-US" sz="1200" b="0" dirty="0">
              <a:solidFill>
                <a:srgbClr val="0076BC"/>
              </a:solidFill>
              <a:latin typeface="Arial Nova" panose="020B05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solidFill>
                <a:srgbClr val="0276BD"/>
              </a:solidFill>
              <a:latin typeface="Arial Nova" panose="020B05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276BD"/>
                </a:solidFill>
                <a:latin typeface="Arial Nova" panose="020B0504020202020204" pitchFamily="34" charset="0"/>
              </a:rPr>
              <a:t>AssetLock Value: </a:t>
            </a:r>
            <a:r>
              <a:rPr lang="en-US" b="0" i="0" u="none" strike="noStrike" baseline="0" dirty="0">
                <a:latin typeface="Arial Nova" panose="020B0504020202020204" pitchFamily="34" charset="0"/>
              </a:rPr>
              <a:t>Portfolio value at which AssetLock will alert the investor and advisor. This value is based off the High-Water Value less the AssetLock Percentage.</a:t>
            </a:r>
          </a:p>
          <a:p>
            <a:endParaRPr lang="en-US" dirty="0"/>
          </a:p>
        </p:txBody>
      </p:sp>
      <p:sp>
        <p:nvSpPr>
          <p:cNvPr id="4" name="Slide Number Placeholder 3"/>
          <p:cNvSpPr>
            <a:spLocks noGrp="1"/>
          </p:cNvSpPr>
          <p:nvPr>
            <p:ph type="sldNum" sz="quarter" idx="5"/>
          </p:nvPr>
        </p:nvSpPr>
        <p:spPr/>
        <p:txBody>
          <a:bodyPr/>
          <a:lstStyle/>
          <a:p>
            <a:fld id="{7DB5D22D-36FE-4BE3-A701-57EBF6FF10C4}" type="slidenum">
              <a:rPr lang="en-US" smtClean="0"/>
              <a:t>24</a:t>
            </a:fld>
            <a:endParaRPr lang="en-US"/>
          </a:p>
        </p:txBody>
      </p:sp>
    </p:spTree>
    <p:extLst>
      <p:ext uri="{BB962C8B-B14F-4D97-AF65-F5344CB8AC3E}">
        <p14:creationId xmlns:p14="http://schemas.microsoft.com/office/powerpoint/2010/main" val="35250827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AssetLock is provided to you free of charge. </a:t>
            </a:r>
          </a:p>
          <a:p>
            <a:endParaRPr lang="en-US" dirty="0"/>
          </a:p>
          <a:p>
            <a:r>
              <a:rPr lang="en-US" b="0" i="0" dirty="0">
                <a:solidFill>
                  <a:srgbClr val="4B4B4B"/>
                </a:solidFill>
                <a:effectLst/>
                <a:highlight>
                  <a:srgbClr val="FFFFFF"/>
                </a:highlight>
                <a:latin typeface="adobe-clean"/>
              </a:rPr>
              <a:t>AssetLock helps you monitor your investment accounts and keeps you informed when important account benchmarks have been met. This can include account highs or dividend deposits. In the event your account value dips near your AssetLock Value.</a:t>
            </a:r>
          </a:p>
          <a:p>
            <a:endParaRPr lang="en-US" b="0" i="0" dirty="0">
              <a:solidFill>
                <a:srgbClr val="4B4B4B"/>
              </a:solidFill>
              <a:effectLst/>
              <a:highlight>
                <a:srgbClr val="FFFFFF"/>
              </a:highlight>
              <a:latin typeface="adobe-clean"/>
            </a:endParaRPr>
          </a:p>
          <a:p>
            <a:r>
              <a:rPr lang="en-US" b="0" i="0" dirty="0">
                <a:solidFill>
                  <a:srgbClr val="4B4B4B"/>
                </a:solidFill>
                <a:effectLst/>
                <a:highlight>
                  <a:srgbClr val="FFFFFF"/>
                </a:highlight>
                <a:latin typeface="adobe-clean"/>
              </a:rPr>
              <a:t>The chart above demonstrates a portfolio with a 10% AssetLock Value. Assuming an initial deposit of $100,000 and eventual growth to $146,793, the resulting AssetLock Value is $132,114 and may elect to discuss possible changes to your investment strategy.</a:t>
            </a:r>
          </a:p>
        </p:txBody>
      </p:sp>
      <p:sp>
        <p:nvSpPr>
          <p:cNvPr id="4" name="Slide Number Placeholder 3"/>
          <p:cNvSpPr>
            <a:spLocks noGrp="1"/>
          </p:cNvSpPr>
          <p:nvPr>
            <p:ph type="sldNum" sz="quarter" idx="5"/>
          </p:nvPr>
        </p:nvSpPr>
        <p:spPr/>
        <p:txBody>
          <a:bodyPr/>
          <a:lstStyle/>
          <a:p>
            <a:fld id="{7DB5D22D-36FE-4BE3-A701-57EBF6FF10C4}" type="slidenum">
              <a:rPr lang="en-US" smtClean="0"/>
              <a:t>25</a:t>
            </a:fld>
            <a:endParaRPr lang="en-US"/>
          </a:p>
        </p:txBody>
      </p:sp>
    </p:spTree>
    <p:extLst>
      <p:ext uri="{BB962C8B-B14F-4D97-AF65-F5344CB8AC3E}">
        <p14:creationId xmlns:p14="http://schemas.microsoft.com/office/powerpoint/2010/main" val="31473067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a closer look to what happens when the portfolios are moving closer to their AssetLock Value.</a:t>
            </a:r>
          </a:p>
          <a:p>
            <a:endParaRPr lang="en-US" dirty="0"/>
          </a:p>
          <a:p>
            <a:r>
              <a:rPr lang="en-US" dirty="0"/>
              <a:t>From 0% -</a:t>
            </a:r>
            <a:r>
              <a:rPr lang="en-US" dirty="0">
                <a:sym typeface="Wingdings" pitchFamily="2" charset="2"/>
              </a:rPr>
              <a:t> -7.5% the account is in the GREEN. This means that is normal market movement.</a:t>
            </a:r>
          </a:p>
          <a:p>
            <a:endParaRPr lang="en-US" dirty="0">
              <a:sym typeface="Wingdings" pitchFamily="2" charset="2"/>
            </a:endParaRPr>
          </a:p>
          <a:p>
            <a:r>
              <a:rPr lang="en-US" dirty="0">
                <a:sym typeface="Wingdings" pitchFamily="2" charset="2"/>
              </a:rPr>
              <a:t>-10% AssetLock Value: This is where myself (the advisor) and you the investor are having a conversation about what is happening that has caused this to take place and if changes are needed.</a:t>
            </a:r>
            <a:endParaRPr lang="en-US" dirty="0"/>
          </a:p>
        </p:txBody>
      </p:sp>
      <p:sp>
        <p:nvSpPr>
          <p:cNvPr id="4" name="Slide Number Placeholder 3"/>
          <p:cNvSpPr>
            <a:spLocks noGrp="1"/>
          </p:cNvSpPr>
          <p:nvPr>
            <p:ph type="sldNum" sz="quarter" idx="5"/>
          </p:nvPr>
        </p:nvSpPr>
        <p:spPr/>
        <p:txBody>
          <a:bodyPr/>
          <a:lstStyle/>
          <a:p>
            <a:fld id="{7DB5D22D-36FE-4BE3-A701-57EBF6FF10C4}" type="slidenum">
              <a:rPr lang="en-US" smtClean="0"/>
              <a:t>26</a:t>
            </a:fld>
            <a:endParaRPr lang="en-US"/>
          </a:p>
        </p:txBody>
      </p:sp>
    </p:spTree>
    <p:extLst>
      <p:ext uri="{BB962C8B-B14F-4D97-AF65-F5344CB8AC3E}">
        <p14:creationId xmlns:p14="http://schemas.microsoft.com/office/powerpoint/2010/main" val="37799055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b="1" dirty="0">
                <a:solidFill>
                  <a:srgbClr val="14407F"/>
                </a:solidFill>
                <a:latin typeface="Arial Nova" panose="020B0504020202020204" pitchFamily="34" charset="0"/>
              </a:rPr>
              <a:t>AssetLock delivers email and text notifications. You may </a:t>
            </a:r>
            <a:r>
              <a:rPr lang="en-US" sz="1200" dirty="0">
                <a:latin typeface="Arial Nova" panose="020B0504020202020204" pitchFamily="34" charset="0"/>
              </a:rPr>
              <a:t>opt out or update your communication preferences at any time.</a:t>
            </a:r>
          </a:p>
          <a:p>
            <a:endParaRPr lang="en-US" sz="800" dirty="0">
              <a:latin typeface="Arial Nova" panose="020B0504020202020204" pitchFamily="34" charset="0"/>
            </a:endParaRPr>
          </a:p>
          <a:p>
            <a:pPr>
              <a:lnSpc>
                <a:spcPct val="150000"/>
              </a:lnSpc>
            </a:pPr>
            <a:r>
              <a:rPr lang="en-US" sz="1800" b="1" dirty="0">
                <a:solidFill>
                  <a:srgbClr val="0076BD"/>
                </a:solidFill>
                <a:latin typeface="Arial Nova" panose="020B0504020202020204" pitchFamily="34" charset="0"/>
              </a:rPr>
              <a:t>Weekly Portfolio Summary</a:t>
            </a:r>
          </a:p>
          <a:p>
            <a:pPr marL="342900" indent="-342900">
              <a:buFont typeface="Arial" panose="020B0604020202020204" pitchFamily="34" charset="0"/>
              <a:buChar char="•"/>
            </a:pPr>
            <a:r>
              <a:rPr lang="en-US" sz="1200" dirty="0">
                <a:latin typeface="Arial Nova" panose="020B0504020202020204" pitchFamily="34" charset="0"/>
              </a:rPr>
              <a:t>Household Portfolio Value, AssetLock Status, AssetLock Value, AssetLock Threshold, High-Water Value, Active Accounts, Account Value and New Dividends</a:t>
            </a:r>
          </a:p>
          <a:p>
            <a:endParaRPr lang="en-US" sz="800" dirty="0">
              <a:latin typeface="Arial Nova" panose="020B0504020202020204" pitchFamily="34" charset="0"/>
            </a:endParaRPr>
          </a:p>
          <a:p>
            <a:pPr>
              <a:lnSpc>
                <a:spcPct val="150000"/>
              </a:lnSpc>
            </a:pPr>
            <a:r>
              <a:rPr lang="en-US" sz="1800" b="1" dirty="0">
                <a:solidFill>
                  <a:srgbClr val="0076BD"/>
                </a:solidFill>
                <a:latin typeface="Arial Nova" panose="020B0504020202020204" pitchFamily="34" charset="0"/>
              </a:rPr>
              <a:t>Triggered Notifications</a:t>
            </a:r>
          </a:p>
          <a:p>
            <a:pPr marL="342900" indent="-342900">
              <a:lnSpc>
                <a:spcPct val="150000"/>
              </a:lnSpc>
              <a:buFont typeface="Arial" panose="020B0604020202020204" pitchFamily="34" charset="0"/>
              <a:buChar char="•"/>
            </a:pPr>
            <a:r>
              <a:rPr lang="en-US" sz="1200" dirty="0">
                <a:latin typeface="Arial Nova" panose="020B0504020202020204" pitchFamily="34" charset="0"/>
              </a:rPr>
              <a:t>Welcome (Email Only)</a:t>
            </a:r>
          </a:p>
          <a:p>
            <a:pPr marL="342900" indent="-342900">
              <a:lnSpc>
                <a:spcPct val="150000"/>
              </a:lnSpc>
              <a:buFont typeface="Arial" panose="020B0604020202020204" pitchFamily="34" charset="0"/>
              <a:buChar char="•"/>
            </a:pPr>
            <a:r>
              <a:rPr lang="en-US" sz="1200" dirty="0">
                <a:latin typeface="Arial Nova" panose="020B0504020202020204" pitchFamily="34" charset="0"/>
              </a:rPr>
              <a:t>New High-Water Value Reached</a:t>
            </a:r>
          </a:p>
          <a:p>
            <a:pPr marL="342900" indent="-342900">
              <a:lnSpc>
                <a:spcPct val="150000"/>
              </a:lnSpc>
              <a:buFont typeface="Arial" panose="020B0604020202020204" pitchFamily="34" charset="0"/>
              <a:buChar char="•"/>
            </a:pPr>
            <a:r>
              <a:rPr lang="en-US" sz="1200" dirty="0">
                <a:latin typeface="Arial Nova" panose="020B0504020202020204" pitchFamily="34" charset="0"/>
              </a:rPr>
              <a:t>AssetLock Value Reached (Red Status)</a:t>
            </a:r>
          </a:p>
          <a:p>
            <a:pPr marL="342900" indent="-342900">
              <a:lnSpc>
                <a:spcPct val="150000"/>
              </a:lnSpc>
              <a:buFont typeface="Arial" panose="020B0604020202020204" pitchFamily="34" charset="0"/>
              <a:buChar char="•"/>
            </a:pPr>
            <a:r>
              <a:rPr lang="en-US" sz="1200" dirty="0">
                <a:latin typeface="Arial Nova" panose="020B0504020202020204" pitchFamily="34" charset="0"/>
              </a:rPr>
              <a:t>Communication Preferences Updated</a:t>
            </a:r>
          </a:p>
          <a:p>
            <a:pPr marL="342900" indent="-342900">
              <a:lnSpc>
                <a:spcPct val="150000"/>
              </a:lnSpc>
              <a:buFont typeface="Arial" panose="020B0604020202020204" pitchFamily="34" charset="0"/>
              <a:buChar char="•"/>
            </a:pPr>
            <a:r>
              <a:rPr lang="en-US" sz="1200" dirty="0">
                <a:latin typeface="Arial Nova" panose="020B0504020202020204" pitchFamily="34" charset="0"/>
              </a:rPr>
              <a:t>AssetLock Discontinuation </a:t>
            </a:r>
          </a:p>
          <a:p>
            <a:endParaRPr lang="en-US" dirty="0"/>
          </a:p>
        </p:txBody>
      </p:sp>
      <p:sp>
        <p:nvSpPr>
          <p:cNvPr id="4" name="Slide Number Placeholder 3"/>
          <p:cNvSpPr>
            <a:spLocks noGrp="1"/>
          </p:cNvSpPr>
          <p:nvPr>
            <p:ph type="sldNum" sz="quarter" idx="5"/>
          </p:nvPr>
        </p:nvSpPr>
        <p:spPr/>
        <p:txBody>
          <a:bodyPr/>
          <a:lstStyle/>
          <a:p>
            <a:fld id="{7DB5D22D-36FE-4BE3-A701-57EBF6FF10C4}" type="slidenum">
              <a:rPr lang="en-US" smtClean="0"/>
              <a:t>27</a:t>
            </a:fld>
            <a:endParaRPr lang="en-US"/>
          </a:p>
        </p:txBody>
      </p:sp>
    </p:spTree>
    <p:extLst>
      <p:ext uri="{BB962C8B-B14F-4D97-AF65-F5344CB8AC3E}">
        <p14:creationId xmlns:p14="http://schemas.microsoft.com/office/powerpoint/2010/main" val="40330811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address some of the FAQs…</a:t>
            </a:r>
          </a:p>
          <a:p>
            <a:endParaRPr lang="en-US" dirty="0"/>
          </a:p>
          <a:p>
            <a:pPr marL="0" marR="0" lvl="0" indent="0" algn="l" defTabSz="914400" rtl="0" eaLnBrk="1" fontAlgn="auto" latinLnBrk="0" hangingPunct="1">
              <a:lnSpc>
                <a:spcPct val="200000"/>
              </a:lnSpc>
              <a:spcBef>
                <a:spcPts val="0"/>
              </a:spcBef>
              <a:spcAft>
                <a:spcPts val="0"/>
              </a:spcAft>
              <a:buClrTx/>
              <a:buSzTx/>
              <a:buFont typeface="Arial" panose="020B0604020202020204" pitchFamily="34" charset="0"/>
              <a:buNone/>
              <a:tabLst/>
              <a:defRPr/>
            </a:pPr>
            <a:r>
              <a:rPr kumimoji="0" lang="en-US" b="1" i="0" u="none" strike="noStrike" kern="0" cap="none" spc="0" normalizeH="0" baseline="0" noProof="0" dirty="0">
                <a:ln>
                  <a:noFill/>
                </a:ln>
                <a:effectLst/>
                <a:uLnTx/>
                <a:uFillTx/>
                <a:latin typeface="Arial Nova" panose="020B0504020202020204" pitchFamily="34" charset="0"/>
                <a:ea typeface="+mn-ea"/>
                <a:cs typeface="Arial"/>
                <a:sym typeface="Arial"/>
              </a:rPr>
              <a:t>Do I have to change custodians?</a:t>
            </a:r>
          </a:p>
          <a:p>
            <a:pPr marL="0" marR="0" lvl="0" indent="0" algn="l" defTabSz="914400" rtl="0" eaLnBrk="1" fontAlgn="auto" latinLnBrk="0" hangingPunct="1">
              <a:lnSpc>
                <a:spcPct val="200000"/>
              </a:lnSpc>
              <a:spcBef>
                <a:spcPts val="0"/>
              </a:spcBef>
              <a:spcAft>
                <a:spcPts val="0"/>
              </a:spcAft>
              <a:buClrTx/>
              <a:buSzTx/>
              <a:buFont typeface="Arial" panose="020B0604020202020204" pitchFamily="34" charset="0"/>
              <a:buNone/>
              <a:tabLst/>
              <a:defRPr/>
            </a:pPr>
            <a:r>
              <a:rPr kumimoji="0" lang="en-US" b="0" i="0" u="none" strike="noStrike" kern="0" cap="none" spc="0" normalizeH="0" baseline="0" noProof="0" dirty="0">
                <a:ln>
                  <a:noFill/>
                </a:ln>
                <a:effectLst/>
                <a:uLnTx/>
                <a:uFillTx/>
                <a:latin typeface="Arial Nova" panose="020B0504020202020204" pitchFamily="34" charset="0"/>
                <a:ea typeface="+mn-ea"/>
                <a:cs typeface="Arial"/>
                <a:sym typeface="Arial"/>
              </a:rPr>
              <a:t>No. Simplicity is custodian agnostic and works with both Schwab and Fidelity, major institutional custodians for advisory practices. If your accounts are at Schwab or Fidelity today, that will stay the same.</a:t>
            </a:r>
          </a:p>
          <a:p>
            <a:pPr marL="342900" marR="0" lvl="0" indent="-342900" algn="l"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endParaRPr kumimoji="0" lang="en-US" b="0" i="0" u="none" strike="noStrike" kern="0" cap="none" spc="0" normalizeH="0" baseline="0" noProof="0" dirty="0">
              <a:ln>
                <a:noFill/>
              </a:ln>
              <a:effectLst/>
              <a:uLnTx/>
              <a:uFillTx/>
              <a:latin typeface="Arial Nova" panose="020B0504020202020204" pitchFamily="34" charset="0"/>
              <a:ea typeface="+mn-ea"/>
              <a:cs typeface="Arial"/>
              <a:sym typeface="Arial"/>
            </a:endParaRPr>
          </a:p>
          <a:p>
            <a:pPr marL="0" marR="0" lvl="0" indent="0" algn="l" defTabSz="914400" rtl="0" eaLnBrk="1" fontAlgn="auto" latinLnBrk="0" hangingPunct="1">
              <a:lnSpc>
                <a:spcPct val="200000"/>
              </a:lnSpc>
              <a:spcBef>
                <a:spcPts val="0"/>
              </a:spcBef>
              <a:spcAft>
                <a:spcPts val="0"/>
              </a:spcAft>
              <a:buClrTx/>
              <a:buSzTx/>
              <a:buFont typeface="Arial" panose="020B0604020202020204" pitchFamily="34" charset="0"/>
              <a:buNone/>
              <a:tabLst/>
              <a:defRPr/>
            </a:pPr>
            <a:r>
              <a:rPr lang="en-US" b="1" kern="0" dirty="0">
                <a:cs typeface="Arial"/>
                <a:sym typeface="Arial"/>
              </a:rPr>
              <a:t>Will my investment fees increase?</a:t>
            </a:r>
          </a:p>
          <a:p>
            <a:pPr marL="0" marR="0" lvl="0" indent="0" algn="l" defTabSz="914400" rtl="0" eaLnBrk="1" fontAlgn="auto" latinLnBrk="0" hangingPunct="1">
              <a:lnSpc>
                <a:spcPct val="200000"/>
              </a:lnSpc>
              <a:spcBef>
                <a:spcPts val="0"/>
              </a:spcBef>
              <a:spcAft>
                <a:spcPts val="0"/>
              </a:spcAft>
              <a:buClrTx/>
              <a:buSzTx/>
              <a:buFont typeface="Arial" panose="020B0604020202020204" pitchFamily="34" charset="0"/>
              <a:buNone/>
              <a:tabLst/>
              <a:defRPr/>
            </a:pPr>
            <a:r>
              <a:rPr lang="en-US" kern="0" dirty="0">
                <a:cs typeface="Arial"/>
                <a:sym typeface="Arial"/>
              </a:rPr>
              <a:t> Investment fees are dependent on the services provided, but the costs for managers and investment you use today should be the same.</a:t>
            </a:r>
          </a:p>
          <a:p>
            <a:pPr marL="342900" marR="0" lvl="0" indent="-342900" algn="l"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endParaRPr lang="en-US" kern="0" dirty="0">
              <a:cs typeface="Arial"/>
              <a:sym typeface="Arial"/>
            </a:endParaRPr>
          </a:p>
          <a:p>
            <a:pPr marL="0" marR="0" lvl="0" indent="0" algn="l" defTabSz="914400" rtl="0" eaLnBrk="1" fontAlgn="auto" latinLnBrk="0" hangingPunct="1">
              <a:lnSpc>
                <a:spcPct val="200000"/>
              </a:lnSpc>
              <a:spcBef>
                <a:spcPts val="0"/>
              </a:spcBef>
              <a:spcAft>
                <a:spcPts val="0"/>
              </a:spcAft>
              <a:buClrTx/>
              <a:buSzTx/>
              <a:buFont typeface="Arial" panose="020B0604020202020204" pitchFamily="34" charset="0"/>
              <a:buNone/>
              <a:tabLst/>
              <a:defRPr/>
            </a:pPr>
            <a:r>
              <a:rPr lang="en-US" b="1" kern="0" dirty="0">
                <a:cs typeface="Arial"/>
                <a:sym typeface="Arial"/>
              </a:rPr>
              <a:t>How will my service change?</a:t>
            </a:r>
          </a:p>
          <a:p>
            <a:pPr marL="0" marR="0" lvl="0" indent="0" algn="l" defTabSz="914400" rtl="0" eaLnBrk="1" fontAlgn="auto" latinLnBrk="0" hangingPunct="1">
              <a:lnSpc>
                <a:spcPct val="200000"/>
              </a:lnSpc>
              <a:spcBef>
                <a:spcPts val="0"/>
              </a:spcBef>
              <a:spcAft>
                <a:spcPts val="0"/>
              </a:spcAft>
              <a:buClrTx/>
              <a:buSzTx/>
              <a:buFont typeface="Arial" panose="020B0604020202020204" pitchFamily="34" charset="0"/>
              <a:buNone/>
              <a:tabLst/>
              <a:defRPr/>
            </a:pPr>
            <a:r>
              <a:rPr lang="en-US" kern="0" dirty="0">
                <a:cs typeface="Arial"/>
                <a:sym typeface="Arial"/>
              </a:rPr>
              <a:t>We believe the tools and resources provided by Simplicity will allow us to better serve you and increase the probability of achieving your investment goals.</a:t>
            </a:r>
          </a:p>
          <a:p>
            <a:pPr marL="342900" marR="0" lvl="0" indent="-342900" algn="l"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endParaRPr lang="en-US" kern="0" dirty="0">
              <a:cs typeface="Arial"/>
              <a:sym typeface="Arial"/>
            </a:endParaRPr>
          </a:p>
          <a:p>
            <a:pPr marL="0" marR="0" lvl="0" indent="0" algn="l" defTabSz="914400" rtl="0" eaLnBrk="1" fontAlgn="auto" latinLnBrk="0" hangingPunct="1">
              <a:lnSpc>
                <a:spcPct val="200000"/>
              </a:lnSpc>
              <a:spcBef>
                <a:spcPts val="0"/>
              </a:spcBef>
              <a:spcAft>
                <a:spcPts val="0"/>
              </a:spcAft>
              <a:buClrTx/>
              <a:buSzTx/>
              <a:buFont typeface="Arial" panose="020B0604020202020204" pitchFamily="34" charset="0"/>
              <a:buNone/>
              <a:tabLst/>
              <a:defRPr/>
            </a:pPr>
            <a:r>
              <a:rPr lang="en-US" b="1" kern="0" dirty="0">
                <a:cs typeface="Arial"/>
                <a:sym typeface="Arial"/>
              </a:rPr>
              <a:t>Will I have visibility of my assets?</a:t>
            </a:r>
          </a:p>
          <a:p>
            <a:pPr marL="0" marR="0" lvl="0" indent="0" algn="l" defTabSz="914400" rtl="0" eaLnBrk="1" fontAlgn="auto" latinLnBrk="0" hangingPunct="1">
              <a:lnSpc>
                <a:spcPct val="200000"/>
              </a:lnSpc>
              <a:spcBef>
                <a:spcPts val="0"/>
              </a:spcBef>
              <a:spcAft>
                <a:spcPts val="0"/>
              </a:spcAft>
              <a:buClrTx/>
              <a:buSzTx/>
              <a:buFont typeface="Arial" panose="020B0604020202020204" pitchFamily="34" charset="0"/>
              <a:buNone/>
              <a:tabLst/>
              <a:defRPr/>
            </a:pPr>
            <a:r>
              <a:rPr lang="en-US" kern="0" dirty="0">
                <a:cs typeface="Arial"/>
                <a:sym typeface="Arial"/>
              </a:rPr>
              <a:t>Through a client portal, performance reporting, and most importantly AssetLock, you should always have complete transparency regarding the status of your investment accounts.</a:t>
            </a:r>
          </a:p>
          <a:p>
            <a:endParaRPr lang="en-US" dirty="0"/>
          </a:p>
        </p:txBody>
      </p:sp>
      <p:sp>
        <p:nvSpPr>
          <p:cNvPr id="4" name="Slide Number Placeholder 3"/>
          <p:cNvSpPr>
            <a:spLocks noGrp="1"/>
          </p:cNvSpPr>
          <p:nvPr>
            <p:ph type="sldNum" sz="quarter" idx="5"/>
          </p:nvPr>
        </p:nvSpPr>
        <p:spPr/>
        <p:txBody>
          <a:bodyPr/>
          <a:lstStyle/>
          <a:p>
            <a:fld id="{7DB5D22D-36FE-4BE3-A701-57EBF6FF10C4}" type="slidenum">
              <a:rPr lang="en-US" smtClean="0"/>
              <a:t>29</a:t>
            </a:fld>
            <a:endParaRPr lang="en-US"/>
          </a:p>
        </p:txBody>
      </p:sp>
    </p:spTree>
    <p:extLst>
      <p:ext uri="{BB962C8B-B14F-4D97-AF65-F5344CB8AC3E}">
        <p14:creationId xmlns:p14="http://schemas.microsoft.com/office/powerpoint/2010/main" val="17980071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for us to get your VAR score established and get </a:t>
            </a:r>
            <a:r>
              <a:rPr lang="en-US" dirty="0" err="1"/>
              <a:t>Assetlock</a:t>
            </a:r>
            <a:r>
              <a:rPr lang="en-US" dirty="0"/>
              <a:t> in place we have only a couple pieces of paperwork that we need to get completed.</a:t>
            </a:r>
          </a:p>
          <a:p>
            <a:endParaRPr lang="en-US" dirty="0"/>
          </a:p>
          <a:p>
            <a:r>
              <a:rPr lang="en-US" dirty="0"/>
              <a:t>First, complete your account transition paperwork.</a:t>
            </a:r>
          </a:p>
          <a:p>
            <a:endParaRPr lang="en-US" dirty="0"/>
          </a:p>
          <a:p>
            <a:r>
              <a:rPr lang="en-US" dirty="0"/>
              <a:t>Second, complete the Financial Planning Considerations Questionnaire, again, this helps gauge your sentiment towards those six key considerations we addressed early.</a:t>
            </a:r>
          </a:p>
          <a:p>
            <a:endParaRPr lang="en-US" dirty="0"/>
          </a:p>
          <a:p>
            <a:r>
              <a:rPr lang="en-US" dirty="0"/>
              <a:t>And third, complete the Risk Tolerance Questionnaire so that we may determine your </a:t>
            </a:r>
            <a:r>
              <a:rPr lang="en-US" dirty="0" err="1"/>
              <a:t>VaR</a:t>
            </a:r>
            <a:r>
              <a:rPr lang="en-US" dirty="0"/>
              <a:t> score and AssetLock Value.</a:t>
            </a:r>
          </a:p>
        </p:txBody>
      </p:sp>
      <p:sp>
        <p:nvSpPr>
          <p:cNvPr id="4" name="Slide Number Placeholder 3"/>
          <p:cNvSpPr>
            <a:spLocks noGrp="1"/>
          </p:cNvSpPr>
          <p:nvPr>
            <p:ph type="sldNum" sz="quarter" idx="5"/>
          </p:nvPr>
        </p:nvSpPr>
        <p:spPr/>
        <p:txBody>
          <a:bodyPr/>
          <a:lstStyle/>
          <a:p>
            <a:fld id="{7DB5D22D-36FE-4BE3-A701-57EBF6FF10C4}" type="slidenum">
              <a:rPr lang="en-US" smtClean="0"/>
              <a:t>31</a:t>
            </a:fld>
            <a:endParaRPr lang="en-US"/>
          </a:p>
        </p:txBody>
      </p:sp>
    </p:spTree>
    <p:extLst>
      <p:ext uri="{BB962C8B-B14F-4D97-AF65-F5344CB8AC3E}">
        <p14:creationId xmlns:p14="http://schemas.microsoft.com/office/powerpoint/2010/main" val="736209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C19B6-1796-17E9-8E7A-A9158FD2D2E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B483E8-C899-E920-E487-8302B7CE43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5AE6582-FB89-12C3-AD5D-C0D5673FB526}"/>
              </a:ext>
            </a:extLst>
          </p:cNvPr>
          <p:cNvSpPr>
            <a:spLocks noGrp="1"/>
          </p:cNvSpPr>
          <p:nvPr>
            <p:ph type="dt" sz="half" idx="10"/>
          </p:nvPr>
        </p:nvSpPr>
        <p:spPr/>
        <p:txBody>
          <a:bodyPr/>
          <a:lstStyle/>
          <a:p>
            <a:fld id="{E53EC75C-3DA6-490C-BF47-2A2932FE739C}" type="datetimeFigureOut">
              <a:rPr lang="en-US" smtClean="0"/>
              <a:t>3/25/2026</a:t>
            </a:fld>
            <a:endParaRPr lang="en-US"/>
          </a:p>
        </p:txBody>
      </p:sp>
      <p:sp>
        <p:nvSpPr>
          <p:cNvPr id="5" name="Footer Placeholder 4">
            <a:extLst>
              <a:ext uri="{FF2B5EF4-FFF2-40B4-BE49-F238E27FC236}">
                <a16:creationId xmlns:a16="http://schemas.microsoft.com/office/drawing/2014/main" id="{B9E162BD-4B27-C42F-8EB1-EFF2485503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A69047-6444-232E-B9F8-BB4A98FA05C3}"/>
              </a:ext>
            </a:extLst>
          </p:cNvPr>
          <p:cNvSpPr>
            <a:spLocks noGrp="1"/>
          </p:cNvSpPr>
          <p:nvPr>
            <p:ph type="sldNum" sz="quarter" idx="12"/>
          </p:nvPr>
        </p:nvSpPr>
        <p:spPr/>
        <p:txBody>
          <a:bodyPr/>
          <a:lstStyle/>
          <a:p>
            <a:fld id="{0BEE2622-EFFF-4E7E-94C0-83A4CBABECBA}" type="slidenum">
              <a:rPr lang="en-US" smtClean="0"/>
              <a:t>‹#›</a:t>
            </a:fld>
            <a:endParaRPr lang="en-US"/>
          </a:p>
        </p:txBody>
      </p:sp>
    </p:spTree>
    <p:extLst>
      <p:ext uri="{BB962C8B-B14F-4D97-AF65-F5344CB8AC3E}">
        <p14:creationId xmlns:p14="http://schemas.microsoft.com/office/powerpoint/2010/main" val="3935792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Circle: Hollow 10">
            <a:extLst>
              <a:ext uri="{FF2B5EF4-FFF2-40B4-BE49-F238E27FC236}">
                <a16:creationId xmlns:a16="http://schemas.microsoft.com/office/drawing/2014/main" id="{D862BBC7-2C14-E5AA-A936-0C7F81FE17AD}"/>
              </a:ext>
            </a:extLst>
          </p:cNvPr>
          <p:cNvSpPr>
            <a:spLocks noChangeAspect="1"/>
          </p:cNvSpPr>
          <p:nvPr userDrawn="1"/>
        </p:nvSpPr>
        <p:spPr>
          <a:xfrm>
            <a:off x="-3351482" y="3138288"/>
            <a:ext cx="6702964" cy="7439424"/>
          </a:xfrm>
          <a:prstGeom prst="donut">
            <a:avLst>
              <a:gd name="adj" fmla="val 22042"/>
            </a:avLst>
          </a:prstGeom>
          <a:solidFill>
            <a:srgbClr val="F1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ircle: Hollow 9">
            <a:extLst>
              <a:ext uri="{FF2B5EF4-FFF2-40B4-BE49-F238E27FC236}">
                <a16:creationId xmlns:a16="http://schemas.microsoft.com/office/drawing/2014/main" id="{034BEC4E-8826-9BD5-20ED-44F09C0EBA75}"/>
              </a:ext>
            </a:extLst>
          </p:cNvPr>
          <p:cNvSpPr>
            <a:spLocks noChangeAspect="1"/>
          </p:cNvSpPr>
          <p:nvPr userDrawn="1"/>
        </p:nvSpPr>
        <p:spPr>
          <a:xfrm>
            <a:off x="8383318" y="-314325"/>
            <a:ext cx="6702964" cy="7439424"/>
          </a:xfrm>
          <a:prstGeom prst="donut">
            <a:avLst>
              <a:gd name="adj" fmla="val 14577"/>
            </a:avLst>
          </a:prstGeom>
          <a:solidFill>
            <a:srgbClr val="F1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Content Placeholder 2">
            <a:extLst>
              <a:ext uri="{FF2B5EF4-FFF2-40B4-BE49-F238E27FC236}">
                <a16:creationId xmlns:a16="http://schemas.microsoft.com/office/drawing/2014/main" id="{DC109236-1346-0E6E-3CF8-5F7B6CE84549}"/>
              </a:ext>
            </a:extLst>
          </p:cNvPr>
          <p:cNvSpPr>
            <a:spLocks noGrp="1"/>
          </p:cNvSpPr>
          <p:nvPr>
            <p:ph idx="1"/>
          </p:nvPr>
        </p:nvSpPr>
        <p:spPr>
          <a:xfrm>
            <a:off x="380999" y="1597025"/>
            <a:ext cx="11429999" cy="4351338"/>
          </a:xfrm>
        </p:spPr>
        <p:txBody>
          <a:bodyPr/>
          <a:lstStyle>
            <a:lvl1pPr>
              <a:defRPr sz="2600">
                <a:latin typeface="Arial Nova" panose="020B0504020202020204" pitchFamily="34" charset="0"/>
              </a:defRPr>
            </a:lvl1pPr>
            <a:lvl2pPr marL="685800" indent="-228600">
              <a:buSzPct val="75000"/>
              <a:buFont typeface="Courier New" panose="02070309020205020404" pitchFamily="49" charset="0"/>
              <a:buChar char="o"/>
              <a:defRPr>
                <a:latin typeface="Arial Nova" panose="020B0504020202020204" pitchFamily="34" charset="0"/>
              </a:defRPr>
            </a:lvl2pPr>
            <a:lvl3pPr marL="1143000" indent="-228600">
              <a:buFont typeface="Wingdings" panose="05000000000000000000" pitchFamily="2" charset="2"/>
              <a:buChar char="§"/>
              <a:defRPr>
                <a:latin typeface="Arial Nova" panose="020B0504020202020204" pitchFamily="34" charset="0"/>
              </a:defRPr>
            </a:lvl3pPr>
            <a:lvl4pPr>
              <a:defRPr>
                <a:latin typeface="Arial Nova" panose="020B0504020202020204" pitchFamily="34" charset="0"/>
              </a:defRPr>
            </a:lvl4pPr>
            <a:lvl5pPr>
              <a:defRPr>
                <a:latin typeface="Arial Nova" panose="020B05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DF5E48F-8EF4-94FC-EE51-B859A37F2200}"/>
              </a:ext>
            </a:extLst>
          </p:cNvPr>
          <p:cNvSpPr>
            <a:spLocks noGrp="1"/>
          </p:cNvSpPr>
          <p:nvPr>
            <p:ph type="ftr" sz="quarter" idx="11"/>
          </p:nvPr>
        </p:nvSpPr>
        <p:spPr>
          <a:xfrm>
            <a:off x="380999" y="6356350"/>
            <a:ext cx="10341430" cy="365125"/>
          </a:xfrm>
        </p:spPr>
        <p:txBody>
          <a:bodyPr/>
          <a:lstStyle>
            <a:lvl1pPr algn="l">
              <a:defRPr/>
            </a:lvl1pPr>
          </a:lstStyle>
          <a:p>
            <a:r>
              <a:rPr lang="en-US" dirty="0">
                <a:latin typeface="Arial Nova Cond" panose="020B0506020202020204" pitchFamily="34" charset="0"/>
              </a:rPr>
              <a:t>©2025 Simplicity Wealth. All Rights Reserved. SWG 4633875-0725</a:t>
            </a:r>
            <a:endParaRPr lang="en-US" dirty="0"/>
          </a:p>
        </p:txBody>
      </p:sp>
      <p:sp>
        <p:nvSpPr>
          <p:cNvPr id="6" name="Slide Number Placeholder 5">
            <a:extLst>
              <a:ext uri="{FF2B5EF4-FFF2-40B4-BE49-F238E27FC236}">
                <a16:creationId xmlns:a16="http://schemas.microsoft.com/office/drawing/2014/main" id="{0FF9B622-8C58-D2BB-FAEE-AFB3781D9134}"/>
              </a:ext>
            </a:extLst>
          </p:cNvPr>
          <p:cNvSpPr>
            <a:spLocks noGrp="1"/>
          </p:cNvSpPr>
          <p:nvPr>
            <p:ph type="sldNum" sz="quarter" idx="12"/>
          </p:nvPr>
        </p:nvSpPr>
        <p:spPr>
          <a:xfrm>
            <a:off x="10874828" y="6356350"/>
            <a:ext cx="936171" cy="365125"/>
          </a:xfrm>
        </p:spPr>
        <p:txBody>
          <a:bodyPr/>
          <a:lstStyle/>
          <a:p>
            <a:fld id="{0BEE2622-EFFF-4E7E-94C0-83A4CBABECBA}" type="slidenum">
              <a:rPr lang="en-US" smtClean="0"/>
              <a:t>‹#›</a:t>
            </a:fld>
            <a:endParaRPr lang="en-US"/>
          </a:p>
        </p:txBody>
      </p:sp>
      <p:sp>
        <p:nvSpPr>
          <p:cNvPr id="7" name="Rectangle 6">
            <a:extLst>
              <a:ext uri="{FF2B5EF4-FFF2-40B4-BE49-F238E27FC236}">
                <a16:creationId xmlns:a16="http://schemas.microsoft.com/office/drawing/2014/main" id="{E00AEB05-12A8-75BB-0BCD-D313A3E1A74C}"/>
              </a:ext>
            </a:extLst>
          </p:cNvPr>
          <p:cNvSpPr/>
          <p:nvPr userDrawn="1"/>
        </p:nvSpPr>
        <p:spPr>
          <a:xfrm>
            <a:off x="0" y="327025"/>
            <a:ext cx="12192000" cy="805089"/>
          </a:xfrm>
          <a:prstGeom prst="rect">
            <a:avLst/>
          </a:prstGeom>
          <a:solidFill>
            <a:srgbClr val="02437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562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109236-1346-0E6E-3CF8-5F7B6CE84549}"/>
              </a:ext>
            </a:extLst>
          </p:cNvPr>
          <p:cNvSpPr>
            <a:spLocks noGrp="1"/>
          </p:cNvSpPr>
          <p:nvPr>
            <p:ph idx="1"/>
          </p:nvPr>
        </p:nvSpPr>
        <p:spPr>
          <a:xfrm>
            <a:off x="380999" y="1597025"/>
            <a:ext cx="11429999" cy="4351338"/>
          </a:xfrm>
        </p:spPr>
        <p:txBody>
          <a:bodyPr/>
          <a:lstStyle>
            <a:lvl1pPr>
              <a:defRPr sz="2600">
                <a:latin typeface="Arial Nova" panose="020B0504020202020204" pitchFamily="34" charset="0"/>
              </a:defRPr>
            </a:lvl1pPr>
            <a:lvl2pPr marL="685800" indent="-228600">
              <a:buSzPct val="75000"/>
              <a:buFont typeface="Courier New" panose="02070309020205020404" pitchFamily="49" charset="0"/>
              <a:buChar char="o"/>
              <a:defRPr>
                <a:latin typeface="Arial Nova" panose="020B0504020202020204" pitchFamily="34" charset="0"/>
              </a:defRPr>
            </a:lvl2pPr>
            <a:lvl3pPr marL="1143000" indent="-228600">
              <a:buFont typeface="Wingdings" panose="05000000000000000000" pitchFamily="2" charset="2"/>
              <a:buChar char="§"/>
              <a:defRPr>
                <a:latin typeface="Arial Nova" panose="020B0504020202020204" pitchFamily="34" charset="0"/>
              </a:defRPr>
            </a:lvl3pPr>
            <a:lvl4pPr>
              <a:defRPr>
                <a:latin typeface="Arial Nova" panose="020B0504020202020204" pitchFamily="34" charset="0"/>
              </a:defRPr>
            </a:lvl4pPr>
            <a:lvl5pPr>
              <a:defRPr>
                <a:latin typeface="Arial Nova" panose="020B05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DF5E48F-8EF4-94FC-EE51-B859A37F2200}"/>
              </a:ext>
            </a:extLst>
          </p:cNvPr>
          <p:cNvSpPr>
            <a:spLocks noGrp="1"/>
          </p:cNvSpPr>
          <p:nvPr>
            <p:ph type="ftr" sz="quarter" idx="11"/>
          </p:nvPr>
        </p:nvSpPr>
        <p:spPr>
          <a:xfrm>
            <a:off x="380999" y="6356350"/>
            <a:ext cx="10341430" cy="365125"/>
          </a:xfrm>
        </p:spPr>
        <p:txBody>
          <a:bodyPr/>
          <a:lstStyle>
            <a:lvl1pPr algn="l">
              <a:defRPr/>
            </a:lvl1pPr>
          </a:lstStyle>
          <a:p>
            <a:r>
              <a:rPr lang="en-US" dirty="0">
                <a:latin typeface="Arial Nova Cond" panose="020B0506020202020204" pitchFamily="34" charset="0"/>
              </a:rPr>
              <a:t>©2025 Simplicity Wealth. All Rights Reserved. SWG 4633875-0725</a:t>
            </a:r>
            <a:endParaRPr lang="en-US" dirty="0"/>
          </a:p>
        </p:txBody>
      </p:sp>
      <p:sp>
        <p:nvSpPr>
          <p:cNvPr id="6" name="Slide Number Placeholder 5">
            <a:extLst>
              <a:ext uri="{FF2B5EF4-FFF2-40B4-BE49-F238E27FC236}">
                <a16:creationId xmlns:a16="http://schemas.microsoft.com/office/drawing/2014/main" id="{0FF9B622-8C58-D2BB-FAEE-AFB3781D9134}"/>
              </a:ext>
            </a:extLst>
          </p:cNvPr>
          <p:cNvSpPr>
            <a:spLocks noGrp="1"/>
          </p:cNvSpPr>
          <p:nvPr>
            <p:ph type="sldNum" sz="quarter" idx="12"/>
          </p:nvPr>
        </p:nvSpPr>
        <p:spPr>
          <a:xfrm>
            <a:off x="10874828" y="6356350"/>
            <a:ext cx="936171" cy="365125"/>
          </a:xfrm>
        </p:spPr>
        <p:txBody>
          <a:bodyPr/>
          <a:lstStyle/>
          <a:p>
            <a:fld id="{0BEE2622-EFFF-4E7E-94C0-83A4CBABECBA}" type="slidenum">
              <a:rPr lang="en-US" smtClean="0"/>
              <a:t>‹#›</a:t>
            </a:fld>
            <a:endParaRPr lang="en-US"/>
          </a:p>
        </p:txBody>
      </p:sp>
      <p:sp>
        <p:nvSpPr>
          <p:cNvPr id="7" name="Rectangle 6">
            <a:extLst>
              <a:ext uri="{FF2B5EF4-FFF2-40B4-BE49-F238E27FC236}">
                <a16:creationId xmlns:a16="http://schemas.microsoft.com/office/drawing/2014/main" id="{E00AEB05-12A8-75BB-0BCD-D313A3E1A74C}"/>
              </a:ext>
            </a:extLst>
          </p:cNvPr>
          <p:cNvSpPr/>
          <p:nvPr userDrawn="1"/>
        </p:nvSpPr>
        <p:spPr>
          <a:xfrm>
            <a:off x="0" y="327025"/>
            <a:ext cx="12192000" cy="805089"/>
          </a:xfrm>
          <a:prstGeom prst="rect">
            <a:avLst/>
          </a:prstGeom>
          <a:solidFill>
            <a:srgbClr val="02437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8537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562D1-C2B4-32BD-1533-FB32514A412A}"/>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92050B3-CFEA-71E1-122A-3E54A03461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D90F1F-CB66-80C8-460B-F8B13C9AF415}"/>
              </a:ext>
            </a:extLst>
          </p:cNvPr>
          <p:cNvSpPr>
            <a:spLocks noGrp="1"/>
          </p:cNvSpPr>
          <p:nvPr>
            <p:ph type="dt" sz="half" idx="10"/>
          </p:nvPr>
        </p:nvSpPr>
        <p:spPr/>
        <p:txBody>
          <a:bodyPr/>
          <a:lstStyle/>
          <a:p>
            <a:fld id="{E53EC75C-3DA6-490C-BF47-2A2932FE739C}" type="datetimeFigureOut">
              <a:rPr lang="en-US" smtClean="0"/>
              <a:t>3/25/2026</a:t>
            </a:fld>
            <a:endParaRPr lang="en-US"/>
          </a:p>
        </p:txBody>
      </p:sp>
      <p:sp>
        <p:nvSpPr>
          <p:cNvPr id="5" name="Footer Placeholder 4">
            <a:extLst>
              <a:ext uri="{FF2B5EF4-FFF2-40B4-BE49-F238E27FC236}">
                <a16:creationId xmlns:a16="http://schemas.microsoft.com/office/drawing/2014/main" id="{02C0EB51-6152-1B31-D211-8865D2DEBB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6497A-52D8-4DC4-94AC-DD885C0F4B22}"/>
              </a:ext>
            </a:extLst>
          </p:cNvPr>
          <p:cNvSpPr>
            <a:spLocks noGrp="1"/>
          </p:cNvSpPr>
          <p:nvPr>
            <p:ph type="sldNum" sz="quarter" idx="12"/>
          </p:nvPr>
        </p:nvSpPr>
        <p:spPr/>
        <p:txBody>
          <a:bodyPr/>
          <a:lstStyle/>
          <a:p>
            <a:fld id="{0BEE2622-EFFF-4E7E-94C0-83A4CBABECBA}" type="slidenum">
              <a:rPr lang="en-US" smtClean="0"/>
              <a:t>‹#›</a:t>
            </a:fld>
            <a:endParaRPr lang="en-US"/>
          </a:p>
        </p:txBody>
      </p:sp>
    </p:spTree>
    <p:extLst>
      <p:ext uri="{BB962C8B-B14F-4D97-AF65-F5344CB8AC3E}">
        <p14:creationId xmlns:p14="http://schemas.microsoft.com/office/powerpoint/2010/main" val="444429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6DBD3-3C97-AAF5-3666-D7B5696FEED7}"/>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6000E6B4-54FC-5074-3208-11C6DEB2F0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3A75BD-2F92-298B-C226-B6BF772E96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4E93D1-E3D2-58B5-7646-BB83D04DEBF7}"/>
              </a:ext>
            </a:extLst>
          </p:cNvPr>
          <p:cNvSpPr>
            <a:spLocks noGrp="1"/>
          </p:cNvSpPr>
          <p:nvPr>
            <p:ph type="dt" sz="half" idx="10"/>
          </p:nvPr>
        </p:nvSpPr>
        <p:spPr/>
        <p:txBody>
          <a:bodyPr/>
          <a:lstStyle/>
          <a:p>
            <a:fld id="{E53EC75C-3DA6-490C-BF47-2A2932FE739C}" type="datetimeFigureOut">
              <a:rPr lang="en-US" smtClean="0"/>
              <a:t>3/25/2026</a:t>
            </a:fld>
            <a:endParaRPr lang="en-US"/>
          </a:p>
        </p:txBody>
      </p:sp>
      <p:sp>
        <p:nvSpPr>
          <p:cNvPr id="6" name="Footer Placeholder 5">
            <a:extLst>
              <a:ext uri="{FF2B5EF4-FFF2-40B4-BE49-F238E27FC236}">
                <a16:creationId xmlns:a16="http://schemas.microsoft.com/office/drawing/2014/main" id="{9A073967-D19F-DD5C-30E9-488A221AE8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123BD2-D13D-833A-DD7A-831457D03142}"/>
              </a:ext>
            </a:extLst>
          </p:cNvPr>
          <p:cNvSpPr>
            <a:spLocks noGrp="1"/>
          </p:cNvSpPr>
          <p:nvPr>
            <p:ph type="sldNum" sz="quarter" idx="12"/>
          </p:nvPr>
        </p:nvSpPr>
        <p:spPr/>
        <p:txBody>
          <a:bodyPr/>
          <a:lstStyle/>
          <a:p>
            <a:fld id="{0BEE2622-EFFF-4E7E-94C0-83A4CBABECBA}" type="slidenum">
              <a:rPr lang="en-US" smtClean="0"/>
              <a:t>‹#›</a:t>
            </a:fld>
            <a:endParaRPr lang="en-US"/>
          </a:p>
        </p:txBody>
      </p:sp>
    </p:spTree>
    <p:extLst>
      <p:ext uri="{BB962C8B-B14F-4D97-AF65-F5344CB8AC3E}">
        <p14:creationId xmlns:p14="http://schemas.microsoft.com/office/powerpoint/2010/main" val="1092177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9EE43-78EB-491A-6704-61EAFAAB7E85}"/>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B554CC2-3CE8-0581-3336-3B15612163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8F31B9-FC3D-64E1-AF93-A0B816D199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801D36-E644-32FC-321C-E18D8BAA5F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A4F26C-FC9D-B5C9-CB2F-36EAE82D2F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E5B16B-DC71-E1D5-E6CD-B0D18F460835}"/>
              </a:ext>
            </a:extLst>
          </p:cNvPr>
          <p:cNvSpPr>
            <a:spLocks noGrp="1"/>
          </p:cNvSpPr>
          <p:nvPr>
            <p:ph type="dt" sz="half" idx="10"/>
          </p:nvPr>
        </p:nvSpPr>
        <p:spPr/>
        <p:txBody>
          <a:bodyPr/>
          <a:lstStyle/>
          <a:p>
            <a:fld id="{E53EC75C-3DA6-490C-BF47-2A2932FE739C}" type="datetimeFigureOut">
              <a:rPr lang="en-US" smtClean="0"/>
              <a:t>3/25/2026</a:t>
            </a:fld>
            <a:endParaRPr lang="en-US"/>
          </a:p>
        </p:txBody>
      </p:sp>
      <p:sp>
        <p:nvSpPr>
          <p:cNvPr id="8" name="Footer Placeholder 7">
            <a:extLst>
              <a:ext uri="{FF2B5EF4-FFF2-40B4-BE49-F238E27FC236}">
                <a16:creationId xmlns:a16="http://schemas.microsoft.com/office/drawing/2014/main" id="{C5D545DB-0167-6BCA-F9F7-AE43B8E6A3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8AAA90-EC54-EE01-7999-6DA3126078FF}"/>
              </a:ext>
            </a:extLst>
          </p:cNvPr>
          <p:cNvSpPr>
            <a:spLocks noGrp="1"/>
          </p:cNvSpPr>
          <p:nvPr>
            <p:ph type="sldNum" sz="quarter" idx="12"/>
          </p:nvPr>
        </p:nvSpPr>
        <p:spPr/>
        <p:txBody>
          <a:bodyPr/>
          <a:lstStyle/>
          <a:p>
            <a:fld id="{0BEE2622-EFFF-4E7E-94C0-83A4CBABECBA}" type="slidenum">
              <a:rPr lang="en-US" smtClean="0"/>
              <a:t>‹#›</a:t>
            </a:fld>
            <a:endParaRPr lang="en-US"/>
          </a:p>
        </p:txBody>
      </p:sp>
    </p:spTree>
    <p:extLst>
      <p:ext uri="{BB962C8B-B14F-4D97-AF65-F5344CB8AC3E}">
        <p14:creationId xmlns:p14="http://schemas.microsoft.com/office/powerpoint/2010/main" val="1018271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4B4AF-0B04-CEAE-4E44-4355407C3E6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941756AE-FE68-9C4B-C263-1F78D87D3EA2}"/>
              </a:ext>
            </a:extLst>
          </p:cNvPr>
          <p:cNvSpPr>
            <a:spLocks noGrp="1"/>
          </p:cNvSpPr>
          <p:nvPr>
            <p:ph type="dt" sz="half" idx="10"/>
          </p:nvPr>
        </p:nvSpPr>
        <p:spPr/>
        <p:txBody>
          <a:bodyPr/>
          <a:lstStyle/>
          <a:p>
            <a:fld id="{E53EC75C-3DA6-490C-BF47-2A2932FE739C}" type="datetimeFigureOut">
              <a:rPr lang="en-US" smtClean="0"/>
              <a:t>3/25/2026</a:t>
            </a:fld>
            <a:endParaRPr lang="en-US"/>
          </a:p>
        </p:txBody>
      </p:sp>
      <p:sp>
        <p:nvSpPr>
          <p:cNvPr id="4" name="Footer Placeholder 3">
            <a:extLst>
              <a:ext uri="{FF2B5EF4-FFF2-40B4-BE49-F238E27FC236}">
                <a16:creationId xmlns:a16="http://schemas.microsoft.com/office/drawing/2014/main" id="{625C45C1-857B-B8ED-A775-601655C71DE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BE7917A-3384-E651-3C5E-33AF39E3F771}"/>
              </a:ext>
            </a:extLst>
          </p:cNvPr>
          <p:cNvSpPr>
            <a:spLocks noGrp="1"/>
          </p:cNvSpPr>
          <p:nvPr>
            <p:ph type="sldNum" sz="quarter" idx="12"/>
          </p:nvPr>
        </p:nvSpPr>
        <p:spPr/>
        <p:txBody>
          <a:bodyPr/>
          <a:lstStyle/>
          <a:p>
            <a:fld id="{0BEE2622-EFFF-4E7E-94C0-83A4CBABECBA}" type="slidenum">
              <a:rPr lang="en-US" smtClean="0"/>
              <a:t>‹#›</a:t>
            </a:fld>
            <a:endParaRPr lang="en-US"/>
          </a:p>
        </p:txBody>
      </p:sp>
    </p:spTree>
    <p:extLst>
      <p:ext uri="{BB962C8B-B14F-4D97-AF65-F5344CB8AC3E}">
        <p14:creationId xmlns:p14="http://schemas.microsoft.com/office/powerpoint/2010/main" val="2150168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Circle: Hollow 4">
            <a:extLst>
              <a:ext uri="{FF2B5EF4-FFF2-40B4-BE49-F238E27FC236}">
                <a16:creationId xmlns:a16="http://schemas.microsoft.com/office/drawing/2014/main" id="{7C3E73A5-FCB7-AAA4-FA44-DABBE462467C}"/>
              </a:ext>
            </a:extLst>
          </p:cNvPr>
          <p:cNvSpPr>
            <a:spLocks noChangeAspect="1"/>
          </p:cNvSpPr>
          <p:nvPr userDrawn="1"/>
        </p:nvSpPr>
        <p:spPr>
          <a:xfrm>
            <a:off x="-3351482" y="3138288"/>
            <a:ext cx="6702964" cy="7439424"/>
          </a:xfrm>
          <a:prstGeom prst="donut">
            <a:avLst>
              <a:gd name="adj" fmla="val 22042"/>
            </a:avLst>
          </a:prstGeom>
          <a:solidFill>
            <a:srgbClr val="F1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Circle: Hollow 5">
            <a:extLst>
              <a:ext uri="{FF2B5EF4-FFF2-40B4-BE49-F238E27FC236}">
                <a16:creationId xmlns:a16="http://schemas.microsoft.com/office/drawing/2014/main" id="{CE706318-3D26-B963-D7C4-0A2411E48F62}"/>
              </a:ext>
            </a:extLst>
          </p:cNvPr>
          <p:cNvSpPr>
            <a:spLocks noChangeAspect="1"/>
          </p:cNvSpPr>
          <p:nvPr userDrawn="1"/>
        </p:nvSpPr>
        <p:spPr>
          <a:xfrm>
            <a:off x="8383318" y="-314325"/>
            <a:ext cx="6702964" cy="7439424"/>
          </a:xfrm>
          <a:prstGeom prst="donut">
            <a:avLst>
              <a:gd name="adj" fmla="val 14577"/>
            </a:avLst>
          </a:prstGeom>
          <a:solidFill>
            <a:srgbClr val="F1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Footer Placeholder 4">
            <a:extLst>
              <a:ext uri="{FF2B5EF4-FFF2-40B4-BE49-F238E27FC236}">
                <a16:creationId xmlns:a16="http://schemas.microsoft.com/office/drawing/2014/main" id="{FF22A085-E37A-4B02-7692-7011139DAB74}"/>
              </a:ext>
            </a:extLst>
          </p:cNvPr>
          <p:cNvSpPr>
            <a:spLocks noGrp="1"/>
          </p:cNvSpPr>
          <p:nvPr>
            <p:ph type="ftr" sz="quarter" idx="11"/>
          </p:nvPr>
        </p:nvSpPr>
        <p:spPr>
          <a:xfrm>
            <a:off x="380999" y="6356350"/>
            <a:ext cx="10341430" cy="365125"/>
          </a:xfrm>
        </p:spPr>
        <p:txBody>
          <a:bodyPr/>
          <a:lstStyle>
            <a:lvl1pPr algn="l">
              <a:defRPr/>
            </a:lvl1pPr>
          </a:lstStyle>
          <a:p>
            <a:r>
              <a:rPr lang="en-US" dirty="0">
                <a:latin typeface="Arial Nova Cond" panose="020B0506020202020204" pitchFamily="34" charset="0"/>
              </a:rPr>
              <a:t>©2025 Simplicity Wealth. All Rights Reserved. SWG 4633875-0725</a:t>
            </a:r>
            <a:endParaRPr lang="en-US" dirty="0"/>
          </a:p>
        </p:txBody>
      </p:sp>
      <p:sp>
        <p:nvSpPr>
          <p:cNvPr id="8" name="Slide Number Placeholder 5">
            <a:extLst>
              <a:ext uri="{FF2B5EF4-FFF2-40B4-BE49-F238E27FC236}">
                <a16:creationId xmlns:a16="http://schemas.microsoft.com/office/drawing/2014/main" id="{96015CAB-FA5B-3C11-D625-7764F92293E5}"/>
              </a:ext>
            </a:extLst>
          </p:cNvPr>
          <p:cNvSpPr>
            <a:spLocks noGrp="1"/>
          </p:cNvSpPr>
          <p:nvPr>
            <p:ph type="sldNum" sz="quarter" idx="12"/>
          </p:nvPr>
        </p:nvSpPr>
        <p:spPr>
          <a:xfrm>
            <a:off x="10874828" y="6356350"/>
            <a:ext cx="936171" cy="365125"/>
          </a:xfrm>
        </p:spPr>
        <p:txBody>
          <a:bodyPr/>
          <a:lstStyle/>
          <a:p>
            <a:fld id="{0BEE2622-EFFF-4E7E-94C0-83A4CBABECBA}" type="slidenum">
              <a:rPr lang="en-US" smtClean="0"/>
              <a:t>‹#›</a:t>
            </a:fld>
            <a:endParaRPr lang="en-US"/>
          </a:p>
        </p:txBody>
      </p:sp>
    </p:spTree>
    <p:extLst>
      <p:ext uri="{BB962C8B-B14F-4D97-AF65-F5344CB8AC3E}">
        <p14:creationId xmlns:p14="http://schemas.microsoft.com/office/powerpoint/2010/main" val="742266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FF22A085-E37A-4B02-7692-7011139DAB74}"/>
              </a:ext>
            </a:extLst>
          </p:cNvPr>
          <p:cNvSpPr>
            <a:spLocks noGrp="1"/>
          </p:cNvSpPr>
          <p:nvPr>
            <p:ph type="ftr" sz="quarter" idx="11"/>
          </p:nvPr>
        </p:nvSpPr>
        <p:spPr>
          <a:xfrm>
            <a:off x="380999" y="6356350"/>
            <a:ext cx="10341430" cy="365125"/>
          </a:xfrm>
        </p:spPr>
        <p:txBody>
          <a:bodyPr/>
          <a:lstStyle>
            <a:lvl1pPr algn="l">
              <a:defRPr/>
            </a:lvl1pPr>
          </a:lstStyle>
          <a:p>
            <a:r>
              <a:rPr lang="en-US" dirty="0">
                <a:latin typeface="Arial Nova Cond" panose="020B0506020202020204" pitchFamily="34" charset="0"/>
              </a:rPr>
              <a:t>©2025 Simplicity Wealth. All Rights Reserved. SWG 4633875-0725</a:t>
            </a:r>
            <a:endParaRPr lang="en-US" dirty="0"/>
          </a:p>
        </p:txBody>
      </p:sp>
      <p:sp>
        <p:nvSpPr>
          <p:cNvPr id="8" name="Slide Number Placeholder 5">
            <a:extLst>
              <a:ext uri="{FF2B5EF4-FFF2-40B4-BE49-F238E27FC236}">
                <a16:creationId xmlns:a16="http://schemas.microsoft.com/office/drawing/2014/main" id="{96015CAB-FA5B-3C11-D625-7764F92293E5}"/>
              </a:ext>
            </a:extLst>
          </p:cNvPr>
          <p:cNvSpPr>
            <a:spLocks noGrp="1"/>
          </p:cNvSpPr>
          <p:nvPr>
            <p:ph type="sldNum" sz="quarter" idx="12"/>
          </p:nvPr>
        </p:nvSpPr>
        <p:spPr>
          <a:xfrm>
            <a:off x="10874828" y="6356350"/>
            <a:ext cx="936171" cy="365125"/>
          </a:xfrm>
        </p:spPr>
        <p:txBody>
          <a:bodyPr/>
          <a:lstStyle/>
          <a:p>
            <a:fld id="{0BEE2622-EFFF-4E7E-94C0-83A4CBABECBA}" type="slidenum">
              <a:rPr lang="en-US" smtClean="0"/>
              <a:t>‹#›</a:t>
            </a:fld>
            <a:endParaRPr lang="en-US"/>
          </a:p>
        </p:txBody>
      </p:sp>
    </p:spTree>
    <p:extLst>
      <p:ext uri="{BB962C8B-B14F-4D97-AF65-F5344CB8AC3E}">
        <p14:creationId xmlns:p14="http://schemas.microsoft.com/office/powerpoint/2010/main" val="2796772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7C0A3-D51B-D24A-B9C6-FFB35F7EB51B}"/>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347A35-166E-7BFD-150B-898EAD66FB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700D48B-E03E-B967-6365-8692B64A4D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03C4EE-BD85-4BA9-A5D4-41954F8609F5}"/>
              </a:ext>
            </a:extLst>
          </p:cNvPr>
          <p:cNvSpPr>
            <a:spLocks noGrp="1"/>
          </p:cNvSpPr>
          <p:nvPr>
            <p:ph type="dt" sz="half" idx="10"/>
          </p:nvPr>
        </p:nvSpPr>
        <p:spPr/>
        <p:txBody>
          <a:bodyPr/>
          <a:lstStyle/>
          <a:p>
            <a:fld id="{E53EC75C-3DA6-490C-BF47-2A2932FE739C}" type="datetimeFigureOut">
              <a:rPr lang="en-US" smtClean="0"/>
              <a:t>3/25/2026</a:t>
            </a:fld>
            <a:endParaRPr lang="en-US"/>
          </a:p>
        </p:txBody>
      </p:sp>
      <p:sp>
        <p:nvSpPr>
          <p:cNvPr id="6" name="Footer Placeholder 5">
            <a:extLst>
              <a:ext uri="{FF2B5EF4-FFF2-40B4-BE49-F238E27FC236}">
                <a16:creationId xmlns:a16="http://schemas.microsoft.com/office/drawing/2014/main" id="{C6FD2718-6B98-9DC9-F78F-ADC020BBC8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87EABE-2818-012E-B260-1FC56829865B}"/>
              </a:ext>
            </a:extLst>
          </p:cNvPr>
          <p:cNvSpPr>
            <a:spLocks noGrp="1"/>
          </p:cNvSpPr>
          <p:nvPr>
            <p:ph type="sldNum" sz="quarter" idx="12"/>
          </p:nvPr>
        </p:nvSpPr>
        <p:spPr/>
        <p:txBody>
          <a:bodyPr/>
          <a:lstStyle/>
          <a:p>
            <a:fld id="{0BEE2622-EFFF-4E7E-94C0-83A4CBABECBA}" type="slidenum">
              <a:rPr lang="en-US" smtClean="0"/>
              <a:t>‹#›</a:t>
            </a:fld>
            <a:endParaRPr lang="en-US"/>
          </a:p>
        </p:txBody>
      </p:sp>
    </p:spTree>
    <p:extLst>
      <p:ext uri="{BB962C8B-B14F-4D97-AF65-F5344CB8AC3E}">
        <p14:creationId xmlns:p14="http://schemas.microsoft.com/office/powerpoint/2010/main" val="2765517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42B89-6268-9D64-CCE0-9B05B080E23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5C4227-B3BA-762B-E907-5435BCB2A1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1239A7-FF1B-8AA2-BA97-4144E92980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01774F-D52F-5943-3798-F8F43CFD293E}"/>
              </a:ext>
            </a:extLst>
          </p:cNvPr>
          <p:cNvSpPr>
            <a:spLocks noGrp="1"/>
          </p:cNvSpPr>
          <p:nvPr>
            <p:ph type="dt" sz="half" idx="10"/>
          </p:nvPr>
        </p:nvSpPr>
        <p:spPr/>
        <p:txBody>
          <a:bodyPr/>
          <a:lstStyle/>
          <a:p>
            <a:fld id="{E53EC75C-3DA6-490C-BF47-2A2932FE739C}" type="datetimeFigureOut">
              <a:rPr lang="en-US" smtClean="0"/>
              <a:t>3/25/2026</a:t>
            </a:fld>
            <a:endParaRPr lang="en-US"/>
          </a:p>
        </p:txBody>
      </p:sp>
      <p:sp>
        <p:nvSpPr>
          <p:cNvPr id="6" name="Footer Placeholder 5">
            <a:extLst>
              <a:ext uri="{FF2B5EF4-FFF2-40B4-BE49-F238E27FC236}">
                <a16:creationId xmlns:a16="http://schemas.microsoft.com/office/drawing/2014/main" id="{B18384B5-D98F-ADB6-01CA-E1CDFB139D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FB4B65-E80D-F17B-DC55-6A1B0886AC4C}"/>
              </a:ext>
            </a:extLst>
          </p:cNvPr>
          <p:cNvSpPr>
            <a:spLocks noGrp="1"/>
          </p:cNvSpPr>
          <p:nvPr>
            <p:ph type="sldNum" sz="quarter" idx="12"/>
          </p:nvPr>
        </p:nvSpPr>
        <p:spPr/>
        <p:txBody>
          <a:bodyPr/>
          <a:lstStyle/>
          <a:p>
            <a:fld id="{0BEE2622-EFFF-4E7E-94C0-83A4CBABECBA}" type="slidenum">
              <a:rPr lang="en-US" smtClean="0"/>
              <a:t>‹#›</a:t>
            </a:fld>
            <a:endParaRPr lang="en-US"/>
          </a:p>
        </p:txBody>
      </p:sp>
    </p:spTree>
    <p:extLst>
      <p:ext uri="{BB962C8B-B14F-4D97-AF65-F5344CB8AC3E}">
        <p14:creationId xmlns:p14="http://schemas.microsoft.com/office/powerpoint/2010/main" val="2353737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75BF3-C10E-EFB5-4AC0-E3F4EF3E3D5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E5C34E6-99C5-77E7-4511-E83080BEC7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E21059-CC06-3865-F8F8-862110DB589B}"/>
              </a:ext>
            </a:extLst>
          </p:cNvPr>
          <p:cNvSpPr>
            <a:spLocks noGrp="1"/>
          </p:cNvSpPr>
          <p:nvPr>
            <p:ph type="dt" sz="half" idx="10"/>
          </p:nvPr>
        </p:nvSpPr>
        <p:spPr/>
        <p:txBody>
          <a:bodyPr/>
          <a:lstStyle/>
          <a:p>
            <a:fld id="{E53EC75C-3DA6-490C-BF47-2A2932FE739C}" type="datetimeFigureOut">
              <a:rPr lang="en-US" smtClean="0"/>
              <a:t>3/25/2026</a:t>
            </a:fld>
            <a:endParaRPr lang="en-US"/>
          </a:p>
        </p:txBody>
      </p:sp>
      <p:sp>
        <p:nvSpPr>
          <p:cNvPr id="5" name="Footer Placeholder 4">
            <a:extLst>
              <a:ext uri="{FF2B5EF4-FFF2-40B4-BE49-F238E27FC236}">
                <a16:creationId xmlns:a16="http://schemas.microsoft.com/office/drawing/2014/main" id="{CF87140C-16E1-C6A5-4333-C6D78D91B1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1AD029-AB8D-5D68-A3EC-51A5301C1ED3}"/>
              </a:ext>
            </a:extLst>
          </p:cNvPr>
          <p:cNvSpPr>
            <a:spLocks noGrp="1"/>
          </p:cNvSpPr>
          <p:nvPr>
            <p:ph type="sldNum" sz="quarter" idx="12"/>
          </p:nvPr>
        </p:nvSpPr>
        <p:spPr/>
        <p:txBody>
          <a:bodyPr/>
          <a:lstStyle/>
          <a:p>
            <a:fld id="{0BEE2622-EFFF-4E7E-94C0-83A4CBABECBA}" type="slidenum">
              <a:rPr lang="en-US" smtClean="0"/>
              <a:t>‹#›</a:t>
            </a:fld>
            <a:endParaRPr lang="en-US"/>
          </a:p>
        </p:txBody>
      </p:sp>
    </p:spTree>
    <p:extLst>
      <p:ext uri="{BB962C8B-B14F-4D97-AF65-F5344CB8AC3E}">
        <p14:creationId xmlns:p14="http://schemas.microsoft.com/office/powerpoint/2010/main" val="12834409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8DD0EF-6F81-25D1-319A-3F3D5CEA5480}"/>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D56E05D-55F8-9C3C-6A42-C2D3DBA905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689499-34E5-4DAD-5487-486390295AAC}"/>
              </a:ext>
            </a:extLst>
          </p:cNvPr>
          <p:cNvSpPr>
            <a:spLocks noGrp="1"/>
          </p:cNvSpPr>
          <p:nvPr>
            <p:ph type="dt" sz="half" idx="10"/>
          </p:nvPr>
        </p:nvSpPr>
        <p:spPr/>
        <p:txBody>
          <a:bodyPr/>
          <a:lstStyle/>
          <a:p>
            <a:fld id="{E53EC75C-3DA6-490C-BF47-2A2932FE739C}" type="datetimeFigureOut">
              <a:rPr lang="en-US" smtClean="0"/>
              <a:t>3/25/2026</a:t>
            </a:fld>
            <a:endParaRPr lang="en-US"/>
          </a:p>
        </p:txBody>
      </p:sp>
      <p:sp>
        <p:nvSpPr>
          <p:cNvPr id="5" name="Footer Placeholder 4">
            <a:extLst>
              <a:ext uri="{FF2B5EF4-FFF2-40B4-BE49-F238E27FC236}">
                <a16:creationId xmlns:a16="http://schemas.microsoft.com/office/drawing/2014/main" id="{E2144959-9F2A-1525-E029-1EB617AAD0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9AE5F-0681-A8E9-C0D3-98551A90B40B}"/>
              </a:ext>
            </a:extLst>
          </p:cNvPr>
          <p:cNvSpPr>
            <a:spLocks noGrp="1"/>
          </p:cNvSpPr>
          <p:nvPr>
            <p:ph type="sldNum" sz="quarter" idx="12"/>
          </p:nvPr>
        </p:nvSpPr>
        <p:spPr/>
        <p:txBody>
          <a:bodyPr/>
          <a:lstStyle/>
          <a:p>
            <a:fld id="{0BEE2622-EFFF-4E7E-94C0-83A4CBABECBA}" type="slidenum">
              <a:rPr lang="en-US" smtClean="0"/>
              <a:t>‹#›</a:t>
            </a:fld>
            <a:endParaRPr lang="en-US"/>
          </a:p>
        </p:txBody>
      </p:sp>
    </p:spTree>
    <p:extLst>
      <p:ext uri="{BB962C8B-B14F-4D97-AF65-F5344CB8AC3E}">
        <p14:creationId xmlns:p14="http://schemas.microsoft.com/office/powerpoint/2010/main" val="16533508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13214E-7686-4172-9650-9476DC4D9FE0}"/>
              </a:ext>
            </a:extLst>
          </p:cNvPr>
          <p:cNvSpPr/>
          <p:nvPr userDrawn="1"/>
        </p:nvSpPr>
        <p:spPr>
          <a:xfrm>
            <a:off x="0" y="0"/>
            <a:ext cx="12192000" cy="6858000"/>
          </a:xfrm>
          <a:prstGeom prst="rect">
            <a:avLst/>
          </a:prstGeom>
          <a:solidFill>
            <a:srgbClr val="0276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Nova" panose="020B0504020202020204" pitchFamily="34" charset="0"/>
            </a:endParaRPr>
          </a:p>
        </p:txBody>
      </p:sp>
      <p:pic>
        <p:nvPicPr>
          <p:cNvPr id="3" name="Picture 2" descr="A picture containing drawing&#10;&#10;Description automatically generated">
            <a:extLst>
              <a:ext uri="{FF2B5EF4-FFF2-40B4-BE49-F238E27FC236}">
                <a16:creationId xmlns:a16="http://schemas.microsoft.com/office/drawing/2014/main" id="{451397DA-6A48-4748-8567-B253C33CC8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69399" y="2791448"/>
            <a:ext cx="5253202" cy="1275103"/>
          </a:xfrm>
          <a:prstGeom prst="rect">
            <a:avLst/>
          </a:prstGeom>
        </p:spPr>
      </p:pic>
    </p:spTree>
    <p:extLst>
      <p:ext uri="{BB962C8B-B14F-4D97-AF65-F5344CB8AC3E}">
        <p14:creationId xmlns:p14="http://schemas.microsoft.com/office/powerpoint/2010/main" val="3861284591"/>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F14D7-3449-4B59-AE47-AF43D4C35DF5}"/>
              </a:ext>
            </a:extLst>
          </p:cNvPr>
          <p:cNvSpPr>
            <a:spLocks noGrp="1"/>
          </p:cNvSpPr>
          <p:nvPr>
            <p:ph type="title"/>
          </p:nvPr>
        </p:nvSpPr>
        <p:spPr>
          <a:xfrm>
            <a:off x="2239554" y="184250"/>
            <a:ext cx="6763769" cy="700528"/>
          </a:xfrm>
        </p:spPr>
        <p:txBody>
          <a:bodyPr/>
          <a:lstStyle>
            <a:lvl1pPr algn="l">
              <a:defRPr>
                <a:solidFill>
                  <a:srgbClr val="0276BD"/>
                </a:solidFill>
                <a:latin typeface="Arial Nova" panose="020B0504020202020204" pitchFamily="34" charset="0"/>
              </a:defRPr>
            </a:lvl1pPr>
          </a:lstStyle>
          <a:p>
            <a:r>
              <a:rPr lang="en-US" dirty="0"/>
              <a:t>Click to edit Master title style</a:t>
            </a:r>
          </a:p>
        </p:txBody>
      </p:sp>
      <p:sp>
        <p:nvSpPr>
          <p:cNvPr id="3" name="Rectangle 2">
            <a:extLst>
              <a:ext uri="{FF2B5EF4-FFF2-40B4-BE49-F238E27FC236}">
                <a16:creationId xmlns:a16="http://schemas.microsoft.com/office/drawing/2014/main" id="{7EA4B8E7-D1AE-421A-AD17-EC09B592C189}"/>
              </a:ext>
            </a:extLst>
          </p:cNvPr>
          <p:cNvSpPr/>
          <p:nvPr userDrawn="1"/>
        </p:nvSpPr>
        <p:spPr>
          <a:xfrm>
            <a:off x="0" y="0"/>
            <a:ext cx="2082018" cy="6867144"/>
          </a:xfrm>
          <a:prstGeom prst="rect">
            <a:avLst/>
          </a:prstGeom>
          <a:solidFill>
            <a:srgbClr val="0276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Nova" panose="020B0504020202020204" pitchFamily="34" charset="0"/>
              <a:ea typeface="+mn-ea"/>
              <a:cs typeface="+mn-cs"/>
              <a:sym typeface="Arial"/>
            </a:endParaRPr>
          </a:p>
        </p:txBody>
      </p:sp>
      <p:cxnSp>
        <p:nvCxnSpPr>
          <p:cNvPr id="8" name="Straight Connector 7">
            <a:extLst>
              <a:ext uri="{FF2B5EF4-FFF2-40B4-BE49-F238E27FC236}">
                <a16:creationId xmlns:a16="http://schemas.microsoft.com/office/drawing/2014/main" id="{9CE08021-D569-4AA6-8035-38A6DE309EE8}"/>
              </a:ext>
            </a:extLst>
          </p:cNvPr>
          <p:cNvCxnSpPr/>
          <p:nvPr userDrawn="1"/>
        </p:nvCxnSpPr>
        <p:spPr>
          <a:xfrm>
            <a:off x="2366682" y="884778"/>
            <a:ext cx="995083" cy="0"/>
          </a:xfrm>
          <a:prstGeom prst="line">
            <a:avLst/>
          </a:prstGeom>
          <a:ln w="28575">
            <a:solidFill>
              <a:srgbClr val="0F4C7A"/>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A9207EB4-0B6C-4335-8144-01013C4F005B}"/>
              </a:ext>
            </a:extLst>
          </p:cNvPr>
          <p:cNvSpPr>
            <a:spLocks noGrp="1"/>
          </p:cNvSpPr>
          <p:nvPr>
            <p:ph idx="1"/>
          </p:nvPr>
        </p:nvSpPr>
        <p:spPr>
          <a:xfrm>
            <a:off x="2366682" y="1220372"/>
            <a:ext cx="9482418" cy="5197204"/>
          </a:xfrm>
        </p:spPr>
        <p:txBody>
          <a:bodyPr/>
          <a:lstStyle>
            <a:lvl1pPr>
              <a:defRPr>
                <a:latin typeface="Arial Nova" panose="020B0504020202020204" pitchFamily="34" charset="0"/>
              </a:defRPr>
            </a:lvl1pPr>
            <a:lvl2pPr marL="914400" indent="-381000">
              <a:buSzPct val="75000"/>
              <a:buFont typeface="Courier New" panose="02070309020205020404" pitchFamily="49" charset="0"/>
              <a:buChar char="o"/>
              <a:defRPr>
                <a:latin typeface="Arial Nova" panose="020B0504020202020204" pitchFamily="34" charset="0"/>
              </a:defRPr>
            </a:lvl2pPr>
            <a:lvl3pPr marL="1371600" indent="-355600">
              <a:buFont typeface="Wingdings" panose="05000000000000000000" pitchFamily="2" charset="2"/>
              <a:buChar char="§"/>
              <a:defRPr>
                <a:latin typeface="Arial Nova" panose="020B0504020202020204" pitchFamily="34" charset="0"/>
              </a:defRPr>
            </a:lvl3pPr>
            <a:lvl4pPr>
              <a:defRPr>
                <a:latin typeface="Arial Nova" panose="020B0504020202020204" pitchFamily="34" charset="0"/>
              </a:defRPr>
            </a:lvl4pPr>
            <a:lvl5pPr marL="2286000" indent="-342900">
              <a:buFont typeface="Courier New" panose="02070309020205020404" pitchFamily="49" charset="0"/>
              <a:buChar char="o"/>
              <a:defRPr>
                <a:latin typeface="Arial Nova" panose="020B05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close up of a sign&#10;&#10;Description automatically generated">
            <a:extLst>
              <a:ext uri="{FF2B5EF4-FFF2-40B4-BE49-F238E27FC236}">
                <a16:creationId xmlns:a16="http://schemas.microsoft.com/office/drawing/2014/main" id="{41E5DF4B-742C-4D52-8141-92B2BAA8A742}"/>
              </a:ext>
            </a:extLst>
          </p:cNvPr>
          <p:cNvPicPr>
            <a:picLocks noChangeAspect="1"/>
          </p:cNvPicPr>
          <p:nvPr userDrawn="1"/>
        </p:nvPicPr>
        <p:blipFill>
          <a:blip r:embed="rId2"/>
          <a:stretch>
            <a:fillRect/>
          </a:stretch>
        </p:blipFill>
        <p:spPr>
          <a:xfrm>
            <a:off x="9462954" y="162487"/>
            <a:ext cx="2450592" cy="686165"/>
          </a:xfrm>
          <a:prstGeom prst="rect">
            <a:avLst/>
          </a:prstGeom>
        </p:spPr>
      </p:pic>
    </p:spTree>
    <p:extLst>
      <p:ext uri="{BB962C8B-B14F-4D97-AF65-F5344CB8AC3E}">
        <p14:creationId xmlns:p14="http://schemas.microsoft.com/office/powerpoint/2010/main" val="2910659591"/>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F14D7-3449-4B59-AE47-AF43D4C35DF5}"/>
              </a:ext>
            </a:extLst>
          </p:cNvPr>
          <p:cNvSpPr>
            <a:spLocks noGrp="1"/>
          </p:cNvSpPr>
          <p:nvPr>
            <p:ph type="title"/>
          </p:nvPr>
        </p:nvSpPr>
        <p:spPr>
          <a:xfrm>
            <a:off x="2239554" y="184250"/>
            <a:ext cx="6763769" cy="700528"/>
          </a:xfrm>
        </p:spPr>
        <p:txBody>
          <a:bodyPr/>
          <a:lstStyle>
            <a:lvl1pPr algn="l">
              <a:defRPr>
                <a:solidFill>
                  <a:srgbClr val="0276BD"/>
                </a:solidFill>
                <a:latin typeface="Arial Nova" panose="020B0504020202020204" pitchFamily="34" charset="0"/>
              </a:defRPr>
            </a:lvl1pPr>
          </a:lstStyle>
          <a:p>
            <a:r>
              <a:rPr lang="en-US" dirty="0"/>
              <a:t>Click to edit Master title style</a:t>
            </a:r>
          </a:p>
        </p:txBody>
      </p:sp>
      <p:sp>
        <p:nvSpPr>
          <p:cNvPr id="3" name="Rectangle 2">
            <a:extLst>
              <a:ext uri="{FF2B5EF4-FFF2-40B4-BE49-F238E27FC236}">
                <a16:creationId xmlns:a16="http://schemas.microsoft.com/office/drawing/2014/main" id="{7EA4B8E7-D1AE-421A-AD17-EC09B592C189}"/>
              </a:ext>
            </a:extLst>
          </p:cNvPr>
          <p:cNvSpPr/>
          <p:nvPr userDrawn="1"/>
        </p:nvSpPr>
        <p:spPr>
          <a:xfrm>
            <a:off x="0" y="0"/>
            <a:ext cx="2082018" cy="6867144"/>
          </a:xfrm>
          <a:prstGeom prst="rect">
            <a:avLst/>
          </a:prstGeom>
          <a:solidFill>
            <a:srgbClr val="0276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Nova" panose="020B0504020202020204" pitchFamily="34" charset="0"/>
              <a:ea typeface="+mn-ea"/>
              <a:cs typeface="+mn-cs"/>
              <a:sym typeface="Arial"/>
            </a:endParaRPr>
          </a:p>
        </p:txBody>
      </p:sp>
      <p:sp>
        <p:nvSpPr>
          <p:cNvPr id="18" name="Content Placeholder 2">
            <a:extLst>
              <a:ext uri="{FF2B5EF4-FFF2-40B4-BE49-F238E27FC236}">
                <a16:creationId xmlns:a16="http://schemas.microsoft.com/office/drawing/2014/main" id="{A9207EB4-0B6C-4335-8144-01013C4F005B}"/>
              </a:ext>
            </a:extLst>
          </p:cNvPr>
          <p:cNvSpPr>
            <a:spLocks noGrp="1"/>
          </p:cNvSpPr>
          <p:nvPr>
            <p:ph idx="1"/>
          </p:nvPr>
        </p:nvSpPr>
        <p:spPr>
          <a:xfrm>
            <a:off x="2366682" y="1220372"/>
            <a:ext cx="9482418" cy="5197204"/>
          </a:xfrm>
        </p:spPr>
        <p:txBody>
          <a:bodyPr/>
          <a:lstStyle>
            <a:lvl1pPr>
              <a:defRPr>
                <a:latin typeface="Arial Nova" panose="020B0504020202020204" pitchFamily="34" charset="0"/>
              </a:defRPr>
            </a:lvl1pPr>
            <a:lvl2pPr marL="914400" indent="-381000">
              <a:buSzPct val="75000"/>
              <a:buFont typeface="Courier New" panose="02070309020205020404" pitchFamily="49" charset="0"/>
              <a:buChar char="o"/>
              <a:defRPr>
                <a:latin typeface="Arial Nova" panose="020B0504020202020204" pitchFamily="34" charset="0"/>
              </a:defRPr>
            </a:lvl2pPr>
            <a:lvl3pPr marL="1371600" indent="-355600">
              <a:buFont typeface="Wingdings" panose="05000000000000000000" pitchFamily="2" charset="2"/>
              <a:buChar char="§"/>
              <a:defRPr>
                <a:latin typeface="Arial Nova" panose="020B0504020202020204" pitchFamily="34" charset="0"/>
              </a:defRPr>
            </a:lvl3pPr>
            <a:lvl4pPr>
              <a:defRPr>
                <a:latin typeface="Arial Nova" panose="020B0504020202020204" pitchFamily="34" charset="0"/>
              </a:defRPr>
            </a:lvl4pPr>
            <a:lvl5pPr marL="2286000" indent="-342900">
              <a:buFont typeface="Courier New" panose="02070309020205020404" pitchFamily="49" charset="0"/>
              <a:buChar char="o"/>
              <a:defRPr>
                <a:latin typeface="Arial Nova" panose="020B05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close up of a sign&#10;&#10;Description automatically generated">
            <a:extLst>
              <a:ext uri="{FF2B5EF4-FFF2-40B4-BE49-F238E27FC236}">
                <a16:creationId xmlns:a16="http://schemas.microsoft.com/office/drawing/2014/main" id="{41E5DF4B-742C-4D52-8141-92B2BAA8A742}"/>
              </a:ext>
            </a:extLst>
          </p:cNvPr>
          <p:cNvPicPr>
            <a:picLocks noChangeAspect="1"/>
          </p:cNvPicPr>
          <p:nvPr userDrawn="1"/>
        </p:nvPicPr>
        <p:blipFill>
          <a:blip r:embed="rId2"/>
          <a:stretch>
            <a:fillRect/>
          </a:stretch>
        </p:blipFill>
        <p:spPr>
          <a:xfrm>
            <a:off x="9462954" y="162487"/>
            <a:ext cx="2450592" cy="686165"/>
          </a:xfrm>
          <a:prstGeom prst="rect">
            <a:avLst/>
          </a:prstGeom>
        </p:spPr>
      </p:pic>
    </p:spTree>
    <p:extLst>
      <p:ext uri="{BB962C8B-B14F-4D97-AF65-F5344CB8AC3E}">
        <p14:creationId xmlns:p14="http://schemas.microsoft.com/office/powerpoint/2010/main" val="897490278"/>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F14D7-3449-4B59-AE47-AF43D4C35DF5}"/>
              </a:ext>
            </a:extLst>
          </p:cNvPr>
          <p:cNvSpPr>
            <a:spLocks noGrp="1"/>
          </p:cNvSpPr>
          <p:nvPr>
            <p:ph type="title"/>
          </p:nvPr>
        </p:nvSpPr>
        <p:spPr>
          <a:xfrm>
            <a:off x="1175256" y="184250"/>
            <a:ext cx="6763769" cy="700528"/>
          </a:xfrm>
        </p:spPr>
        <p:txBody>
          <a:bodyPr/>
          <a:lstStyle>
            <a:lvl1pPr algn="l">
              <a:defRPr>
                <a:solidFill>
                  <a:srgbClr val="0276BD"/>
                </a:solidFill>
                <a:latin typeface="Arial Nova" panose="020B0504020202020204" pitchFamily="34" charset="0"/>
              </a:defRPr>
            </a:lvl1pPr>
          </a:lstStyle>
          <a:p>
            <a:r>
              <a:rPr lang="en-US" dirty="0"/>
              <a:t>Click to edit Master title style</a:t>
            </a:r>
          </a:p>
        </p:txBody>
      </p:sp>
      <p:sp>
        <p:nvSpPr>
          <p:cNvPr id="3" name="Rectangle 2">
            <a:extLst>
              <a:ext uri="{FF2B5EF4-FFF2-40B4-BE49-F238E27FC236}">
                <a16:creationId xmlns:a16="http://schemas.microsoft.com/office/drawing/2014/main" id="{7EA4B8E7-D1AE-421A-AD17-EC09B592C189}"/>
              </a:ext>
            </a:extLst>
          </p:cNvPr>
          <p:cNvSpPr/>
          <p:nvPr userDrawn="1"/>
        </p:nvSpPr>
        <p:spPr>
          <a:xfrm>
            <a:off x="0" y="0"/>
            <a:ext cx="995083" cy="6867144"/>
          </a:xfrm>
          <a:prstGeom prst="rect">
            <a:avLst/>
          </a:prstGeom>
          <a:solidFill>
            <a:srgbClr val="0276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Nova" panose="020B0504020202020204" pitchFamily="34" charset="0"/>
              <a:ea typeface="+mn-ea"/>
              <a:cs typeface="+mn-cs"/>
              <a:sym typeface="Arial"/>
            </a:endParaRPr>
          </a:p>
        </p:txBody>
      </p:sp>
      <p:cxnSp>
        <p:nvCxnSpPr>
          <p:cNvPr id="8" name="Straight Connector 7">
            <a:extLst>
              <a:ext uri="{FF2B5EF4-FFF2-40B4-BE49-F238E27FC236}">
                <a16:creationId xmlns:a16="http://schemas.microsoft.com/office/drawing/2014/main" id="{9CE08021-D569-4AA6-8035-38A6DE309EE8}"/>
              </a:ext>
            </a:extLst>
          </p:cNvPr>
          <p:cNvCxnSpPr/>
          <p:nvPr userDrawn="1"/>
        </p:nvCxnSpPr>
        <p:spPr>
          <a:xfrm>
            <a:off x="1302384" y="884778"/>
            <a:ext cx="995083" cy="0"/>
          </a:xfrm>
          <a:prstGeom prst="line">
            <a:avLst/>
          </a:prstGeom>
          <a:ln w="28575">
            <a:solidFill>
              <a:srgbClr val="0F4C7A"/>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615688F3-DB62-4D32-BF5F-C20CB3A99D03}"/>
              </a:ext>
            </a:extLst>
          </p:cNvPr>
          <p:cNvSpPr>
            <a:spLocks noGrp="1"/>
          </p:cNvSpPr>
          <p:nvPr>
            <p:ph idx="1"/>
          </p:nvPr>
        </p:nvSpPr>
        <p:spPr>
          <a:xfrm>
            <a:off x="1175256" y="1220372"/>
            <a:ext cx="9675040" cy="5197204"/>
          </a:xfrm>
        </p:spPr>
        <p:txBody>
          <a:bodyPr/>
          <a:lstStyle>
            <a:lvl1pPr>
              <a:defRPr>
                <a:latin typeface="Arial Nova" panose="020B0504020202020204" pitchFamily="34" charset="0"/>
              </a:defRPr>
            </a:lvl1pPr>
            <a:lvl2pPr marL="914400" indent="-381000">
              <a:buSzPct val="75000"/>
              <a:buFont typeface="Courier New" panose="02070309020205020404" pitchFamily="49" charset="0"/>
              <a:buChar char="o"/>
              <a:defRPr>
                <a:latin typeface="Arial Nova" panose="020B0504020202020204" pitchFamily="34" charset="0"/>
              </a:defRPr>
            </a:lvl2pPr>
            <a:lvl3pPr marL="1371600" indent="-355600">
              <a:buFont typeface="Wingdings" panose="05000000000000000000" pitchFamily="2" charset="2"/>
              <a:buChar char="§"/>
              <a:defRPr>
                <a:latin typeface="Arial Nova" panose="020B0504020202020204" pitchFamily="34" charset="0"/>
              </a:defRPr>
            </a:lvl3pPr>
            <a:lvl4pPr>
              <a:defRPr>
                <a:latin typeface="Arial Nova" panose="020B0504020202020204" pitchFamily="34" charset="0"/>
              </a:defRPr>
            </a:lvl4pPr>
            <a:lvl5pPr marL="2286000" indent="-342900">
              <a:buFont typeface="Courier New" panose="02070309020205020404" pitchFamily="49" charset="0"/>
              <a:buChar char="o"/>
              <a:defRPr>
                <a:latin typeface="Arial Nova" panose="020B05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A close up of a sign&#10;&#10;Description automatically generated">
            <a:extLst>
              <a:ext uri="{FF2B5EF4-FFF2-40B4-BE49-F238E27FC236}">
                <a16:creationId xmlns:a16="http://schemas.microsoft.com/office/drawing/2014/main" id="{5664C755-F1BB-496E-A257-DA06AD88B8C8}"/>
              </a:ext>
            </a:extLst>
          </p:cNvPr>
          <p:cNvPicPr>
            <a:picLocks noChangeAspect="1"/>
          </p:cNvPicPr>
          <p:nvPr userDrawn="1"/>
        </p:nvPicPr>
        <p:blipFill>
          <a:blip r:embed="rId2"/>
          <a:stretch>
            <a:fillRect/>
          </a:stretch>
        </p:blipFill>
        <p:spPr>
          <a:xfrm>
            <a:off x="9462954" y="162487"/>
            <a:ext cx="2450592" cy="686165"/>
          </a:xfrm>
          <a:prstGeom prst="rect">
            <a:avLst/>
          </a:prstGeom>
        </p:spPr>
      </p:pic>
    </p:spTree>
    <p:extLst>
      <p:ext uri="{BB962C8B-B14F-4D97-AF65-F5344CB8AC3E}">
        <p14:creationId xmlns:p14="http://schemas.microsoft.com/office/powerpoint/2010/main" val="1147136969"/>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C6B03DB-739C-43F2-A463-2E916E8817BC}"/>
              </a:ext>
            </a:extLst>
          </p:cNvPr>
          <p:cNvSpPr/>
          <p:nvPr userDrawn="1"/>
        </p:nvSpPr>
        <p:spPr>
          <a:xfrm>
            <a:off x="0" y="185738"/>
            <a:ext cx="12192000" cy="714807"/>
          </a:xfrm>
          <a:prstGeom prst="rect">
            <a:avLst/>
          </a:prstGeom>
          <a:solidFill>
            <a:srgbClr val="0276B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Nova" panose="020B0504020202020204" pitchFamily="34" charset="0"/>
              <a:ea typeface="+mn-ea"/>
              <a:cs typeface="+mn-cs"/>
              <a:sym typeface="Arial"/>
            </a:endParaRPr>
          </a:p>
        </p:txBody>
      </p:sp>
      <p:sp>
        <p:nvSpPr>
          <p:cNvPr id="2" name="Title 1">
            <a:extLst>
              <a:ext uri="{FF2B5EF4-FFF2-40B4-BE49-F238E27FC236}">
                <a16:creationId xmlns:a16="http://schemas.microsoft.com/office/drawing/2014/main" id="{6AF07680-3B77-402B-9FFD-340ADFEFCDB2}"/>
              </a:ext>
            </a:extLst>
          </p:cNvPr>
          <p:cNvSpPr>
            <a:spLocks noGrp="1"/>
          </p:cNvSpPr>
          <p:nvPr>
            <p:ph type="title"/>
          </p:nvPr>
        </p:nvSpPr>
        <p:spPr>
          <a:xfrm>
            <a:off x="334696" y="254604"/>
            <a:ext cx="9030978" cy="577073"/>
          </a:xfrm>
        </p:spPr>
        <p:txBody>
          <a:bodyPr>
            <a:normAutofit/>
          </a:bodyPr>
          <a:lstStyle>
            <a:lvl1pPr>
              <a:defRPr sz="3500">
                <a:latin typeface="Arial Nova" panose="020B0504020202020204" pitchFamily="34" charset="0"/>
              </a:defRPr>
            </a:lvl1pPr>
          </a:lstStyle>
          <a:p>
            <a:r>
              <a:rPr lang="en-US" dirty="0"/>
              <a:t>Click to edit Master title style</a:t>
            </a:r>
          </a:p>
        </p:txBody>
      </p:sp>
      <p:sp>
        <p:nvSpPr>
          <p:cNvPr id="9" name="Content Placeholder 2">
            <a:extLst>
              <a:ext uri="{FF2B5EF4-FFF2-40B4-BE49-F238E27FC236}">
                <a16:creationId xmlns:a16="http://schemas.microsoft.com/office/drawing/2014/main" id="{9F3D04DF-7E06-4E5C-A895-8032134F2E3B}"/>
              </a:ext>
            </a:extLst>
          </p:cNvPr>
          <p:cNvSpPr>
            <a:spLocks noGrp="1"/>
          </p:cNvSpPr>
          <p:nvPr>
            <p:ph idx="1"/>
          </p:nvPr>
        </p:nvSpPr>
        <p:spPr>
          <a:xfrm>
            <a:off x="804471" y="1220372"/>
            <a:ext cx="10583057" cy="5197204"/>
          </a:xfrm>
        </p:spPr>
        <p:txBody>
          <a:bodyPr/>
          <a:lstStyle>
            <a:lvl1pPr>
              <a:defRPr>
                <a:latin typeface="Arial Nova" panose="020B0504020202020204" pitchFamily="34" charset="0"/>
              </a:defRPr>
            </a:lvl1pPr>
            <a:lvl2pPr marL="914400" indent="-381000">
              <a:buSzPct val="75000"/>
              <a:buFont typeface="Courier New" panose="02070309020205020404" pitchFamily="49" charset="0"/>
              <a:buChar char="o"/>
              <a:defRPr>
                <a:latin typeface="Arial Nova" panose="020B0504020202020204" pitchFamily="34" charset="0"/>
              </a:defRPr>
            </a:lvl2pPr>
            <a:lvl3pPr marL="1371600" indent="-355600">
              <a:buFont typeface="Wingdings" panose="05000000000000000000" pitchFamily="2" charset="2"/>
              <a:buChar char="§"/>
              <a:defRPr>
                <a:latin typeface="Arial Nova" panose="020B0504020202020204" pitchFamily="34" charset="0"/>
              </a:defRPr>
            </a:lvl3pPr>
            <a:lvl4pPr>
              <a:defRPr>
                <a:latin typeface="Arial Nova" panose="020B0504020202020204" pitchFamily="34" charset="0"/>
              </a:defRPr>
            </a:lvl4pPr>
            <a:lvl5pPr marL="2286000" indent="-342900">
              <a:buFont typeface="Courier New" panose="02070309020205020404" pitchFamily="49" charset="0"/>
              <a:buChar char="o"/>
              <a:defRPr>
                <a:latin typeface="Arial Nova" panose="020B05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a:extLst>
              <a:ext uri="{FF2B5EF4-FFF2-40B4-BE49-F238E27FC236}">
                <a16:creationId xmlns:a16="http://schemas.microsoft.com/office/drawing/2014/main" id="{969C2B0A-7FD1-47F6-A1DF-AEC8675237E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4478"/>
          <a:stretch/>
        </p:blipFill>
        <p:spPr>
          <a:xfrm>
            <a:off x="9411618" y="216910"/>
            <a:ext cx="2445687" cy="640080"/>
          </a:xfrm>
          <a:prstGeom prst="rect">
            <a:avLst/>
          </a:prstGeom>
        </p:spPr>
      </p:pic>
    </p:spTree>
    <p:extLst>
      <p:ext uri="{BB962C8B-B14F-4D97-AF65-F5344CB8AC3E}">
        <p14:creationId xmlns:p14="http://schemas.microsoft.com/office/powerpoint/2010/main" val="10873864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C6B03DB-739C-43F2-A463-2E916E8817BC}"/>
              </a:ext>
            </a:extLst>
          </p:cNvPr>
          <p:cNvSpPr/>
          <p:nvPr userDrawn="1"/>
        </p:nvSpPr>
        <p:spPr>
          <a:xfrm>
            <a:off x="0" y="185738"/>
            <a:ext cx="12192000" cy="714807"/>
          </a:xfrm>
          <a:prstGeom prst="rect">
            <a:avLst/>
          </a:prstGeom>
          <a:solidFill>
            <a:srgbClr val="0276B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Nova" panose="020B0504020202020204" pitchFamily="34" charset="0"/>
              <a:ea typeface="+mn-ea"/>
              <a:cs typeface="+mn-cs"/>
              <a:sym typeface="Arial"/>
            </a:endParaRPr>
          </a:p>
        </p:txBody>
      </p:sp>
      <p:sp>
        <p:nvSpPr>
          <p:cNvPr id="2" name="Title 1">
            <a:extLst>
              <a:ext uri="{FF2B5EF4-FFF2-40B4-BE49-F238E27FC236}">
                <a16:creationId xmlns:a16="http://schemas.microsoft.com/office/drawing/2014/main" id="{6AF07680-3B77-402B-9FFD-340ADFEFCDB2}"/>
              </a:ext>
            </a:extLst>
          </p:cNvPr>
          <p:cNvSpPr>
            <a:spLocks noGrp="1"/>
          </p:cNvSpPr>
          <p:nvPr>
            <p:ph type="title"/>
          </p:nvPr>
        </p:nvSpPr>
        <p:spPr>
          <a:xfrm>
            <a:off x="334696" y="254604"/>
            <a:ext cx="9030978" cy="577073"/>
          </a:xfrm>
        </p:spPr>
        <p:txBody>
          <a:bodyPr>
            <a:normAutofit/>
          </a:bodyPr>
          <a:lstStyle>
            <a:lvl1pPr>
              <a:defRPr sz="3500">
                <a:latin typeface="Arial Nova" panose="020B0504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41912F35-F1B4-43EE-9979-A5D3544E35D1}"/>
              </a:ext>
            </a:extLst>
          </p:cNvPr>
          <p:cNvSpPr>
            <a:spLocks noGrp="1"/>
          </p:cNvSpPr>
          <p:nvPr>
            <p:ph idx="1"/>
          </p:nvPr>
        </p:nvSpPr>
        <p:spPr>
          <a:xfrm>
            <a:off x="334696" y="1220372"/>
            <a:ext cx="10515600" cy="5197204"/>
          </a:xfrm>
        </p:spPr>
        <p:txBody>
          <a:bodyPr/>
          <a:lstStyle>
            <a:lvl1pPr>
              <a:defRPr>
                <a:latin typeface="Arial Nova" panose="020B0504020202020204" pitchFamily="34" charset="0"/>
              </a:defRPr>
            </a:lvl1pPr>
            <a:lvl2pPr marL="914400" indent="-381000">
              <a:buSzPct val="75000"/>
              <a:buFont typeface="Courier New" panose="02070309020205020404" pitchFamily="49" charset="0"/>
              <a:buChar char="o"/>
              <a:defRPr>
                <a:latin typeface="Arial Nova" panose="020B0504020202020204" pitchFamily="34" charset="0"/>
              </a:defRPr>
            </a:lvl2pPr>
            <a:lvl3pPr marL="1371600" indent="-355600">
              <a:buFont typeface="Wingdings" panose="05000000000000000000" pitchFamily="2" charset="2"/>
              <a:buChar char="§"/>
              <a:defRPr>
                <a:latin typeface="Arial Nova" panose="020B0504020202020204" pitchFamily="34" charset="0"/>
              </a:defRPr>
            </a:lvl3pPr>
            <a:lvl4pPr>
              <a:defRPr>
                <a:latin typeface="Arial Nova" panose="020B0504020202020204" pitchFamily="34" charset="0"/>
              </a:defRPr>
            </a:lvl4pPr>
            <a:lvl5pPr marL="2286000" indent="-342900">
              <a:buFont typeface="Courier New" panose="02070309020205020404" pitchFamily="49" charset="0"/>
              <a:buChar char="o"/>
              <a:defRPr>
                <a:latin typeface="Arial Nova" panose="020B05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a:extLst>
              <a:ext uri="{FF2B5EF4-FFF2-40B4-BE49-F238E27FC236}">
                <a16:creationId xmlns:a16="http://schemas.microsoft.com/office/drawing/2014/main" id="{AE826203-168D-4792-A81B-44B11289E04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4478"/>
          <a:stretch/>
        </p:blipFill>
        <p:spPr>
          <a:xfrm>
            <a:off x="9411618" y="216910"/>
            <a:ext cx="2445687" cy="640080"/>
          </a:xfrm>
          <a:prstGeom prst="rect">
            <a:avLst/>
          </a:prstGeom>
        </p:spPr>
      </p:pic>
    </p:spTree>
    <p:extLst>
      <p:ext uri="{BB962C8B-B14F-4D97-AF65-F5344CB8AC3E}">
        <p14:creationId xmlns:p14="http://schemas.microsoft.com/office/powerpoint/2010/main" val="29949004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0_Custom Layout" preserve="1">
  <p:cSld name="10_Custom Layout">
    <p:spTree>
      <p:nvGrpSpPr>
        <p:cNvPr id="1" name="Shape 32"/>
        <p:cNvGrpSpPr/>
        <p:nvPr/>
      </p:nvGrpSpPr>
      <p:grpSpPr>
        <a:xfrm>
          <a:off x="0" y="0"/>
          <a:ext cx="0" cy="0"/>
          <a:chOff x="0" y="0"/>
          <a:chExt cx="0" cy="0"/>
        </a:xfrm>
      </p:grpSpPr>
      <p:sp>
        <p:nvSpPr>
          <p:cNvPr id="33" name="Google Shape;33;p51"/>
          <p:cNvSpPr/>
          <p:nvPr userDrawn="1"/>
        </p:nvSpPr>
        <p:spPr>
          <a:xfrm>
            <a:off x="0" y="0"/>
            <a:ext cx="12192000" cy="6872990"/>
          </a:xfrm>
          <a:prstGeom prst="rect">
            <a:avLst/>
          </a:prstGeom>
          <a:solidFill>
            <a:srgbClr val="0076B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rial Nova" panose="020B0504020202020204" pitchFamily="34" charset="0"/>
              <a:ea typeface="Arial"/>
              <a:cs typeface="Arial"/>
              <a:sym typeface="Arial"/>
            </a:endParaRPr>
          </a:p>
        </p:txBody>
      </p:sp>
      <p:sp>
        <p:nvSpPr>
          <p:cNvPr id="34" name="Google Shape;34;p51"/>
          <p:cNvSpPr txBox="1">
            <a:spLocks noGrp="1"/>
          </p:cNvSpPr>
          <p:nvPr>
            <p:ph type="title"/>
          </p:nvPr>
        </p:nvSpPr>
        <p:spPr>
          <a:xfrm>
            <a:off x="1606507" y="3078736"/>
            <a:ext cx="8978986" cy="70052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lt1"/>
              </a:buClr>
              <a:buSzPts val="3500"/>
              <a:buFont typeface="Arial"/>
              <a:buNone/>
              <a:defRPr sz="4500">
                <a:latin typeface="Arial Nova" panose="020B05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pic>
        <p:nvPicPr>
          <p:cNvPr id="7" name="Picture 6">
            <a:extLst>
              <a:ext uri="{FF2B5EF4-FFF2-40B4-BE49-F238E27FC236}">
                <a16:creationId xmlns:a16="http://schemas.microsoft.com/office/drawing/2014/main" id="{7A67F5D0-1BE9-49EF-A905-C49A583F175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4478"/>
          <a:stretch/>
        </p:blipFill>
        <p:spPr>
          <a:xfrm>
            <a:off x="9411618" y="216910"/>
            <a:ext cx="2445687" cy="640080"/>
          </a:xfrm>
          <a:prstGeom prst="rect">
            <a:avLst/>
          </a:prstGeom>
        </p:spPr>
      </p:pic>
    </p:spTree>
    <p:extLst>
      <p:ext uri="{BB962C8B-B14F-4D97-AF65-F5344CB8AC3E}">
        <p14:creationId xmlns:p14="http://schemas.microsoft.com/office/powerpoint/2010/main" val="12314777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Custom Layout">
    <p:bg>
      <p:bgPr>
        <a:solidFill>
          <a:srgbClr val="0079C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F14D7-3449-4B59-AE47-AF43D4C35DF5}"/>
              </a:ext>
            </a:extLst>
          </p:cNvPr>
          <p:cNvSpPr>
            <a:spLocks noGrp="1"/>
          </p:cNvSpPr>
          <p:nvPr>
            <p:ph type="title"/>
          </p:nvPr>
        </p:nvSpPr>
        <p:spPr>
          <a:xfrm>
            <a:off x="1606507" y="3078736"/>
            <a:ext cx="8978986" cy="700528"/>
          </a:xfrm>
        </p:spPr>
        <p:txBody>
          <a:bodyPr>
            <a:noAutofit/>
          </a:bodyPr>
          <a:lstStyle>
            <a:lvl1pPr algn="ctr">
              <a:defRPr sz="4500">
                <a:solidFill>
                  <a:schemeClr val="bg1"/>
                </a:solidFill>
                <a:latin typeface="Arial Nova" panose="020B0504020202020204" pitchFamily="34" charset="0"/>
              </a:defRPr>
            </a:lvl1pPr>
          </a:lstStyle>
          <a:p>
            <a:r>
              <a:rPr lang="en-US" dirty="0"/>
              <a:t>Click to edit Master title style</a:t>
            </a:r>
          </a:p>
        </p:txBody>
      </p:sp>
      <p:pic>
        <p:nvPicPr>
          <p:cNvPr id="6" name="Picture 5">
            <a:extLst>
              <a:ext uri="{FF2B5EF4-FFF2-40B4-BE49-F238E27FC236}">
                <a16:creationId xmlns:a16="http://schemas.microsoft.com/office/drawing/2014/main" id="{ECD3F5BA-029E-494C-8917-02D4A467F5E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4478"/>
          <a:stretch/>
        </p:blipFill>
        <p:spPr>
          <a:xfrm>
            <a:off x="9411618" y="216910"/>
            <a:ext cx="2445687" cy="640080"/>
          </a:xfrm>
          <a:prstGeom prst="rect">
            <a:avLst/>
          </a:prstGeom>
        </p:spPr>
      </p:pic>
    </p:spTree>
    <p:extLst>
      <p:ext uri="{BB962C8B-B14F-4D97-AF65-F5344CB8AC3E}">
        <p14:creationId xmlns:p14="http://schemas.microsoft.com/office/powerpoint/2010/main" val="1367256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13214E-7686-4172-9650-9476DC4D9FE0}"/>
              </a:ext>
            </a:extLst>
          </p:cNvPr>
          <p:cNvSpPr/>
          <p:nvPr userDrawn="1"/>
        </p:nvSpPr>
        <p:spPr>
          <a:xfrm>
            <a:off x="0" y="0"/>
            <a:ext cx="12192000" cy="6867144"/>
          </a:xfrm>
          <a:prstGeom prst="rect">
            <a:avLst/>
          </a:prstGeom>
          <a:solidFill>
            <a:srgbClr val="0076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Nova" panose="020B0504020202020204" pitchFamily="34" charset="0"/>
              <a:ea typeface="+mn-ea"/>
              <a:cs typeface="+mn-cs"/>
              <a:sym typeface="Arial"/>
            </a:endParaRPr>
          </a:p>
        </p:txBody>
      </p:sp>
      <p:sp>
        <p:nvSpPr>
          <p:cNvPr id="2" name="Title 1">
            <a:extLst>
              <a:ext uri="{FF2B5EF4-FFF2-40B4-BE49-F238E27FC236}">
                <a16:creationId xmlns:a16="http://schemas.microsoft.com/office/drawing/2014/main" id="{06FF14D7-3449-4B59-AE47-AF43D4C35DF5}"/>
              </a:ext>
            </a:extLst>
          </p:cNvPr>
          <p:cNvSpPr>
            <a:spLocks noGrp="1"/>
          </p:cNvSpPr>
          <p:nvPr>
            <p:ph type="title"/>
          </p:nvPr>
        </p:nvSpPr>
        <p:spPr>
          <a:xfrm>
            <a:off x="334696" y="185738"/>
            <a:ext cx="8978986" cy="700528"/>
          </a:xfrm>
        </p:spPr>
        <p:txBody>
          <a:bodyPr/>
          <a:lstStyle>
            <a:lvl1pPr>
              <a:defRPr>
                <a:latin typeface="Arial Nova" panose="020B0504020202020204"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33E2E76C-A80C-4883-AE27-A67A1ED72478}"/>
              </a:ext>
            </a:extLst>
          </p:cNvPr>
          <p:cNvSpPr>
            <a:spLocks noGrp="1"/>
          </p:cNvSpPr>
          <p:nvPr>
            <p:ph type="body" sz="quarter" idx="12"/>
          </p:nvPr>
        </p:nvSpPr>
        <p:spPr>
          <a:xfrm>
            <a:off x="334695" y="1300899"/>
            <a:ext cx="11522610" cy="5117152"/>
          </a:xfrm>
        </p:spPr>
        <p:txBody>
          <a:bodyPr/>
          <a:lstStyle>
            <a:lvl1pPr>
              <a:buClr>
                <a:schemeClr val="bg1"/>
              </a:buClr>
              <a:defRPr>
                <a:solidFill>
                  <a:schemeClr val="bg1"/>
                </a:solidFill>
                <a:latin typeface="Arial Nova" panose="020B0504020202020204" pitchFamily="34" charset="0"/>
              </a:defRPr>
            </a:lvl1pPr>
            <a:lvl2pPr marL="876300" indent="-342900">
              <a:buClr>
                <a:schemeClr val="bg1"/>
              </a:buClr>
              <a:buSzPct val="75000"/>
              <a:buFont typeface="Courier New" panose="02070309020205020404" pitchFamily="49" charset="0"/>
              <a:buChar char="o"/>
              <a:defRPr>
                <a:solidFill>
                  <a:schemeClr val="bg1"/>
                </a:solidFill>
                <a:latin typeface="Arial Nova" panose="020B0504020202020204" pitchFamily="34" charset="0"/>
              </a:defRPr>
            </a:lvl2pPr>
            <a:lvl3pPr marL="1371600" indent="-355600">
              <a:buClr>
                <a:schemeClr val="bg1"/>
              </a:buClr>
              <a:buSzPct val="75000"/>
              <a:buFont typeface="Wingdings" panose="05000000000000000000" pitchFamily="2" charset="2"/>
              <a:buChar char="§"/>
              <a:defRPr>
                <a:solidFill>
                  <a:schemeClr val="bg1"/>
                </a:solidFill>
                <a:latin typeface="Arial Nova" panose="020B0504020202020204" pitchFamily="34" charset="0"/>
              </a:defRPr>
            </a:lvl3pPr>
            <a:lvl4pPr marL="1828800" indent="-342900">
              <a:buClr>
                <a:schemeClr val="bg1"/>
              </a:buClr>
              <a:buSzPct val="75000"/>
              <a:buFont typeface="Arial" panose="020B0604020202020204" pitchFamily="34" charset="0"/>
              <a:buChar char="•"/>
              <a:defRPr>
                <a:solidFill>
                  <a:schemeClr val="bg1"/>
                </a:solidFill>
                <a:latin typeface="Arial Nova" panose="020B0504020202020204" pitchFamily="34" charset="0"/>
              </a:defRPr>
            </a:lvl4pPr>
            <a:lvl5pPr marL="2286000" indent="-342900">
              <a:buClr>
                <a:schemeClr val="bg1"/>
              </a:buClr>
              <a:buSzPct val="75000"/>
              <a:buFont typeface="Courier New" panose="02070309020205020404" pitchFamily="49" charset="0"/>
              <a:buChar char="o"/>
              <a:defRPr>
                <a:solidFill>
                  <a:schemeClr val="bg1"/>
                </a:solidFill>
                <a:latin typeface="Arial Nova" panose="020B05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324B0866-BDC2-4A59-AB1B-2F93A9544E60}"/>
              </a:ext>
            </a:extLst>
          </p:cNvPr>
          <p:cNvCxnSpPr/>
          <p:nvPr userDrawn="1"/>
        </p:nvCxnSpPr>
        <p:spPr>
          <a:xfrm>
            <a:off x="438212" y="1084672"/>
            <a:ext cx="9144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259CFC2E-8AAE-4D66-B301-B8C2E0C5CA8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4478"/>
          <a:stretch/>
        </p:blipFill>
        <p:spPr>
          <a:xfrm>
            <a:off x="9411618" y="216910"/>
            <a:ext cx="2445687" cy="640080"/>
          </a:xfrm>
          <a:prstGeom prst="rect">
            <a:avLst/>
          </a:prstGeom>
        </p:spPr>
      </p:pic>
    </p:spTree>
    <p:extLst>
      <p:ext uri="{BB962C8B-B14F-4D97-AF65-F5344CB8AC3E}">
        <p14:creationId xmlns:p14="http://schemas.microsoft.com/office/powerpoint/2010/main" val="1377323304"/>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0_Custom Layout" preserve="1">
  <p:cSld name="12_Custom Layout">
    <p:spTree>
      <p:nvGrpSpPr>
        <p:cNvPr id="1" name="Shape 32"/>
        <p:cNvGrpSpPr/>
        <p:nvPr/>
      </p:nvGrpSpPr>
      <p:grpSpPr>
        <a:xfrm>
          <a:off x="0" y="0"/>
          <a:ext cx="0" cy="0"/>
          <a:chOff x="0" y="0"/>
          <a:chExt cx="0" cy="0"/>
        </a:xfrm>
      </p:grpSpPr>
      <p:sp>
        <p:nvSpPr>
          <p:cNvPr id="33" name="Google Shape;33;p51"/>
          <p:cNvSpPr/>
          <p:nvPr/>
        </p:nvSpPr>
        <p:spPr>
          <a:xfrm>
            <a:off x="0" y="0"/>
            <a:ext cx="12192000" cy="6867144"/>
          </a:xfrm>
          <a:prstGeom prst="rect">
            <a:avLst/>
          </a:prstGeom>
          <a:solidFill>
            <a:srgbClr val="00447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rial Nova" panose="020B0504020202020204" pitchFamily="34" charset="0"/>
              <a:ea typeface="Arial"/>
              <a:cs typeface="Arial"/>
              <a:sym typeface="Arial"/>
            </a:endParaRPr>
          </a:p>
        </p:txBody>
      </p:sp>
      <p:sp>
        <p:nvSpPr>
          <p:cNvPr id="34" name="Google Shape;34;p51"/>
          <p:cNvSpPr txBox="1">
            <a:spLocks noGrp="1"/>
          </p:cNvSpPr>
          <p:nvPr>
            <p:ph type="title"/>
          </p:nvPr>
        </p:nvSpPr>
        <p:spPr>
          <a:xfrm>
            <a:off x="1606507" y="3078736"/>
            <a:ext cx="8978986" cy="70052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lt1"/>
              </a:buClr>
              <a:buSzPts val="3500"/>
              <a:buFont typeface="Arial"/>
              <a:buNone/>
              <a:defRPr sz="4500">
                <a:latin typeface="Arial Nova" panose="020B05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pic>
        <p:nvPicPr>
          <p:cNvPr id="7" name="Picture 6">
            <a:extLst>
              <a:ext uri="{FF2B5EF4-FFF2-40B4-BE49-F238E27FC236}">
                <a16:creationId xmlns:a16="http://schemas.microsoft.com/office/drawing/2014/main" id="{2652EE12-30D6-4593-8C10-C8C5639963A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4478"/>
          <a:stretch/>
        </p:blipFill>
        <p:spPr>
          <a:xfrm>
            <a:off x="9411618" y="216910"/>
            <a:ext cx="2445687" cy="640080"/>
          </a:xfrm>
          <a:prstGeom prst="rect">
            <a:avLst/>
          </a:prstGeom>
        </p:spPr>
      </p:pic>
    </p:spTree>
    <p:extLst>
      <p:ext uri="{BB962C8B-B14F-4D97-AF65-F5344CB8AC3E}">
        <p14:creationId xmlns:p14="http://schemas.microsoft.com/office/powerpoint/2010/main" val="19749557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0_Custom Layout" preserve="1">
  <p:cSld name="12_Custom Layout">
    <p:spTree>
      <p:nvGrpSpPr>
        <p:cNvPr id="1" name="Shape 32"/>
        <p:cNvGrpSpPr/>
        <p:nvPr/>
      </p:nvGrpSpPr>
      <p:grpSpPr>
        <a:xfrm>
          <a:off x="0" y="0"/>
          <a:ext cx="0" cy="0"/>
          <a:chOff x="0" y="0"/>
          <a:chExt cx="0" cy="0"/>
        </a:xfrm>
      </p:grpSpPr>
      <p:sp>
        <p:nvSpPr>
          <p:cNvPr id="33" name="Google Shape;33;p51"/>
          <p:cNvSpPr/>
          <p:nvPr/>
        </p:nvSpPr>
        <p:spPr>
          <a:xfrm>
            <a:off x="0" y="0"/>
            <a:ext cx="12192000" cy="6867144"/>
          </a:xfrm>
          <a:prstGeom prst="rect">
            <a:avLst/>
          </a:prstGeom>
          <a:solidFill>
            <a:srgbClr val="00447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rial Nova" panose="020B0504020202020204" pitchFamily="34" charset="0"/>
              <a:ea typeface="Arial"/>
              <a:cs typeface="Arial"/>
              <a:sym typeface="Arial"/>
            </a:endParaRPr>
          </a:p>
        </p:txBody>
      </p:sp>
      <p:sp>
        <p:nvSpPr>
          <p:cNvPr id="34" name="Google Shape;34;p51"/>
          <p:cNvSpPr txBox="1">
            <a:spLocks noGrp="1"/>
          </p:cNvSpPr>
          <p:nvPr>
            <p:ph type="title"/>
          </p:nvPr>
        </p:nvSpPr>
        <p:spPr>
          <a:xfrm>
            <a:off x="1606507" y="3078736"/>
            <a:ext cx="8978986" cy="70052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lt1"/>
              </a:buClr>
              <a:buSzPts val="3500"/>
              <a:buFont typeface="Arial"/>
              <a:buNone/>
              <a:defRPr sz="4500">
                <a:latin typeface="Arial Nova" panose="020B05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37407428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4_Custom Layout">
    <p:bg>
      <p:bgPr>
        <a:solidFill>
          <a:srgbClr val="0F4C7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F14D7-3449-4B59-AE47-AF43D4C35DF5}"/>
              </a:ext>
            </a:extLst>
          </p:cNvPr>
          <p:cNvSpPr>
            <a:spLocks noGrp="1"/>
          </p:cNvSpPr>
          <p:nvPr>
            <p:ph type="title"/>
          </p:nvPr>
        </p:nvSpPr>
        <p:spPr>
          <a:xfrm>
            <a:off x="1606507" y="3078736"/>
            <a:ext cx="8978986" cy="700528"/>
          </a:xfrm>
        </p:spPr>
        <p:txBody>
          <a:bodyPr>
            <a:noAutofit/>
          </a:bodyPr>
          <a:lstStyle>
            <a:lvl1pPr algn="ctr">
              <a:defRPr sz="4500">
                <a:solidFill>
                  <a:schemeClr val="bg1"/>
                </a:solidFill>
                <a:latin typeface="Arial Nova" panose="020B0504020202020204" pitchFamily="34" charset="0"/>
              </a:defRPr>
            </a:lvl1pPr>
          </a:lstStyle>
          <a:p>
            <a:r>
              <a:rPr lang="en-US" dirty="0"/>
              <a:t>Click to edit Master title style</a:t>
            </a:r>
          </a:p>
        </p:txBody>
      </p:sp>
      <p:pic>
        <p:nvPicPr>
          <p:cNvPr id="6" name="Picture 5">
            <a:extLst>
              <a:ext uri="{FF2B5EF4-FFF2-40B4-BE49-F238E27FC236}">
                <a16:creationId xmlns:a16="http://schemas.microsoft.com/office/drawing/2014/main" id="{02F987BA-1A92-4445-8A09-47E567371C3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4478"/>
          <a:stretch/>
        </p:blipFill>
        <p:spPr>
          <a:xfrm>
            <a:off x="9411618" y="216910"/>
            <a:ext cx="2445687" cy="640080"/>
          </a:xfrm>
          <a:prstGeom prst="rect">
            <a:avLst/>
          </a:prstGeom>
        </p:spPr>
      </p:pic>
    </p:spTree>
    <p:extLst>
      <p:ext uri="{BB962C8B-B14F-4D97-AF65-F5344CB8AC3E}">
        <p14:creationId xmlns:p14="http://schemas.microsoft.com/office/powerpoint/2010/main" val="2228919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13214E-7686-4172-9650-9476DC4D9FE0}"/>
              </a:ext>
            </a:extLst>
          </p:cNvPr>
          <p:cNvSpPr/>
          <p:nvPr userDrawn="1"/>
        </p:nvSpPr>
        <p:spPr>
          <a:xfrm>
            <a:off x="0" y="0"/>
            <a:ext cx="12192000" cy="6867144"/>
          </a:xfrm>
          <a:prstGeom prst="rect">
            <a:avLst/>
          </a:prstGeom>
          <a:solidFill>
            <a:srgbClr val="0F4C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Nova" panose="020B0504020202020204" pitchFamily="34" charset="0"/>
              <a:ea typeface="+mn-ea"/>
              <a:cs typeface="+mn-cs"/>
              <a:sym typeface="Arial"/>
            </a:endParaRPr>
          </a:p>
        </p:txBody>
      </p:sp>
      <p:sp>
        <p:nvSpPr>
          <p:cNvPr id="2" name="Title 1">
            <a:extLst>
              <a:ext uri="{FF2B5EF4-FFF2-40B4-BE49-F238E27FC236}">
                <a16:creationId xmlns:a16="http://schemas.microsoft.com/office/drawing/2014/main" id="{06FF14D7-3449-4B59-AE47-AF43D4C35DF5}"/>
              </a:ext>
            </a:extLst>
          </p:cNvPr>
          <p:cNvSpPr>
            <a:spLocks noGrp="1"/>
          </p:cNvSpPr>
          <p:nvPr>
            <p:ph type="title"/>
          </p:nvPr>
        </p:nvSpPr>
        <p:spPr>
          <a:xfrm>
            <a:off x="334696" y="185738"/>
            <a:ext cx="8978986" cy="700528"/>
          </a:xfrm>
        </p:spPr>
        <p:txBody>
          <a:bodyPr/>
          <a:lstStyle>
            <a:lvl1pPr>
              <a:defRPr>
                <a:latin typeface="Arial Nova" panose="020B0504020202020204"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33E2E76C-A80C-4883-AE27-A67A1ED72478}"/>
              </a:ext>
            </a:extLst>
          </p:cNvPr>
          <p:cNvSpPr>
            <a:spLocks noGrp="1"/>
          </p:cNvSpPr>
          <p:nvPr>
            <p:ph type="body" sz="quarter" idx="12"/>
          </p:nvPr>
        </p:nvSpPr>
        <p:spPr>
          <a:xfrm>
            <a:off x="334695" y="1300899"/>
            <a:ext cx="11522610" cy="5117152"/>
          </a:xfrm>
        </p:spPr>
        <p:txBody>
          <a:bodyPr/>
          <a:lstStyle>
            <a:lvl1pPr>
              <a:buClr>
                <a:schemeClr val="bg1"/>
              </a:buClr>
              <a:defRPr>
                <a:solidFill>
                  <a:schemeClr val="bg1"/>
                </a:solidFill>
                <a:latin typeface="Arial Nova" panose="020B0504020202020204" pitchFamily="34" charset="0"/>
              </a:defRPr>
            </a:lvl1pPr>
            <a:lvl2pPr marL="876300" indent="-342900">
              <a:buClr>
                <a:schemeClr val="bg1"/>
              </a:buClr>
              <a:buSzPct val="75000"/>
              <a:buFont typeface="Courier New" panose="02070309020205020404" pitchFamily="49" charset="0"/>
              <a:buChar char="o"/>
              <a:defRPr>
                <a:solidFill>
                  <a:schemeClr val="bg1"/>
                </a:solidFill>
                <a:latin typeface="Arial Nova" panose="020B0504020202020204" pitchFamily="34" charset="0"/>
              </a:defRPr>
            </a:lvl2pPr>
            <a:lvl3pPr marL="1371600" indent="-355600">
              <a:buClr>
                <a:schemeClr val="bg1"/>
              </a:buClr>
              <a:buSzPct val="75000"/>
              <a:buFont typeface="Wingdings" panose="05000000000000000000" pitchFamily="2" charset="2"/>
              <a:buChar char="§"/>
              <a:defRPr>
                <a:solidFill>
                  <a:schemeClr val="bg1"/>
                </a:solidFill>
                <a:latin typeface="Arial Nova" panose="020B0504020202020204" pitchFamily="34" charset="0"/>
              </a:defRPr>
            </a:lvl3pPr>
            <a:lvl4pPr marL="1828800" indent="-342900">
              <a:buClr>
                <a:schemeClr val="bg1"/>
              </a:buClr>
              <a:buSzPct val="75000"/>
              <a:buFont typeface="Arial" panose="020B0604020202020204" pitchFamily="34" charset="0"/>
              <a:buChar char="•"/>
              <a:defRPr>
                <a:solidFill>
                  <a:schemeClr val="bg1"/>
                </a:solidFill>
                <a:latin typeface="Arial Nova" panose="020B0504020202020204" pitchFamily="34" charset="0"/>
              </a:defRPr>
            </a:lvl4pPr>
            <a:lvl5pPr marL="2286000" indent="-342900">
              <a:buClr>
                <a:schemeClr val="bg1"/>
              </a:buClr>
              <a:buSzPct val="75000"/>
              <a:buFont typeface="Courier New" panose="02070309020205020404" pitchFamily="49" charset="0"/>
              <a:buChar char="o"/>
              <a:defRPr>
                <a:solidFill>
                  <a:schemeClr val="bg1"/>
                </a:solidFill>
                <a:latin typeface="Arial Nova" panose="020B05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324B0866-BDC2-4A59-AB1B-2F93A9544E60}"/>
              </a:ext>
            </a:extLst>
          </p:cNvPr>
          <p:cNvCxnSpPr/>
          <p:nvPr userDrawn="1"/>
        </p:nvCxnSpPr>
        <p:spPr>
          <a:xfrm>
            <a:off x="438212" y="1084672"/>
            <a:ext cx="9144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167F6EEC-0E79-467E-9CD0-A17D53A59E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4478"/>
          <a:stretch/>
        </p:blipFill>
        <p:spPr>
          <a:xfrm>
            <a:off x="9411618" y="216910"/>
            <a:ext cx="2445687" cy="640080"/>
          </a:xfrm>
          <a:prstGeom prst="rect">
            <a:avLst/>
          </a:prstGeom>
        </p:spPr>
      </p:pic>
    </p:spTree>
    <p:extLst>
      <p:ext uri="{BB962C8B-B14F-4D97-AF65-F5344CB8AC3E}">
        <p14:creationId xmlns:p14="http://schemas.microsoft.com/office/powerpoint/2010/main" val="2643948235"/>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EC60FFF-2B90-FC3F-518C-DADD3C8791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DAD13D5-F798-B2BC-1822-69D410D7A0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3EC75C-3DA6-490C-BF47-2A2932FE739C}" type="datetimeFigureOut">
              <a:rPr lang="en-US" smtClean="0"/>
              <a:t>3/25/2026</a:t>
            </a:fld>
            <a:endParaRPr lang="en-US"/>
          </a:p>
        </p:txBody>
      </p:sp>
      <p:sp>
        <p:nvSpPr>
          <p:cNvPr id="5" name="Footer Placeholder 4">
            <a:extLst>
              <a:ext uri="{FF2B5EF4-FFF2-40B4-BE49-F238E27FC236}">
                <a16:creationId xmlns:a16="http://schemas.microsoft.com/office/drawing/2014/main" id="{71CA22DF-A875-D9F5-F350-6E1EB72822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D715C06-D092-6E6C-3E02-441D423305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EE2622-EFFF-4E7E-94C0-83A4CBABECBA}" type="slidenum">
              <a:rPr lang="en-US" smtClean="0"/>
              <a:t>‹#›</a:t>
            </a:fld>
            <a:endParaRPr lang="en-US"/>
          </a:p>
        </p:txBody>
      </p:sp>
    </p:spTree>
    <p:extLst>
      <p:ext uri="{BB962C8B-B14F-4D97-AF65-F5344CB8AC3E}">
        <p14:creationId xmlns:p14="http://schemas.microsoft.com/office/powerpoint/2010/main" val="8387462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61"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Google Shape;10;p46"/>
          <p:cNvSpPr txBox="1">
            <a:spLocks noGrp="1"/>
          </p:cNvSpPr>
          <p:nvPr>
            <p:ph type="title"/>
          </p:nvPr>
        </p:nvSpPr>
        <p:spPr>
          <a:xfrm>
            <a:off x="542817" y="185737"/>
            <a:ext cx="8605024" cy="700528"/>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3500"/>
              <a:buFont typeface="Arial"/>
              <a:buNone/>
              <a:defRPr sz="3500" b="0"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1" name="Google Shape;11;p46"/>
          <p:cNvSpPr txBox="1">
            <a:spLocks noGrp="1"/>
          </p:cNvSpPr>
          <p:nvPr>
            <p:ph type="body" idx="1"/>
          </p:nvPr>
        </p:nvSpPr>
        <p:spPr>
          <a:xfrm>
            <a:off x="542817" y="1203840"/>
            <a:ext cx="11106365" cy="5164897"/>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pic>
        <p:nvPicPr>
          <p:cNvPr id="12" name="Google Shape;12;p46" descr="A picture containing object&#10;&#10;Description automatically generated"/>
          <p:cNvPicPr preferRelativeResize="0"/>
          <p:nvPr/>
        </p:nvPicPr>
        <p:blipFill rotWithShape="1">
          <a:blip r:embed="rId15">
            <a:alphaModFix/>
          </a:blip>
          <a:srcRect t="5785" r="5919" b="3759"/>
          <a:stretch/>
        </p:blipFill>
        <p:spPr>
          <a:xfrm>
            <a:off x="4961103" y="0"/>
            <a:ext cx="7230897" cy="6858000"/>
          </a:xfrm>
          <a:prstGeom prst="rect">
            <a:avLst/>
          </a:prstGeom>
          <a:noFill/>
          <a:ln>
            <a:noFill/>
          </a:ln>
        </p:spPr>
      </p:pic>
    </p:spTree>
    <p:extLst>
      <p:ext uri="{BB962C8B-B14F-4D97-AF65-F5344CB8AC3E}">
        <p14:creationId xmlns:p14="http://schemas.microsoft.com/office/powerpoint/2010/main" val="2362463322"/>
      </p:ext>
    </p:extLst>
  </p:cSld>
  <p:clrMap bg1="lt1" tx1="dk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Nova" panose="020B0504020202020204" pitchFamily="34" charset="0"/>
          <a:ea typeface="Arial Nova" panose="020B0504020202020204" pitchFamily="34"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Nova" panose="020B0504020202020204" pitchFamily="34" charset="0"/>
          <a:ea typeface="Arial Nova" panose="020B0504020202020204" pitchFamily="34"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9.sv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9.sv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35.sv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2.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55.png"/></Relationships>
</file>

<file path=ppt/slides/_rels/slide2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9.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E11A1-C80C-45CE-AEA5-281C8468D607}"/>
            </a:ext>
          </a:extLst>
        </p:cNvPr>
        <p:cNvGrpSpPr/>
        <p:nvPr/>
      </p:nvGrpSpPr>
      <p:grpSpPr>
        <a:xfrm>
          <a:off x="0" y="0"/>
          <a:ext cx="0" cy="0"/>
          <a:chOff x="0" y="0"/>
          <a:chExt cx="0" cy="0"/>
        </a:xfrm>
      </p:grpSpPr>
      <p:pic>
        <p:nvPicPr>
          <p:cNvPr id="8" name="object 2">
            <a:extLst>
              <a:ext uri="{FF2B5EF4-FFF2-40B4-BE49-F238E27FC236}">
                <a16:creationId xmlns:a16="http://schemas.microsoft.com/office/drawing/2014/main" id="{50996730-8E88-232B-6E79-44382678C80E}"/>
              </a:ext>
            </a:extLst>
          </p:cNvPr>
          <p:cNvPicPr>
            <a:picLocks noChangeAspect="1"/>
          </p:cNvPicPr>
          <p:nvPr/>
        </p:nvPicPr>
        <p:blipFill rotWithShape="1">
          <a:blip r:embed="rId3" cstate="print"/>
          <a:srcRect t="1" b="40998"/>
          <a:stretch/>
        </p:blipFill>
        <p:spPr>
          <a:xfrm>
            <a:off x="0" y="-1607727"/>
            <a:ext cx="12192000" cy="5294564"/>
          </a:xfrm>
          <a:prstGeom prst="rect">
            <a:avLst/>
          </a:prstGeom>
        </p:spPr>
      </p:pic>
      <p:grpSp>
        <p:nvGrpSpPr>
          <p:cNvPr id="6" name="Group 5">
            <a:extLst>
              <a:ext uri="{FF2B5EF4-FFF2-40B4-BE49-F238E27FC236}">
                <a16:creationId xmlns:a16="http://schemas.microsoft.com/office/drawing/2014/main" id="{BB31BD62-CF3A-A526-FDC9-E78CFEE50F6E}"/>
              </a:ext>
            </a:extLst>
          </p:cNvPr>
          <p:cNvGrpSpPr/>
          <p:nvPr/>
        </p:nvGrpSpPr>
        <p:grpSpPr>
          <a:xfrm>
            <a:off x="4516999" y="3199345"/>
            <a:ext cx="7675001" cy="1371094"/>
            <a:chOff x="-1" y="2631836"/>
            <a:chExt cx="7675001" cy="1371094"/>
          </a:xfrm>
        </p:grpSpPr>
        <p:sp>
          <p:nvSpPr>
            <p:cNvPr id="4" name="Rectangle 3">
              <a:extLst>
                <a:ext uri="{FF2B5EF4-FFF2-40B4-BE49-F238E27FC236}">
                  <a16:creationId xmlns:a16="http://schemas.microsoft.com/office/drawing/2014/main" id="{02A01462-D7D2-432E-F6C2-B47760D7A9FE}"/>
                </a:ext>
              </a:extLst>
            </p:cNvPr>
            <p:cNvSpPr/>
            <p:nvPr/>
          </p:nvSpPr>
          <p:spPr>
            <a:xfrm>
              <a:off x="-1" y="2631836"/>
              <a:ext cx="7675001" cy="1371094"/>
            </a:xfrm>
            <a:prstGeom prst="rect">
              <a:avLst/>
            </a:prstGeom>
            <a:solidFill>
              <a:srgbClr val="02437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26081EE-559A-E523-8525-AB313E05EEB9}"/>
                </a:ext>
              </a:extLst>
            </p:cNvPr>
            <p:cNvSpPr txBox="1"/>
            <p:nvPr/>
          </p:nvSpPr>
          <p:spPr>
            <a:xfrm>
              <a:off x="169821" y="2809552"/>
              <a:ext cx="7374082" cy="1015663"/>
            </a:xfrm>
            <a:prstGeom prst="rect">
              <a:avLst/>
            </a:prstGeom>
            <a:noFill/>
          </p:spPr>
          <p:txBody>
            <a:bodyPr wrap="square" rtlCol="0">
              <a:spAutoFit/>
            </a:bodyPr>
            <a:lstStyle/>
            <a:p>
              <a:r>
                <a:rPr lang="en-US" sz="3000" dirty="0">
                  <a:solidFill>
                    <a:schemeClr val="bg1"/>
                  </a:solidFill>
                  <a:latin typeface="Arial Nova" panose="020B0504020202020204" pitchFamily="34" charset="0"/>
                </a:rPr>
                <a:t>Helping Investors Gain Confidence with a Dedicated Approach to Their Finances</a:t>
              </a:r>
            </a:p>
          </p:txBody>
        </p:sp>
      </p:grpSp>
      <p:sp>
        <p:nvSpPr>
          <p:cNvPr id="7" name="TextBox 6">
            <a:extLst>
              <a:ext uri="{FF2B5EF4-FFF2-40B4-BE49-F238E27FC236}">
                <a16:creationId xmlns:a16="http://schemas.microsoft.com/office/drawing/2014/main" id="{B96E2BBC-D510-931C-E71E-E1F8BED0E514}"/>
              </a:ext>
            </a:extLst>
          </p:cNvPr>
          <p:cNvSpPr txBox="1"/>
          <p:nvPr/>
        </p:nvSpPr>
        <p:spPr>
          <a:xfrm>
            <a:off x="4512517" y="4628261"/>
            <a:ext cx="8242916" cy="400110"/>
          </a:xfrm>
          <a:prstGeom prst="rect">
            <a:avLst/>
          </a:prstGeom>
          <a:noFill/>
        </p:spPr>
        <p:txBody>
          <a:bodyPr wrap="square" rtlCol="0">
            <a:spAutoFit/>
          </a:bodyPr>
          <a:lstStyle/>
          <a:p>
            <a:r>
              <a:rPr lang="en-US" sz="2000" b="1" dirty="0">
                <a:solidFill>
                  <a:srgbClr val="024372"/>
                </a:solidFill>
                <a:latin typeface="Arial Nova" panose="020B0504020202020204" pitchFamily="34" charset="0"/>
              </a:rPr>
              <a:t>Introducing Our New Investment Partner, Simplicity Wealth</a:t>
            </a:r>
          </a:p>
        </p:txBody>
      </p:sp>
      <p:sp>
        <p:nvSpPr>
          <p:cNvPr id="10" name="TextBox 9">
            <a:extLst>
              <a:ext uri="{FF2B5EF4-FFF2-40B4-BE49-F238E27FC236}">
                <a16:creationId xmlns:a16="http://schemas.microsoft.com/office/drawing/2014/main" id="{7A225EA1-A630-1D63-51FB-6F66D2E50056}"/>
              </a:ext>
            </a:extLst>
          </p:cNvPr>
          <p:cNvSpPr txBox="1"/>
          <p:nvPr/>
        </p:nvSpPr>
        <p:spPr>
          <a:xfrm>
            <a:off x="157660" y="6134064"/>
            <a:ext cx="11903242" cy="400110"/>
          </a:xfrm>
          <a:prstGeom prst="rect">
            <a:avLst/>
          </a:prstGeom>
          <a:noFill/>
        </p:spPr>
        <p:txBody>
          <a:bodyPr wrap="square">
            <a:spAutoFit/>
          </a:bodyPr>
          <a:lstStyle/>
          <a:p>
            <a:pPr marL="0" marR="0" algn="just">
              <a:spcBef>
                <a:spcPts val="0"/>
              </a:spcBef>
              <a:spcAft>
                <a:spcPts val="0"/>
              </a:spcAft>
              <a:tabLst>
                <a:tab pos="457200" algn="l"/>
              </a:tabLst>
            </a:pPr>
            <a:r>
              <a:rPr lang="en-US" sz="1000" dirty="0">
                <a:solidFill>
                  <a:schemeClr val="bg1">
                    <a:lumMod val="75000"/>
                  </a:schemeClr>
                </a:solidFill>
                <a:highlight>
                  <a:srgbClr val="FFFF00"/>
                </a:highlight>
                <a:latin typeface="Arial Nova" panose="020B0504020202020204" pitchFamily="34" charset="0"/>
              </a:rPr>
              <a:t>Investment advisory and financial planning services are offered through Simplicity Wealth, LLC, an SEC-registered investment adviser. SEC registration does not constitute an endorsement of the firm, nor does it indicate that the adviser has attained a particular level of skill or ability. Insurance, Consulting and Education services offered through [DBA]. [DBA] is a separate and unaffiliated entity from Simplicity Wealth.</a:t>
            </a:r>
          </a:p>
        </p:txBody>
      </p:sp>
      <p:sp>
        <p:nvSpPr>
          <p:cNvPr id="2" name="TextBox 1">
            <a:extLst>
              <a:ext uri="{FF2B5EF4-FFF2-40B4-BE49-F238E27FC236}">
                <a16:creationId xmlns:a16="http://schemas.microsoft.com/office/drawing/2014/main" id="{8A94257F-5579-1B5F-6F4A-3407CA822EC0}"/>
              </a:ext>
            </a:extLst>
          </p:cNvPr>
          <p:cNvSpPr txBox="1"/>
          <p:nvPr/>
        </p:nvSpPr>
        <p:spPr>
          <a:xfrm>
            <a:off x="623640" y="4291611"/>
            <a:ext cx="3026293" cy="1477328"/>
          </a:xfrm>
          <a:prstGeom prst="rect">
            <a:avLst/>
          </a:prstGeom>
          <a:solidFill>
            <a:schemeClr val="bg1">
              <a:lumMod val="95000"/>
            </a:schemeClr>
          </a:solidFill>
        </p:spPr>
        <p:txBody>
          <a:bodyPr wrap="square" rtlCol="0">
            <a:spAutoFit/>
          </a:bodyPr>
          <a:lstStyle/>
          <a:p>
            <a:pPr algn="ctr"/>
            <a:r>
              <a:rPr lang="en-US" sz="4500" dirty="0">
                <a:highlight>
                  <a:srgbClr val="FFFF00"/>
                </a:highlight>
              </a:rPr>
              <a:t>ADVISOR LOGO </a:t>
            </a:r>
          </a:p>
        </p:txBody>
      </p:sp>
      <p:sp>
        <p:nvSpPr>
          <p:cNvPr id="3" name="TextBox 2">
            <a:extLst>
              <a:ext uri="{FF2B5EF4-FFF2-40B4-BE49-F238E27FC236}">
                <a16:creationId xmlns:a16="http://schemas.microsoft.com/office/drawing/2014/main" id="{29A8CD94-A59B-861C-A13B-B52EF3F6B8FE}"/>
              </a:ext>
            </a:extLst>
          </p:cNvPr>
          <p:cNvSpPr txBox="1"/>
          <p:nvPr/>
        </p:nvSpPr>
        <p:spPr>
          <a:xfrm>
            <a:off x="157660" y="6916535"/>
            <a:ext cx="11102741" cy="369332"/>
          </a:xfrm>
          <a:prstGeom prst="rect">
            <a:avLst/>
          </a:prstGeom>
          <a:noFill/>
        </p:spPr>
        <p:txBody>
          <a:bodyPr wrap="square" rtlCol="0">
            <a:spAutoFit/>
          </a:bodyPr>
          <a:lstStyle/>
          <a:p>
            <a:r>
              <a:rPr lang="en-US" dirty="0">
                <a:highlight>
                  <a:srgbClr val="FFFF00"/>
                </a:highlight>
              </a:rPr>
              <a:t>REMINDER: CO-ADVISERS AND SUB-ADVISERS (RIAs) MUST SUBMIT TO THEIR OWN COMPLIANCE DEPARTMENT.</a:t>
            </a:r>
          </a:p>
        </p:txBody>
      </p:sp>
      <p:sp>
        <p:nvSpPr>
          <p:cNvPr id="11" name="Footer Placeholder 4">
            <a:extLst>
              <a:ext uri="{FF2B5EF4-FFF2-40B4-BE49-F238E27FC236}">
                <a16:creationId xmlns:a16="http://schemas.microsoft.com/office/drawing/2014/main" id="{805CB6A2-9284-BCD9-72F2-83668BB45220}"/>
              </a:ext>
            </a:extLst>
          </p:cNvPr>
          <p:cNvSpPr>
            <a:spLocks noGrp="1"/>
          </p:cNvSpPr>
          <p:nvPr>
            <p:ph type="ftr" sz="quarter" idx="11"/>
          </p:nvPr>
        </p:nvSpPr>
        <p:spPr>
          <a:xfrm>
            <a:off x="157660" y="6534174"/>
            <a:ext cx="10341430" cy="365125"/>
          </a:xfrm>
        </p:spPr>
        <p:txBody>
          <a:bodyPr/>
          <a:lstStyle>
            <a:lvl1pPr algn="l">
              <a:defRPr/>
            </a:lvl1pPr>
          </a:lstStyle>
          <a:p>
            <a:r>
              <a:rPr lang="en-US" dirty="0">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1476391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0FA8AE9F-5C6B-811F-E4F0-30412CBAA2E4}"/>
              </a:ext>
            </a:extLst>
          </p:cNvPr>
          <p:cNvSpPr txBox="1">
            <a:spLocks/>
          </p:cNvSpPr>
          <p:nvPr/>
        </p:nvSpPr>
        <p:spPr>
          <a:xfrm>
            <a:off x="381000" y="320676"/>
            <a:ext cx="10972800" cy="805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dirty="0"/>
              <a:t>New Investment Partner</a:t>
            </a:r>
          </a:p>
        </p:txBody>
      </p:sp>
      <p:pic>
        <p:nvPicPr>
          <p:cNvPr id="4" name="Picture 3" descr="Text&#10;&#10;Description automatically generated with medium confidence">
            <a:extLst>
              <a:ext uri="{FF2B5EF4-FFF2-40B4-BE49-F238E27FC236}">
                <a16:creationId xmlns:a16="http://schemas.microsoft.com/office/drawing/2014/main" id="{BC247C58-4B34-EB9B-391E-20F49F3E9E7F}"/>
              </a:ext>
            </a:extLst>
          </p:cNvPr>
          <p:cNvPicPr>
            <a:picLocks noChangeAspect="1"/>
          </p:cNvPicPr>
          <p:nvPr/>
        </p:nvPicPr>
        <p:blipFill>
          <a:blip r:embed="rId3"/>
          <a:stretch>
            <a:fillRect/>
          </a:stretch>
        </p:blipFill>
        <p:spPr>
          <a:xfrm>
            <a:off x="6613075" y="3187400"/>
            <a:ext cx="4572000" cy="1104900"/>
          </a:xfrm>
          <a:prstGeom prst="rect">
            <a:avLst/>
          </a:prstGeom>
        </p:spPr>
      </p:pic>
      <p:cxnSp>
        <p:nvCxnSpPr>
          <p:cNvPr id="8" name="Straight Connector 7">
            <a:extLst>
              <a:ext uri="{FF2B5EF4-FFF2-40B4-BE49-F238E27FC236}">
                <a16:creationId xmlns:a16="http://schemas.microsoft.com/office/drawing/2014/main" id="{54D386A8-A1C1-BB76-9DE4-BD4450CD9541}"/>
              </a:ext>
            </a:extLst>
          </p:cNvPr>
          <p:cNvCxnSpPr/>
          <p:nvPr/>
        </p:nvCxnSpPr>
        <p:spPr>
          <a:xfrm>
            <a:off x="6065520" y="2231090"/>
            <a:ext cx="0" cy="3017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6B01261-4D20-2051-FAB9-C13A2A64B07C}"/>
              </a:ext>
            </a:extLst>
          </p:cNvPr>
          <p:cNvSpPr txBox="1"/>
          <p:nvPr/>
        </p:nvSpPr>
        <p:spPr>
          <a:xfrm>
            <a:off x="1920137" y="2925450"/>
            <a:ext cx="2732567" cy="1631216"/>
          </a:xfrm>
          <a:prstGeom prst="rect">
            <a:avLst/>
          </a:prstGeom>
          <a:noFill/>
        </p:spPr>
        <p:txBody>
          <a:bodyPr wrap="square" rtlCol="0">
            <a:spAutoFit/>
          </a:bodyPr>
          <a:lstStyle/>
          <a:p>
            <a:pPr algn="ctr"/>
            <a:r>
              <a:rPr lang="en-US" sz="5000" dirty="0">
                <a:highlight>
                  <a:srgbClr val="FFFF00"/>
                </a:highlight>
              </a:rPr>
              <a:t>PNG LOGO</a:t>
            </a:r>
          </a:p>
        </p:txBody>
      </p:sp>
      <p:sp>
        <p:nvSpPr>
          <p:cNvPr id="6" name="Slide Number Placeholder 5">
            <a:extLst>
              <a:ext uri="{FF2B5EF4-FFF2-40B4-BE49-F238E27FC236}">
                <a16:creationId xmlns:a16="http://schemas.microsoft.com/office/drawing/2014/main" id="{ED2D1ADC-FF51-AD14-A539-04281AC39E33}"/>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2</a:t>
            </a:fld>
            <a:endParaRPr lang="en-US" dirty="0">
              <a:solidFill>
                <a:schemeClr val="bg1">
                  <a:lumMod val="75000"/>
                </a:schemeClr>
              </a:solidFill>
              <a:latin typeface="Arial Nova" panose="020B0504020202020204" pitchFamily="34" charset="0"/>
            </a:endParaRPr>
          </a:p>
        </p:txBody>
      </p:sp>
      <p:sp>
        <p:nvSpPr>
          <p:cNvPr id="7" name="Footer Placeholder 4">
            <a:extLst>
              <a:ext uri="{FF2B5EF4-FFF2-40B4-BE49-F238E27FC236}">
                <a16:creationId xmlns:a16="http://schemas.microsoft.com/office/drawing/2014/main" id="{BD8E2DFF-8736-5DAF-64F7-F6C1738FFC68}"/>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807642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D9297AC-E2D4-FAD7-E465-36AF411D4D60}"/>
              </a:ext>
            </a:extLst>
          </p:cNvPr>
          <p:cNvSpPr txBox="1">
            <a:spLocks/>
          </p:cNvSpPr>
          <p:nvPr/>
        </p:nvSpPr>
        <p:spPr>
          <a:xfrm>
            <a:off x="381000" y="320676"/>
            <a:ext cx="10972800" cy="805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dirty="0"/>
              <a:t>Our Approach</a:t>
            </a:r>
          </a:p>
        </p:txBody>
      </p:sp>
      <p:cxnSp>
        <p:nvCxnSpPr>
          <p:cNvPr id="24" name="Straight Connector 23">
            <a:extLst>
              <a:ext uri="{FF2B5EF4-FFF2-40B4-BE49-F238E27FC236}">
                <a16:creationId xmlns:a16="http://schemas.microsoft.com/office/drawing/2014/main" id="{BEE7A3DA-E52D-2029-3A9A-7A488BD446EC}"/>
              </a:ext>
            </a:extLst>
          </p:cNvPr>
          <p:cNvCxnSpPr>
            <a:cxnSpLocks/>
          </p:cNvCxnSpPr>
          <p:nvPr/>
        </p:nvCxnSpPr>
        <p:spPr>
          <a:xfrm flipV="1">
            <a:off x="3481756" y="2643126"/>
            <a:ext cx="7578967" cy="105512"/>
          </a:xfrm>
          <a:prstGeom prst="line">
            <a:avLst/>
          </a:prstGeom>
          <a:ln w="12700">
            <a:solidFill>
              <a:srgbClr val="1D71BD"/>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C6D96B47-9E04-B496-5AAC-12AAD3DD4738}"/>
              </a:ext>
            </a:extLst>
          </p:cNvPr>
          <p:cNvSpPr txBox="1"/>
          <p:nvPr/>
        </p:nvSpPr>
        <p:spPr>
          <a:xfrm>
            <a:off x="571931" y="1919851"/>
            <a:ext cx="3055197" cy="3662541"/>
          </a:xfrm>
          <a:prstGeom prst="rect">
            <a:avLst/>
          </a:prstGeom>
          <a:solidFill>
            <a:srgbClr val="124472"/>
          </a:solidFill>
        </p:spPr>
        <p:txBody>
          <a:bodyPr wrap="square">
            <a:spAutoFit/>
          </a:bodyPr>
          <a:lstStyle/>
          <a:p>
            <a:pPr marR="0" lvl="0" algn="ctr" defTabSz="914400" rtl="0" eaLnBrk="1" fontAlgn="auto" latinLnBrk="0" hangingPunct="1">
              <a:spcBef>
                <a:spcPts val="0"/>
              </a:spcBef>
              <a:spcAft>
                <a:spcPts val="0"/>
              </a:spcAft>
              <a:buClr>
                <a:srgbClr val="0276BD"/>
              </a:buClr>
              <a:buSzTx/>
              <a:tabLst/>
              <a:defRPr/>
            </a:pPr>
            <a:endParaRPr kumimoji="0" lang="en-US" sz="1000" b="1" i="0" u="none" strike="noStrike" kern="0" cap="none" spc="0" normalizeH="0" baseline="0" noProof="0" dirty="0">
              <a:ln>
                <a:noFill/>
              </a:ln>
              <a:solidFill>
                <a:schemeClr val="bg1"/>
              </a:solidFill>
              <a:effectLst/>
              <a:uLnTx/>
              <a:uFillTx/>
              <a:latin typeface="Arial Nova" panose="020B0504020202020204" pitchFamily="34" charset="0"/>
              <a:cs typeface="Arial"/>
              <a:sym typeface="Arial"/>
            </a:endParaRPr>
          </a:p>
          <a:p>
            <a:pPr marR="0" lvl="0" algn="ctr" defTabSz="914400" rtl="0" eaLnBrk="1" fontAlgn="auto" latinLnBrk="0" hangingPunct="1">
              <a:spcBef>
                <a:spcPts val="0"/>
              </a:spcBef>
              <a:spcAft>
                <a:spcPts val="0"/>
              </a:spcAft>
              <a:buClr>
                <a:srgbClr val="0276BD"/>
              </a:buClr>
              <a:buSzTx/>
              <a:tabLst/>
              <a:defRPr/>
            </a:pPr>
            <a:r>
              <a:rPr kumimoji="0" lang="en-US" sz="2600" b="1" i="0" u="none" strike="noStrike" kern="0" cap="none" spc="0" normalizeH="0" baseline="0" noProof="0" dirty="0">
                <a:ln>
                  <a:noFill/>
                </a:ln>
                <a:solidFill>
                  <a:schemeClr val="bg1"/>
                </a:solidFill>
                <a:effectLst/>
                <a:uLnTx/>
                <a:uFillTx/>
                <a:latin typeface="Arial Nova" panose="020B0504020202020204" pitchFamily="34" charset="0"/>
                <a:cs typeface="Arial"/>
                <a:sym typeface="Arial"/>
              </a:rPr>
              <a:t>Our</a:t>
            </a:r>
            <a:r>
              <a:rPr lang="en-US" sz="2600" b="1" kern="0" dirty="0">
                <a:solidFill>
                  <a:schemeClr val="bg1"/>
                </a:solidFill>
                <a:latin typeface="Arial Nova" panose="020B0504020202020204" pitchFamily="34" charset="0"/>
                <a:cs typeface="Arial"/>
                <a:sym typeface="Arial"/>
              </a:rPr>
              <a:t> Foundation</a:t>
            </a:r>
          </a:p>
          <a:p>
            <a:pPr marR="0" lvl="0" algn="ctr" defTabSz="914400" rtl="0" eaLnBrk="1" fontAlgn="auto" latinLnBrk="0" hangingPunct="1">
              <a:spcBef>
                <a:spcPts val="0"/>
              </a:spcBef>
              <a:spcAft>
                <a:spcPts val="0"/>
              </a:spcAft>
              <a:buClr>
                <a:srgbClr val="0276BD"/>
              </a:buClr>
              <a:buSzTx/>
              <a:tabLst/>
              <a:defRPr/>
            </a:pPr>
            <a:endParaRPr lang="en-US" sz="1000" kern="0" dirty="0">
              <a:solidFill>
                <a:schemeClr val="bg1"/>
              </a:solidFill>
              <a:latin typeface="Arial Nova" panose="020B0504020202020204" pitchFamily="34" charset="0"/>
              <a:cs typeface="Arial"/>
              <a:sym typeface="Arial"/>
            </a:endParaRPr>
          </a:p>
          <a:p>
            <a:pPr marR="0" lvl="0" algn="ctr" defTabSz="914400" rtl="0" eaLnBrk="1" fontAlgn="auto" latinLnBrk="0" hangingPunct="1">
              <a:spcBef>
                <a:spcPts val="0"/>
              </a:spcBef>
              <a:spcAft>
                <a:spcPts val="0"/>
              </a:spcAft>
              <a:buClr>
                <a:srgbClr val="0276BD"/>
              </a:buClr>
              <a:buSzTx/>
              <a:tabLst/>
              <a:defRPr/>
            </a:pPr>
            <a:r>
              <a:rPr lang="en-US" sz="1800" kern="0" dirty="0">
                <a:solidFill>
                  <a:schemeClr val="bg1"/>
                </a:solidFill>
                <a:latin typeface="Arial Nova" panose="020B0504020202020204" pitchFamily="34" charset="0"/>
                <a:cs typeface="Arial"/>
                <a:sym typeface="Arial"/>
              </a:rPr>
              <a:t>Six fundamental financial planning considerations</a:t>
            </a:r>
          </a:p>
          <a:p>
            <a:pPr marR="0" lvl="0" algn="ctr" defTabSz="914400" rtl="0" eaLnBrk="1" fontAlgn="auto" latinLnBrk="0" hangingPunct="1">
              <a:spcBef>
                <a:spcPts val="0"/>
              </a:spcBef>
              <a:spcAft>
                <a:spcPts val="0"/>
              </a:spcAft>
              <a:buClr>
                <a:srgbClr val="0276BD"/>
              </a:buClr>
              <a:buSzTx/>
              <a:tabLst/>
              <a:defRPr/>
            </a:pPr>
            <a:endParaRPr lang="en-US" kern="0" dirty="0">
              <a:solidFill>
                <a:schemeClr val="bg1"/>
              </a:solidFill>
              <a:latin typeface="Arial Nova" panose="020B0504020202020204" pitchFamily="34" charset="0"/>
              <a:cs typeface="Arial"/>
              <a:sym typeface="Arial"/>
            </a:endParaRPr>
          </a:p>
          <a:p>
            <a:pPr marR="0" lvl="0" algn="ctr" defTabSz="914400" rtl="0" eaLnBrk="1" fontAlgn="auto" latinLnBrk="0" hangingPunct="1">
              <a:spcBef>
                <a:spcPts val="0"/>
              </a:spcBef>
              <a:spcAft>
                <a:spcPts val="0"/>
              </a:spcAft>
              <a:buClr>
                <a:srgbClr val="0276BD"/>
              </a:buClr>
              <a:buSzTx/>
              <a:tabLst/>
              <a:defRPr/>
            </a:pPr>
            <a:r>
              <a:rPr lang="en-US" sz="1800" kern="0" dirty="0">
                <a:solidFill>
                  <a:schemeClr val="bg1"/>
                </a:solidFill>
                <a:latin typeface="Arial Nova" panose="020B0504020202020204" pitchFamily="34" charset="0"/>
                <a:cs typeface="Arial"/>
                <a:sym typeface="Arial"/>
              </a:rPr>
              <a:t>Longevity</a:t>
            </a:r>
          </a:p>
          <a:p>
            <a:pPr marR="0" lvl="0" algn="ctr" defTabSz="914400" rtl="0" eaLnBrk="1" fontAlgn="auto" latinLnBrk="0" hangingPunct="1">
              <a:spcBef>
                <a:spcPts val="0"/>
              </a:spcBef>
              <a:spcAft>
                <a:spcPts val="0"/>
              </a:spcAft>
              <a:buClr>
                <a:srgbClr val="0276BD"/>
              </a:buClr>
              <a:buSzTx/>
              <a:tabLst/>
              <a:defRPr/>
            </a:pPr>
            <a:r>
              <a:rPr lang="en-US" kern="0" dirty="0">
                <a:solidFill>
                  <a:schemeClr val="bg1"/>
                </a:solidFill>
                <a:latin typeface="Arial Nova" panose="020B0504020202020204" pitchFamily="34" charset="0"/>
                <a:cs typeface="Arial"/>
                <a:sym typeface="Arial"/>
              </a:rPr>
              <a:t>Liquidity</a:t>
            </a:r>
          </a:p>
          <a:p>
            <a:pPr marR="0" lvl="0" algn="ctr" defTabSz="914400" rtl="0" eaLnBrk="1" fontAlgn="auto" latinLnBrk="0" hangingPunct="1">
              <a:spcBef>
                <a:spcPts val="0"/>
              </a:spcBef>
              <a:spcAft>
                <a:spcPts val="0"/>
              </a:spcAft>
              <a:buClr>
                <a:srgbClr val="0276BD"/>
              </a:buClr>
              <a:buSzTx/>
              <a:tabLst/>
              <a:defRPr/>
            </a:pPr>
            <a:r>
              <a:rPr lang="en-US" kern="0" dirty="0">
                <a:solidFill>
                  <a:schemeClr val="bg1"/>
                </a:solidFill>
                <a:latin typeface="Arial Nova" panose="020B0504020202020204" pitchFamily="34" charset="0"/>
                <a:cs typeface="Arial"/>
                <a:sym typeface="Arial"/>
              </a:rPr>
              <a:t>Inflation</a:t>
            </a:r>
          </a:p>
          <a:p>
            <a:pPr marR="0" lvl="0" algn="ctr" defTabSz="914400" rtl="0" eaLnBrk="1" fontAlgn="auto" latinLnBrk="0" hangingPunct="1">
              <a:spcBef>
                <a:spcPts val="0"/>
              </a:spcBef>
              <a:spcAft>
                <a:spcPts val="0"/>
              </a:spcAft>
              <a:buClr>
                <a:srgbClr val="0276BD"/>
              </a:buClr>
              <a:buSzTx/>
              <a:tabLst/>
              <a:defRPr/>
            </a:pPr>
            <a:r>
              <a:rPr lang="en-US" kern="0" dirty="0">
                <a:solidFill>
                  <a:schemeClr val="bg1"/>
                </a:solidFill>
                <a:latin typeface="Arial Nova" panose="020B0504020202020204" pitchFamily="34" charset="0"/>
                <a:cs typeface="Arial"/>
                <a:sym typeface="Arial"/>
              </a:rPr>
              <a:t>Market</a:t>
            </a:r>
          </a:p>
          <a:p>
            <a:pPr marR="0" lvl="0" algn="ctr" defTabSz="914400" rtl="0" eaLnBrk="1" fontAlgn="auto" latinLnBrk="0" hangingPunct="1">
              <a:spcBef>
                <a:spcPts val="0"/>
              </a:spcBef>
              <a:spcAft>
                <a:spcPts val="0"/>
              </a:spcAft>
              <a:buClr>
                <a:srgbClr val="0276BD"/>
              </a:buClr>
              <a:buSzTx/>
              <a:tabLst/>
              <a:defRPr/>
            </a:pPr>
            <a:r>
              <a:rPr lang="en-US" sz="1800" kern="0" dirty="0">
                <a:solidFill>
                  <a:schemeClr val="bg1"/>
                </a:solidFill>
                <a:latin typeface="Arial Nova" panose="020B0504020202020204" pitchFamily="34" charset="0"/>
                <a:cs typeface="Arial"/>
                <a:sym typeface="Arial"/>
              </a:rPr>
              <a:t>Mortality</a:t>
            </a:r>
          </a:p>
          <a:p>
            <a:pPr marR="0" lvl="0" algn="ctr" defTabSz="914400" rtl="0" eaLnBrk="1" fontAlgn="auto" latinLnBrk="0" hangingPunct="1">
              <a:spcBef>
                <a:spcPts val="0"/>
              </a:spcBef>
              <a:spcAft>
                <a:spcPts val="0"/>
              </a:spcAft>
              <a:buClr>
                <a:srgbClr val="0276BD"/>
              </a:buClr>
              <a:buSzTx/>
              <a:tabLst/>
              <a:defRPr/>
            </a:pPr>
            <a:r>
              <a:rPr lang="en-US" kern="0" dirty="0">
                <a:solidFill>
                  <a:schemeClr val="bg1"/>
                </a:solidFill>
                <a:latin typeface="Arial Nova" panose="020B0504020202020204" pitchFamily="34" charset="0"/>
                <a:cs typeface="Arial"/>
                <a:sym typeface="Arial"/>
              </a:rPr>
              <a:t>Taxes</a:t>
            </a:r>
            <a:endParaRPr lang="en-US" sz="1800" kern="0" dirty="0">
              <a:solidFill>
                <a:schemeClr val="bg1"/>
              </a:solidFill>
              <a:latin typeface="Arial Nova" panose="020B0504020202020204" pitchFamily="34" charset="0"/>
              <a:cs typeface="Arial"/>
              <a:sym typeface="Arial"/>
            </a:endParaRPr>
          </a:p>
          <a:p>
            <a:pPr marR="0" lvl="0" algn="ctr" defTabSz="914400" rtl="0" eaLnBrk="1" fontAlgn="auto" latinLnBrk="0" hangingPunct="1">
              <a:spcBef>
                <a:spcPts val="0"/>
              </a:spcBef>
              <a:spcAft>
                <a:spcPts val="0"/>
              </a:spcAft>
              <a:buClr>
                <a:srgbClr val="0276BD"/>
              </a:buClr>
              <a:buSzTx/>
              <a:tabLst/>
              <a:defRPr/>
            </a:pPr>
            <a:endParaRPr kumimoji="0" lang="en-US" sz="1800" b="0" i="0" u="none" strike="noStrike" kern="0" cap="none" spc="0" normalizeH="0" baseline="0" noProof="0" dirty="0">
              <a:ln>
                <a:noFill/>
              </a:ln>
              <a:solidFill>
                <a:schemeClr val="bg1"/>
              </a:solidFill>
              <a:effectLst/>
              <a:uLnTx/>
              <a:uFillTx/>
              <a:latin typeface="Arial Nova" panose="020B0504020202020204" pitchFamily="34" charset="0"/>
              <a:cs typeface="Arial"/>
              <a:sym typeface="Arial"/>
            </a:endParaRPr>
          </a:p>
        </p:txBody>
      </p:sp>
      <p:sp>
        <p:nvSpPr>
          <p:cNvPr id="26" name="TextBox 25">
            <a:extLst>
              <a:ext uri="{FF2B5EF4-FFF2-40B4-BE49-F238E27FC236}">
                <a16:creationId xmlns:a16="http://schemas.microsoft.com/office/drawing/2014/main" id="{6310BEBC-A880-ACE3-CB2F-FA4EE5CBA72F}"/>
              </a:ext>
            </a:extLst>
          </p:cNvPr>
          <p:cNvSpPr txBox="1"/>
          <p:nvPr/>
        </p:nvSpPr>
        <p:spPr>
          <a:xfrm>
            <a:off x="4148051" y="3546325"/>
            <a:ext cx="2437670" cy="1384995"/>
          </a:xfrm>
          <a:prstGeom prst="rect">
            <a:avLst/>
          </a:prstGeom>
          <a:noFill/>
        </p:spPr>
        <p:txBody>
          <a:bodyPr wrap="square">
            <a:spAutoFit/>
          </a:bodyPr>
          <a:lstStyle/>
          <a:p>
            <a:pPr marR="0" lvl="0" algn="ctr" defTabSz="914400" rtl="0" eaLnBrk="1" fontAlgn="auto" latinLnBrk="0" hangingPunct="1">
              <a:spcBef>
                <a:spcPts val="0"/>
              </a:spcBef>
              <a:spcAft>
                <a:spcPts val="0"/>
              </a:spcAft>
              <a:buClr>
                <a:srgbClr val="0276BD"/>
              </a:buClr>
              <a:buSzTx/>
              <a:tabLst/>
              <a:defRPr/>
            </a:pPr>
            <a:r>
              <a:rPr kumimoji="0" lang="en-US" sz="2400" b="1" i="0" u="none" strike="noStrike" kern="0" cap="none" spc="0" normalizeH="0" baseline="0" noProof="0" dirty="0">
                <a:ln>
                  <a:noFill/>
                </a:ln>
                <a:solidFill>
                  <a:srgbClr val="0276BD"/>
                </a:solidFill>
                <a:effectLst/>
                <a:uLnTx/>
                <a:uFillTx/>
                <a:latin typeface="Arial Nova" panose="020B0504020202020204" pitchFamily="34" charset="0"/>
                <a:cs typeface="Arial"/>
                <a:sym typeface="Arial"/>
              </a:rPr>
              <a:t>Start </a:t>
            </a:r>
          </a:p>
          <a:p>
            <a:pPr marR="0" lvl="0" algn="ctr" defTabSz="914400" rtl="0" eaLnBrk="1" fontAlgn="auto" latinLnBrk="0" hangingPunct="1">
              <a:spcBef>
                <a:spcPts val="0"/>
              </a:spcBef>
              <a:spcAft>
                <a:spcPts val="0"/>
              </a:spcAft>
              <a:buClr>
                <a:srgbClr val="0276BD"/>
              </a:buClr>
              <a:buSzTx/>
              <a:tabLst/>
              <a:defRPr/>
            </a:pPr>
            <a:r>
              <a:rPr kumimoji="0" lang="en-US" sz="2400" b="1" i="0" u="none" strike="noStrike" kern="0" cap="none" spc="0" normalizeH="0" baseline="0" noProof="0" dirty="0">
                <a:ln>
                  <a:noFill/>
                </a:ln>
                <a:solidFill>
                  <a:srgbClr val="0276BD"/>
                </a:solidFill>
                <a:effectLst/>
                <a:uLnTx/>
                <a:uFillTx/>
                <a:latin typeface="Arial Nova" panose="020B0504020202020204" pitchFamily="34" charset="0"/>
                <a:cs typeface="Arial"/>
                <a:sym typeface="Arial"/>
              </a:rPr>
              <a:t>Smart</a:t>
            </a:r>
            <a:endParaRPr lang="en-US" sz="2400" b="1" kern="0" dirty="0">
              <a:solidFill>
                <a:srgbClr val="0276BD"/>
              </a:solidFill>
              <a:latin typeface="Arial Nova" panose="020B0504020202020204" pitchFamily="34" charset="0"/>
              <a:cs typeface="Arial"/>
              <a:sym typeface="Arial"/>
            </a:endParaRPr>
          </a:p>
          <a:p>
            <a:pPr marR="0" lvl="0" algn="ctr" defTabSz="914400" rtl="0" eaLnBrk="1" fontAlgn="auto" latinLnBrk="0" hangingPunct="1">
              <a:spcBef>
                <a:spcPts val="0"/>
              </a:spcBef>
              <a:spcAft>
                <a:spcPts val="0"/>
              </a:spcAft>
              <a:buClr>
                <a:srgbClr val="0276BD"/>
              </a:buClr>
              <a:buSzTx/>
              <a:tabLst/>
              <a:defRPr/>
            </a:pPr>
            <a:r>
              <a:rPr lang="en-US" sz="1800" kern="0" dirty="0">
                <a:solidFill>
                  <a:srgbClr val="000000"/>
                </a:solidFill>
                <a:latin typeface="Arial Nova" panose="020B0504020202020204" pitchFamily="34" charset="0"/>
                <a:cs typeface="Arial"/>
                <a:sym typeface="Arial"/>
              </a:rPr>
              <a:t>Relevant risk management</a:t>
            </a:r>
            <a:endParaRPr kumimoji="0" lang="en-US" sz="1800" b="0" i="0" u="none" strike="noStrike" kern="0" cap="none" spc="0" normalizeH="0" baseline="0" noProof="0" dirty="0">
              <a:ln>
                <a:noFill/>
              </a:ln>
              <a:solidFill>
                <a:srgbClr val="000000"/>
              </a:solidFill>
              <a:effectLst/>
              <a:uLnTx/>
              <a:uFillTx/>
              <a:latin typeface="Arial Nova" panose="020B0504020202020204" pitchFamily="34" charset="0"/>
              <a:cs typeface="Arial"/>
              <a:sym typeface="Arial"/>
            </a:endParaRPr>
          </a:p>
        </p:txBody>
      </p:sp>
      <p:sp>
        <p:nvSpPr>
          <p:cNvPr id="27" name="TextBox 26">
            <a:extLst>
              <a:ext uri="{FF2B5EF4-FFF2-40B4-BE49-F238E27FC236}">
                <a16:creationId xmlns:a16="http://schemas.microsoft.com/office/drawing/2014/main" id="{204BAB74-3CE8-1B73-7653-63B2CED9D020}"/>
              </a:ext>
            </a:extLst>
          </p:cNvPr>
          <p:cNvSpPr txBox="1"/>
          <p:nvPr/>
        </p:nvSpPr>
        <p:spPr>
          <a:xfrm>
            <a:off x="6822834" y="3546325"/>
            <a:ext cx="2124001" cy="1384995"/>
          </a:xfrm>
          <a:prstGeom prst="rect">
            <a:avLst/>
          </a:prstGeom>
          <a:noFill/>
        </p:spPr>
        <p:txBody>
          <a:bodyPr wrap="square">
            <a:spAutoFit/>
          </a:bodyPr>
          <a:lstStyle/>
          <a:p>
            <a:pPr marR="0" lvl="0" algn="ctr" defTabSz="914400" rtl="0" eaLnBrk="1" fontAlgn="auto" latinLnBrk="0" hangingPunct="1">
              <a:spcBef>
                <a:spcPts val="0"/>
              </a:spcBef>
              <a:spcAft>
                <a:spcPts val="0"/>
              </a:spcAft>
              <a:buClr>
                <a:srgbClr val="0276BD"/>
              </a:buClr>
              <a:buSzTx/>
              <a:tabLst/>
              <a:defRPr/>
            </a:pPr>
            <a:r>
              <a:rPr kumimoji="0" lang="en-US" sz="2400" b="1" i="0" u="none" strike="noStrike" kern="0" cap="none" spc="0" normalizeH="0" baseline="0" noProof="0" dirty="0">
                <a:ln>
                  <a:noFill/>
                </a:ln>
                <a:solidFill>
                  <a:srgbClr val="0276BD"/>
                </a:solidFill>
                <a:effectLst/>
                <a:uLnTx/>
                <a:uFillTx/>
                <a:latin typeface="Arial Nova" panose="020B0504020202020204" pitchFamily="34" charset="0"/>
                <a:cs typeface="Arial"/>
                <a:sym typeface="Arial"/>
              </a:rPr>
              <a:t>Apply Discipline</a:t>
            </a:r>
            <a:endParaRPr lang="en-US" sz="2400" b="1" kern="0" dirty="0">
              <a:solidFill>
                <a:srgbClr val="0276BD"/>
              </a:solidFill>
              <a:latin typeface="Arial Nova" panose="020B0504020202020204" pitchFamily="34" charset="0"/>
              <a:cs typeface="Arial"/>
              <a:sym typeface="Arial"/>
            </a:endParaRPr>
          </a:p>
          <a:p>
            <a:pPr marR="0" lvl="0" algn="ctr" defTabSz="914400" rtl="0" eaLnBrk="1" fontAlgn="auto" latinLnBrk="0" hangingPunct="1">
              <a:spcBef>
                <a:spcPts val="0"/>
              </a:spcBef>
              <a:spcAft>
                <a:spcPts val="0"/>
              </a:spcAft>
              <a:buClr>
                <a:srgbClr val="0276BD"/>
              </a:buClr>
              <a:buSzTx/>
              <a:tabLst/>
              <a:defRPr/>
            </a:pPr>
            <a:r>
              <a:rPr lang="en-US" sz="1800" kern="0" dirty="0">
                <a:solidFill>
                  <a:srgbClr val="000000"/>
                </a:solidFill>
                <a:latin typeface="Arial Nova" panose="020B0504020202020204" pitchFamily="34" charset="0"/>
                <a:cs typeface="Arial"/>
                <a:sym typeface="Arial"/>
              </a:rPr>
              <a:t>Efficient portfolio execution</a:t>
            </a:r>
            <a:endParaRPr kumimoji="0" lang="en-US" sz="1800" b="0" i="0" u="none" strike="noStrike" kern="0" cap="none" spc="0" normalizeH="0" baseline="0" noProof="0" dirty="0">
              <a:ln>
                <a:noFill/>
              </a:ln>
              <a:solidFill>
                <a:srgbClr val="000000"/>
              </a:solidFill>
              <a:effectLst/>
              <a:uLnTx/>
              <a:uFillTx/>
              <a:latin typeface="Arial Nova" panose="020B0504020202020204" pitchFamily="34" charset="0"/>
              <a:cs typeface="Arial"/>
              <a:sym typeface="Arial"/>
            </a:endParaRPr>
          </a:p>
        </p:txBody>
      </p:sp>
      <p:sp>
        <p:nvSpPr>
          <p:cNvPr id="28" name="TextBox 27">
            <a:extLst>
              <a:ext uri="{FF2B5EF4-FFF2-40B4-BE49-F238E27FC236}">
                <a16:creationId xmlns:a16="http://schemas.microsoft.com/office/drawing/2014/main" id="{149BA0FB-5E94-12FA-9796-398B40EC7FEE}"/>
              </a:ext>
            </a:extLst>
          </p:cNvPr>
          <p:cNvSpPr txBox="1"/>
          <p:nvPr/>
        </p:nvSpPr>
        <p:spPr>
          <a:xfrm>
            <a:off x="9260504" y="3546325"/>
            <a:ext cx="2367471" cy="1384995"/>
          </a:xfrm>
          <a:prstGeom prst="rect">
            <a:avLst/>
          </a:prstGeom>
          <a:noFill/>
        </p:spPr>
        <p:txBody>
          <a:bodyPr wrap="square">
            <a:spAutoFit/>
          </a:bodyPr>
          <a:lstStyle/>
          <a:p>
            <a:pPr marR="0" lvl="0" algn="ctr" defTabSz="914400" rtl="0" eaLnBrk="1" fontAlgn="auto" latinLnBrk="0" hangingPunct="1">
              <a:spcBef>
                <a:spcPts val="0"/>
              </a:spcBef>
              <a:spcAft>
                <a:spcPts val="0"/>
              </a:spcAft>
              <a:buClr>
                <a:srgbClr val="0276BD"/>
              </a:buClr>
              <a:buSzTx/>
              <a:tabLst/>
              <a:defRPr/>
            </a:pPr>
            <a:r>
              <a:rPr kumimoji="0" lang="en-US" sz="2400" b="1" i="0" u="none" strike="noStrike" kern="0" cap="none" spc="0" normalizeH="0" baseline="0" noProof="0" dirty="0">
                <a:ln>
                  <a:noFill/>
                </a:ln>
                <a:solidFill>
                  <a:srgbClr val="0276BD"/>
                </a:solidFill>
                <a:effectLst/>
                <a:uLnTx/>
                <a:uFillTx/>
                <a:latin typeface="Arial Nova" panose="020B0504020202020204" pitchFamily="34" charset="0"/>
                <a:cs typeface="Arial"/>
                <a:sym typeface="Arial"/>
              </a:rPr>
              <a:t>Communicate Progress</a:t>
            </a:r>
            <a:endParaRPr lang="en-US" sz="2400" b="1" kern="0" dirty="0">
              <a:solidFill>
                <a:srgbClr val="0276BD"/>
              </a:solidFill>
              <a:latin typeface="Arial Nova" panose="020B0504020202020204" pitchFamily="34" charset="0"/>
              <a:cs typeface="Arial"/>
              <a:sym typeface="Arial"/>
            </a:endParaRPr>
          </a:p>
          <a:p>
            <a:pPr marR="0" lvl="0" algn="ctr" defTabSz="914400" rtl="0" eaLnBrk="1" fontAlgn="auto" latinLnBrk="0" hangingPunct="1">
              <a:spcBef>
                <a:spcPts val="0"/>
              </a:spcBef>
              <a:spcAft>
                <a:spcPts val="0"/>
              </a:spcAft>
              <a:buClr>
                <a:srgbClr val="0276BD"/>
              </a:buClr>
              <a:buSzTx/>
              <a:tabLst/>
              <a:defRPr/>
            </a:pPr>
            <a:r>
              <a:rPr lang="en-US" sz="1800" kern="0" dirty="0">
                <a:solidFill>
                  <a:srgbClr val="000000"/>
                </a:solidFill>
                <a:latin typeface="Arial Nova" panose="020B0504020202020204" pitchFamily="34" charset="0"/>
                <a:cs typeface="Arial"/>
                <a:sym typeface="Arial"/>
              </a:rPr>
              <a:t>Engaged </a:t>
            </a:r>
          </a:p>
          <a:p>
            <a:pPr marR="0" lvl="0" algn="ctr" defTabSz="914400" rtl="0" eaLnBrk="1" fontAlgn="auto" latinLnBrk="0" hangingPunct="1">
              <a:spcBef>
                <a:spcPts val="0"/>
              </a:spcBef>
              <a:spcAft>
                <a:spcPts val="0"/>
              </a:spcAft>
              <a:buClr>
                <a:srgbClr val="0276BD"/>
              </a:buClr>
              <a:buSzTx/>
              <a:tabLst/>
              <a:defRPr/>
            </a:pPr>
            <a:r>
              <a:rPr lang="en-US" sz="1800" kern="0" dirty="0">
                <a:solidFill>
                  <a:srgbClr val="000000"/>
                </a:solidFill>
                <a:latin typeface="Arial Nova" panose="020B0504020202020204" pitchFamily="34" charset="0"/>
                <a:cs typeface="Arial"/>
                <a:sym typeface="Arial"/>
              </a:rPr>
              <a:t>partnership</a:t>
            </a:r>
            <a:endParaRPr kumimoji="0" lang="en-US" sz="1800" b="0" i="0" u="none" strike="noStrike" kern="0" cap="none" spc="0" normalizeH="0" baseline="0" noProof="0" dirty="0">
              <a:ln>
                <a:noFill/>
              </a:ln>
              <a:solidFill>
                <a:srgbClr val="000000"/>
              </a:solidFill>
              <a:effectLst/>
              <a:uLnTx/>
              <a:uFillTx/>
              <a:latin typeface="Arial Nova" panose="020B0504020202020204" pitchFamily="34" charset="0"/>
              <a:cs typeface="Arial"/>
              <a:sym typeface="Arial"/>
            </a:endParaRPr>
          </a:p>
        </p:txBody>
      </p:sp>
      <p:grpSp>
        <p:nvGrpSpPr>
          <p:cNvPr id="29" name="Group 28">
            <a:extLst>
              <a:ext uri="{FF2B5EF4-FFF2-40B4-BE49-F238E27FC236}">
                <a16:creationId xmlns:a16="http://schemas.microsoft.com/office/drawing/2014/main" id="{B3FC56CC-8809-B83C-E842-2411C7E94A74}"/>
              </a:ext>
            </a:extLst>
          </p:cNvPr>
          <p:cNvGrpSpPr/>
          <p:nvPr/>
        </p:nvGrpSpPr>
        <p:grpSpPr>
          <a:xfrm>
            <a:off x="9700158" y="1917322"/>
            <a:ext cx="1488163" cy="1451609"/>
            <a:chOff x="8551989" y="1428207"/>
            <a:chExt cx="1488163" cy="1451609"/>
          </a:xfrm>
        </p:grpSpPr>
        <p:sp>
          <p:nvSpPr>
            <p:cNvPr id="30" name="Oval 29">
              <a:extLst>
                <a:ext uri="{FF2B5EF4-FFF2-40B4-BE49-F238E27FC236}">
                  <a16:creationId xmlns:a16="http://schemas.microsoft.com/office/drawing/2014/main" id="{336AA6A1-67A8-888F-3BD1-9E03A14998B6}"/>
                </a:ext>
              </a:extLst>
            </p:cNvPr>
            <p:cNvSpPr>
              <a:spLocks noChangeAspect="1"/>
            </p:cNvSpPr>
            <p:nvPr/>
          </p:nvSpPr>
          <p:spPr>
            <a:xfrm>
              <a:off x="8551989" y="1428207"/>
              <a:ext cx="1488163" cy="1451609"/>
            </a:xfrm>
            <a:prstGeom prst="ellipse">
              <a:avLst/>
            </a:prstGeom>
            <a:solidFill>
              <a:schemeClr val="bg1"/>
            </a:solidFill>
            <a:ln w="12700" cap="flat" cmpd="sng" algn="ctr">
              <a:solidFill>
                <a:srgbClr val="1D71BD"/>
              </a:solidFill>
              <a:prstDash val="solid"/>
              <a:miter lim="800000"/>
            </a:ln>
            <a:effectLst/>
          </p:spPr>
          <p:txBody>
            <a:bodyPr rtlCol="0" anchor="ctr"/>
            <a:lstStyle/>
            <a:p>
              <a:pPr marL="0" marR="0" lvl="0" indent="0" algn="ctr" defTabSz="1828434" eaLnBrk="1" fontAlgn="auto" latinLnBrk="0" hangingPunct="1">
                <a:lnSpc>
                  <a:spcPct val="100000"/>
                </a:lnSpc>
                <a:spcBef>
                  <a:spcPts val="0"/>
                </a:spcBef>
                <a:spcAft>
                  <a:spcPts val="0"/>
                </a:spcAft>
                <a:buClrTx/>
                <a:buSzTx/>
                <a:buFontTx/>
                <a:buNone/>
                <a:tabLst/>
                <a:defRPr/>
              </a:pPr>
              <a:endParaRPr kumimoji="0" lang="en-US" sz="6398" b="0" i="0" u="none" strike="noStrike" kern="0" cap="none" spc="0" normalizeH="0" baseline="0" noProof="0" dirty="0">
                <a:ln>
                  <a:noFill/>
                </a:ln>
                <a:solidFill>
                  <a:srgbClr val="FFFFFF"/>
                </a:solidFill>
                <a:effectLst/>
                <a:uLnTx/>
                <a:uFillTx/>
                <a:latin typeface="Noto Sans ExtraLight" panose="020B0302040504020204" pitchFamily="34" charset="0"/>
                <a:ea typeface="+mn-ea"/>
                <a:cs typeface="+mn-cs"/>
              </a:endParaRPr>
            </a:p>
          </p:txBody>
        </p:sp>
        <p:pic>
          <p:nvPicPr>
            <p:cNvPr id="31" name="Picture 30" descr="Icon&#10;&#10;Description automatically generated">
              <a:extLst>
                <a:ext uri="{FF2B5EF4-FFF2-40B4-BE49-F238E27FC236}">
                  <a16:creationId xmlns:a16="http://schemas.microsoft.com/office/drawing/2014/main" id="{8A3E78AB-CD6F-9864-ACF2-929E9F741A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38870" y="1762449"/>
              <a:ext cx="914400" cy="783125"/>
            </a:xfrm>
            <a:prstGeom prst="rect">
              <a:avLst/>
            </a:prstGeom>
          </p:spPr>
        </p:pic>
      </p:grpSp>
      <p:grpSp>
        <p:nvGrpSpPr>
          <p:cNvPr id="32" name="Group 31">
            <a:extLst>
              <a:ext uri="{FF2B5EF4-FFF2-40B4-BE49-F238E27FC236}">
                <a16:creationId xmlns:a16="http://schemas.microsoft.com/office/drawing/2014/main" id="{698A617A-7BFB-2CA6-BB10-8DAE862029DC}"/>
              </a:ext>
            </a:extLst>
          </p:cNvPr>
          <p:cNvGrpSpPr/>
          <p:nvPr/>
        </p:nvGrpSpPr>
        <p:grpSpPr>
          <a:xfrm>
            <a:off x="7140753" y="1917322"/>
            <a:ext cx="1488163" cy="1451609"/>
            <a:chOff x="6320976" y="2421578"/>
            <a:chExt cx="1488163" cy="1451609"/>
          </a:xfrm>
        </p:grpSpPr>
        <p:sp>
          <p:nvSpPr>
            <p:cNvPr id="33" name="Oval 32">
              <a:extLst>
                <a:ext uri="{FF2B5EF4-FFF2-40B4-BE49-F238E27FC236}">
                  <a16:creationId xmlns:a16="http://schemas.microsoft.com/office/drawing/2014/main" id="{709EABE0-FFC6-BF45-73B7-FAAC85256A0B}"/>
                </a:ext>
              </a:extLst>
            </p:cNvPr>
            <p:cNvSpPr>
              <a:spLocks noChangeAspect="1"/>
            </p:cNvSpPr>
            <p:nvPr/>
          </p:nvSpPr>
          <p:spPr>
            <a:xfrm>
              <a:off x="6320976" y="2421578"/>
              <a:ext cx="1488163" cy="1451609"/>
            </a:xfrm>
            <a:prstGeom prst="ellipse">
              <a:avLst/>
            </a:prstGeom>
            <a:solidFill>
              <a:schemeClr val="bg1"/>
            </a:solidFill>
            <a:ln w="12700" cap="flat" cmpd="sng" algn="ctr">
              <a:solidFill>
                <a:srgbClr val="1D71BD"/>
              </a:solidFill>
              <a:prstDash val="solid"/>
              <a:miter lim="800000"/>
            </a:ln>
            <a:effectLst/>
          </p:spPr>
          <p:txBody>
            <a:bodyPr rtlCol="0" anchor="ctr"/>
            <a:lstStyle/>
            <a:p>
              <a:pPr marL="0" marR="0" lvl="0" indent="0" algn="ctr" defTabSz="1828434" eaLnBrk="1" fontAlgn="auto" latinLnBrk="0" hangingPunct="1">
                <a:lnSpc>
                  <a:spcPct val="100000"/>
                </a:lnSpc>
                <a:spcBef>
                  <a:spcPts val="0"/>
                </a:spcBef>
                <a:spcAft>
                  <a:spcPts val="0"/>
                </a:spcAft>
                <a:buClrTx/>
                <a:buSzTx/>
                <a:buFontTx/>
                <a:buNone/>
                <a:tabLst/>
                <a:defRPr/>
              </a:pPr>
              <a:endParaRPr kumimoji="0" lang="en-US" sz="6398" b="0" i="0" u="none" strike="noStrike" kern="0" cap="none" spc="0" normalizeH="0" baseline="0" noProof="0" dirty="0">
                <a:ln>
                  <a:noFill/>
                </a:ln>
                <a:solidFill>
                  <a:srgbClr val="FFFFFF"/>
                </a:solidFill>
                <a:effectLst/>
                <a:uLnTx/>
                <a:uFillTx/>
                <a:latin typeface="Noto Sans ExtraLight" panose="020B0302040504020204" pitchFamily="34" charset="0"/>
                <a:ea typeface="+mn-ea"/>
                <a:cs typeface="+mn-cs"/>
              </a:endParaRPr>
            </a:p>
          </p:txBody>
        </p:sp>
        <p:pic>
          <p:nvPicPr>
            <p:cNvPr id="34" name="Picture 33">
              <a:extLst>
                <a:ext uri="{FF2B5EF4-FFF2-40B4-BE49-F238E27FC236}">
                  <a16:creationId xmlns:a16="http://schemas.microsoft.com/office/drawing/2014/main" id="{CFCF134B-7B36-90CB-7C7C-33023A12B7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07857" y="2692667"/>
              <a:ext cx="914400" cy="909430"/>
            </a:xfrm>
            <a:prstGeom prst="rect">
              <a:avLst/>
            </a:prstGeom>
          </p:spPr>
        </p:pic>
      </p:grpSp>
      <p:grpSp>
        <p:nvGrpSpPr>
          <p:cNvPr id="35" name="Group 34">
            <a:extLst>
              <a:ext uri="{FF2B5EF4-FFF2-40B4-BE49-F238E27FC236}">
                <a16:creationId xmlns:a16="http://schemas.microsoft.com/office/drawing/2014/main" id="{4F7C436A-00E4-3EF0-9AC7-2B08A0E458C1}"/>
              </a:ext>
            </a:extLst>
          </p:cNvPr>
          <p:cNvGrpSpPr/>
          <p:nvPr/>
        </p:nvGrpSpPr>
        <p:grpSpPr>
          <a:xfrm>
            <a:off x="4622805" y="1917322"/>
            <a:ext cx="1488163" cy="1451609"/>
            <a:chOff x="3917525" y="3526347"/>
            <a:chExt cx="1488163" cy="1451609"/>
          </a:xfrm>
        </p:grpSpPr>
        <p:sp>
          <p:nvSpPr>
            <p:cNvPr id="36" name="Oval 35">
              <a:extLst>
                <a:ext uri="{FF2B5EF4-FFF2-40B4-BE49-F238E27FC236}">
                  <a16:creationId xmlns:a16="http://schemas.microsoft.com/office/drawing/2014/main" id="{CF8D62DB-A608-C0CA-ACC2-8A3AF0ABB175}"/>
                </a:ext>
              </a:extLst>
            </p:cNvPr>
            <p:cNvSpPr>
              <a:spLocks noChangeAspect="1"/>
            </p:cNvSpPr>
            <p:nvPr/>
          </p:nvSpPr>
          <p:spPr>
            <a:xfrm>
              <a:off x="3917525" y="3526347"/>
              <a:ext cx="1488163" cy="1451609"/>
            </a:xfrm>
            <a:prstGeom prst="ellipse">
              <a:avLst/>
            </a:prstGeom>
            <a:solidFill>
              <a:schemeClr val="bg1"/>
            </a:solidFill>
            <a:ln w="12700" cap="flat" cmpd="sng" algn="ctr">
              <a:solidFill>
                <a:srgbClr val="1D71BD"/>
              </a:solidFill>
              <a:prstDash val="solid"/>
              <a:miter lim="800000"/>
            </a:ln>
            <a:effectLst/>
          </p:spPr>
          <p:txBody>
            <a:bodyPr rtlCol="0" anchor="ctr"/>
            <a:lstStyle/>
            <a:p>
              <a:pPr marL="0" marR="0" lvl="0" indent="0" algn="ctr" defTabSz="1828434" eaLnBrk="1" fontAlgn="auto" latinLnBrk="0" hangingPunct="1">
                <a:lnSpc>
                  <a:spcPct val="100000"/>
                </a:lnSpc>
                <a:spcBef>
                  <a:spcPts val="0"/>
                </a:spcBef>
                <a:spcAft>
                  <a:spcPts val="0"/>
                </a:spcAft>
                <a:buClrTx/>
                <a:buSzTx/>
                <a:buFontTx/>
                <a:buNone/>
                <a:tabLst/>
                <a:defRPr/>
              </a:pPr>
              <a:endParaRPr kumimoji="0" lang="en-US" sz="6398" b="0" i="0" u="none" strike="noStrike" kern="0" cap="none" spc="0" normalizeH="0" baseline="0" noProof="0" dirty="0">
                <a:ln>
                  <a:noFill/>
                </a:ln>
                <a:solidFill>
                  <a:srgbClr val="FFFFFF"/>
                </a:solidFill>
                <a:effectLst/>
                <a:uLnTx/>
                <a:uFillTx/>
                <a:latin typeface="Noto Sans ExtraLight" panose="020B0302040504020204" pitchFamily="34" charset="0"/>
                <a:ea typeface="+mn-ea"/>
                <a:cs typeface="+mn-cs"/>
              </a:endParaRPr>
            </a:p>
          </p:txBody>
        </p:sp>
        <p:pic>
          <p:nvPicPr>
            <p:cNvPr id="37" name="Picture 36" descr="Icon&#10;&#10;Description automatically generated">
              <a:extLst>
                <a:ext uri="{FF2B5EF4-FFF2-40B4-BE49-F238E27FC236}">
                  <a16:creationId xmlns:a16="http://schemas.microsoft.com/office/drawing/2014/main" id="{70A98469-FFED-3749-96F5-6C1F2C823DC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95846" y="3708922"/>
              <a:ext cx="731520" cy="1086459"/>
            </a:xfrm>
            <a:prstGeom prst="rect">
              <a:avLst/>
            </a:prstGeom>
          </p:spPr>
        </p:pic>
      </p:grpSp>
      <p:sp>
        <p:nvSpPr>
          <p:cNvPr id="2" name="Slide Number Placeholder 5">
            <a:extLst>
              <a:ext uri="{FF2B5EF4-FFF2-40B4-BE49-F238E27FC236}">
                <a16:creationId xmlns:a16="http://schemas.microsoft.com/office/drawing/2014/main" id="{6477E9D3-2A74-7DED-BDC9-B1F06C39606E}"/>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3</a:t>
            </a:fld>
            <a:endParaRPr lang="en-US" dirty="0">
              <a:solidFill>
                <a:schemeClr val="bg1">
                  <a:lumMod val="75000"/>
                </a:schemeClr>
              </a:solidFill>
              <a:latin typeface="Arial Nova" panose="020B0504020202020204" pitchFamily="34" charset="0"/>
            </a:endParaRPr>
          </a:p>
        </p:txBody>
      </p:sp>
      <p:sp>
        <p:nvSpPr>
          <p:cNvPr id="3" name="Footer Placeholder 4">
            <a:extLst>
              <a:ext uri="{FF2B5EF4-FFF2-40B4-BE49-F238E27FC236}">
                <a16:creationId xmlns:a16="http://schemas.microsoft.com/office/drawing/2014/main" id="{8D603653-CCCC-BB72-D586-80A746397C5A}"/>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299692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500"/>
                                        <p:tgtEl>
                                          <p:spTgt spid="3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500"/>
                                        <p:tgtEl>
                                          <p:spTgt spid="2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p:bldP spid="2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92023C4E-E9FD-F209-957D-7927B40A1D5B}"/>
              </a:ext>
            </a:extLst>
          </p:cNvPr>
          <p:cNvSpPr txBox="1">
            <a:spLocks/>
          </p:cNvSpPr>
          <p:nvPr/>
        </p:nvSpPr>
        <p:spPr>
          <a:xfrm>
            <a:off x="381000" y="320676"/>
            <a:ext cx="10972800" cy="805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dirty="0"/>
              <a:t>Our Foundation: Financial Planning Considerations</a:t>
            </a:r>
          </a:p>
        </p:txBody>
      </p:sp>
      <p:sp>
        <p:nvSpPr>
          <p:cNvPr id="6" name="Freeform 32">
            <a:extLst>
              <a:ext uri="{FF2B5EF4-FFF2-40B4-BE49-F238E27FC236}">
                <a16:creationId xmlns:a16="http://schemas.microsoft.com/office/drawing/2014/main" id="{DD212F37-26D4-E0D7-9D72-D553648C1D91}"/>
              </a:ext>
            </a:extLst>
          </p:cNvPr>
          <p:cNvSpPr/>
          <p:nvPr/>
        </p:nvSpPr>
        <p:spPr>
          <a:xfrm>
            <a:off x="6147511" y="1754229"/>
            <a:ext cx="1721381" cy="1573637"/>
          </a:xfrm>
          <a:custGeom>
            <a:avLst/>
            <a:gdLst>
              <a:gd name="connsiteX0" fmla="*/ 0 w 4160354"/>
              <a:gd name="connsiteY0" fmla="*/ 0 h 3803286"/>
              <a:gd name="connsiteX1" fmla="*/ 153701 w 4160354"/>
              <a:gd name="connsiteY1" fmla="*/ 3886 h 3803286"/>
              <a:gd name="connsiteX2" fmla="*/ 4158263 w 4160354"/>
              <a:gd name="connsiteY2" fmla="*/ 2396172 h 3803286"/>
              <a:gd name="connsiteX3" fmla="*/ 4160354 w 4160354"/>
              <a:gd name="connsiteY3" fmla="*/ 2399809 h 3803286"/>
              <a:gd name="connsiteX4" fmla="*/ 1729461 w 4160354"/>
              <a:gd name="connsiteY4" fmla="*/ 3803286 h 3803286"/>
              <a:gd name="connsiteX5" fmla="*/ 1704039 w 4160354"/>
              <a:gd name="connsiteY5" fmla="*/ 3761439 h 3803286"/>
              <a:gd name="connsiteX6" fmla="*/ 120088 w 4160354"/>
              <a:gd name="connsiteY6" fmla="*/ 2812060 h 3803286"/>
              <a:gd name="connsiteX7" fmla="*/ 0 w 4160354"/>
              <a:gd name="connsiteY7" fmla="*/ 2805996 h 3803286"/>
              <a:gd name="connsiteX8" fmla="*/ 0 w 4160354"/>
              <a:gd name="connsiteY8" fmla="*/ 0 h 3803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60354" h="3803286">
                <a:moveTo>
                  <a:pt x="0" y="0"/>
                </a:moveTo>
                <a:lnTo>
                  <a:pt x="153701" y="3886"/>
                </a:lnTo>
                <a:cubicBezTo>
                  <a:pt x="1852067" y="89976"/>
                  <a:pt x="3326051" y="1026535"/>
                  <a:pt x="4158263" y="2396172"/>
                </a:cubicBezTo>
                <a:lnTo>
                  <a:pt x="4160354" y="2399809"/>
                </a:lnTo>
                <a:lnTo>
                  <a:pt x="1729461" y="3803286"/>
                </a:lnTo>
                <a:lnTo>
                  <a:pt x="1704039" y="3761439"/>
                </a:lnTo>
                <a:cubicBezTo>
                  <a:pt x="1351642" y="3239823"/>
                  <a:pt x="779302" y="2879007"/>
                  <a:pt x="120088" y="2812060"/>
                </a:cubicBezTo>
                <a:lnTo>
                  <a:pt x="0" y="2805996"/>
                </a:lnTo>
                <a:lnTo>
                  <a:pt x="0" y="0"/>
                </a:lnTo>
                <a:close/>
              </a:path>
            </a:pathLst>
          </a:custGeom>
          <a:solidFill>
            <a:srgbClr val="3FADFF"/>
          </a:solidFill>
          <a:ln w="12700" cap="flat" cmpd="sng" algn="ctr">
            <a:noFill/>
            <a:prstDash val="solid"/>
            <a:miter lim="800000"/>
          </a:ln>
          <a:effectLst/>
        </p:spPr>
        <p:txBody>
          <a:bodyPr rtlCol="0" anchor="ctr"/>
          <a:lstStyle/>
          <a:p>
            <a:pPr marL="0" marR="0" lvl="0" indent="0" algn="ctr" defTabSz="1828434"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7" name="Freeform 31">
            <a:extLst>
              <a:ext uri="{FF2B5EF4-FFF2-40B4-BE49-F238E27FC236}">
                <a16:creationId xmlns:a16="http://schemas.microsoft.com/office/drawing/2014/main" id="{6E4C0861-5917-B0A7-2CA2-CBD6F0450AEA}"/>
              </a:ext>
            </a:extLst>
          </p:cNvPr>
          <p:cNvSpPr/>
          <p:nvPr/>
        </p:nvSpPr>
        <p:spPr>
          <a:xfrm>
            <a:off x="4341158" y="1754229"/>
            <a:ext cx="1721380" cy="1573637"/>
          </a:xfrm>
          <a:custGeom>
            <a:avLst/>
            <a:gdLst>
              <a:gd name="connsiteX0" fmla="*/ 4160352 w 4160352"/>
              <a:gd name="connsiteY0" fmla="*/ 0 h 3803286"/>
              <a:gd name="connsiteX1" fmla="*/ 4160352 w 4160352"/>
              <a:gd name="connsiteY1" fmla="*/ 2805996 h 3803286"/>
              <a:gd name="connsiteX2" fmla="*/ 4040265 w 4160352"/>
              <a:gd name="connsiteY2" fmla="*/ 2812060 h 3803286"/>
              <a:gd name="connsiteX3" fmla="*/ 2456314 w 4160352"/>
              <a:gd name="connsiteY3" fmla="*/ 3761439 h 3803286"/>
              <a:gd name="connsiteX4" fmla="*/ 2430892 w 4160352"/>
              <a:gd name="connsiteY4" fmla="*/ 3803286 h 3803286"/>
              <a:gd name="connsiteX5" fmla="*/ 0 w 4160352"/>
              <a:gd name="connsiteY5" fmla="*/ 2399810 h 3803286"/>
              <a:gd name="connsiteX6" fmla="*/ 2091 w 4160352"/>
              <a:gd name="connsiteY6" fmla="*/ 2396172 h 3803286"/>
              <a:gd name="connsiteX7" fmla="*/ 4006652 w 4160352"/>
              <a:gd name="connsiteY7" fmla="*/ 3886 h 3803286"/>
              <a:gd name="connsiteX8" fmla="*/ 4160352 w 4160352"/>
              <a:gd name="connsiteY8" fmla="*/ 0 h 3803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60352" h="3803286">
                <a:moveTo>
                  <a:pt x="4160352" y="0"/>
                </a:moveTo>
                <a:lnTo>
                  <a:pt x="4160352" y="2805996"/>
                </a:lnTo>
                <a:lnTo>
                  <a:pt x="4040265" y="2812060"/>
                </a:lnTo>
                <a:cubicBezTo>
                  <a:pt x="3381051" y="2879007"/>
                  <a:pt x="2808711" y="3239823"/>
                  <a:pt x="2456314" y="3761439"/>
                </a:cubicBezTo>
                <a:lnTo>
                  <a:pt x="2430892" y="3803286"/>
                </a:lnTo>
                <a:lnTo>
                  <a:pt x="0" y="2399810"/>
                </a:lnTo>
                <a:lnTo>
                  <a:pt x="2091" y="2396172"/>
                </a:lnTo>
                <a:cubicBezTo>
                  <a:pt x="834302" y="1026535"/>
                  <a:pt x="2308286" y="89976"/>
                  <a:pt x="4006652" y="3886"/>
                </a:cubicBezTo>
                <a:lnTo>
                  <a:pt x="4160352" y="0"/>
                </a:lnTo>
                <a:close/>
              </a:path>
            </a:pathLst>
          </a:custGeom>
          <a:solidFill>
            <a:srgbClr val="00233E"/>
          </a:solidFill>
          <a:ln w="12700" cap="flat" cmpd="sng" algn="ctr">
            <a:noFill/>
            <a:prstDash val="solid"/>
            <a:miter lim="800000"/>
          </a:ln>
          <a:effectLst/>
        </p:spPr>
        <p:txBody>
          <a:bodyPr rtlCol="0" anchor="ctr"/>
          <a:lstStyle/>
          <a:p>
            <a:pPr marL="0" marR="0" lvl="0" indent="0" algn="ctr" defTabSz="1828434"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8" name="Freeform 28">
            <a:extLst>
              <a:ext uri="{FF2B5EF4-FFF2-40B4-BE49-F238E27FC236}">
                <a16:creationId xmlns:a16="http://schemas.microsoft.com/office/drawing/2014/main" id="{AEECA51E-AA7A-74A2-B423-DF3BC376036B}"/>
              </a:ext>
            </a:extLst>
          </p:cNvPr>
          <p:cNvSpPr/>
          <p:nvPr/>
        </p:nvSpPr>
        <p:spPr>
          <a:xfrm>
            <a:off x="6905683" y="2820832"/>
            <a:ext cx="1260786" cy="1987523"/>
          </a:xfrm>
          <a:custGeom>
            <a:avLst/>
            <a:gdLst>
              <a:gd name="connsiteX0" fmla="*/ 2430322 w 3047157"/>
              <a:gd name="connsiteY0" fmla="*/ 0 h 4803597"/>
              <a:gd name="connsiteX1" fmla="*/ 2445827 w 3047157"/>
              <a:gd name="connsiteY1" fmla="*/ 26965 h 4803597"/>
              <a:gd name="connsiteX2" fmla="*/ 3047157 w 3047157"/>
              <a:gd name="connsiteY2" fmla="*/ 2401798 h 4803597"/>
              <a:gd name="connsiteX3" fmla="*/ 2445827 w 3047157"/>
              <a:gd name="connsiteY3" fmla="*/ 4776631 h 4803597"/>
              <a:gd name="connsiteX4" fmla="*/ 2430322 w 3047157"/>
              <a:gd name="connsiteY4" fmla="*/ 4803597 h 4803597"/>
              <a:gd name="connsiteX5" fmla="*/ 0 w 3047157"/>
              <a:gd name="connsiteY5" fmla="*/ 3400450 h 4803597"/>
              <a:gd name="connsiteX6" fmla="*/ 72524 w 3047157"/>
              <a:gd name="connsiteY6" fmla="*/ 3249899 h 4803597"/>
              <a:gd name="connsiteX7" fmla="*/ 243748 w 3047157"/>
              <a:gd name="connsiteY7" fmla="*/ 2401798 h 4803597"/>
              <a:gd name="connsiteX8" fmla="*/ 72524 w 3047157"/>
              <a:gd name="connsiteY8" fmla="*/ 1553697 h 4803597"/>
              <a:gd name="connsiteX9" fmla="*/ 0 w 3047157"/>
              <a:gd name="connsiteY9" fmla="*/ 1403147 h 4803597"/>
              <a:gd name="connsiteX10" fmla="*/ 2430322 w 3047157"/>
              <a:gd name="connsiteY10" fmla="*/ 0 h 4803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47157" h="4803597">
                <a:moveTo>
                  <a:pt x="2430322" y="0"/>
                </a:moveTo>
                <a:lnTo>
                  <a:pt x="2445827" y="26965"/>
                </a:lnTo>
                <a:cubicBezTo>
                  <a:pt x="2829323" y="732916"/>
                  <a:pt x="3047157" y="1541918"/>
                  <a:pt x="3047157" y="2401798"/>
                </a:cubicBezTo>
                <a:cubicBezTo>
                  <a:pt x="3047157" y="3261678"/>
                  <a:pt x="2829323" y="4070681"/>
                  <a:pt x="2445827" y="4776631"/>
                </a:cubicBezTo>
                <a:lnTo>
                  <a:pt x="2430322" y="4803597"/>
                </a:lnTo>
                <a:lnTo>
                  <a:pt x="0" y="3400450"/>
                </a:lnTo>
                <a:lnTo>
                  <a:pt x="72524" y="3249899"/>
                </a:lnTo>
                <a:cubicBezTo>
                  <a:pt x="182779" y="2989227"/>
                  <a:pt x="243748" y="2702632"/>
                  <a:pt x="243748" y="2401798"/>
                </a:cubicBezTo>
                <a:cubicBezTo>
                  <a:pt x="243748" y="2100964"/>
                  <a:pt x="182779" y="1814370"/>
                  <a:pt x="72524" y="1553697"/>
                </a:cubicBezTo>
                <a:lnTo>
                  <a:pt x="0" y="1403147"/>
                </a:lnTo>
                <a:lnTo>
                  <a:pt x="2430322" y="0"/>
                </a:lnTo>
                <a:close/>
              </a:path>
            </a:pathLst>
          </a:custGeom>
          <a:solidFill>
            <a:srgbClr val="0076BC"/>
          </a:solidFill>
          <a:ln w="12700" cap="flat" cmpd="sng" algn="ctr">
            <a:noFill/>
            <a:prstDash val="solid"/>
            <a:miter lim="800000"/>
          </a:ln>
          <a:effectLst/>
        </p:spPr>
        <p:txBody>
          <a:bodyPr rtlCol="0" anchor="ctr"/>
          <a:lstStyle/>
          <a:p>
            <a:pPr marL="0" marR="0" lvl="0" indent="0" algn="ctr" defTabSz="1828434"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9" name="Freeform 27">
            <a:extLst>
              <a:ext uri="{FF2B5EF4-FFF2-40B4-BE49-F238E27FC236}">
                <a16:creationId xmlns:a16="http://schemas.microsoft.com/office/drawing/2014/main" id="{2E79F333-C1AD-FE87-E987-CA79F34873FD}"/>
              </a:ext>
            </a:extLst>
          </p:cNvPr>
          <p:cNvSpPr/>
          <p:nvPr/>
        </p:nvSpPr>
        <p:spPr>
          <a:xfrm>
            <a:off x="4043581" y="2820832"/>
            <a:ext cx="1260786" cy="1987523"/>
          </a:xfrm>
          <a:custGeom>
            <a:avLst/>
            <a:gdLst>
              <a:gd name="connsiteX0" fmla="*/ 616835 w 3047156"/>
              <a:gd name="connsiteY0" fmla="*/ 0 h 4803597"/>
              <a:gd name="connsiteX1" fmla="*/ 3047156 w 3047156"/>
              <a:gd name="connsiteY1" fmla="*/ 1403147 h 4803597"/>
              <a:gd name="connsiteX2" fmla="*/ 2974632 w 3047156"/>
              <a:gd name="connsiteY2" fmla="*/ 1553697 h 4803597"/>
              <a:gd name="connsiteX3" fmla="*/ 2803408 w 3047156"/>
              <a:gd name="connsiteY3" fmla="*/ 2401798 h 4803597"/>
              <a:gd name="connsiteX4" fmla="*/ 2974632 w 3047156"/>
              <a:gd name="connsiteY4" fmla="*/ 3249899 h 4803597"/>
              <a:gd name="connsiteX5" fmla="*/ 3047156 w 3047156"/>
              <a:gd name="connsiteY5" fmla="*/ 3400450 h 4803597"/>
              <a:gd name="connsiteX6" fmla="*/ 616835 w 3047156"/>
              <a:gd name="connsiteY6" fmla="*/ 4803597 h 4803597"/>
              <a:gd name="connsiteX7" fmla="*/ 601330 w 3047156"/>
              <a:gd name="connsiteY7" fmla="*/ 4776631 h 4803597"/>
              <a:gd name="connsiteX8" fmla="*/ 0 w 3047156"/>
              <a:gd name="connsiteY8" fmla="*/ 2401798 h 4803597"/>
              <a:gd name="connsiteX9" fmla="*/ 601330 w 3047156"/>
              <a:gd name="connsiteY9" fmla="*/ 26965 h 4803597"/>
              <a:gd name="connsiteX10" fmla="*/ 616835 w 3047156"/>
              <a:gd name="connsiteY10" fmla="*/ 0 h 4803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47156" h="4803597">
                <a:moveTo>
                  <a:pt x="616835" y="0"/>
                </a:moveTo>
                <a:lnTo>
                  <a:pt x="3047156" y="1403147"/>
                </a:lnTo>
                <a:lnTo>
                  <a:pt x="2974632" y="1553697"/>
                </a:lnTo>
                <a:cubicBezTo>
                  <a:pt x="2864377" y="1814370"/>
                  <a:pt x="2803408" y="2100964"/>
                  <a:pt x="2803408" y="2401798"/>
                </a:cubicBezTo>
                <a:cubicBezTo>
                  <a:pt x="2803408" y="2702632"/>
                  <a:pt x="2864377" y="2989227"/>
                  <a:pt x="2974632" y="3249899"/>
                </a:cubicBezTo>
                <a:lnTo>
                  <a:pt x="3047156" y="3400450"/>
                </a:lnTo>
                <a:lnTo>
                  <a:pt x="616835" y="4803597"/>
                </a:lnTo>
                <a:lnTo>
                  <a:pt x="601330" y="4776631"/>
                </a:lnTo>
                <a:cubicBezTo>
                  <a:pt x="217835" y="4070681"/>
                  <a:pt x="0" y="3261678"/>
                  <a:pt x="0" y="2401798"/>
                </a:cubicBezTo>
                <a:cubicBezTo>
                  <a:pt x="0" y="1541918"/>
                  <a:pt x="217835" y="732916"/>
                  <a:pt x="601330" y="26965"/>
                </a:cubicBezTo>
                <a:lnTo>
                  <a:pt x="616835" y="0"/>
                </a:lnTo>
                <a:close/>
              </a:path>
            </a:pathLst>
          </a:custGeom>
          <a:solidFill>
            <a:srgbClr val="003359"/>
          </a:solidFill>
          <a:ln w="12700" cap="flat" cmpd="sng" algn="ctr">
            <a:noFill/>
            <a:prstDash val="solid"/>
            <a:miter lim="800000"/>
          </a:ln>
          <a:effectLst/>
        </p:spPr>
        <p:txBody>
          <a:bodyPr rtlCol="0" anchor="ctr"/>
          <a:lstStyle/>
          <a:p>
            <a:pPr marL="0" marR="0" lvl="0" indent="0" algn="ctr" defTabSz="1828434"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10" name="Freeform 25">
            <a:extLst>
              <a:ext uri="{FF2B5EF4-FFF2-40B4-BE49-F238E27FC236}">
                <a16:creationId xmlns:a16="http://schemas.microsoft.com/office/drawing/2014/main" id="{968C10FE-C7A2-212B-CD68-0DD98D69546F}"/>
              </a:ext>
            </a:extLst>
          </p:cNvPr>
          <p:cNvSpPr/>
          <p:nvPr/>
        </p:nvSpPr>
        <p:spPr>
          <a:xfrm>
            <a:off x="4341158" y="4301322"/>
            <a:ext cx="1721380" cy="1573637"/>
          </a:xfrm>
          <a:custGeom>
            <a:avLst/>
            <a:gdLst>
              <a:gd name="connsiteX0" fmla="*/ 2430892 w 4160352"/>
              <a:gd name="connsiteY0" fmla="*/ 0 h 3803285"/>
              <a:gd name="connsiteX1" fmla="*/ 2456314 w 4160352"/>
              <a:gd name="connsiteY1" fmla="*/ 41846 h 3803285"/>
              <a:gd name="connsiteX2" fmla="*/ 4040265 w 4160352"/>
              <a:gd name="connsiteY2" fmla="*/ 991225 h 3803285"/>
              <a:gd name="connsiteX3" fmla="*/ 4160352 w 4160352"/>
              <a:gd name="connsiteY3" fmla="*/ 997289 h 3803285"/>
              <a:gd name="connsiteX4" fmla="*/ 4160352 w 4160352"/>
              <a:gd name="connsiteY4" fmla="*/ 3803285 h 3803285"/>
              <a:gd name="connsiteX5" fmla="*/ 4006652 w 4160352"/>
              <a:gd name="connsiteY5" fmla="*/ 3799399 h 3803285"/>
              <a:gd name="connsiteX6" fmla="*/ 2091 w 4160352"/>
              <a:gd name="connsiteY6" fmla="*/ 1407113 h 3803285"/>
              <a:gd name="connsiteX7" fmla="*/ 0 w 4160352"/>
              <a:gd name="connsiteY7" fmla="*/ 1403476 h 3803285"/>
              <a:gd name="connsiteX8" fmla="*/ 2430892 w 4160352"/>
              <a:gd name="connsiteY8" fmla="*/ 0 h 3803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60352" h="3803285">
                <a:moveTo>
                  <a:pt x="2430892" y="0"/>
                </a:moveTo>
                <a:lnTo>
                  <a:pt x="2456314" y="41846"/>
                </a:lnTo>
                <a:cubicBezTo>
                  <a:pt x="2808711" y="563463"/>
                  <a:pt x="3381051" y="924278"/>
                  <a:pt x="4040265" y="991225"/>
                </a:cubicBezTo>
                <a:lnTo>
                  <a:pt x="4160352" y="997289"/>
                </a:lnTo>
                <a:lnTo>
                  <a:pt x="4160352" y="3803285"/>
                </a:lnTo>
                <a:lnTo>
                  <a:pt x="4006652" y="3799399"/>
                </a:lnTo>
                <a:cubicBezTo>
                  <a:pt x="2308286" y="3713309"/>
                  <a:pt x="834302" y="2776750"/>
                  <a:pt x="2091" y="1407113"/>
                </a:cubicBezTo>
                <a:lnTo>
                  <a:pt x="0" y="1403476"/>
                </a:lnTo>
                <a:lnTo>
                  <a:pt x="2430892" y="0"/>
                </a:lnTo>
                <a:close/>
              </a:path>
            </a:pathLst>
          </a:custGeom>
          <a:solidFill>
            <a:srgbClr val="13417F"/>
          </a:solidFill>
          <a:ln w="12700" cap="flat" cmpd="sng" algn="ctr">
            <a:noFill/>
            <a:prstDash val="solid"/>
            <a:miter lim="800000"/>
          </a:ln>
          <a:effectLst/>
        </p:spPr>
        <p:txBody>
          <a:bodyPr rtlCol="0" anchor="ctr"/>
          <a:lstStyle/>
          <a:p>
            <a:pPr marL="0" marR="0" lvl="0" indent="0" algn="ctr" defTabSz="1828434"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11" name="Freeform 24">
            <a:extLst>
              <a:ext uri="{FF2B5EF4-FFF2-40B4-BE49-F238E27FC236}">
                <a16:creationId xmlns:a16="http://schemas.microsoft.com/office/drawing/2014/main" id="{1AF9B317-DB1F-E736-1453-9A4972D56DFD}"/>
              </a:ext>
            </a:extLst>
          </p:cNvPr>
          <p:cNvSpPr/>
          <p:nvPr/>
        </p:nvSpPr>
        <p:spPr>
          <a:xfrm>
            <a:off x="6147511" y="4301322"/>
            <a:ext cx="1721381" cy="1573637"/>
          </a:xfrm>
          <a:custGeom>
            <a:avLst/>
            <a:gdLst>
              <a:gd name="connsiteX0" fmla="*/ 1729461 w 4160354"/>
              <a:gd name="connsiteY0" fmla="*/ 0 h 3803285"/>
              <a:gd name="connsiteX1" fmla="*/ 4160354 w 4160354"/>
              <a:gd name="connsiteY1" fmla="*/ 1403476 h 3803285"/>
              <a:gd name="connsiteX2" fmla="*/ 4158263 w 4160354"/>
              <a:gd name="connsiteY2" fmla="*/ 1407113 h 3803285"/>
              <a:gd name="connsiteX3" fmla="*/ 153701 w 4160354"/>
              <a:gd name="connsiteY3" fmla="*/ 3799399 h 3803285"/>
              <a:gd name="connsiteX4" fmla="*/ 0 w 4160354"/>
              <a:gd name="connsiteY4" fmla="*/ 3803285 h 3803285"/>
              <a:gd name="connsiteX5" fmla="*/ 0 w 4160354"/>
              <a:gd name="connsiteY5" fmla="*/ 997289 h 3803285"/>
              <a:gd name="connsiteX6" fmla="*/ 120088 w 4160354"/>
              <a:gd name="connsiteY6" fmla="*/ 991225 h 3803285"/>
              <a:gd name="connsiteX7" fmla="*/ 1704039 w 4160354"/>
              <a:gd name="connsiteY7" fmla="*/ 41846 h 3803285"/>
              <a:gd name="connsiteX8" fmla="*/ 1729461 w 4160354"/>
              <a:gd name="connsiteY8" fmla="*/ 0 h 3803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60354" h="3803285">
                <a:moveTo>
                  <a:pt x="1729461" y="0"/>
                </a:moveTo>
                <a:lnTo>
                  <a:pt x="4160354" y="1403476"/>
                </a:lnTo>
                <a:lnTo>
                  <a:pt x="4158263" y="1407113"/>
                </a:lnTo>
                <a:cubicBezTo>
                  <a:pt x="3326051" y="2776750"/>
                  <a:pt x="1852067" y="3713309"/>
                  <a:pt x="153701" y="3799399"/>
                </a:cubicBezTo>
                <a:lnTo>
                  <a:pt x="0" y="3803285"/>
                </a:lnTo>
                <a:lnTo>
                  <a:pt x="0" y="997289"/>
                </a:lnTo>
                <a:lnTo>
                  <a:pt x="120088" y="991225"/>
                </a:lnTo>
                <a:cubicBezTo>
                  <a:pt x="779302" y="924278"/>
                  <a:pt x="1351642" y="563463"/>
                  <a:pt x="1704039" y="41846"/>
                </a:cubicBezTo>
                <a:lnTo>
                  <a:pt x="1729461" y="0"/>
                </a:lnTo>
                <a:close/>
              </a:path>
            </a:pathLst>
          </a:custGeom>
          <a:solidFill>
            <a:srgbClr val="005390"/>
          </a:solidFill>
          <a:ln w="12700" cap="flat" cmpd="sng" algn="ctr">
            <a:noFill/>
            <a:prstDash val="solid"/>
            <a:miter lim="800000"/>
          </a:ln>
          <a:effectLst/>
        </p:spPr>
        <p:txBody>
          <a:bodyPr rtlCol="0" anchor="ctr"/>
          <a:lstStyle/>
          <a:p>
            <a:pPr marL="0" marR="0" lvl="0" indent="0" algn="ctr" defTabSz="1828434"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12" name="Freeform 929">
            <a:extLst>
              <a:ext uri="{FF2B5EF4-FFF2-40B4-BE49-F238E27FC236}">
                <a16:creationId xmlns:a16="http://schemas.microsoft.com/office/drawing/2014/main" id="{51960DCE-2EB3-FCE3-5101-98708E400A59}"/>
              </a:ext>
            </a:extLst>
          </p:cNvPr>
          <p:cNvSpPr>
            <a:spLocks noChangeAspect="1"/>
          </p:cNvSpPr>
          <p:nvPr/>
        </p:nvSpPr>
        <p:spPr bwMode="auto">
          <a:xfrm>
            <a:off x="3040962" y="3629136"/>
            <a:ext cx="372021" cy="370914"/>
          </a:xfrm>
          <a:custGeom>
            <a:avLst/>
            <a:gdLst>
              <a:gd name="T0" fmla="*/ 7657895 w 293328"/>
              <a:gd name="T1" fmla="*/ 9005345 h 293238"/>
              <a:gd name="T2" fmla="*/ 4498868 w 293328"/>
              <a:gd name="T3" fmla="*/ 9005345 h 293238"/>
              <a:gd name="T4" fmla="*/ 3522037 w 293328"/>
              <a:gd name="T5" fmla="*/ 8834279 h 293238"/>
              <a:gd name="T6" fmla="*/ 1438230 w 293328"/>
              <a:gd name="T7" fmla="*/ 9163206 h 293238"/>
              <a:gd name="T8" fmla="*/ 8017115 w 293328"/>
              <a:gd name="T9" fmla="*/ 7579894 h 293238"/>
              <a:gd name="T10" fmla="*/ 9228325 w 293328"/>
              <a:gd name="T11" fmla="*/ 7908834 h 293238"/>
              <a:gd name="T12" fmla="*/ 8017115 w 293328"/>
              <a:gd name="T13" fmla="*/ 7579894 h 293238"/>
              <a:gd name="T14" fmla="*/ 7196298 w 293328"/>
              <a:gd name="T15" fmla="*/ 7750944 h 293238"/>
              <a:gd name="T16" fmla="*/ 5652355 w 293328"/>
              <a:gd name="T17" fmla="*/ 7750944 h 293238"/>
              <a:gd name="T18" fmla="*/ 4792152 w 293328"/>
              <a:gd name="T19" fmla="*/ 7579894 h 293238"/>
              <a:gd name="T20" fmla="*/ 3615792 w 293328"/>
              <a:gd name="T21" fmla="*/ 7908834 h 293238"/>
              <a:gd name="T22" fmla="*/ 1441954 w 293328"/>
              <a:gd name="T23" fmla="*/ 7579894 h 293238"/>
              <a:gd name="T24" fmla="*/ 2653087 w 293328"/>
              <a:gd name="T25" fmla="*/ 7908834 h 293238"/>
              <a:gd name="T26" fmla="*/ 1441954 w 293328"/>
              <a:gd name="T27" fmla="*/ 7579894 h 293238"/>
              <a:gd name="T28" fmla="*/ 7960461 w 293328"/>
              <a:gd name="T29" fmla="*/ 5049788 h 293238"/>
              <a:gd name="T30" fmla="*/ 8417216 w 293328"/>
              <a:gd name="T31" fmla="*/ 6059062 h 293238"/>
              <a:gd name="T32" fmla="*/ 8417216 w 293328"/>
              <a:gd name="T33" fmla="*/ 4558084 h 293238"/>
              <a:gd name="T34" fmla="*/ 7803923 w 293328"/>
              <a:gd name="T35" fmla="*/ 6136728 h 293238"/>
              <a:gd name="T36" fmla="*/ 6512036 w 293328"/>
              <a:gd name="T37" fmla="*/ 6110840 h 293238"/>
              <a:gd name="T38" fmla="*/ 7582022 w 293328"/>
              <a:gd name="T39" fmla="*/ 5877936 h 293238"/>
              <a:gd name="T40" fmla="*/ 7790812 w 293328"/>
              <a:gd name="T41" fmla="*/ 4803898 h 293238"/>
              <a:gd name="T42" fmla="*/ 1645443 w 293328"/>
              <a:gd name="T43" fmla="*/ 4558084 h 293238"/>
              <a:gd name="T44" fmla="*/ 2827025 w 293328"/>
              <a:gd name="T45" fmla="*/ 4881567 h 293238"/>
              <a:gd name="T46" fmla="*/ 1593537 w 293328"/>
              <a:gd name="T47" fmla="*/ 6007352 h 293238"/>
              <a:gd name="T48" fmla="*/ 3411399 w 293328"/>
              <a:gd name="T49" fmla="*/ 6007352 h 293238"/>
              <a:gd name="T50" fmla="*/ 3735991 w 293328"/>
              <a:gd name="T51" fmla="*/ 5670900 h 293238"/>
              <a:gd name="T52" fmla="*/ 1645443 w 293328"/>
              <a:gd name="T53" fmla="*/ 6369652 h 293238"/>
              <a:gd name="T54" fmla="*/ 1645443 w 293328"/>
              <a:gd name="T55" fmla="*/ 4558084 h 293238"/>
              <a:gd name="T56" fmla="*/ 326516 w 293328"/>
              <a:gd name="T57" fmla="*/ 9731379 h 293238"/>
              <a:gd name="T58" fmla="*/ 10330664 w 293328"/>
              <a:gd name="T59" fmla="*/ 9731379 h 293238"/>
              <a:gd name="T60" fmla="*/ 8019003 w 293328"/>
              <a:gd name="T61" fmla="*/ 3715021 h 293238"/>
              <a:gd name="T62" fmla="*/ 5224068 w 293328"/>
              <a:gd name="T63" fmla="*/ 6671540 h 293238"/>
              <a:gd name="T64" fmla="*/ 5328636 w 293328"/>
              <a:gd name="T65" fmla="*/ 2017972 h 293238"/>
              <a:gd name="T66" fmla="*/ 5119204 w 293328"/>
              <a:gd name="T67" fmla="*/ 2950064 h 293238"/>
              <a:gd name="T68" fmla="*/ 5538018 w 293328"/>
              <a:gd name="T69" fmla="*/ 2950064 h 293238"/>
              <a:gd name="T70" fmla="*/ 5328636 w 293328"/>
              <a:gd name="T71" fmla="*/ 2017972 h 293238"/>
              <a:gd name="T72" fmla="*/ 5878196 w 293328"/>
              <a:gd name="T73" fmla="*/ 2975948 h 293238"/>
              <a:gd name="T74" fmla="*/ 5930522 w 293328"/>
              <a:gd name="T75" fmla="*/ 4374065 h 293238"/>
              <a:gd name="T76" fmla="*/ 4569543 w 293328"/>
              <a:gd name="T77" fmla="*/ 4179851 h 293238"/>
              <a:gd name="T78" fmla="*/ 5328636 w 293328"/>
              <a:gd name="T79" fmla="*/ 1707229 h 293238"/>
              <a:gd name="T80" fmla="*/ 2912433 w 293328"/>
              <a:gd name="T81" fmla="*/ 3353513 h 293238"/>
              <a:gd name="T82" fmla="*/ 7757771 w 293328"/>
              <a:gd name="T83" fmla="*/ 1120021 h 293238"/>
              <a:gd name="T84" fmla="*/ 5380810 w 293328"/>
              <a:gd name="T85" fmla="*/ 9598 h 293238"/>
              <a:gd name="T86" fmla="*/ 8071270 w 293328"/>
              <a:gd name="T87" fmla="*/ 3353513 h 293238"/>
              <a:gd name="T88" fmla="*/ 10657173 w 293328"/>
              <a:gd name="T89" fmla="*/ 4205648 h 293238"/>
              <a:gd name="T90" fmla="*/ 809663 w 293328"/>
              <a:gd name="T91" fmla="*/ 10531857 h 293238"/>
              <a:gd name="T92" fmla="*/ 809663 w 293328"/>
              <a:gd name="T93" fmla="*/ 3405144 h 293238"/>
              <a:gd name="T94" fmla="*/ 2585917 w 293328"/>
              <a:gd name="T95" fmla="*/ 1003808 h 2932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93328" h="293238">
                <a:moveTo>
                  <a:pt x="128173" y="245972"/>
                </a:moveTo>
                <a:lnTo>
                  <a:pt x="206065" y="245972"/>
                </a:lnTo>
                <a:cubicBezTo>
                  <a:pt x="208601" y="245972"/>
                  <a:pt x="210775" y="248170"/>
                  <a:pt x="210775" y="250735"/>
                </a:cubicBezTo>
                <a:cubicBezTo>
                  <a:pt x="210775" y="253299"/>
                  <a:pt x="208601" y="255131"/>
                  <a:pt x="206065" y="255131"/>
                </a:cubicBezTo>
                <a:lnTo>
                  <a:pt x="128173" y="255131"/>
                </a:lnTo>
                <a:cubicBezTo>
                  <a:pt x="125999" y="255131"/>
                  <a:pt x="123825" y="253299"/>
                  <a:pt x="123825" y="250735"/>
                </a:cubicBezTo>
                <a:cubicBezTo>
                  <a:pt x="123825" y="248170"/>
                  <a:pt x="125999" y="245972"/>
                  <a:pt x="128173" y="245972"/>
                </a:cubicBezTo>
                <a:close/>
                <a:moveTo>
                  <a:pt x="39585" y="245972"/>
                </a:moveTo>
                <a:lnTo>
                  <a:pt x="96940" y="245972"/>
                </a:lnTo>
                <a:cubicBezTo>
                  <a:pt x="99449" y="245972"/>
                  <a:pt x="101241" y="248170"/>
                  <a:pt x="101241" y="250735"/>
                </a:cubicBezTo>
                <a:cubicBezTo>
                  <a:pt x="101241" y="253299"/>
                  <a:pt x="99449" y="255131"/>
                  <a:pt x="96940" y="255131"/>
                </a:cubicBezTo>
                <a:lnTo>
                  <a:pt x="39585" y="255131"/>
                </a:lnTo>
                <a:cubicBezTo>
                  <a:pt x="36717" y="255131"/>
                  <a:pt x="34925" y="253299"/>
                  <a:pt x="34925" y="250735"/>
                </a:cubicBezTo>
                <a:cubicBezTo>
                  <a:pt x="34925" y="248170"/>
                  <a:pt x="36717" y="245972"/>
                  <a:pt x="39585" y="245972"/>
                </a:cubicBezTo>
                <a:close/>
                <a:moveTo>
                  <a:pt x="220663" y="211047"/>
                </a:moveTo>
                <a:lnTo>
                  <a:pt x="254000" y="211047"/>
                </a:lnTo>
                <a:cubicBezTo>
                  <a:pt x="256564" y="211047"/>
                  <a:pt x="258396" y="213245"/>
                  <a:pt x="258396" y="215810"/>
                </a:cubicBezTo>
                <a:cubicBezTo>
                  <a:pt x="258396" y="218374"/>
                  <a:pt x="256564" y="220206"/>
                  <a:pt x="254000" y="220206"/>
                </a:cubicBezTo>
                <a:lnTo>
                  <a:pt x="220663" y="220206"/>
                </a:lnTo>
                <a:cubicBezTo>
                  <a:pt x="218098" y="220206"/>
                  <a:pt x="215900" y="218374"/>
                  <a:pt x="215900" y="215810"/>
                </a:cubicBezTo>
                <a:cubicBezTo>
                  <a:pt x="215900" y="213245"/>
                  <a:pt x="218098" y="211047"/>
                  <a:pt x="220663" y="211047"/>
                </a:cubicBezTo>
                <a:close/>
                <a:moveTo>
                  <a:pt x="159971" y="211047"/>
                </a:moveTo>
                <a:lnTo>
                  <a:pt x="193308" y="211047"/>
                </a:lnTo>
                <a:cubicBezTo>
                  <a:pt x="195873" y="211047"/>
                  <a:pt x="198071" y="213245"/>
                  <a:pt x="198071" y="215810"/>
                </a:cubicBezTo>
                <a:cubicBezTo>
                  <a:pt x="198071" y="218374"/>
                  <a:pt x="195873" y="220206"/>
                  <a:pt x="193308" y="220206"/>
                </a:cubicBezTo>
                <a:lnTo>
                  <a:pt x="159971" y="220206"/>
                </a:lnTo>
                <a:cubicBezTo>
                  <a:pt x="157407" y="220206"/>
                  <a:pt x="155575" y="218374"/>
                  <a:pt x="155575" y="215810"/>
                </a:cubicBezTo>
                <a:cubicBezTo>
                  <a:pt x="155575" y="213245"/>
                  <a:pt x="157407" y="211047"/>
                  <a:pt x="159971" y="211047"/>
                </a:cubicBezTo>
                <a:close/>
                <a:moveTo>
                  <a:pt x="99520" y="211047"/>
                </a:moveTo>
                <a:lnTo>
                  <a:pt x="131899" y="211047"/>
                </a:lnTo>
                <a:cubicBezTo>
                  <a:pt x="134390" y="211047"/>
                  <a:pt x="136169" y="213245"/>
                  <a:pt x="136169" y="215810"/>
                </a:cubicBezTo>
                <a:cubicBezTo>
                  <a:pt x="136169" y="218374"/>
                  <a:pt x="134390" y="220206"/>
                  <a:pt x="131899" y="220206"/>
                </a:cubicBezTo>
                <a:lnTo>
                  <a:pt x="99520" y="220206"/>
                </a:lnTo>
                <a:cubicBezTo>
                  <a:pt x="97029" y="220206"/>
                  <a:pt x="95250" y="218374"/>
                  <a:pt x="95250" y="215810"/>
                </a:cubicBezTo>
                <a:cubicBezTo>
                  <a:pt x="95250" y="213245"/>
                  <a:pt x="97029" y="211047"/>
                  <a:pt x="99520" y="211047"/>
                </a:cubicBezTo>
                <a:close/>
                <a:moveTo>
                  <a:pt x="39687" y="211047"/>
                </a:moveTo>
                <a:lnTo>
                  <a:pt x="73024" y="211047"/>
                </a:lnTo>
                <a:cubicBezTo>
                  <a:pt x="75589" y="211047"/>
                  <a:pt x="77421" y="213245"/>
                  <a:pt x="77421" y="215810"/>
                </a:cubicBezTo>
                <a:cubicBezTo>
                  <a:pt x="77421" y="218374"/>
                  <a:pt x="75589" y="220206"/>
                  <a:pt x="73024" y="220206"/>
                </a:cubicBezTo>
                <a:lnTo>
                  <a:pt x="39687" y="220206"/>
                </a:lnTo>
                <a:cubicBezTo>
                  <a:pt x="36757" y="220206"/>
                  <a:pt x="34925" y="218374"/>
                  <a:pt x="34925" y="215810"/>
                </a:cubicBezTo>
                <a:cubicBezTo>
                  <a:pt x="34925" y="213245"/>
                  <a:pt x="36757" y="211047"/>
                  <a:pt x="39687" y="211047"/>
                </a:cubicBezTo>
                <a:close/>
                <a:moveTo>
                  <a:pt x="231675" y="135917"/>
                </a:moveTo>
                <a:cubicBezTo>
                  <a:pt x="227365" y="135917"/>
                  <a:pt x="222336" y="137358"/>
                  <a:pt x="219463" y="140241"/>
                </a:cubicBezTo>
                <a:cubicBezTo>
                  <a:pt x="219463" y="140241"/>
                  <a:pt x="219463" y="140601"/>
                  <a:pt x="219104" y="140601"/>
                </a:cubicBezTo>
                <a:cubicBezTo>
                  <a:pt x="223414" y="147807"/>
                  <a:pt x="223414" y="156453"/>
                  <a:pt x="219104" y="164019"/>
                </a:cubicBezTo>
                <a:cubicBezTo>
                  <a:pt x="219463" y="164019"/>
                  <a:pt x="219463" y="164019"/>
                  <a:pt x="219463" y="164019"/>
                </a:cubicBezTo>
                <a:cubicBezTo>
                  <a:pt x="222336" y="166902"/>
                  <a:pt x="227365" y="168703"/>
                  <a:pt x="231675" y="168703"/>
                </a:cubicBezTo>
                <a:cubicBezTo>
                  <a:pt x="240654" y="168703"/>
                  <a:pt x="247837" y="161137"/>
                  <a:pt x="247837" y="152490"/>
                </a:cubicBezTo>
                <a:cubicBezTo>
                  <a:pt x="247837" y="143123"/>
                  <a:pt x="240654" y="135917"/>
                  <a:pt x="231675" y="135917"/>
                </a:cubicBezTo>
                <a:close/>
                <a:moveTo>
                  <a:pt x="231675" y="126910"/>
                </a:moveTo>
                <a:cubicBezTo>
                  <a:pt x="245682" y="126910"/>
                  <a:pt x="256816" y="138439"/>
                  <a:pt x="256816" y="152490"/>
                </a:cubicBezTo>
                <a:cubicBezTo>
                  <a:pt x="256816" y="166181"/>
                  <a:pt x="245682" y="177350"/>
                  <a:pt x="231675" y="177350"/>
                </a:cubicBezTo>
                <a:cubicBezTo>
                  <a:pt x="225569" y="177350"/>
                  <a:pt x="219104" y="174828"/>
                  <a:pt x="214794" y="170865"/>
                </a:cubicBezTo>
                <a:cubicBezTo>
                  <a:pt x="214435" y="170504"/>
                  <a:pt x="214435" y="170504"/>
                  <a:pt x="214435" y="170504"/>
                </a:cubicBezTo>
                <a:cubicBezTo>
                  <a:pt x="209766" y="175188"/>
                  <a:pt x="203301" y="177350"/>
                  <a:pt x="197195" y="177350"/>
                </a:cubicBezTo>
                <a:cubicBezTo>
                  <a:pt x="190730" y="177350"/>
                  <a:pt x="184265" y="174828"/>
                  <a:pt x="179237" y="170144"/>
                </a:cubicBezTo>
                <a:cubicBezTo>
                  <a:pt x="177800" y="168343"/>
                  <a:pt x="177800" y="165460"/>
                  <a:pt x="179237" y="163659"/>
                </a:cubicBezTo>
                <a:cubicBezTo>
                  <a:pt x="181033" y="162218"/>
                  <a:pt x="183906" y="162218"/>
                  <a:pt x="185702" y="163659"/>
                </a:cubicBezTo>
                <a:cubicBezTo>
                  <a:pt x="192167" y="170144"/>
                  <a:pt x="202582" y="170144"/>
                  <a:pt x="208688" y="163659"/>
                </a:cubicBezTo>
                <a:cubicBezTo>
                  <a:pt x="215153" y="157534"/>
                  <a:pt x="215153" y="147086"/>
                  <a:pt x="208688" y="140601"/>
                </a:cubicBezTo>
                <a:cubicBezTo>
                  <a:pt x="206892" y="138799"/>
                  <a:pt x="206892" y="135917"/>
                  <a:pt x="208688" y="134476"/>
                </a:cubicBezTo>
                <a:cubicBezTo>
                  <a:pt x="210125" y="133035"/>
                  <a:pt x="212639" y="132675"/>
                  <a:pt x="214435" y="133755"/>
                </a:cubicBezTo>
                <a:cubicBezTo>
                  <a:pt x="214435" y="133755"/>
                  <a:pt x="214435" y="133755"/>
                  <a:pt x="214794" y="133755"/>
                </a:cubicBezTo>
                <a:cubicBezTo>
                  <a:pt x="219104" y="129432"/>
                  <a:pt x="225569" y="126910"/>
                  <a:pt x="231675" y="126910"/>
                </a:cubicBezTo>
                <a:close/>
                <a:moveTo>
                  <a:pt x="45289" y="126910"/>
                </a:moveTo>
                <a:lnTo>
                  <a:pt x="77812" y="126910"/>
                </a:lnTo>
                <a:cubicBezTo>
                  <a:pt x="80314" y="126910"/>
                  <a:pt x="82458" y="129072"/>
                  <a:pt x="82458" y="131233"/>
                </a:cubicBezTo>
                <a:cubicBezTo>
                  <a:pt x="82458" y="133755"/>
                  <a:pt x="80314" y="135917"/>
                  <a:pt x="77812" y="135917"/>
                </a:cubicBezTo>
                <a:lnTo>
                  <a:pt x="45289" y="135917"/>
                </a:lnTo>
                <a:cubicBezTo>
                  <a:pt x="44217" y="135917"/>
                  <a:pt x="43860" y="136638"/>
                  <a:pt x="43860" y="137358"/>
                </a:cubicBezTo>
                <a:lnTo>
                  <a:pt x="43860" y="167262"/>
                </a:lnTo>
                <a:cubicBezTo>
                  <a:pt x="43860" y="167622"/>
                  <a:pt x="44217" y="168703"/>
                  <a:pt x="45289" y="168703"/>
                </a:cubicBezTo>
                <a:lnTo>
                  <a:pt x="92465" y="168703"/>
                </a:lnTo>
                <a:cubicBezTo>
                  <a:pt x="93180" y="168703"/>
                  <a:pt x="93895" y="167622"/>
                  <a:pt x="93895" y="167262"/>
                </a:cubicBezTo>
                <a:lnTo>
                  <a:pt x="93895" y="157894"/>
                </a:lnTo>
                <a:cubicBezTo>
                  <a:pt x="93895" y="155372"/>
                  <a:pt x="95682" y="153211"/>
                  <a:pt x="98183" y="153211"/>
                </a:cubicBezTo>
                <a:cubicBezTo>
                  <a:pt x="100685" y="153211"/>
                  <a:pt x="102829" y="155372"/>
                  <a:pt x="102829" y="157894"/>
                </a:cubicBezTo>
                <a:lnTo>
                  <a:pt x="102829" y="167262"/>
                </a:lnTo>
                <a:cubicBezTo>
                  <a:pt x="102829" y="173026"/>
                  <a:pt x="98183" y="177350"/>
                  <a:pt x="92465" y="177350"/>
                </a:cubicBezTo>
                <a:lnTo>
                  <a:pt x="45289" y="177350"/>
                </a:lnTo>
                <a:cubicBezTo>
                  <a:pt x="39571" y="177350"/>
                  <a:pt x="34925" y="173026"/>
                  <a:pt x="34925" y="167262"/>
                </a:cubicBezTo>
                <a:lnTo>
                  <a:pt x="34925" y="137358"/>
                </a:lnTo>
                <a:cubicBezTo>
                  <a:pt x="34925" y="131594"/>
                  <a:pt x="39571" y="126910"/>
                  <a:pt x="45289" y="126910"/>
                </a:cubicBezTo>
                <a:close/>
                <a:moveTo>
                  <a:pt x="22287" y="103437"/>
                </a:moveTo>
                <a:cubicBezTo>
                  <a:pt x="15098" y="103437"/>
                  <a:pt x="8987" y="109548"/>
                  <a:pt x="8987" y="117097"/>
                </a:cubicBezTo>
                <a:lnTo>
                  <a:pt x="8987" y="270950"/>
                </a:lnTo>
                <a:cubicBezTo>
                  <a:pt x="8987" y="278499"/>
                  <a:pt x="15098" y="284251"/>
                  <a:pt x="22287" y="284251"/>
                </a:cubicBezTo>
                <a:lnTo>
                  <a:pt x="271041" y="284251"/>
                </a:lnTo>
                <a:cubicBezTo>
                  <a:pt x="278230" y="284251"/>
                  <a:pt x="284341" y="278499"/>
                  <a:pt x="284341" y="270950"/>
                </a:cubicBezTo>
                <a:lnTo>
                  <a:pt x="284341" y="117097"/>
                </a:lnTo>
                <a:cubicBezTo>
                  <a:pt x="284341" y="109548"/>
                  <a:pt x="278230" y="103437"/>
                  <a:pt x="271041" y="103437"/>
                </a:cubicBezTo>
                <a:lnTo>
                  <a:pt x="220715" y="103437"/>
                </a:lnTo>
                <a:cubicBezTo>
                  <a:pt x="210290" y="139744"/>
                  <a:pt x="152056" y="183599"/>
                  <a:pt x="149180" y="185756"/>
                </a:cubicBezTo>
                <a:cubicBezTo>
                  <a:pt x="148461" y="186475"/>
                  <a:pt x="147383" y="186475"/>
                  <a:pt x="146664" y="186475"/>
                </a:cubicBezTo>
                <a:cubicBezTo>
                  <a:pt x="145585" y="186475"/>
                  <a:pt x="144867" y="186475"/>
                  <a:pt x="143788" y="185756"/>
                </a:cubicBezTo>
                <a:cubicBezTo>
                  <a:pt x="141272" y="183599"/>
                  <a:pt x="83037" y="139744"/>
                  <a:pt x="72972" y="103437"/>
                </a:cubicBezTo>
                <a:lnTo>
                  <a:pt x="22287" y="103437"/>
                </a:lnTo>
                <a:close/>
                <a:moveTo>
                  <a:pt x="146664" y="56186"/>
                </a:moveTo>
                <a:cubicBezTo>
                  <a:pt x="139820" y="56186"/>
                  <a:pt x="134417" y="61953"/>
                  <a:pt x="134417" y="68441"/>
                </a:cubicBezTo>
                <a:cubicBezTo>
                  <a:pt x="134417" y="72045"/>
                  <a:pt x="136218" y="75650"/>
                  <a:pt x="139460" y="77812"/>
                </a:cubicBezTo>
                <a:cubicBezTo>
                  <a:pt x="140540" y="78894"/>
                  <a:pt x="141261" y="80335"/>
                  <a:pt x="140900" y="82138"/>
                </a:cubicBezTo>
                <a:lnTo>
                  <a:pt x="135498" y="112776"/>
                </a:lnTo>
                <a:lnTo>
                  <a:pt x="157830" y="112776"/>
                </a:lnTo>
                <a:lnTo>
                  <a:pt x="152427" y="82138"/>
                </a:lnTo>
                <a:cubicBezTo>
                  <a:pt x="152066" y="80335"/>
                  <a:pt x="152787" y="78894"/>
                  <a:pt x="154228" y="77812"/>
                </a:cubicBezTo>
                <a:cubicBezTo>
                  <a:pt x="157109" y="75650"/>
                  <a:pt x="158550" y="72045"/>
                  <a:pt x="158550" y="68441"/>
                </a:cubicBezTo>
                <a:cubicBezTo>
                  <a:pt x="158550" y="61953"/>
                  <a:pt x="153507" y="56186"/>
                  <a:pt x="146664" y="56186"/>
                </a:cubicBezTo>
                <a:close/>
                <a:moveTo>
                  <a:pt x="146664" y="47535"/>
                </a:moveTo>
                <a:cubicBezTo>
                  <a:pt x="158190" y="47535"/>
                  <a:pt x="167915" y="56907"/>
                  <a:pt x="167915" y="68441"/>
                </a:cubicBezTo>
                <a:cubicBezTo>
                  <a:pt x="167915" y="73847"/>
                  <a:pt x="165394" y="79254"/>
                  <a:pt x="161792" y="82859"/>
                </a:cubicBezTo>
                <a:lnTo>
                  <a:pt x="167555" y="116380"/>
                </a:lnTo>
                <a:cubicBezTo>
                  <a:pt x="167915" y="117822"/>
                  <a:pt x="167555" y="119264"/>
                  <a:pt x="166834" y="120345"/>
                </a:cubicBezTo>
                <a:cubicBezTo>
                  <a:pt x="165754" y="121066"/>
                  <a:pt x="164673" y="121787"/>
                  <a:pt x="163232" y="121787"/>
                </a:cubicBezTo>
                <a:lnTo>
                  <a:pt x="130095" y="121787"/>
                </a:lnTo>
                <a:cubicBezTo>
                  <a:pt x="128654" y="121787"/>
                  <a:pt x="127573" y="121066"/>
                  <a:pt x="126493" y="120345"/>
                </a:cubicBezTo>
                <a:cubicBezTo>
                  <a:pt x="125772" y="119264"/>
                  <a:pt x="125412" y="117822"/>
                  <a:pt x="125772" y="116380"/>
                </a:cubicBezTo>
                <a:lnTo>
                  <a:pt x="131535" y="82859"/>
                </a:lnTo>
                <a:cubicBezTo>
                  <a:pt x="127933" y="79254"/>
                  <a:pt x="125412" y="73847"/>
                  <a:pt x="125412" y="68441"/>
                </a:cubicBezTo>
                <a:cubicBezTo>
                  <a:pt x="125412" y="56907"/>
                  <a:pt x="135137" y="47535"/>
                  <a:pt x="146664" y="47535"/>
                </a:cubicBezTo>
                <a:close/>
                <a:moveTo>
                  <a:pt x="146664" y="8897"/>
                </a:moveTo>
                <a:lnTo>
                  <a:pt x="80162" y="31184"/>
                </a:lnTo>
                <a:lnTo>
                  <a:pt x="80162" y="93372"/>
                </a:lnTo>
                <a:cubicBezTo>
                  <a:pt x="80162" y="122849"/>
                  <a:pt x="134082" y="166704"/>
                  <a:pt x="146664" y="176410"/>
                </a:cubicBezTo>
                <a:cubicBezTo>
                  <a:pt x="159245" y="166704"/>
                  <a:pt x="213525" y="122849"/>
                  <a:pt x="213525" y="93372"/>
                </a:cubicBezTo>
                <a:lnTo>
                  <a:pt x="213525" y="31184"/>
                </a:lnTo>
                <a:lnTo>
                  <a:pt x="146664" y="8897"/>
                </a:lnTo>
                <a:close/>
                <a:moveTo>
                  <a:pt x="145226" y="269"/>
                </a:moveTo>
                <a:cubicBezTo>
                  <a:pt x="146304" y="-90"/>
                  <a:pt x="147023" y="-90"/>
                  <a:pt x="148102" y="269"/>
                </a:cubicBezTo>
                <a:lnTo>
                  <a:pt x="219277" y="23635"/>
                </a:lnTo>
                <a:cubicBezTo>
                  <a:pt x="221074" y="24354"/>
                  <a:pt x="222153" y="26151"/>
                  <a:pt x="222153" y="27949"/>
                </a:cubicBezTo>
                <a:lnTo>
                  <a:pt x="222153" y="93372"/>
                </a:lnTo>
                <a:cubicBezTo>
                  <a:pt x="222153" y="93732"/>
                  <a:pt x="222153" y="94451"/>
                  <a:pt x="222153" y="94810"/>
                </a:cubicBezTo>
                <a:lnTo>
                  <a:pt x="271041" y="94810"/>
                </a:lnTo>
                <a:cubicBezTo>
                  <a:pt x="283263" y="94810"/>
                  <a:pt x="293328" y="104875"/>
                  <a:pt x="293328" y="117097"/>
                </a:cubicBezTo>
                <a:lnTo>
                  <a:pt x="293328" y="270950"/>
                </a:lnTo>
                <a:cubicBezTo>
                  <a:pt x="293328" y="283172"/>
                  <a:pt x="283263" y="293238"/>
                  <a:pt x="271041" y="293238"/>
                </a:cubicBezTo>
                <a:lnTo>
                  <a:pt x="22287" y="293238"/>
                </a:lnTo>
                <a:cubicBezTo>
                  <a:pt x="10065" y="293238"/>
                  <a:pt x="0" y="283172"/>
                  <a:pt x="0" y="270950"/>
                </a:cubicBezTo>
                <a:lnTo>
                  <a:pt x="0" y="117097"/>
                </a:lnTo>
                <a:cubicBezTo>
                  <a:pt x="0" y="104875"/>
                  <a:pt x="10065" y="94810"/>
                  <a:pt x="22287" y="94810"/>
                </a:cubicBezTo>
                <a:lnTo>
                  <a:pt x="71175" y="94810"/>
                </a:lnTo>
                <a:cubicBezTo>
                  <a:pt x="71175" y="94451"/>
                  <a:pt x="71175" y="93732"/>
                  <a:pt x="71175" y="93372"/>
                </a:cubicBezTo>
                <a:lnTo>
                  <a:pt x="71175" y="27949"/>
                </a:lnTo>
                <a:cubicBezTo>
                  <a:pt x="71175" y="26151"/>
                  <a:pt x="72253" y="24354"/>
                  <a:pt x="74051" y="23635"/>
                </a:cubicBezTo>
                <a:lnTo>
                  <a:pt x="145226" y="269"/>
                </a:lnTo>
                <a:close/>
              </a:path>
            </a:pathLst>
          </a:custGeom>
          <a:solidFill>
            <a:srgbClr val="FFFFFF"/>
          </a:solidFill>
          <a:ln>
            <a:noFill/>
          </a:ln>
        </p:spPr>
        <p:txBody>
          <a:bodyPr anchor="ctr"/>
          <a:lstStyle/>
          <a:p>
            <a:pPr marL="0" marR="0" lvl="0" indent="0" algn="l" defTabSz="1828434"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srgbClr val="AAAAAA"/>
              </a:solidFill>
              <a:effectLst/>
              <a:uLnTx/>
              <a:uFillTx/>
              <a:latin typeface="Calibri" panose="020F0502020204030204"/>
              <a:ea typeface="+mn-ea"/>
              <a:cs typeface="+mn-cs"/>
            </a:endParaRPr>
          </a:p>
        </p:txBody>
      </p:sp>
      <p:sp>
        <p:nvSpPr>
          <p:cNvPr id="13" name="Freeform 920">
            <a:extLst>
              <a:ext uri="{FF2B5EF4-FFF2-40B4-BE49-F238E27FC236}">
                <a16:creationId xmlns:a16="http://schemas.microsoft.com/office/drawing/2014/main" id="{09298618-93DF-FFAC-BB09-820FDD9406B0}"/>
              </a:ext>
            </a:extLst>
          </p:cNvPr>
          <p:cNvSpPr>
            <a:spLocks noChangeAspect="1"/>
          </p:cNvSpPr>
          <p:nvPr/>
        </p:nvSpPr>
        <p:spPr bwMode="auto">
          <a:xfrm>
            <a:off x="3048712" y="1642182"/>
            <a:ext cx="356522" cy="372021"/>
          </a:xfrm>
          <a:custGeom>
            <a:avLst/>
            <a:gdLst>
              <a:gd name="T0" fmla="*/ 5608351 w 282215"/>
              <a:gd name="T1" fmla="*/ 9516699 h 293328"/>
              <a:gd name="T2" fmla="*/ 5608351 w 282215"/>
              <a:gd name="T3" fmla="*/ 9849457 h 293328"/>
              <a:gd name="T4" fmla="*/ 5147826 w 282215"/>
              <a:gd name="T5" fmla="*/ 9689725 h 293328"/>
              <a:gd name="T6" fmla="*/ 3606135 w 282215"/>
              <a:gd name="T7" fmla="*/ 9516699 h 293328"/>
              <a:gd name="T8" fmla="*/ 4512644 w 282215"/>
              <a:gd name="T9" fmla="*/ 9689725 h 293328"/>
              <a:gd name="T10" fmla="*/ 3606135 w 282215"/>
              <a:gd name="T11" fmla="*/ 9849457 h 293328"/>
              <a:gd name="T12" fmla="*/ 3606135 w 282215"/>
              <a:gd name="T13" fmla="*/ 9516699 h 293328"/>
              <a:gd name="T14" fmla="*/ 2553584 w 282215"/>
              <a:gd name="T15" fmla="*/ 9516699 h 293328"/>
              <a:gd name="T16" fmla="*/ 2553584 w 282215"/>
              <a:gd name="T17" fmla="*/ 9849457 h 293328"/>
              <a:gd name="T18" fmla="*/ 2093042 w 282215"/>
              <a:gd name="T19" fmla="*/ 9689725 h 293328"/>
              <a:gd name="T20" fmla="*/ 321157 w 282215"/>
              <a:gd name="T21" fmla="*/ 8933235 h 293328"/>
              <a:gd name="T22" fmla="*/ 1001804 w 282215"/>
              <a:gd name="T23" fmla="*/ 10330664 h 293328"/>
              <a:gd name="T24" fmla="*/ 7629077 w 282215"/>
              <a:gd name="T25" fmla="*/ 9638465 h 293328"/>
              <a:gd name="T26" fmla="*/ 321157 w 282215"/>
              <a:gd name="T27" fmla="*/ 8933235 h 293328"/>
              <a:gd name="T28" fmla="*/ 6173126 w 282215"/>
              <a:gd name="T29" fmla="*/ 5948748 h 293328"/>
              <a:gd name="T30" fmla="*/ 8366124 w 282215"/>
              <a:gd name="T31" fmla="*/ 4557722 h 293328"/>
              <a:gd name="T32" fmla="*/ 6211547 w 282215"/>
              <a:gd name="T33" fmla="*/ 3166537 h 293328"/>
              <a:gd name="T34" fmla="*/ 5737060 w 282215"/>
              <a:gd name="T35" fmla="*/ 4232682 h 293328"/>
              <a:gd name="T36" fmla="*/ 7596637 w 282215"/>
              <a:gd name="T37" fmla="*/ 3387565 h 293328"/>
              <a:gd name="T38" fmla="*/ 7865993 w 282215"/>
              <a:gd name="T39" fmla="*/ 3218572 h 293328"/>
              <a:gd name="T40" fmla="*/ 8827807 w 282215"/>
              <a:gd name="T41" fmla="*/ 4232682 h 293328"/>
              <a:gd name="T42" fmla="*/ 8827807 w 282215"/>
              <a:gd name="T43" fmla="*/ 4557722 h 293328"/>
              <a:gd name="T44" fmla="*/ 7917305 w 282215"/>
              <a:gd name="T45" fmla="*/ 6182778 h 293328"/>
              <a:gd name="T46" fmla="*/ 6083347 w 282215"/>
              <a:gd name="T47" fmla="*/ 6273785 h 293328"/>
              <a:gd name="T48" fmla="*/ 5134295 w 282215"/>
              <a:gd name="T49" fmla="*/ 4557722 h 293328"/>
              <a:gd name="T50" fmla="*/ 4864983 w 282215"/>
              <a:gd name="T51" fmla="*/ 4401621 h 293328"/>
              <a:gd name="T52" fmla="*/ 5352337 w 282215"/>
              <a:gd name="T53" fmla="*/ 4232682 h 293328"/>
              <a:gd name="T54" fmla="*/ 6211547 w 282215"/>
              <a:gd name="T55" fmla="*/ 3166537 h 293328"/>
              <a:gd name="T56" fmla="*/ 4135648 w 282215"/>
              <a:gd name="T57" fmla="*/ 4675613 h 293328"/>
              <a:gd name="T58" fmla="*/ 4546624 w 282215"/>
              <a:gd name="T59" fmla="*/ 6268952 h 293328"/>
              <a:gd name="T60" fmla="*/ 5368621 w 282215"/>
              <a:gd name="T61" fmla="*/ 7104784 h 293328"/>
              <a:gd name="T62" fmla="*/ 5497096 w 282215"/>
              <a:gd name="T63" fmla="*/ 7130941 h 293328"/>
              <a:gd name="T64" fmla="*/ 9735452 w 282215"/>
              <a:gd name="T65" fmla="*/ 4675613 h 293328"/>
              <a:gd name="T66" fmla="*/ 5423873 w 282215"/>
              <a:gd name="T67" fmla="*/ 865104 h 293328"/>
              <a:gd name="T68" fmla="*/ 5423873 w 282215"/>
              <a:gd name="T69" fmla="*/ 1197335 h 293328"/>
              <a:gd name="T70" fmla="*/ 5423873 w 282215"/>
              <a:gd name="T71" fmla="*/ 865104 h 293328"/>
              <a:gd name="T72" fmla="*/ 4698068 w 282215"/>
              <a:gd name="T73" fmla="*/ 865104 h 293328"/>
              <a:gd name="T74" fmla="*/ 4698068 w 282215"/>
              <a:gd name="T75" fmla="*/ 1197335 h 293328"/>
              <a:gd name="T76" fmla="*/ 3054744 w 282215"/>
              <a:gd name="T77" fmla="*/ 1031277 h 293328"/>
              <a:gd name="T78" fmla="*/ 1001804 w 282215"/>
              <a:gd name="T79" fmla="*/ 313505 h 293328"/>
              <a:gd name="T80" fmla="*/ 321157 w 282215"/>
              <a:gd name="T81" fmla="*/ 8619743 h 293328"/>
              <a:gd name="T82" fmla="*/ 7629077 w 282215"/>
              <a:gd name="T83" fmla="*/ 7770840 h 293328"/>
              <a:gd name="T84" fmla="*/ 5394338 w 282215"/>
              <a:gd name="T85" fmla="*/ 7444346 h 293328"/>
              <a:gd name="T86" fmla="*/ 3968663 w 282215"/>
              <a:gd name="T87" fmla="*/ 7849196 h 293328"/>
              <a:gd name="T88" fmla="*/ 3814567 w 282215"/>
              <a:gd name="T89" fmla="*/ 7640234 h 293328"/>
              <a:gd name="T90" fmla="*/ 3814567 w 282215"/>
              <a:gd name="T91" fmla="*/ 4675613 h 293328"/>
              <a:gd name="T92" fmla="*/ 7629077 w 282215"/>
              <a:gd name="T93" fmla="*/ 1593363 h 293328"/>
              <a:gd name="T94" fmla="*/ 6935577 w 282215"/>
              <a:gd name="T95" fmla="*/ 313505 h 293328"/>
              <a:gd name="T96" fmla="*/ 1001804 w 282215"/>
              <a:gd name="T97" fmla="*/ 0 h 293328"/>
              <a:gd name="T98" fmla="*/ 7937325 w 282215"/>
              <a:gd name="T99" fmla="*/ 1018699 h 293328"/>
              <a:gd name="T100" fmla="*/ 10056531 w 282215"/>
              <a:gd name="T101" fmla="*/ 4675613 h 293328"/>
              <a:gd name="T102" fmla="*/ 7937325 w 282215"/>
              <a:gd name="T103" fmla="*/ 9638465 h 293328"/>
              <a:gd name="T104" fmla="*/ 1001804 w 282215"/>
              <a:gd name="T105" fmla="*/ 10657173 h 293328"/>
              <a:gd name="T106" fmla="*/ 0 w 282215"/>
              <a:gd name="T107" fmla="*/ 1018699 h 29332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82215" h="293328">
                <a:moveTo>
                  <a:pt x="148653" y="261937"/>
                </a:moveTo>
                <a:lnTo>
                  <a:pt x="157385" y="261937"/>
                </a:lnTo>
                <a:cubicBezTo>
                  <a:pt x="159830" y="261937"/>
                  <a:pt x="161576" y="264135"/>
                  <a:pt x="161576" y="266700"/>
                </a:cubicBezTo>
                <a:cubicBezTo>
                  <a:pt x="161576" y="269264"/>
                  <a:pt x="159830" y="271096"/>
                  <a:pt x="157385" y="271096"/>
                </a:cubicBezTo>
                <a:lnTo>
                  <a:pt x="148653" y="271096"/>
                </a:lnTo>
                <a:cubicBezTo>
                  <a:pt x="146208" y="271096"/>
                  <a:pt x="144462" y="269264"/>
                  <a:pt x="144462" y="266700"/>
                </a:cubicBezTo>
                <a:cubicBezTo>
                  <a:pt x="144462" y="264135"/>
                  <a:pt x="146208" y="261937"/>
                  <a:pt x="148653" y="261937"/>
                </a:cubicBezTo>
                <a:close/>
                <a:moveTo>
                  <a:pt x="101198" y="261937"/>
                </a:moveTo>
                <a:lnTo>
                  <a:pt x="122276" y="261937"/>
                </a:lnTo>
                <a:cubicBezTo>
                  <a:pt x="124819" y="261937"/>
                  <a:pt x="126637" y="264135"/>
                  <a:pt x="126637" y="266700"/>
                </a:cubicBezTo>
                <a:cubicBezTo>
                  <a:pt x="126637" y="269264"/>
                  <a:pt x="124819" y="271096"/>
                  <a:pt x="122276" y="271096"/>
                </a:cubicBezTo>
                <a:lnTo>
                  <a:pt x="101198" y="271096"/>
                </a:lnTo>
                <a:cubicBezTo>
                  <a:pt x="98654" y="271096"/>
                  <a:pt x="96837" y="269264"/>
                  <a:pt x="96837" y="266700"/>
                </a:cubicBezTo>
                <a:cubicBezTo>
                  <a:pt x="96837" y="264135"/>
                  <a:pt x="98654" y="261937"/>
                  <a:pt x="101198" y="261937"/>
                </a:cubicBezTo>
                <a:close/>
                <a:moveTo>
                  <a:pt x="62928" y="261937"/>
                </a:moveTo>
                <a:lnTo>
                  <a:pt x="71660" y="261937"/>
                </a:lnTo>
                <a:cubicBezTo>
                  <a:pt x="74104" y="261937"/>
                  <a:pt x="75851" y="264135"/>
                  <a:pt x="75851" y="266700"/>
                </a:cubicBezTo>
                <a:cubicBezTo>
                  <a:pt x="75851" y="269264"/>
                  <a:pt x="74104" y="271096"/>
                  <a:pt x="71660" y="271096"/>
                </a:cubicBezTo>
                <a:lnTo>
                  <a:pt x="62928" y="271096"/>
                </a:lnTo>
                <a:cubicBezTo>
                  <a:pt x="60483" y="271096"/>
                  <a:pt x="58737" y="269264"/>
                  <a:pt x="58737" y="266700"/>
                </a:cubicBezTo>
                <a:cubicBezTo>
                  <a:pt x="58737" y="264135"/>
                  <a:pt x="60483" y="261937"/>
                  <a:pt x="62928" y="261937"/>
                </a:cubicBezTo>
                <a:close/>
                <a:moveTo>
                  <a:pt x="9011" y="245878"/>
                </a:moveTo>
                <a:lnTo>
                  <a:pt x="9011" y="265289"/>
                </a:lnTo>
                <a:cubicBezTo>
                  <a:pt x="9011" y="275714"/>
                  <a:pt x="17300" y="284341"/>
                  <a:pt x="28113" y="284341"/>
                </a:cubicBezTo>
                <a:lnTo>
                  <a:pt x="194631" y="284341"/>
                </a:lnTo>
                <a:cubicBezTo>
                  <a:pt x="205083" y="284341"/>
                  <a:pt x="214094" y="275714"/>
                  <a:pt x="214094" y="265289"/>
                </a:cubicBezTo>
                <a:lnTo>
                  <a:pt x="214094" y="245878"/>
                </a:lnTo>
                <a:lnTo>
                  <a:pt x="9011" y="245878"/>
                </a:lnTo>
                <a:close/>
                <a:moveTo>
                  <a:pt x="154160" y="125445"/>
                </a:moveTo>
                <a:lnTo>
                  <a:pt x="173235" y="163733"/>
                </a:lnTo>
                <a:lnTo>
                  <a:pt x="215343" y="163733"/>
                </a:lnTo>
                <a:lnTo>
                  <a:pt x="234777" y="125445"/>
                </a:lnTo>
                <a:lnTo>
                  <a:pt x="154160" y="125445"/>
                </a:lnTo>
                <a:close/>
                <a:moveTo>
                  <a:pt x="174314" y="87156"/>
                </a:moveTo>
                <a:cubicBezTo>
                  <a:pt x="176474" y="88588"/>
                  <a:pt x="176834" y="91093"/>
                  <a:pt x="175754" y="93240"/>
                </a:cubicBezTo>
                <a:lnTo>
                  <a:pt x="160998" y="116499"/>
                </a:lnTo>
                <a:lnTo>
                  <a:pt x="227939" y="116499"/>
                </a:lnTo>
                <a:lnTo>
                  <a:pt x="213183" y="93240"/>
                </a:lnTo>
                <a:cubicBezTo>
                  <a:pt x="211744" y="91093"/>
                  <a:pt x="212463" y="88588"/>
                  <a:pt x="214263" y="87156"/>
                </a:cubicBezTo>
                <a:cubicBezTo>
                  <a:pt x="216422" y="85725"/>
                  <a:pt x="219301" y="86441"/>
                  <a:pt x="220741" y="88588"/>
                </a:cubicBezTo>
                <a:lnTo>
                  <a:pt x="238376" y="116499"/>
                </a:lnTo>
                <a:lnTo>
                  <a:pt x="247733" y="116499"/>
                </a:lnTo>
                <a:cubicBezTo>
                  <a:pt x="250253" y="116499"/>
                  <a:pt x="252052" y="118646"/>
                  <a:pt x="252052" y="121151"/>
                </a:cubicBezTo>
                <a:cubicBezTo>
                  <a:pt x="252052" y="123298"/>
                  <a:pt x="250253" y="125445"/>
                  <a:pt x="247733" y="125445"/>
                </a:cubicBezTo>
                <a:lnTo>
                  <a:pt x="244494" y="125445"/>
                </a:lnTo>
                <a:lnTo>
                  <a:pt x="222181" y="170174"/>
                </a:lnTo>
                <a:cubicBezTo>
                  <a:pt x="221461" y="171606"/>
                  <a:pt x="220021" y="172679"/>
                  <a:pt x="218222" y="172679"/>
                </a:cubicBezTo>
                <a:lnTo>
                  <a:pt x="170715" y="172679"/>
                </a:lnTo>
                <a:cubicBezTo>
                  <a:pt x="168916" y="172679"/>
                  <a:pt x="167476" y="171606"/>
                  <a:pt x="166756" y="170174"/>
                </a:cubicBezTo>
                <a:lnTo>
                  <a:pt x="144083" y="125445"/>
                </a:lnTo>
                <a:lnTo>
                  <a:pt x="140844" y="125445"/>
                </a:lnTo>
                <a:cubicBezTo>
                  <a:pt x="138325" y="125445"/>
                  <a:pt x="136525" y="123298"/>
                  <a:pt x="136525" y="121151"/>
                </a:cubicBezTo>
                <a:cubicBezTo>
                  <a:pt x="136525" y="118646"/>
                  <a:pt x="138325" y="116499"/>
                  <a:pt x="140844" y="116499"/>
                </a:cubicBezTo>
                <a:lnTo>
                  <a:pt x="150201" y="116499"/>
                </a:lnTo>
                <a:lnTo>
                  <a:pt x="168196" y="88588"/>
                </a:lnTo>
                <a:cubicBezTo>
                  <a:pt x="169636" y="86441"/>
                  <a:pt x="172155" y="85725"/>
                  <a:pt x="174314" y="87156"/>
                </a:cubicBezTo>
                <a:close/>
                <a:moveTo>
                  <a:pt x="194631" y="50326"/>
                </a:moveTo>
                <a:cubicBezTo>
                  <a:pt x="151019" y="50326"/>
                  <a:pt x="116058" y="85554"/>
                  <a:pt x="116058" y="128690"/>
                </a:cubicBezTo>
                <a:cubicBezTo>
                  <a:pt x="116058" y="143069"/>
                  <a:pt x="119662" y="157088"/>
                  <a:pt x="126870" y="168951"/>
                </a:cubicBezTo>
                <a:cubicBezTo>
                  <a:pt x="127591" y="170029"/>
                  <a:pt x="127591" y="171467"/>
                  <a:pt x="127591" y="172546"/>
                </a:cubicBezTo>
                <a:lnTo>
                  <a:pt x="118220" y="205257"/>
                </a:lnTo>
                <a:lnTo>
                  <a:pt x="150659" y="195552"/>
                </a:lnTo>
                <a:cubicBezTo>
                  <a:pt x="151019" y="195552"/>
                  <a:pt x="151380" y="195552"/>
                  <a:pt x="151740" y="195552"/>
                </a:cubicBezTo>
                <a:cubicBezTo>
                  <a:pt x="152821" y="195552"/>
                  <a:pt x="153182" y="195911"/>
                  <a:pt x="154263" y="196271"/>
                </a:cubicBezTo>
                <a:cubicBezTo>
                  <a:pt x="166157" y="203460"/>
                  <a:pt x="180214" y="207414"/>
                  <a:pt x="194631" y="207414"/>
                </a:cubicBezTo>
                <a:cubicBezTo>
                  <a:pt x="237882" y="207414"/>
                  <a:pt x="273204" y="172186"/>
                  <a:pt x="273204" y="128690"/>
                </a:cubicBezTo>
                <a:cubicBezTo>
                  <a:pt x="273204" y="85554"/>
                  <a:pt x="237882" y="50326"/>
                  <a:pt x="194631" y="50326"/>
                </a:cubicBezTo>
                <a:close/>
                <a:moveTo>
                  <a:pt x="152209" y="23812"/>
                </a:moveTo>
                <a:cubicBezTo>
                  <a:pt x="154876" y="23812"/>
                  <a:pt x="156781" y="26098"/>
                  <a:pt x="156781" y="28384"/>
                </a:cubicBezTo>
                <a:cubicBezTo>
                  <a:pt x="156781" y="31051"/>
                  <a:pt x="154876" y="32956"/>
                  <a:pt x="152209" y="32956"/>
                </a:cubicBezTo>
                <a:cubicBezTo>
                  <a:pt x="149542" y="32956"/>
                  <a:pt x="147637" y="31051"/>
                  <a:pt x="147637" y="28384"/>
                </a:cubicBezTo>
                <a:cubicBezTo>
                  <a:pt x="147637" y="26098"/>
                  <a:pt x="149542" y="23812"/>
                  <a:pt x="152209" y="23812"/>
                </a:cubicBezTo>
                <a:close/>
                <a:moveTo>
                  <a:pt x="90048" y="23812"/>
                </a:moveTo>
                <a:lnTo>
                  <a:pt x="131841" y="23812"/>
                </a:lnTo>
                <a:cubicBezTo>
                  <a:pt x="134003" y="23812"/>
                  <a:pt x="136165" y="26098"/>
                  <a:pt x="136165" y="28384"/>
                </a:cubicBezTo>
                <a:cubicBezTo>
                  <a:pt x="136165" y="31051"/>
                  <a:pt x="134003" y="32956"/>
                  <a:pt x="131841" y="32956"/>
                </a:cubicBezTo>
                <a:lnTo>
                  <a:pt x="90048" y="32956"/>
                </a:lnTo>
                <a:cubicBezTo>
                  <a:pt x="87887" y="32956"/>
                  <a:pt x="85725" y="31051"/>
                  <a:pt x="85725" y="28384"/>
                </a:cubicBezTo>
                <a:cubicBezTo>
                  <a:pt x="85725" y="26098"/>
                  <a:pt x="87887" y="23812"/>
                  <a:pt x="90048" y="23812"/>
                </a:cubicBezTo>
                <a:close/>
                <a:moveTo>
                  <a:pt x="28113" y="8627"/>
                </a:moveTo>
                <a:cubicBezTo>
                  <a:pt x="17300" y="8627"/>
                  <a:pt x="9011" y="17614"/>
                  <a:pt x="9011" y="28039"/>
                </a:cubicBezTo>
                <a:lnTo>
                  <a:pt x="9011" y="237250"/>
                </a:lnTo>
                <a:lnTo>
                  <a:pt x="214094" y="237250"/>
                </a:lnTo>
                <a:lnTo>
                  <a:pt x="214094" y="213885"/>
                </a:lnTo>
                <a:cubicBezTo>
                  <a:pt x="207606" y="215682"/>
                  <a:pt x="201119" y="216042"/>
                  <a:pt x="194631" y="216042"/>
                </a:cubicBezTo>
                <a:cubicBezTo>
                  <a:pt x="179493" y="216042"/>
                  <a:pt x="164355" y="212447"/>
                  <a:pt x="151380" y="204898"/>
                </a:cubicBezTo>
                <a:lnTo>
                  <a:pt x="112453" y="216042"/>
                </a:lnTo>
                <a:cubicBezTo>
                  <a:pt x="112453" y="216042"/>
                  <a:pt x="111732" y="216042"/>
                  <a:pt x="111372" y="216042"/>
                </a:cubicBezTo>
                <a:cubicBezTo>
                  <a:pt x="110291" y="216042"/>
                  <a:pt x="109209" y="215682"/>
                  <a:pt x="108128" y="214963"/>
                </a:cubicBezTo>
                <a:cubicBezTo>
                  <a:pt x="107047" y="213885"/>
                  <a:pt x="106686" y="212087"/>
                  <a:pt x="107047" y="210290"/>
                </a:cubicBezTo>
                <a:lnTo>
                  <a:pt x="118581" y="172186"/>
                </a:lnTo>
                <a:cubicBezTo>
                  <a:pt x="111012" y="158886"/>
                  <a:pt x="107047" y="143788"/>
                  <a:pt x="107047" y="128690"/>
                </a:cubicBezTo>
                <a:cubicBezTo>
                  <a:pt x="107047" y="80521"/>
                  <a:pt x="145973" y="41339"/>
                  <a:pt x="194631" y="41339"/>
                </a:cubicBezTo>
                <a:cubicBezTo>
                  <a:pt x="201119" y="41339"/>
                  <a:pt x="207606" y="42058"/>
                  <a:pt x="214094" y="43855"/>
                </a:cubicBezTo>
                <a:lnTo>
                  <a:pt x="214094" y="28039"/>
                </a:lnTo>
                <a:cubicBezTo>
                  <a:pt x="214094" y="17614"/>
                  <a:pt x="205083" y="8627"/>
                  <a:pt x="194631" y="8627"/>
                </a:cubicBezTo>
                <a:lnTo>
                  <a:pt x="28113" y="8627"/>
                </a:lnTo>
                <a:close/>
                <a:moveTo>
                  <a:pt x="28113" y="0"/>
                </a:moveTo>
                <a:lnTo>
                  <a:pt x="194631" y="0"/>
                </a:lnTo>
                <a:cubicBezTo>
                  <a:pt x="210129" y="0"/>
                  <a:pt x="222744" y="12581"/>
                  <a:pt x="222744" y="28039"/>
                </a:cubicBezTo>
                <a:lnTo>
                  <a:pt x="222744" y="46012"/>
                </a:lnTo>
                <a:cubicBezTo>
                  <a:pt x="257345" y="58234"/>
                  <a:pt x="282215" y="90586"/>
                  <a:pt x="282215" y="128690"/>
                </a:cubicBezTo>
                <a:cubicBezTo>
                  <a:pt x="282215" y="167154"/>
                  <a:pt x="257345" y="199865"/>
                  <a:pt x="222744" y="211728"/>
                </a:cubicBezTo>
                <a:lnTo>
                  <a:pt x="222744" y="265289"/>
                </a:lnTo>
                <a:cubicBezTo>
                  <a:pt x="222744" y="280746"/>
                  <a:pt x="210129" y="293328"/>
                  <a:pt x="194631" y="293328"/>
                </a:cubicBezTo>
                <a:lnTo>
                  <a:pt x="28113" y="293328"/>
                </a:lnTo>
                <a:cubicBezTo>
                  <a:pt x="12615" y="293328"/>
                  <a:pt x="0" y="280746"/>
                  <a:pt x="0" y="265289"/>
                </a:cubicBezTo>
                <a:lnTo>
                  <a:pt x="0" y="28039"/>
                </a:lnTo>
                <a:cubicBezTo>
                  <a:pt x="0" y="12581"/>
                  <a:pt x="12615" y="0"/>
                  <a:pt x="28113" y="0"/>
                </a:cubicBezTo>
                <a:close/>
              </a:path>
            </a:pathLst>
          </a:custGeom>
          <a:solidFill>
            <a:srgbClr val="FFFFFF"/>
          </a:solidFill>
          <a:ln>
            <a:noFill/>
          </a:ln>
        </p:spPr>
        <p:txBody>
          <a:bodyPr anchor="ctr"/>
          <a:lstStyle/>
          <a:p>
            <a:pPr marL="0" marR="0" lvl="0" indent="0" algn="l" defTabSz="1828434"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srgbClr val="AAAAAA"/>
              </a:solidFill>
              <a:effectLst/>
              <a:uLnTx/>
              <a:uFillTx/>
              <a:latin typeface="Calibri" panose="020F0502020204030204"/>
              <a:ea typeface="+mn-ea"/>
              <a:cs typeface="+mn-cs"/>
            </a:endParaRPr>
          </a:p>
        </p:txBody>
      </p:sp>
      <p:sp>
        <p:nvSpPr>
          <p:cNvPr id="14" name="Freeform 921">
            <a:extLst>
              <a:ext uri="{FF2B5EF4-FFF2-40B4-BE49-F238E27FC236}">
                <a16:creationId xmlns:a16="http://schemas.microsoft.com/office/drawing/2014/main" id="{E00EA9F0-C868-1024-B5AE-B47268FF1443}"/>
              </a:ext>
            </a:extLst>
          </p:cNvPr>
          <p:cNvSpPr>
            <a:spLocks noChangeAspect="1"/>
          </p:cNvSpPr>
          <p:nvPr/>
        </p:nvSpPr>
        <p:spPr bwMode="auto">
          <a:xfrm>
            <a:off x="3040962" y="5613877"/>
            <a:ext cx="372021" cy="374236"/>
          </a:xfrm>
          <a:custGeom>
            <a:avLst/>
            <a:gdLst>
              <a:gd name="T0" fmla="*/ 6608708 w 293328"/>
              <a:gd name="T1" fmla="*/ 10412697 h 294910"/>
              <a:gd name="T2" fmla="*/ 4119226 w 293328"/>
              <a:gd name="T3" fmla="*/ 9760789 h 294910"/>
              <a:gd name="T4" fmla="*/ 4435342 w 293328"/>
              <a:gd name="T5" fmla="*/ 10080052 h 294910"/>
              <a:gd name="T6" fmla="*/ 4738347 w 293328"/>
              <a:gd name="T7" fmla="*/ 9920440 h 294910"/>
              <a:gd name="T8" fmla="*/ 7254140 w 293328"/>
              <a:gd name="T9" fmla="*/ 10080052 h 294910"/>
              <a:gd name="T10" fmla="*/ 4738347 w 293328"/>
              <a:gd name="T11" fmla="*/ 10253051 h 294910"/>
              <a:gd name="T12" fmla="*/ 4119226 w 293328"/>
              <a:gd name="T13" fmla="*/ 9428191 h 294910"/>
              <a:gd name="T14" fmla="*/ 6951584 w 293328"/>
              <a:gd name="T15" fmla="*/ 8738252 h 294910"/>
              <a:gd name="T16" fmla="*/ 6597341 w 293328"/>
              <a:gd name="T17" fmla="*/ 7195254 h 294910"/>
              <a:gd name="T18" fmla="*/ 5980642 w 293328"/>
              <a:gd name="T19" fmla="*/ 8738252 h 294910"/>
              <a:gd name="T20" fmla="*/ 3605749 w 293328"/>
              <a:gd name="T21" fmla="*/ 6826018 h 294910"/>
              <a:gd name="T22" fmla="*/ 4576666 w 293328"/>
              <a:gd name="T23" fmla="*/ 8738252 h 294910"/>
              <a:gd name="T24" fmla="*/ 2752894 w 293328"/>
              <a:gd name="T25" fmla="*/ 5784139 h 294910"/>
              <a:gd name="T26" fmla="*/ 8093088 w 293328"/>
              <a:gd name="T27" fmla="*/ 7116175 h 294910"/>
              <a:gd name="T28" fmla="*/ 6951584 w 293328"/>
              <a:gd name="T29" fmla="*/ 9067943 h 294910"/>
              <a:gd name="T30" fmla="*/ 3277729 w 293328"/>
              <a:gd name="T31" fmla="*/ 6628180 h 294910"/>
              <a:gd name="T32" fmla="*/ 2752894 w 293328"/>
              <a:gd name="T33" fmla="*/ 5784139 h 294910"/>
              <a:gd name="T34" fmla="*/ 8776513 w 293328"/>
              <a:gd name="T35" fmla="*/ 4531791 h 294910"/>
              <a:gd name="T36" fmla="*/ 10330664 w 293328"/>
              <a:gd name="T37" fmla="*/ 3772067 h 294910"/>
              <a:gd name="T38" fmla="*/ 5485325 w 293328"/>
              <a:gd name="T39" fmla="*/ 3824475 h 294910"/>
              <a:gd name="T40" fmla="*/ 7757771 w 293328"/>
              <a:gd name="T41" fmla="*/ 3824475 h 294910"/>
              <a:gd name="T42" fmla="*/ 2912433 w 293328"/>
              <a:gd name="T43" fmla="*/ 3772067 h 294910"/>
              <a:gd name="T44" fmla="*/ 4466614 w 293328"/>
              <a:gd name="T45" fmla="*/ 4531791 h 294910"/>
              <a:gd name="T46" fmla="*/ 2912433 w 293328"/>
              <a:gd name="T47" fmla="*/ 3772067 h 294910"/>
              <a:gd name="T48" fmla="*/ 1031786 w 293328"/>
              <a:gd name="T49" fmla="*/ 4531791 h 294910"/>
              <a:gd name="T50" fmla="*/ 2585917 w 293328"/>
              <a:gd name="T51" fmla="*/ 3772067 h 294910"/>
              <a:gd name="T52" fmla="*/ 8019003 w 293328"/>
              <a:gd name="T53" fmla="*/ 3457771 h 294910"/>
              <a:gd name="T54" fmla="*/ 7535724 w 293328"/>
              <a:gd name="T55" fmla="*/ 2488576 h 294910"/>
              <a:gd name="T56" fmla="*/ 7653299 w 293328"/>
              <a:gd name="T57" fmla="*/ 3457771 h 294910"/>
              <a:gd name="T58" fmla="*/ 3487081 w 293328"/>
              <a:gd name="T59" fmla="*/ 2488576 h 294910"/>
              <a:gd name="T60" fmla="*/ 5171855 w 293328"/>
              <a:gd name="T61" fmla="*/ 2488576 h 294910"/>
              <a:gd name="T62" fmla="*/ 548593 w 293328"/>
              <a:gd name="T63" fmla="*/ 3457771 h 294910"/>
              <a:gd name="T64" fmla="*/ 1514939 w 293328"/>
              <a:gd name="T65" fmla="*/ 2488576 h 294910"/>
              <a:gd name="T66" fmla="*/ 8292162 w 293328"/>
              <a:gd name="T67" fmla="*/ 1272429 h 294910"/>
              <a:gd name="T68" fmla="*/ 8012714 w 293328"/>
              <a:gd name="T69" fmla="*/ 1379286 h 294910"/>
              <a:gd name="T70" fmla="*/ 6051634 w 293328"/>
              <a:gd name="T71" fmla="*/ 1152324 h 294910"/>
              <a:gd name="T72" fmla="*/ 6291226 w 293328"/>
              <a:gd name="T73" fmla="*/ 1379286 h 294910"/>
              <a:gd name="T74" fmla="*/ 5998422 w 293328"/>
              <a:gd name="T75" fmla="*/ 1259167 h 294910"/>
              <a:gd name="T76" fmla="*/ 7311118 w 293328"/>
              <a:gd name="T77" fmla="*/ 1272429 h 294910"/>
              <a:gd name="T78" fmla="*/ 7145014 w 293328"/>
              <a:gd name="T79" fmla="*/ 1098941 h 294910"/>
              <a:gd name="T80" fmla="*/ 9037659 w 293328"/>
              <a:gd name="T81" fmla="*/ 2161156 h 294910"/>
              <a:gd name="T82" fmla="*/ 1462746 w 293328"/>
              <a:gd name="T83" fmla="*/ 0 h 294910"/>
              <a:gd name="T84" fmla="*/ 9364179 w 293328"/>
              <a:gd name="T85" fmla="*/ 2252834 h 294910"/>
              <a:gd name="T86" fmla="*/ 10657173 w 293328"/>
              <a:gd name="T87" fmla="*/ 3824475 h 294910"/>
              <a:gd name="T88" fmla="*/ 9364179 w 293328"/>
              <a:gd name="T89" fmla="*/ 10517334 h 294910"/>
              <a:gd name="T90" fmla="*/ 7535724 w 293328"/>
              <a:gd name="T91" fmla="*/ 10517334 h 294910"/>
              <a:gd name="T92" fmla="*/ 9037659 w 293328"/>
              <a:gd name="T93" fmla="*/ 4846090 h 294910"/>
              <a:gd name="T94" fmla="*/ 7052531 w 293328"/>
              <a:gd name="T95" fmla="*/ 4846090 h 294910"/>
              <a:gd name="T96" fmla="*/ 4466614 w 293328"/>
              <a:gd name="T97" fmla="*/ 4846090 h 294910"/>
              <a:gd name="T98" fmla="*/ 1880700 w 293328"/>
              <a:gd name="T99" fmla="*/ 4846090 h 294910"/>
              <a:gd name="T100" fmla="*/ 2964717 w 293328"/>
              <a:gd name="T101" fmla="*/ 10360171 h 294910"/>
              <a:gd name="T102" fmla="*/ 1462746 w 293328"/>
              <a:gd name="T103" fmla="*/ 10687602 h 294910"/>
              <a:gd name="T104" fmla="*/ 1031786 w 293328"/>
              <a:gd name="T105" fmla="*/ 4846090 h 294910"/>
              <a:gd name="T106" fmla="*/ 39115 w 293328"/>
              <a:gd name="T107" fmla="*/ 3497015 h 294910"/>
              <a:gd name="T108" fmla="*/ 1462746 w 293328"/>
              <a:gd name="T109" fmla="*/ 0 h 29491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93328" h="294910">
                <a:moveTo>
                  <a:pt x="181898" y="267890"/>
                </a:moveTo>
                <a:cubicBezTo>
                  <a:pt x="176822" y="267890"/>
                  <a:pt x="172834" y="271907"/>
                  <a:pt x="172834" y="276653"/>
                </a:cubicBezTo>
                <a:cubicBezTo>
                  <a:pt x="172834" y="281765"/>
                  <a:pt x="176822" y="285782"/>
                  <a:pt x="181898" y="285782"/>
                </a:cubicBezTo>
                <a:cubicBezTo>
                  <a:pt x="186611" y="285782"/>
                  <a:pt x="190599" y="281765"/>
                  <a:pt x="190599" y="276653"/>
                </a:cubicBezTo>
                <a:cubicBezTo>
                  <a:pt x="190599" y="271907"/>
                  <a:pt x="186611" y="267890"/>
                  <a:pt x="181898" y="267890"/>
                </a:cubicBezTo>
                <a:close/>
                <a:moveTo>
                  <a:pt x="113377" y="267890"/>
                </a:moveTo>
                <a:cubicBezTo>
                  <a:pt x="107939" y="267890"/>
                  <a:pt x="103951" y="271907"/>
                  <a:pt x="103951" y="276653"/>
                </a:cubicBezTo>
                <a:cubicBezTo>
                  <a:pt x="103951" y="281765"/>
                  <a:pt x="107939" y="285782"/>
                  <a:pt x="113377" y="285782"/>
                </a:cubicBezTo>
                <a:cubicBezTo>
                  <a:pt x="118090" y="285782"/>
                  <a:pt x="122078" y="281765"/>
                  <a:pt x="122078" y="276653"/>
                </a:cubicBezTo>
                <a:cubicBezTo>
                  <a:pt x="122078" y="271907"/>
                  <a:pt x="118090" y="267890"/>
                  <a:pt x="113377" y="267890"/>
                </a:cubicBezTo>
                <a:close/>
                <a:moveTo>
                  <a:pt x="113377" y="258762"/>
                </a:moveTo>
                <a:cubicBezTo>
                  <a:pt x="121353" y="258762"/>
                  <a:pt x="128242" y="264604"/>
                  <a:pt x="130417" y="272272"/>
                </a:cubicBezTo>
                <a:lnTo>
                  <a:pt x="164496" y="272272"/>
                </a:lnTo>
                <a:cubicBezTo>
                  <a:pt x="166309" y="264604"/>
                  <a:pt x="173559" y="258762"/>
                  <a:pt x="181898" y="258762"/>
                </a:cubicBezTo>
                <a:cubicBezTo>
                  <a:pt x="191687" y="258762"/>
                  <a:pt x="199663" y="266795"/>
                  <a:pt x="199663" y="276653"/>
                </a:cubicBezTo>
                <a:cubicBezTo>
                  <a:pt x="199663" y="286512"/>
                  <a:pt x="191687" y="294910"/>
                  <a:pt x="181898" y="294910"/>
                </a:cubicBezTo>
                <a:cubicBezTo>
                  <a:pt x="173559" y="294910"/>
                  <a:pt x="166309" y="289068"/>
                  <a:pt x="164496" y="281400"/>
                </a:cubicBezTo>
                <a:lnTo>
                  <a:pt x="130417" y="281400"/>
                </a:lnTo>
                <a:cubicBezTo>
                  <a:pt x="128242" y="289068"/>
                  <a:pt x="121353" y="294910"/>
                  <a:pt x="113377" y="294910"/>
                </a:cubicBezTo>
                <a:cubicBezTo>
                  <a:pt x="103226" y="294910"/>
                  <a:pt x="95250" y="286512"/>
                  <a:pt x="95250" y="276653"/>
                </a:cubicBezTo>
                <a:cubicBezTo>
                  <a:pt x="95250" y="266795"/>
                  <a:pt x="103226" y="258762"/>
                  <a:pt x="113377" y="258762"/>
                </a:cubicBezTo>
                <a:close/>
                <a:moveTo>
                  <a:pt x="181584" y="197478"/>
                </a:moveTo>
                <a:lnTo>
                  <a:pt x="173639" y="239826"/>
                </a:lnTo>
                <a:lnTo>
                  <a:pt x="191335" y="239826"/>
                </a:lnTo>
                <a:cubicBezTo>
                  <a:pt x="194946" y="239826"/>
                  <a:pt x="198196" y="237655"/>
                  <a:pt x="199641" y="234035"/>
                </a:cubicBezTo>
                <a:lnTo>
                  <a:pt x="212281" y="201460"/>
                </a:lnTo>
                <a:lnTo>
                  <a:pt x="181584" y="197478"/>
                </a:lnTo>
                <a:close/>
                <a:moveTo>
                  <a:pt x="140053" y="192049"/>
                </a:moveTo>
                <a:lnTo>
                  <a:pt x="134997" y="239826"/>
                </a:lnTo>
                <a:lnTo>
                  <a:pt x="164611" y="239826"/>
                </a:lnTo>
                <a:lnTo>
                  <a:pt x="172917" y="196393"/>
                </a:lnTo>
                <a:lnTo>
                  <a:pt x="140053" y="192049"/>
                </a:lnTo>
                <a:close/>
                <a:moveTo>
                  <a:pt x="99245" y="187344"/>
                </a:moveTo>
                <a:lnTo>
                  <a:pt x="99245" y="231140"/>
                </a:lnTo>
                <a:cubicBezTo>
                  <a:pt x="99245" y="235845"/>
                  <a:pt x="103217" y="239826"/>
                  <a:pt x="107912" y="239826"/>
                </a:cubicBezTo>
                <a:lnTo>
                  <a:pt x="125969" y="239826"/>
                </a:lnTo>
                <a:lnTo>
                  <a:pt x="131386" y="191325"/>
                </a:lnTo>
                <a:lnTo>
                  <a:pt x="99245" y="187344"/>
                </a:lnTo>
                <a:close/>
                <a:moveTo>
                  <a:pt x="75771" y="158750"/>
                </a:moveTo>
                <a:cubicBezTo>
                  <a:pt x="87327" y="158750"/>
                  <a:pt x="96717" y="167075"/>
                  <a:pt x="98884" y="177933"/>
                </a:cubicBezTo>
                <a:lnTo>
                  <a:pt x="219142" y="193497"/>
                </a:lnTo>
                <a:cubicBezTo>
                  <a:pt x="220587" y="193497"/>
                  <a:pt x="221670" y="194221"/>
                  <a:pt x="222754" y="195307"/>
                </a:cubicBezTo>
                <a:cubicBezTo>
                  <a:pt x="223115" y="196393"/>
                  <a:pt x="223476" y="198202"/>
                  <a:pt x="222754" y="199288"/>
                </a:cubicBezTo>
                <a:lnTo>
                  <a:pt x="207947" y="237655"/>
                </a:lnTo>
                <a:cubicBezTo>
                  <a:pt x="205058" y="244532"/>
                  <a:pt x="198919" y="248875"/>
                  <a:pt x="191335" y="248875"/>
                </a:cubicBezTo>
                <a:lnTo>
                  <a:pt x="107912" y="248875"/>
                </a:lnTo>
                <a:cubicBezTo>
                  <a:pt x="98161" y="248875"/>
                  <a:pt x="90216" y="240912"/>
                  <a:pt x="90216" y="231140"/>
                </a:cubicBezTo>
                <a:lnTo>
                  <a:pt x="90216" y="181915"/>
                </a:lnTo>
                <a:cubicBezTo>
                  <a:pt x="90216" y="174314"/>
                  <a:pt x="83716" y="167799"/>
                  <a:pt x="75771" y="167799"/>
                </a:cubicBezTo>
                <a:cubicBezTo>
                  <a:pt x="73604" y="167799"/>
                  <a:pt x="71437" y="165627"/>
                  <a:pt x="71437" y="163093"/>
                </a:cubicBezTo>
                <a:cubicBezTo>
                  <a:pt x="71437" y="160922"/>
                  <a:pt x="73604" y="158750"/>
                  <a:pt x="75771" y="158750"/>
                </a:cubicBezTo>
                <a:close/>
                <a:moveTo>
                  <a:pt x="222153" y="103527"/>
                </a:moveTo>
                <a:lnTo>
                  <a:pt x="222153" y="104965"/>
                </a:lnTo>
                <a:cubicBezTo>
                  <a:pt x="222153" y="115749"/>
                  <a:pt x="230780" y="124377"/>
                  <a:pt x="241564" y="124377"/>
                </a:cubicBezTo>
                <a:lnTo>
                  <a:pt x="265289" y="124377"/>
                </a:lnTo>
                <a:cubicBezTo>
                  <a:pt x="276073" y="124377"/>
                  <a:pt x="284341" y="115749"/>
                  <a:pt x="284341" y="104965"/>
                </a:cubicBezTo>
                <a:lnTo>
                  <a:pt x="284341" y="103527"/>
                </a:lnTo>
                <a:lnTo>
                  <a:pt x="222153" y="103527"/>
                </a:lnTo>
                <a:close/>
                <a:moveTo>
                  <a:pt x="150978" y="103527"/>
                </a:moveTo>
                <a:lnTo>
                  <a:pt x="150978" y="104965"/>
                </a:lnTo>
                <a:cubicBezTo>
                  <a:pt x="150978" y="115749"/>
                  <a:pt x="159964" y="124377"/>
                  <a:pt x="170389" y="124377"/>
                </a:cubicBezTo>
                <a:lnTo>
                  <a:pt x="194114" y="124377"/>
                </a:lnTo>
                <a:cubicBezTo>
                  <a:pt x="204898" y="124377"/>
                  <a:pt x="213525" y="115749"/>
                  <a:pt x="213525" y="104965"/>
                </a:cubicBezTo>
                <a:lnTo>
                  <a:pt x="213525" y="103527"/>
                </a:lnTo>
                <a:lnTo>
                  <a:pt x="150978" y="103527"/>
                </a:lnTo>
                <a:close/>
                <a:moveTo>
                  <a:pt x="80162" y="103527"/>
                </a:moveTo>
                <a:lnTo>
                  <a:pt x="80162" y="104965"/>
                </a:lnTo>
                <a:cubicBezTo>
                  <a:pt x="80162" y="115749"/>
                  <a:pt x="88789" y="124377"/>
                  <a:pt x="99214" y="124377"/>
                </a:cubicBezTo>
                <a:lnTo>
                  <a:pt x="122939" y="124377"/>
                </a:lnTo>
                <a:cubicBezTo>
                  <a:pt x="133723" y="124377"/>
                  <a:pt x="142350" y="115749"/>
                  <a:pt x="142350" y="104965"/>
                </a:cubicBezTo>
                <a:lnTo>
                  <a:pt x="142350" y="103527"/>
                </a:lnTo>
                <a:lnTo>
                  <a:pt x="80162" y="103527"/>
                </a:lnTo>
                <a:close/>
                <a:moveTo>
                  <a:pt x="8987" y="103527"/>
                </a:moveTo>
                <a:lnTo>
                  <a:pt x="8987" y="104965"/>
                </a:lnTo>
                <a:cubicBezTo>
                  <a:pt x="8987" y="115749"/>
                  <a:pt x="17614" y="124377"/>
                  <a:pt x="28398" y="124377"/>
                </a:cubicBezTo>
                <a:lnTo>
                  <a:pt x="51764" y="124377"/>
                </a:lnTo>
                <a:cubicBezTo>
                  <a:pt x="62548" y="124377"/>
                  <a:pt x="71175" y="115749"/>
                  <a:pt x="71175" y="104965"/>
                </a:cubicBezTo>
                <a:lnTo>
                  <a:pt x="71175" y="103527"/>
                </a:lnTo>
                <a:lnTo>
                  <a:pt x="8987" y="103527"/>
                </a:lnTo>
                <a:close/>
                <a:moveTo>
                  <a:pt x="207414" y="68299"/>
                </a:moveTo>
                <a:lnTo>
                  <a:pt x="220715" y="94900"/>
                </a:lnTo>
                <a:lnTo>
                  <a:pt x="278230" y="94900"/>
                </a:lnTo>
                <a:lnTo>
                  <a:pt x="251270" y="68299"/>
                </a:lnTo>
                <a:lnTo>
                  <a:pt x="207414" y="68299"/>
                </a:lnTo>
                <a:close/>
                <a:moveTo>
                  <a:pt x="150978" y="68299"/>
                </a:moveTo>
                <a:lnTo>
                  <a:pt x="150978" y="94900"/>
                </a:lnTo>
                <a:lnTo>
                  <a:pt x="210650" y="94900"/>
                </a:lnTo>
                <a:lnTo>
                  <a:pt x="197349" y="68299"/>
                </a:lnTo>
                <a:lnTo>
                  <a:pt x="150978" y="68299"/>
                </a:lnTo>
                <a:close/>
                <a:moveTo>
                  <a:pt x="95979" y="68299"/>
                </a:moveTo>
                <a:lnTo>
                  <a:pt x="82678" y="94900"/>
                </a:lnTo>
                <a:lnTo>
                  <a:pt x="142350" y="94900"/>
                </a:lnTo>
                <a:lnTo>
                  <a:pt x="142350" y="68299"/>
                </a:lnTo>
                <a:lnTo>
                  <a:pt x="95979" y="68299"/>
                </a:lnTo>
                <a:close/>
                <a:moveTo>
                  <a:pt x="41698" y="68299"/>
                </a:moveTo>
                <a:lnTo>
                  <a:pt x="15098" y="94900"/>
                </a:lnTo>
                <a:lnTo>
                  <a:pt x="72972" y="94900"/>
                </a:lnTo>
                <a:lnTo>
                  <a:pt x="85913" y="68299"/>
                </a:lnTo>
                <a:lnTo>
                  <a:pt x="41698" y="68299"/>
                </a:lnTo>
                <a:close/>
                <a:moveTo>
                  <a:pt x="220541" y="31627"/>
                </a:moveTo>
                <a:cubicBezTo>
                  <a:pt x="222006" y="30162"/>
                  <a:pt x="225303" y="30162"/>
                  <a:pt x="226768" y="31627"/>
                </a:cubicBezTo>
                <a:cubicBezTo>
                  <a:pt x="227501" y="32360"/>
                  <a:pt x="228234" y="33825"/>
                  <a:pt x="228234" y="34924"/>
                </a:cubicBezTo>
                <a:cubicBezTo>
                  <a:pt x="228234" y="36024"/>
                  <a:pt x="227501" y="37123"/>
                  <a:pt x="226768" y="37855"/>
                </a:cubicBezTo>
                <a:cubicBezTo>
                  <a:pt x="226036" y="38954"/>
                  <a:pt x="224570" y="39321"/>
                  <a:pt x="223471" y="39321"/>
                </a:cubicBezTo>
                <a:cubicBezTo>
                  <a:pt x="222372" y="39321"/>
                  <a:pt x="221273" y="38954"/>
                  <a:pt x="220541" y="37855"/>
                </a:cubicBezTo>
                <a:cubicBezTo>
                  <a:pt x="219441" y="37123"/>
                  <a:pt x="219075" y="36024"/>
                  <a:pt x="219075" y="34924"/>
                </a:cubicBezTo>
                <a:cubicBezTo>
                  <a:pt x="219075" y="33825"/>
                  <a:pt x="219441" y="32726"/>
                  <a:pt x="220541" y="31627"/>
                </a:cubicBezTo>
                <a:close/>
                <a:moveTo>
                  <a:pt x="166566" y="31627"/>
                </a:moveTo>
                <a:cubicBezTo>
                  <a:pt x="168397" y="30162"/>
                  <a:pt x="171328" y="30162"/>
                  <a:pt x="173160" y="31627"/>
                </a:cubicBezTo>
                <a:cubicBezTo>
                  <a:pt x="173892" y="32360"/>
                  <a:pt x="174259" y="33825"/>
                  <a:pt x="174259" y="34558"/>
                </a:cubicBezTo>
                <a:cubicBezTo>
                  <a:pt x="174259" y="36024"/>
                  <a:pt x="173892" y="37123"/>
                  <a:pt x="173160" y="37855"/>
                </a:cubicBezTo>
                <a:cubicBezTo>
                  <a:pt x="172061" y="38954"/>
                  <a:pt x="170962" y="39321"/>
                  <a:pt x="169863" y="39321"/>
                </a:cubicBezTo>
                <a:cubicBezTo>
                  <a:pt x="168764" y="39321"/>
                  <a:pt x="167298" y="38954"/>
                  <a:pt x="166566" y="37855"/>
                </a:cubicBezTo>
                <a:cubicBezTo>
                  <a:pt x="165833" y="37123"/>
                  <a:pt x="165100" y="36024"/>
                  <a:pt x="165100" y="34558"/>
                </a:cubicBezTo>
                <a:cubicBezTo>
                  <a:pt x="165100" y="33825"/>
                  <a:pt x="165833" y="32360"/>
                  <a:pt x="166566" y="31627"/>
                </a:cubicBezTo>
                <a:close/>
                <a:moveTo>
                  <a:pt x="196659" y="30162"/>
                </a:moveTo>
                <a:cubicBezTo>
                  <a:pt x="199326" y="30162"/>
                  <a:pt x="201231" y="32360"/>
                  <a:pt x="201231" y="34924"/>
                </a:cubicBezTo>
                <a:cubicBezTo>
                  <a:pt x="201231" y="37489"/>
                  <a:pt x="199326" y="39321"/>
                  <a:pt x="196659" y="39321"/>
                </a:cubicBezTo>
                <a:cubicBezTo>
                  <a:pt x="193992" y="39321"/>
                  <a:pt x="192087" y="37489"/>
                  <a:pt x="192087" y="34924"/>
                </a:cubicBezTo>
                <a:cubicBezTo>
                  <a:pt x="192087" y="32360"/>
                  <a:pt x="193992" y="30162"/>
                  <a:pt x="196659" y="30162"/>
                </a:cubicBezTo>
                <a:close/>
                <a:moveTo>
                  <a:pt x="44574" y="8627"/>
                </a:moveTo>
                <a:lnTo>
                  <a:pt x="44574" y="59313"/>
                </a:lnTo>
                <a:lnTo>
                  <a:pt x="248753" y="59313"/>
                </a:lnTo>
                <a:lnTo>
                  <a:pt x="248753" y="8627"/>
                </a:lnTo>
                <a:lnTo>
                  <a:pt x="44574" y="8627"/>
                </a:lnTo>
                <a:close/>
                <a:moveTo>
                  <a:pt x="40261" y="0"/>
                </a:moveTo>
                <a:lnTo>
                  <a:pt x="253426" y="0"/>
                </a:lnTo>
                <a:cubicBezTo>
                  <a:pt x="255943" y="0"/>
                  <a:pt x="257740" y="1797"/>
                  <a:pt x="257740" y="4314"/>
                </a:cubicBezTo>
                <a:lnTo>
                  <a:pt x="257740" y="61829"/>
                </a:lnTo>
                <a:lnTo>
                  <a:pt x="291890" y="95978"/>
                </a:lnTo>
                <a:cubicBezTo>
                  <a:pt x="292609" y="96697"/>
                  <a:pt x="293328" y="98135"/>
                  <a:pt x="293328" y="99214"/>
                </a:cubicBezTo>
                <a:lnTo>
                  <a:pt x="293328" y="104965"/>
                </a:lnTo>
                <a:cubicBezTo>
                  <a:pt x="293328" y="120782"/>
                  <a:pt x="280746" y="133004"/>
                  <a:pt x="265289" y="133004"/>
                </a:cubicBezTo>
                <a:lnTo>
                  <a:pt x="257740" y="133004"/>
                </a:lnTo>
                <a:lnTo>
                  <a:pt x="257740" y="288654"/>
                </a:lnTo>
                <a:cubicBezTo>
                  <a:pt x="257740" y="291530"/>
                  <a:pt x="255943" y="293328"/>
                  <a:pt x="253426" y="293328"/>
                </a:cubicBezTo>
                <a:lnTo>
                  <a:pt x="212087" y="293328"/>
                </a:lnTo>
                <a:cubicBezTo>
                  <a:pt x="209212" y="293328"/>
                  <a:pt x="207414" y="291530"/>
                  <a:pt x="207414" y="288654"/>
                </a:cubicBezTo>
                <a:cubicBezTo>
                  <a:pt x="207414" y="286498"/>
                  <a:pt x="209212" y="284341"/>
                  <a:pt x="212087" y="284341"/>
                </a:cubicBezTo>
                <a:lnTo>
                  <a:pt x="248753" y="284341"/>
                </a:lnTo>
                <a:lnTo>
                  <a:pt x="248753" y="133004"/>
                </a:lnTo>
                <a:lnTo>
                  <a:pt x="241564" y="133004"/>
                </a:lnTo>
                <a:cubicBezTo>
                  <a:pt x="231499" y="133004"/>
                  <a:pt x="222872" y="127971"/>
                  <a:pt x="217839" y="120063"/>
                </a:cubicBezTo>
                <a:cubicBezTo>
                  <a:pt x="212806" y="127971"/>
                  <a:pt x="204179" y="133004"/>
                  <a:pt x="194114" y="133004"/>
                </a:cubicBezTo>
                <a:lnTo>
                  <a:pt x="170389" y="133004"/>
                </a:lnTo>
                <a:cubicBezTo>
                  <a:pt x="160324" y="133004"/>
                  <a:pt x="151696" y="127971"/>
                  <a:pt x="146664" y="120063"/>
                </a:cubicBezTo>
                <a:cubicBezTo>
                  <a:pt x="141631" y="127971"/>
                  <a:pt x="133004" y="133004"/>
                  <a:pt x="122939" y="133004"/>
                </a:cubicBezTo>
                <a:lnTo>
                  <a:pt x="99214" y="133004"/>
                </a:lnTo>
                <a:cubicBezTo>
                  <a:pt x="89148" y="133004"/>
                  <a:pt x="80521" y="127971"/>
                  <a:pt x="75489" y="120063"/>
                </a:cubicBezTo>
                <a:cubicBezTo>
                  <a:pt x="70456" y="127971"/>
                  <a:pt x="61829" y="133004"/>
                  <a:pt x="51764" y="133004"/>
                </a:cubicBezTo>
                <a:lnTo>
                  <a:pt x="44574" y="133004"/>
                </a:lnTo>
                <a:lnTo>
                  <a:pt x="44574" y="284341"/>
                </a:lnTo>
                <a:lnTo>
                  <a:pt x="81600" y="284341"/>
                </a:lnTo>
                <a:cubicBezTo>
                  <a:pt x="84116" y="284341"/>
                  <a:pt x="85913" y="286498"/>
                  <a:pt x="85913" y="288654"/>
                </a:cubicBezTo>
                <a:cubicBezTo>
                  <a:pt x="85913" y="291530"/>
                  <a:pt x="84116" y="293328"/>
                  <a:pt x="81600" y="293328"/>
                </a:cubicBezTo>
                <a:lnTo>
                  <a:pt x="40261" y="293328"/>
                </a:lnTo>
                <a:cubicBezTo>
                  <a:pt x="37385" y="293328"/>
                  <a:pt x="35587" y="291530"/>
                  <a:pt x="35587" y="288654"/>
                </a:cubicBezTo>
                <a:lnTo>
                  <a:pt x="35587" y="133004"/>
                </a:lnTo>
                <a:lnTo>
                  <a:pt x="28398" y="133004"/>
                </a:lnTo>
                <a:cubicBezTo>
                  <a:pt x="12581" y="133004"/>
                  <a:pt x="0" y="120782"/>
                  <a:pt x="0" y="104965"/>
                </a:cubicBezTo>
                <a:lnTo>
                  <a:pt x="0" y="99214"/>
                </a:lnTo>
                <a:cubicBezTo>
                  <a:pt x="0" y="98135"/>
                  <a:pt x="359" y="96697"/>
                  <a:pt x="1078" y="95978"/>
                </a:cubicBezTo>
                <a:lnTo>
                  <a:pt x="35587" y="61829"/>
                </a:lnTo>
                <a:lnTo>
                  <a:pt x="35587" y="4314"/>
                </a:lnTo>
                <a:cubicBezTo>
                  <a:pt x="35587" y="1797"/>
                  <a:pt x="37385" y="0"/>
                  <a:pt x="40261" y="0"/>
                </a:cubicBezTo>
                <a:close/>
              </a:path>
            </a:pathLst>
          </a:custGeom>
          <a:solidFill>
            <a:srgbClr val="FFFFFF"/>
          </a:solidFill>
          <a:ln>
            <a:noFill/>
          </a:ln>
        </p:spPr>
        <p:txBody>
          <a:bodyPr anchor="ctr"/>
          <a:lstStyle/>
          <a:p>
            <a:pPr marL="0" marR="0" lvl="0" indent="0" algn="l" defTabSz="1828434"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srgbClr val="AAAAAA"/>
              </a:solidFill>
              <a:effectLst/>
              <a:uLnTx/>
              <a:uFillTx/>
              <a:latin typeface="Calibri" panose="020F0502020204030204"/>
              <a:ea typeface="+mn-ea"/>
              <a:cs typeface="+mn-cs"/>
            </a:endParaRPr>
          </a:p>
        </p:txBody>
      </p:sp>
      <p:sp>
        <p:nvSpPr>
          <p:cNvPr id="15" name="Freeform 937">
            <a:extLst>
              <a:ext uri="{FF2B5EF4-FFF2-40B4-BE49-F238E27FC236}">
                <a16:creationId xmlns:a16="http://schemas.microsoft.com/office/drawing/2014/main" id="{20490C21-9434-39A5-1EB1-236CF5880424}"/>
              </a:ext>
            </a:extLst>
          </p:cNvPr>
          <p:cNvSpPr>
            <a:spLocks noChangeAspect="1"/>
          </p:cNvSpPr>
          <p:nvPr/>
        </p:nvSpPr>
        <p:spPr bwMode="auto">
          <a:xfrm>
            <a:off x="8795421" y="5614984"/>
            <a:ext cx="372021" cy="372021"/>
          </a:xfrm>
          <a:custGeom>
            <a:avLst/>
            <a:gdLst>
              <a:gd name="T0" fmla="*/ 6115414 w 293328"/>
              <a:gd name="T1" fmla="*/ 9689725 h 293328"/>
              <a:gd name="T2" fmla="*/ 6115414 w 293328"/>
              <a:gd name="T3" fmla="*/ 10022509 h 293328"/>
              <a:gd name="T4" fmla="*/ 4441169 w 293328"/>
              <a:gd name="T5" fmla="*/ 9849457 h 293328"/>
              <a:gd name="T6" fmla="*/ 326110 w 293328"/>
              <a:gd name="T7" fmla="*/ 9377273 h 293328"/>
              <a:gd name="T8" fmla="*/ 821836 w 293328"/>
              <a:gd name="T9" fmla="*/ 10330664 h 293328"/>
              <a:gd name="T10" fmla="*/ 10331054 w 293328"/>
              <a:gd name="T11" fmla="*/ 9847428 h 293328"/>
              <a:gd name="T12" fmla="*/ 326110 w 293328"/>
              <a:gd name="T13" fmla="*/ 9377273 h 293328"/>
              <a:gd name="T14" fmla="*/ 430543 w 293328"/>
              <a:gd name="T15" fmla="*/ 9050770 h 293328"/>
              <a:gd name="T16" fmla="*/ 9522332 w 293328"/>
              <a:gd name="T17" fmla="*/ 7640234 h 293328"/>
              <a:gd name="T18" fmla="*/ 7371923 w 293328"/>
              <a:gd name="T19" fmla="*/ 2661536 h 293328"/>
              <a:gd name="T20" fmla="*/ 7593000 w 293328"/>
              <a:gd name="T21" fmla="*/ 2886222 h 293328"/>
              <a:gd name="T22" fmla="*/ 5330401 w 293328"/>
              <a:gd name="T23" fmla="*/ 5120035 h 293328"/>
              <a:gd name="T24" fmla="*/ 4147108 w 293328"/>
              <a:gd name="T25" fmla="*/ 3983288 h 293328"/>
              <a:gd name="T26" fmla="*/ 4381182 w 293328"/>
              <a:gd name="T27" fmla="*/ 3745356 h 293328"/>
              <a:gd name="T28" fmla="*/ 7371923 w 293328"/>
              <a:gd name="T29" fmla="*/ 2661536 h 293328"/>
              <a:gd name="T30" fmla="*/ 6711475 w 293328"/>
              <a:gd name="T31" fmla="*/ 1972231 h 293328"/>
              <a:gd name="T32" fmla="*/ 6515349 w 293328"/>
              <a:gd name="T33" fmla="*/ 2221611 h 293328"/>
              <a:gd name="T34" fmla="*/ 3325974 w 293328"/>
              <a:gd name="T35" fmla="*/ 3823196 h 293328"/>
              <a:gd name="T36" fmla="*/ 4110278 w 293328"/>
              <a:gd name="T37" fmla="*/ 5569121 h 293328"/>
              <a:gd name="T38" fmla="*/ 5312790 w 293328"/>
              <a:gd name="T39" fmla="*/ 5831697 h 293328"/>
              <a:gd name="T40" fmla="*/ 7456515 w 293328"/>
              <a:gd name="T41" fmla="*/ 4138196 h 293328"/>
              <a:gd name="T42" fmla="*/ 5312790 w 293328"/>
              <a:gd name="T43" fmla="*/ 6146705 h 293328"/>
              <a:gd name="T44" fmla="*/ 3273670 w 293328"/>
              <a:gd name="T45" fmla="*/ 6855589 h 293328"/>
              <a:gd name="T46" fmla="*/ 3103781 w 293328"/>
              <a:gd name="T47" fmla="*/ 6894996 h 293328"/>
              <a:gd name="T48" fmla="*/ 2999197 w 293328"/>
              <a:gd name="T49" fmla="*/ 3823196 h 293328"/>
              <a:gd name="T50" fmla="*/ 1669652 w 293328"/>
              <a:gd name="T51" fmla="*/ 326516 h 293328"/>
              <a:gd name="T52" fmla="*/ 1187017 w 293328"/>
              <a:gd name="T53" fmla="*/ 7326789 h 293328"/>
              <a:gd name="T54" fmla="*/ 9457110 w 293328"/>
              <a:gd name="T55" fmla="*/ 809663 h 293328"/>
              <a:gd name="T56" fmla="*/ 1669652 w 293328"/>
              <a:gd name="T57" fmla="*/ 326516 h 293328"/>
              <a:gd name="T58" fmla="*/ 8987492 w 293328"/>
              <a:gd name="T59" fmla="*/ 0 h 293328"/>
              <a:gd name="T60" fmla="*/ 9783232 w 293328"/>
              <a:gd name="T61" fmla="*/ 7444346 h 293328"/>
              <a:gd name="T62" fmla="*/ 10657173 w 293328"/>
              <a:gd name="T63" fmla="*/ 9207496 h 293328"/>
              <a:gd name="T64" fmla="*/ 9835375 w 293328"/>
              <a:gd name="T65" fmla="*/ 10657173 h 293328"/>
              <a:gd name="T66" fmla="*/ 0 w 293328"/>
              <a:gd name="T67" fmla="*/ 9847428 h 293328"/>
              <a:gd name="T68" fmla="*/ 26109 w 293328"/>
              <a:gd name="T69" fmla="*/ 9129172 h 293328"/>
              <a:gd name="T70" fmla="*/ 873969 w 293328"/>
              <a:gd name="T71" fmla="*/ 809663 h 29332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93328" h="293328">
                <a:moveTo>
                  <a:pt x="126591" y="266700"/>
                </a:moveTo>
                <a:lnTo>
                  <a:pt x="168320" y="266700"/>
                </a:lnTo>
                <a:cubicBezTo>
                  <a:pt x="170860" y="266700"/>
                  <a:pt x="172674" y="268898"/>
                  <a:pt x="172674" y="271096"/>
                </a:cubicBezTo>
                <a:cubicBezTo>
                  <a:pt x="172674" y="273661"/>
                  <a:pt x="170860" y="275859"/>
                  <a:pt x="168320" y="275859"/>
                </a:cubicBezTo>
                <a:lnTo>
                  <a:pt x="126591" y="275859"/>
                </a:lnTo>
                <a:cubicBezTo>
                  <a:pt x="124051" y="275859"/>
                  <a:pt x="122237" y="273661"/>
                  <a:pt x="122237" y="271096"/>
                </a:cubicBezTo>
                <a:cubicBezTo>
                  <a:pt x="122237" y="268898"/>
                  <a:pt x="124051" y="266700"/>
                  <a:pt x="126591" y="266700"/>
                </a:cubicBezTo>
                <a:close/>
                <a:moveTo>
                  <a:pt x="8976" y="258100"/>
                </a:moveTo>
                <a:lnTo>
                  <a:pt x="8976" y="271040"/>
                </a:lnTo>
                <a:cubicBezTo>
                  <a:pt x="8976" y="278589"/>
                  <a:pt x="15079" y="284341"/>
                  <a:pt x="22619" y="284341"/>
                </a:cubicBezTo>
                <a:lnTo>
                  <a:pt x="270709" y="284341"/>
                </a:lnTo>
                <a:cubicBezTo>
                  <a:pt x="278249" y="284341"/>
                  <a:pt x="284352" y="278589"/>
                  <a:pt x="284352" y="271040"/>
                </a:cubicBezTo>
                <a:lnTo>
                  <a:pt x="284352" y="258100"/>
                </a:lnTo>
                <a:lnTo>
                  <a:pt x="8976" y="258100"/>
                </a:lnTo>
                <a:close/>
                <a:moveTo>
                  <a:pt x="31236" y="210290"/>
                </a:moveTo>
                <a:lnTo>
                  <a:pt x="11848" y="249113"/>
                </a:lnTo>
                <a:lnTo>
                  <a:pt x="281480" y="249113"/>
                </a:lnTo>
                <a:lnTo>
                  <a:pt x="262092" y="210290"/>
                </a:lnTo>
                <a:lnTo>
                  <a:pt x="31236" y="210290"/>
                </a:lnTo>
                <a:close/>
                <a:moveTo>
                  <a:pt x="202905" y="73256"/>
                </a:moveTo>
                <a:cubicBezTo>
                  <a:pt x="204337" y="71437"/>
                  <a:pt x="207200" y="71437"/>
                  <a:pt x="208990" y="73256"/>
                </a:cubicBezTo>
                <a:cubicBezTo>
                  <a:pt x="210779" y="75075"/>
                  <a:pt x="210779" y="77986"/>
                  <a:pt x="208990" y="79441"/>
                </a:cubicBezTo>
                <a:lnTo>
                  <a:pt x="149935" y="139468"/>
                </a:lnTo>
                <a:cubicBezTo>
                  <a:pt x="149219" y="140559"/>
                  <a:pt x="147787" y="140923"/>
                  <a:pt x="146713" y="140923"/>
                </a:cubicBezTo>
                <a:cubicBezTo>
                  <a:pt x="145998" y="140923"/>
                  <a:pt x="144566" y="140559"/>
                  <a:pt x="143850" y="139468"/>
                </a:cubicBezTo>
                <a:lnTo>
                  <a:pt x="114144" y="109636"/>
                </a:lnTo>
                <a:cubicBezTo>
                  <a:pt x="112712" y="108181"/>
                  <a:pt x="112712" y="104907"/>
                  <a:pt x="114144" y="103088"/>
                </a:cubicBezTo>
                <a:cubicBezTo>
                  <a:pt x="115933" y="101633"/>
                  <a:pt x="118797" y="101633"/>
                  <a:pt x="120586" y="103088"/>
                </a:cubicBezTo>
                <a:lnTo>
                  <a:pt x="146713" y="130009"/>
                </a:lnTo>
                <a:lnTo>
                  <a:pt x="202905" y="73256"/>
                </a:lnTo>
                <a:close/>
                <a:moveTo>
                  <a:pt x="146230" y="41275"/>
                </a:moveTo>
                <a:cubicBezTo>
                  <a:pt x="160261" y="41275"/>
                  <a:pt x="173573" y="45611"/>
                  <a:pt x="184726" y="54283"/>
                </a:cubicBezTo>
                <a:cubicBezTo>
                  <a:pt x="186884" y="55728"/>
                  <a:pt x="187244" y="58618"/>
                  <a:pt x="185805" y="60425"/>
                </a:cubicBezTo>
                <a:cubicBezTo>
                  <a:pt x="184366" y="62232"/>
                  <a:pt x="181488" y="62593"/>
                  <a:pt x="179329" y="61148"/>
                </a:cubicBezTo>
                <a:cubicBezTo>
                  <a:pt x="169975" y="53921"/>
                  <a:pt x="158462" y="50308"/>
                  <a:pt x="146230" y="50308"/>
                </a:cubicBezTo>
                <a:cubicBezTo>
                  <a:pt x="116369" y="50308"/>
                  <a:pt x="91544" y="74878"/>
                  <a:pt x="91544" y="105229"/>
                </a:cubicBezTo>
                <a:lnTo>
                  <a:pt x="91544" y="174963"/>
                </a:lnTo>
                <a:lnTo>
                  <a:pt x="113131" y="153284"/>
                </a:lnTo>
                <a:cubicBezTo>
                  <a:pt x="114570" y="151839"/>
                  <a:pt x="116729" y="151839"/>
                  <a:pt x="118527" y="152562"/>
                </a:cubicBezTo>
                <a:cubicBezTo>
                  <a:pt x="127162" y="157620"/>
                  <a:pt x="136516" y="160511"/>
                  <a:pt x="146230" y="160511"/>
                </a:cubicBezTo>
                <a:cubicBezTo>
                  <a:pt x="172134" y="160511"/>
                  <a:pt x="194440" y="142083"/>
                  <a:pt x="199836" y="117152"/>
                </a:cubicBezTo>
                <a:cubicBezTo>
                  <a:pt x="200556" y="114984"/>
                  <a:pt x="202714" y="113178"/>
                  <a:pt x="205233" y="113900"/>
                </a:cubicBezTo>
                <a:cubicBezTo>
                  <a:pt x="207751" y="114262"/>
                  <a:pt x="209190" y="116791"/>
                  <a:pt x="208471" y="119320"/>
                </a:cubicBezTo>
                <a:cubicBezTo>
                  <a:pt x="201995" y="148226"/>
                  <a:pt x="176091" y="169182"/>
                  <a:pt x="146230" y="169182"/>
                </a:cubicBezTo>
                <a:cubicBezTo>
                  <a:pt x="136156" y="169182"/>
                  <a:pt x="125723" y="166653"/>
                  <a:pt x="117088" y="161956"/>
                </a:cubicBezTo>
                <a:lnTo>
                  <a:pt x="90105" y="188693"/>
                </a:lnTo>
                <a:cubicBezTo>
                  <a:pt x="89386" y="189777"/>
                  <a:pt x="88306" y="190139"/>
                  <a:pt x="87227" y="190139"/>
                </a:cubicBezTo>
                <a:cubicBezTo>
                  <a:pt x="86508" y="190139"/>
                  <a:pt x="85788" y="190139"/>
                  <a:pt x="85428" y="189777"/>
                </a:cubicBezTo>
                <a:cubicBezTo>
                  <a:pt x="83629" y="189055"/>
                  <a:pt x="82550" y="187610"/>
                  <a:pt x="82550" y="185803"/>
                </a:cubicBezTo>
                <a:lnTo>
                  <a:pt x="82550" y="105229"/>
                </a:lnTo>
                <a:cubicBezTo>
                  <a:pt x="82550" y="69819"/>
                  <a:pt x="111332" y="41275"/>
                  <a:pt x="146230" y="41275"/>
                </a:cubicBezTo>
                <a:close/>
                <a:moveTo>
                  <a:pt x="45956" y="8987"/>
                </a:moveTo>
                <a:cubicBezTo>
                  <a:pt x="38775" y="8987"/>
                  <a:pt x="32672" y="14738"/>
                  <a:pt x="32672" y="22287"/>
                </a:cubicBezTo>
                <a:lnTo>
                  <a:pt x="32672" y="201663"/>
                </a:lnTo>
                <a:lnTo>
                  <a:pt x="260297" y="201663"/>
                </a:lnTo>
                <a:lnTo>
                  <a:pt x="260297" y="22287"/>
                </a:lnTo>
                <a:cubicBezTo>
                  <a:pt x="260297" y="14738"/>
                  <a:pt x="254553" y="8987"/>
                  <a:pt x="247372" y="8987"/>
                </a:cubicBezTo>
                <a:lnTo>
                  <a:pt x="45956" y="8987"/>
                </a:lnTo>
                <a:close/>
                <a:moveTo>
                  <a:pt x="45956" y="0"/>
                </a:moveTo>
                <a:lnTo>
                  <a:pt x="247372" y="0"/>
                </a:lnTo>
                <a:cubicBezTo>
                  <a:pt x="259579" y="0"/>
                  <a:pt x="269273" y="10065"/>
                  <a:pt x="269273" y="22287"/>
                </a:cubicBezTo>
                <a:lnTo>
                  <a:pt x="269273" y="204898"/>
                </a:lnTo>
                <a:lnTo>
                  <a:pt x="292610" y="251270"/>
                </a:lnTo>
                <a:cubicBezTo>
                  <a:pt x="292969" y="251989"/>
                  <a:pt x="293328" y="252707"/>
                  <a:pt x="293328" y="253426"/>
                </a:cubicBezTo>
                <a:lnTo>
                  <a:pt x="293328" y="271040"/>
                </a:lnTo>
                <a:cubicBezTo>
                  <a:pt x="293328" y="283622"/>
                  <a:pt x="282916" y="293328"/>
                  <a:pt x="270709" y="293328"/>
                </a:cubicBezTo>
                <a:lnTo>
                  <a:pt x="22619" y="293328"/>
                </a:lnTo>
                <a:cubicBezTo>
                  <a:pt x="10053" y="293328"/>
                  <a:pt x="0" y="283622"/>
                  <a:pt x="0" y="271040"/>
                </a:cubicBezTo>
                <a:lnTo>
                  <a:pt x="0" y="253426"/>
                </a:lnTo>
                <a:cubicBezTo>
                  <a:pt x="0" y="252707"/>
                  <a:pt x="359" y="251989"/>
                  <a:pt x="718" y="251270"/>
                </a:cubicBezTo>
                <a:lnTo>
                  <a:pt x="24055" y="204898"/>
                </a:lnTo>
                <a:lnTo>
                  <a:pt x="24055" y="22287"/>
                </a:lnTo>
                <a:cubicBezTo>
                  <a:pt x="24055" y="10065"/>
                  <a:pt x="33749" y="0"/>
                  <a:pt x="45956" y="0"/>
                </a:cubicBezTo>
                <a:close/>
              </a:path>
            </a:pathLst>
          </a:custGeom>
          <a:solidFill>
            <a:srgbClr val="FFFFFF"/>
          </a:solidFill>
          <a:ln>
            <a:noFill/>
          </a:ln>
        </p:spPr>
        <p:txBody>
          <a:bodyPr anchor="ctr"/>
          <a:lstStyle/>
          <a:p>
            <a:pPr marL="0" marR="0" lvl="0" indent="0" algn="l" defTabSz="1828434"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srgbClr val="AAAAAA"/>
              </a:solidFill>
              <a:effectLst/>
              <a:uLnTx/>
              <a:uFillTx/>
              <a:latin typeface="Calibri" panose="020F0502020204030204"/>
              <a:ea typeface="+mn-ea"/>
              <a:cs typeface="+mn-cs"/>
            </a:endParaRPr>
          </a:p>
        </p:txBody>
      </p:sp>
      <p:sp>
        <p:nvSpPr>
          <p:cNvPr id="16" name="Freeform 35">
            <a:extLst>
              <a:ext uri="{FF2B5EF4-FFF2-40B4-BE49-F238E27FC236}">
                <a16:creationId xmlns:a16="http://schemas.microsoft.com/office/drawing/2014/main" id="{67F057F5-487F-03DC-2D4A-379B1EB5B71B}"/>
              </a:ext>
            </a:extLst>
          </p:cNvPr>
          <p:cNvSpPr>
            <a:spLocks noChangeAspect="1"/>
          </p:cNvSpPr>
          <p:nvPr/>
        </p:nvSpPr>
        <p:spPr bwMode="auto">
          <a:xfrm>
            <a:off x="8795421" y="3629136"/>
            <a:ext cx="372021" cy="370914"/>
          </a:xfrm>
          <a:custGeom>
            <a:avLst/>
            <a:gdLst>
              <a:gd name="T0" fmla="*/ 2147483646 w 818"/>
              <a:gd name="T1" fmla="*/ 2147483646 h 817"/>
              <a:gd name="T2" fmla="*/ 2147483646 w 818"/>
              <a:gd name="T3" fmla="*/ 2147483646 h 817"/>
              <a:gd name="T4" fmla="*/ 2147483646 w 818"/>
              <a:gd name="T5" fmla="*/ 2147483646 h 817"/>
              <a:gd name="T6" fmla="*/ 2147483646 w 818"/>
              <a:gd name="T7" fmla="*/ 2147483646 h 817"/>
              <a:gd name="T8" fmla="*/ 2147483646 w 818"/>
              <a:gd name="T9" fmla="*/ 2147483646 h 817"/>
              <a:gd name="T10" fmla="*/ 2147483646 w 818"/>
              <a:gd name="T11" fmla="*/ 2147483646 h 817"/>
              <a:gd name="T12" fmla="*/ 2147483646 w 818"/>
              <a:gd name="T13" fmla="*/ 2147483646 h 817"/>
              <a:gd name="T14" fmla="*/ 2147483646 w 818"/>
              <a:gd name="T15" fmla="*/ 2147483646 h 817"/>
              <a:gd name="T16" fmla="*/ 2147483646 w 818"/>
              <a:gd name="T17" fmla="*/ 2147483646 h 817"/>
              <a:gd name="T18" fmla="*/ 2147483646 w 818"/>
              <a:gd name="T19" fmla="*/ 2147483646 h 817"/>
              <a:gd name="T20" fmla="*/ 2147483646 w 818"/>
              <a:gd name="T21" fmla="*/ 2147483646 h 817"/>
              <a:gd name="T22" fmla="*/ 2147483646 w 818"/>
              <a:gd name="T23" fmla="*/ 2147483646 h 817"/>
              <a:gd name="T24" fmla="*/ 2147483646 w 818"/>
              <a:gd name="T25" fmla="*/ 2147483646 h 817"/>
              <a:gd name="T26" fmla="*/ 2147483646 w 818"/>
              <a:gd name="T27" fmla="*/ 2147483646 h 817"/>
              <a:gd name="T28" fmla="*/ 2147483646 w 818"/>
              <a:gd name="T29" fmla="*/ 2147483646 h 817"/>
              <a:gd name="T30" fmla="*/ 2147483646 w 818"/>
              <a:gd name="T31" fmla="*/ 2147483646 h 817"/>
              <a:gd name="T32" fmla="*/ 2147483646 w 818"/>
              <a:gd name="T33" fmla="*/ 2147483646 h 817"/>
              <a:gd name="T34" fmla="*/ 2147483646 w 818"/>
              <a:gd name="T35" fmla="*/ 2147483646 h 817"/>
              <a:gd name="T36" fmla="*/ 2147483646 w 818"/>
              <a:gd name="T37" fmla="*/ 2147483646 h 817"/>
              <a:gd name="T38" fmla="*/ 2147483646 w 818"/>
              <a:gd name="T39" fmla="*/ 2147483646 h 817"/>
              <a:gd name="T40" fmla="*/ 2147483646 w 818"/>
              <a:gd name="T41" fmla="*/ 2147483646 h 817"/>
              <a:gd name="T42" fmla="*/ 2147483646 w 818"/>
              <a:gd name="T43" fmla="*/ 2147483646 h 817"/>
              <a:gd name="T44" fmla="*/ 2147483646 w 818"/>
              <a:gd name="T45" fmla="*/ 2147483646 h 817"/>
              <a:gd name="T46" fmla="*/ 2147483646 w 818"/>
              <a:gd name="T47" fmla="*/ 2147483646 h 817"/>
              <a:gd name="T48" fmla="*/ 2147483646 w 818"/>
              <a:gd name="T49" fmla="*/ 2147483646 h 817"/>
              <a:gd name="T50" fmla="*/ 2147483646 w 818"/>
              <a:gd name="T51" fmla="*/ 2147483646 h 817"/>
              <a:gd name="T52" fmla="*/ 2147483646 w 818"/>
              <a:gd name="T53" fmla="*/ 2147483646 h 817"/>
              <a:gd name="T54" fmla="*/ 2147483646 w 818"/>
              <a:gd name="T55" fmla="*/ 2147483646 h 817"/>
              <a:gd name="T56" fmla="*/ 2147483646 w 818"/>
              <a:gd name="T57" fmla="*/ 2147483646 h 817"/>
              <a:gd name="T58" fmla="*/ 2147483646 w 818"/>
              <a:gd name="T59" fmla="*/ 2147483646 h 817"/>
              <a:gd name="T60" fmla="*/ 2147483646 w 818"/>
              <a:gd name="T61" fmla="*/ 2147483646 h 817"/>
              <a:gd name="T62" fmla="*/ 2147483646 w 818"/>
              <a:gd name="T63" fmla="*/ 2147483646 h 817"/>
              <a:gd name="T64" fmla="*/ 2147483646 w 818"/>
              <a:gd name="T65" fmla="*/ 2147483646 h 817"/>
              <a:gd name="T66" fmla="*/ 2147483646 w 818"/>
              <a:gd name="T67" fmla="*/ 2147483646 h 817"/>
              <a:gd name="T68" fmla="*/ 2147483646 w 818"/>
              <a:gd name="T69" fmla="*/ 2147483646 h 817"/>
              <a:gd name="T70" fmla="*/ 2147483646 w 818"/>
              <a:gd name="T71" fmla="*/ 2147483646 h 817"/>
              <a:gd name="T72" fmla="*/ 2147483646 w 818"/>
              <a:gd name="T73" fmla="*/ 2147483646 h 817"/>
              <a:gd name="T74" fmla="*/ 2147483646 w 818"/>
              <a:gd name="T75" fmla="*/ 2147483646 h 817"/>
              <a:gd name="T76" fmla="*/ 2147483646 w 818"/>
              <a:gd name="T77" fmla="*/ 2147483646 h 817"/>
              <a:gd name="T78" fmla="*/ 2147483646 w 818"/>
              <a:gd name="T79" fmla="*/ 2147483646 h 817"/>
              <a:gd name="T80" fmla="*/ 2147483646 w 818"/>
              <a:gd name="T81" fmla="*/ 2147483646 h 817"/>
              <a:gd name="T82" fmla="*/ 2147483646 w 818"/>
              <a:gd name="T83" fmla="*/ 0 h 817"/>
              <a:gd name="T84" fmla="*/ 2147483646 w 818"/>
              <a:gd name="T85" fmla="*/ 0 h 817"/>
              <a:gd name="T86" fmla="*/ 0 w 818"/>
              <a:gd name="T87" fmla="*/ 2147483646 h 817"/>
              <a:gd name="T88" fmla="*/ 2147483646 w 818"/>
              <a:gd name="T89" fmla="*/ 2147483646 h 817"/>
              <a:gd name="T90" fmla="*/ 2147483646 w 818"/>
              <a:gd name="T91" fmla="*/ 2147483646 h 817"/>
              <a:gd name="T92" fmla="*/ 2147483646 w 818"/>
              <a:gd name="T93" fmla="*/ 2147483646 h 817"/>
              <a:gd name="T94" fmla="*/ 2147483646 w 818"/>
              <a:gd name="T95" fmla="*/ 2147483646 h 817"/>
              <a:gd name="T96" fmla="*/ 2147483646 w 818"/>
              <a:gd name="T97" fmla="*/ 2147483646 h 817"/>
              <a:gd name="T98" fmla="*/ 2147483646 w 818"/>
              <a:gd name="T99" fmla="*/ 2147483646 h 817"/>
              <a:gd name="T100" fmla="*/ 2147483646 w 818"/>
              <a:gd name="T101" fmla="*/ 2147483646 h 817"/>
              <a:gd name="T102" fmla="*/ 2147483646 w 818"/>
              <a:gd name="T103" fmla="*/ 2147483646 h 817"/>
              <a:gd name="T104" fmla="*/ 2147483646 w 818"/>
              <a:gd name="T105" fmla="*/ 2147483646 h 817"/>
              <a:gd name="T106" fmla="*/ 2147483646 w 818"/>
              <a:gd name="T107" fmla="*/ 2147483646 h 817"/>
              <a:gd name="T108" fmla="*/ 2147483646 w 818"/>
              <a:gd name="T109" fmla="*/ 0 h 81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818" h="817">
                <a:moveTo>
                  <a:pt x="588" y="572"/>
                </a:moveTo>
                <a:lnTo>
                  <a:pt x="527" y="395"/>
                </a:lnTo>
                <a:lnTo>
                  <a:pt x="704" y="456"/>
                </a:lnTo>
                <a:lnTo>
                  <a:pt x="628" y="489"/>
                </a:lnTo>
                <a:cubicBezTo>
                  <a:pt x="625" y="491"/>
                  <a:pt x="623" y="493"/>
                  <a:pt x="622" y="496"/>
                </a:cubicBezTo>
                <a:lnTo>
                  <a:pt x="588" y="572"/>
                </a:lnTo>
                <a:close/>
                <a:moveTo>
                  <a:pt x="792" y="593"/>
                </a:moveTo>
                <a:lnTo>
                  <a:pt x="606" y="593"/>
                </a:lnTo>
                <a:lnTo>
                  <a:pt x="643" y="510"/>
                </a:lnTo>
                <a:lnTo>
                  <a:pt x="743" y="465"/>
                </a:lnTo>
                <a:cubicBezTo>
                  <a:pt x="748" y="464"/>
                  <a:pt x="751" y="459"/>
                  <a:pt x="750" y="454"/>
                </a:cubicBezTo>
                <a:cubicBezTo>
                  <a:pt x="750" y="449"/>
                  <a:pt x="747" y="444"/>
                  <a:pt x="742" y="442"/>
                </a:cubicBezTo>
                <a:lnTo>
                  <a:pt x="586" y="389"/>
                </a:lnTo>
                <a:lnTo>
                  <a:pt x="586" y="316"/>
                </a:lnTo>
                <a:cubicBezTo>
                  <a:pt x="586" y="310"/>
                  <a:pt x="580" y="304"/>
                  <a:pt x="573" y="304"/>
                </a:cubicBezTo>
                <a:cubicBezTo>
                  <a:pt x="567" y="304"/>
                  <a:pt x="561" y="310"/>
                  <a:pt x="561" y="316"/>
                </a:cubicBezTo>
                <a:lnTo>
                  <a:pt x="561" y="380"/>
                </a:lnTo>
                <a:lnTo>
                  <a:pt x="511" y="363"/>
                </a:lnTo>
                <a:cubicBezTo>
                  <a:pt x="507" y="362"/>
                  <a:pt x="502" y="363"/>
                  <a:pt x="498" y="367"/>
                </a:cubicBezTo>
                <a:cubicBezTo>
                  <a:pt x="495" y="369"/>
                  <a:pt x="494" y="375"/>
                  <a:pt x="495" y="379"/>
                </a:cubicBezTo>
                <a:lnTo>
                  <a:pt x="524" y="462"/>
                </a:lnTo>
                <a:lnTo>
                  <a:pt x="256" y="462"/>
                </a:lnTo>
                <a:lnTo>
                  <a:pt x="256" y="157"/>
                </a:lnTo>
                <a:lnTo>
                  <a:pt x="561" y="157"/>
                </a:lnTo>
                <a:lnTo>
                  <a:pt x="561" y="220"/>
                </a:lnTo>
                <a:cubicBezTo>
                  <a:pt x="540" y="240"/>
                  <a:pt x="435" y="346"/>
                  <a:pt x="404" y="377"/>
                </a:cubicBezTo>
                <a:lnTo>
                  <a:pt x="327" y="300"/>
                </a:lnTo>
                <a:cubicBezTo>
                  <a:pt x="322" y="296"/>
                  <a:pt x="314" y="296"/>
                  <a:pt x="309" y="300"/>
                </a:cubicBezTo>
                <a:cubicBezTo>
                  <a:pt x="305" y="305"/>
                  <a:pt x="305" y="313"/>
                  <a:pt x="309" y="318"/>
                </a:cubicBezTo>
                <a:lnTo>
                  <a:pt x="395" y="404"/>
                </a:lnTo>
                <a:cubicBezTo>
                  <a:pt x="400" y="408"/>
                  <a:pt x="408" y="408"/>
                  <a:pt x="413" y="404"/>
                </a:cubicBezTo>
                <a:cubicBezTo>
                  <a:pt x="586" y="230"/>
                  <a:pt x="586" y="230"/>
                  <a:pt x="586" y="224"/>
                </a:cubicBezTo>
                <a:lnTo>
                  <a:pt x="586" y="144"/>
                </a:lnTo>
                <a:cubicBezTo>
                  <a:pt x="586" y="138"/>
                  <a:pt x="580" y="132"/>
                  <a:pt x="573" y="132"/>
                </a:cubicBezTo>
                <a:lnTo>
                  <a:pt x="244" y="132"/>
                </a:lnTo>
                <a:cubicBezTo>
                  <a:pt x="237" y="132"/>
                  <a:pt x="231" y="138"/>
                  <a:pt x="231" y="144"/>
                </a:cubicBezTo>
                <a:lnTo>
                  <a:pt x="231" y="474"/>
                </a:lnTo>
                <a:cubicBezTo>
                  <a:pt x="231" y="480"/>
                  <a:pt x="237" y="487"/>
                  <a:pt x="244" y="487"/>
                </a:cubicBezTo>
                <a:lnTo>
                  <a:pt x="532" y="487"/>
                </a:lnTo>
                <a:lnTo>
                  <a:pt x="575" y="610"/>
                </a:lnTo>
                <a:cubicBezTo>
                  <a:pt x="576" y="615"/>
                  <a:pt x="581" y="618"/>
                  <a:pt x="586" y="618"/>
                </a:cubicBezTo>
                <a:lnTo>
                  <a:pt x="792" y="618"/>
                </a:lnTo>
                <a:lnTo>
                  <a:pt x="792" y="656"/>
                </a:lnTo>
                <a:cubicBezTo>
                  <a:pt x="792" y="676"/>
                  <a:pt x="775" y="692"/>
                  <a:pt x="754" y="692"/>
                </a:cubicBezTo>
                <a:lnTo>
                  <a:pt x="63" y="692"/>
                </a:lnTo>
                <a:cubicBezTo>
                  <a:pt x="42" y="692"/>
                  <a:pt x="25" y="676"/>
                  <a:pt x="25" y="656"/>
                </a:cubicBezTo>
                <a:lnTo>
                  <a:pt x="25" y="618"/>
                </a:lnTo>
                <a:lnTo>
                  <a:pt x="521" y="618"/>
                </a:lnTo>
                <a:cubicBezTo>
                  <a:pt x="527" y="618"/>
                  <a:pt x="533" y="613"/>
                  <a:pt x="533" y="606"/>
                </a:cubicBezTo>
                <a:cubicBezTo>
                  <a:pt x="533" y="599"/>
                  <a:pt x="527" y="593"/>
                  <a:pt x="521" y="593"/>
                </a:cubicBezTo>
                <a:lnTo>
                  <a:pt x="25" y="593"/>
                </a:lnTo>
                <a:lnTo>
                  <a:pt x="25" y="62"/>
                </a:lnTo>
                <a:cubicBezTo>
                  <a:pt x="25" y="41"/>
                  <a:pt x="42" y="25"/>
                  <a:pt x="63" y="25"/>
                </a:cubicBezTo>
                <a:lnTo>
                  <a:pt x="754" y="25"/>
                </a:lnTo>
                <a:cubicBezTo>
                  <a:pt x="775" y="25"/>
                  <a:pt x="792" y="41"/>
                  <a:pt x="792" y="62"/>
                </a:cubicBezTo>
                <a:lnTo>
                  <a:pt x="792" y="593"/>
                </a:lnTo>
                <a:close/>
                <a:moveTo>
                  <a:pt x="544" y="791"/>
                </a:moveTo>
                <a:lnTo>
                  <a:pt x="272" y="791"/>
                </a:lnTo>
                <a:lnTo>
                  <a:pt x="272" y="717"/>
                </a:lnTo>
                <a:lnTo>
                  <a:pt x="544" y="717"/>
                </a:lnTo>
                <a:lnTo>
                  <a:pt x="544" y="791"/>
                </a:lnTo>
                <a:close/>
                <a:moveTo>
                  <a:pt x="754" y="0"/>
                </a:moveTo>
                <a:lnTo>
                  <a:pt x="63" y="0"/>
                </a:lnTo>
                <a:cubicBezTo>
                  <a:pt x="28" y="0"/>
                  <a:pt x="0" y="28"/>
                  <a:pt x="0" y="62"/>
                </a:cubicBezTo>
                <a:lnTo>
                  <a:pt x="0" y="656"/>
                </a:lnTo>
                <a:cubicBezTo>
                  <a:pt x="0" y="690"/>
                  <a:pt x="28" y="717"/>
                  <a:pt x="63" y="717"/>
                </a:cubicBezTo>
                <a:lnTo>
                  <a:pt x="248" y="717"/>
                </a:lnTo>
                <a:lnTo>
                  <a:pt x="248" y="791"/>
                </a:lnTo>
                <a:lnTo>
                  <a:pt x="161" y="791"/>
                </a:lnTo>
                <a:cubicBezTo>
                  <a:pt x="154" y="791"/>
                  <a:pt x="149" y="797"/>
                  <a:pt x="149" y="804"/>
                </a:cubicBezTo>
                <a:cubicBezTo>
                  <a:pt x="149" y="811"/>
                  <a:pt x="154" y="816"/>
                  <a:pt x="161" y="816"/>
                </a:cubicBezTo>
                <a:lnTo>
                  <a:pt x="656" y="816"/>
                </a:lnTo>
                <a:cubicBezTo>
                  <a:pt x="663" y="816"/>
                  <a:pt x="668" y="811"/>
                  <a:pt x="668" y="804"/>
                </a:cubicBezTo>
                <a:cubicBezTo>
                  <a:pt x="668" y="797"/>
                  <a:pt x="663" y="791"/>
                  <a:pt x="656" y="791"/>
                </a:cubicBezTo>
                <a:lnTo>
                  <a:pt x="569" y="791"/>
                </a:lnTo>
                <a:lnTo>
                  <a:pt x="569" y="717"/>
                </a:lnTo>
                <a:lnTo>
                  <a:pt x="754" y="717"/>
                </a:lnTo>
                <a:cubicBezTo>
                  <a:pt x="788" y="717"/>
                  <a:pt x="817" y="690"/>
                  <a:pt x="817" y="656"/>
                </a:cubicBezTo>
                <a:lnTo>
                  <a:pt x="817" y="62"/>
                </a:lnTo>
                <a:cubicBezTo>
                  <a:pt x="817" y="28"/>
                  <a:pt x="788" y="0"/>
                  <a:pt x="754" y="0"/>
                </a:cubicBezTo>
                <a:close/>
              </a:path>
            </a:pathLst>
          </a:custGeom>
          <a:solidFill>
            <a:srgbClr val="FFFFFF"/>
          </a:solidFill>
          <a:ln>
            <a:noFill/>
          </a:ln>
        </p:spPr>
        <p:txBody>
          <a:bodyPr wrap="none" anchor="ctr"/>
          <a:lstStyle/>
          <a:p>
            <a:pPr marL="0" marR="0" lvl="0" indent="0" algn="l" defTabSz="1828434"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srgbClr val="AAAAAA"/>
              </a:solidFill>
              <a:effectLst/>
              <a:uLnTx/>
              <a:uFillTx/>
              <a:latin typeface="Calibri" panose="020F0502020204030204"/>
              <a:ea typeface="+mn-ea"/>
              <a:cs typeface="+mn-cs"/>
            </a:endParaRPr>
          </a:p>
        </p:txBody>
      </p:sp>
      <p:sp>
        <p:nvSpPr>
          <p:cNvPr id="17" name="Freeform 938">
            <a:extLst>
              <a:ext uri="{FF2B5EF4-FFF2-40B4-BE49-F238E27FC236}">
                <a16:creationId xmlns:a16="http://schemas.microsoft.com/office/drawing/2014/main" id="{A562BBC6-137A-ABF3-0485-0654D54F822E}"/>
              </a:ext>
            </a:extLst>
          </p:cNvPr>
          <p:cNvSpPr>
            <a:spLocks noChangeAspect="1"/>
          </p:cNvSpPr>
          <p:nvPr/>
        </p:nvSpPr>
        <p:spPr bwMode="auto">
          <a:xfrm>
            <a:off x="8795421" y="1642182"/>
            <a:ext cx="372021" cy="372021"/>
          </a:xfrm>
          <a:custGeom>
            <a:avLst/>
            <a:gdLst>
              <a:gd name="T0" fmla="*/ 3908867 w 293327"/>
              <a:gd name="T1" fmla="*/ 9106418 h 293328"/>
              <a:gd name="T2" fmla="*/ 4627651 w 293327"/>
              <a:gd name="T3" fmla="*/ 9106418 h 293328"/>
              <a:gd name="T4" fmla="*/ 4268257 w 293327"/>
              <a:gd name="T5" fmla="*/ 8420867 h 293328"/>
              <a:gd name="T6" fmla="*/ 4268257 w 293327"/>
              <a:gd name="T7" fmla="*/ 9791887 h 293328"/>
              <a:gd name="T8" fmla="*/ 4268257 w 293327"/>
              <a:gd name="T9" fmla="*/ 8420867 h 293328"/>
              <a:gd name="T10" fmla="*/ 2117656 w 293327"/>
              <a:gd name="T11" fmla="*/ 7311654 h 293328"/>
              <a:gd name="T12" fmla="*/ 2829577 w 293327"/>
              <a:gd name="T13" fmla="*/ 7311654 h 293328"/>
              <a:gd name="T14" fmla="*/ 4545752 w 293327"/>
              <a:gd name="T15" fmla="*/ 6800492 h 293328"/>
              <a:gd name="T16" fmla="*/ 4780006 w 293327"/>
              <a:gd name="T17" fmla="*/ 7035809 h 293328"/>
              <a:gd name="T18" fmla="*/ 2085617 w 293327"/>
              <a:gd name="T19" fmla="*/ 9676631 h 293328"/>
              <a:gd name="T20" fmla="*/ 1968489 w 293327"/>
              <a:gd name="T21" fmla="*/ 9402106 h 293328"/>
              <a:gd name="T22" fmla="*/ 2473597 w 293327"/>
              <a:gd name="T23" fmla="*/ 6632828 h 293328"/>
              <a:gd name="T24" fmla="*/ 2473597 w 293327"/>
              <a:gd name="T25" fmla="*/ 8003799 h 293328"/>
              <a:gd name="T26" fmla="*/ 2473597 w 293327"/>
              <a:gd name="T27" fmla="*/ 6632828 h 293328"/>
              <a:gd name="T28" fmla="*/ 339617 w 293327"/>
              <a:gd name="T29" fmla="*/ 10331239 h 293328"/>
              <a:gd name="T30" fmla="*/ 5826363 w 293327"/>
              <a:gd name="T31" fmla="*/ 5507530 h 293328"/>
              <a:gd name="T32" fmla="*/ 5277686 w 293327"/>
              <a:gd name="T33" fmla="*/ 5989807 h 293328"/>
              <a:gd name="T34" fmla="*/ 4951088 w 293327"/>
              <a:gd name="T35" fmla="*/ 5989807 h 293328"/>
              <a:gd name="T36" fmla="*/ 1828917 w 293327"/>
              <a:gd name="T37" fmla="*/ 5507530 h 293328"/>
              <a:gd name="T38" fmla="*/ 1672147 w 293327"/>
              <a:gd name="T39" fmla="*/ 6146314 h 293328"/>
              <a:gd name="T40" fmla="*/ 1515406 w 293327"/>
              <a:gd name="T41" fmla="*/ 5507530 h 293328"/>
              <a:gd name="T42" fmla="*/ 3383445 w 293327"/>
              <a:gd name="T43" fmla="*/ 3786598 h 293328"/>
              <a:gd name="T44" fmla="*/ 4951088 w 293327"/>
              <a:gd name="T45" fmla="*/ 5181596 h 293328"/>
              <a:gd name="T46" fmla="*/ 3383445 w 293327"/>
              <a:gd name="T47" fmla="*/ 3460617 h 293328"/>
              <a:gd name="T48" fmla="*/ 5970084 w 293327"/>
              <a:gd name="T49" fmla="*/ 5181596 h 293328"/>
              <a:gd name="T50" fmla="*/ 6780043 w 293327"/>
              <a:gd name="T51" fmla="*/ 10487700 h 293328"/>
              <a:gd name="T52" fmla="*/ 6623220 w 293327"/>
              <a:gd name="T53" fmla="*/ 10657173 h 293328"/>
              <a:gd name="T54" fmla="*/ 39158 w 293327"/>
              <a:gd name="T55" fmla="*/ 10605053 h 293328"/>
              <a:gd name="T56" fmla="*/ 653138 w 293327"/>
              <a:gd name="T57" fmla="*/ 5325002 h 293328"/>
              <a:gd name="T58" fmla="*/ 1515406 w 293327"/>
              <a:gd name="T59" fmla="*/ 5181596 h 293328"/>
              <a:gd name="T60" fmla="*/ 6823927 w 293327"/>
              <a:gd name="T61" fmla="*/ 326867 h 293328"/>
              <a:gd name="T62" fmla="*/ 5266850 w 293327"/>
              <a:gd name="T63" fmla="*/ 2157483 h 293328"/>
              <a:gd name="T64" fmla="*/ 8393994 w 293327"/>
              <a:gd name="T65" fmla="*/ 1895931 h 293328"/>
              <a:gd name="T66" fmla="*/ 6823927 w 293327"/>
              <a:gd name="T67" fmla="*/ 0 h 293328"/>
              <a:gd name="T68" fmla="*/ 8721089 w 293327"/>
              <a:gd name="T69" fmla="*/ 2157483 h 293328"/>
              <a:gd name="T70" fmla="*/ 9794012 w 293327"/>
              <a:gd name="T71" fmla="*/ 2301333 h 293328"/>
              <a:gd name="T72" fmla="*/ 10618320 w 293327"/>
              <a:gd name="T73" fmla="*/ 9322855 h 293328"/>
              <a:gd name="T74" fmla="*/ 7098646 w 293327"/>
              <a:gd name="T75" fmla="*/ 9388255 h 293328"/>
              <a:gd name="T76" fmla="*/ 7098646 w 293327"/>
              <a:gd name="T77" fmla="*/ 9061388 h 293328"/>
              <a:gd name="T78" fmla="*/ 10160357 w 293327"/>
              <a:gd name="T79" fmla="*/ 7871491 h 293328"/>
              <a:gd name="T80" fmla="*/ 6745385 w 293327"/>
              <a:gd name="T81" fmla="*/ 7701477 h 293328"/>
              <a:gd name="T82" fmla="*/ 10121102 w 293327"/>
              <a:gd name="T83" fmla="*/ 7544584 h 293328"/>
              <a:gd name="T84" fmla="*/ 8721089 w 293327"/>
              <a:gd name="T85" fmla="*/ 2484348 h 293328"/>
              <a:gd name="T86" fmla="*/ 8551042 w 293327"/>
              <a:gd name="T87" fmla="*/ 3347336 h 293328"/>
              <a:gd name="T88" fmla="*/ 8393994 w 293327"/>
              <a:gd name="T89" fmla="*/ 2484348 h 293328"/>
              <a:gd name="T90" fmla="*/ 5266850 w 293327"/>
              <a:gd name="T91" fmla="*/ 3177369 h 293328"/>
              <a:gd name="T92" fmla="*/ 4939746 w 293327"/>
              <a:gd name="T93" fmla="*/ 3177369 h 293328"/>
              <a:gd name="T94" fmla="*/ 4167856 w 293327"/>
              <a:gd name="T95" fmla="*/ 2484348 h 293328"/>
              <a:gd name="T96" fmla="*/ 3893078 w 293327"/>
              <a:gd name="T97" fmla="*/ 3347336 h 293328"/>
              <a:gd name="T98" fmla="*/ 3866909 w 293327"/>
              <a:gd name="T99" fmla="*/ 2301333 h 293328"/>
              <a:gd name="T100" fmla="*/ 4939746 w 293327"/>
              <a:gd name="T101" fmla="*/ 2157483 h 293328"/>
              <a:gd name="T102" fmla="*/ 6823927 w 293327"/>
              <a:gd name="T103" fmla="*/ 0 h 29332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93327" h="293328">
                <a:moveTo>
                  <a:pt x="117475" y="240846"/>
                </a:moveTo>
                <a:cubicBezTo>
                  <a:pt x="111980" y="240846"/>
                  <a:pt x="107584" y="245201"/>
                  <a:pt x="107584" y="250644"/>
                </a:cubicBezTo>
                <a:cubicBezTo>
                  <a:pt x="107584" y="256086"/>
                  <a:pt x="111980" y="260441"/>
                  <a:pt x="117475" y="260441"/>
                </a:cubicBezTo>
                <a:cubicBezTo>
                  <a:pt x="122604" y="260441"/>
                  <a:pt x="127366" y="256086"/>
                  <a:pt x="127366" y="250644"/>
                </a:cubicBezTo>
                <a:cubicBezTo>
                  <a:pt x="127366" y="245201"/>
                  <a:pt x="122604" y="240846"/>
                  <a:pt x="117475" y="240846"/>
                </a:cubicBezTo>
                <a:close/>
                <a:moveTo>
                  <a:pt x="117475" y="231775"/>
                </a:moveTo>
                <a:cubicBezTo>
                  <a:pt x="127733" y="231775"/>
                  <a:pt x="136159" y="240121"/>
                  <a:pt x="136159" y="250644"/>
                </a:cubicBezTo>
                <a:cubicBezTo>
                  <a:pt x="136159" y="260804"/>
                  <a:pt x="127733" y="269512"/>
                  <a:pt x="117475" y="269512"/>
                </a:cubicBezTo>
                <a:cubicBezTo>
                  <a:pt x="106851" y="269512"/>
                  <a:pt x="98425" y="260804"/>
                  <a:pt x="98425" y="250644"/>
                </a:cubicBezTo>
                <a:cubicBezTo>
                  <a:pt x="98425" y="240121"/>
                  <a:pt x="106851" y="231775"/>
                  <a:pt x="117475" y="231775"/>
                </a:cubicBezTo>
                <a:close/>
                <a:moveTo>
                  <a:pt x="68080" y="191354"/>
                </a:moveTo>
                <a:cubicBezTo>
                  <a:pt x="62638" y="191354"/>
                  <a:pt x="58283" y="195751"/>
                  <a:pt x="58283" y="201246"/>
                </a:cubicBezTo>
                <a:cubicBezTo>
                  <a:pt x="58283" y="206741"/>
                  <a:pt x="62638" y="211503"/>
                  <a:pt x="68080" y="211503"/>
                </a:cubicBezTo>
                <a:cubicBezTo>
                  <a:pt x="73523" y="211503"/>
                  <a:pt x="77878" y="206741"/>
                  <a:pt x="77878" y="201246"/>
                </a:cubicBezTo>
                <a:cubicBezTo>
                  <a:pt x="77878" y="195751"/>
                  <a:pt x="73523" y="191354"/>
                  <a:pt x="68080" y="191354"/>
                </a:cubicBezTo>
                <a:close/>
                <a:moveTo>
                  <a:pt x="125111" y="187176"/>
                </a:moveTo>
                <a:cubicBezTo>
                  <a:pt x="126902" y="185737"/>
                  <a:pt x="129409" y="185737"/>
                  <a:pt x="131559" y="187176"/>
                </a:cubicBezTo>
                <a:cubicBezTo>
                  <a:pt x="132992" y="188976"/>
                  <a:pt x="132992" y="191854"/>
                  <a:pt x="131559" y="193653"/>
                </a:cubicBezTo>
                <a:lnTo>
                  <a:pt x="60626" y="264901"/>
                </a:lnTo>
                <a:cubicBezTo>
                  <a:pt x="59552" y="265980"/>
                  <a:pt x="58477" y="266340"/>
                  <a:pt x="57402" y="266340"/>
                </a:cubicBezTo>
                <a:cubicBezTo>
                  <a:pt x="56328" y="266340"/>
                  <a:pt x="54895" y="265980"/>
                  <a:pt x="54178" y="264901"/>
                </a:cubicBezTo>
                <a:cubicBezTo>
                  <a:pt x="52387" y="263102"/>
                  <a:pt x="52387" y="260223"/>
                  <a:pt x="54178" y="258784"/>
                </a:cubicBezTo>
                <a:lnTo>
                  <a:pt x="125111" y="187176"/>
                </a:lnTo>
                <a:close/>
                <a:moveTo>
                  <a:pt x="68080" y="182562"/>
                </a:moveTo>
                <a:cubicBezTo>
                  <a:pt x="78240" y="182562"/>
                  <a:pt x="86949" y="190988"/>
                  <a:pt x="86949" y="201246"/>
                </a:cubicBezTo>
                <a:cubicBezTo>
                  <a:pt x="86949" y="211870"/>
                  <a:pt x="78240" y="220296"/>
                  <a:pt x="68080" y="220296"/>
                </a:cubicBezTo>
                <a:cubicBezTo>
                  <a:pt x="57558" y="220296"/>
                  <a:pt x="49212" y="211870"/>
                  <a:pt x="49212" y="201246"/>
                </a:cubicBezTo>
                <a:cubicBezTo>
                  <a:pt x="49212" y="190988"/>
                  <a:pt x="57558" y="182562"/>
                  <a:pt x="68080" y="182562"/>
                </a:cubicBezTo>
                <a:close/>
                <a:moveTo>
                  <a:pt x="26247" y="151588"/>
                </a:moveTo>
                <a:lnTo>
                  <a:pt x="9348" y="284357"/>
                </a:lnTo>
                <a:lnTo>
                  <a:pt x="177258" y="284357"/>
                </a:lnTo>
                <a:lnTo>
                  <a:pt x="160359" y="151588"/>
                </a:lnTo>
                <a:lnTo>
                  <a:pt x="145258" y="151588"/>
                </a:lnTo>
                <a:lnTo>
                  <a:pt x="145258" y="164864"/>
                </a:lnTo>
                <a:cubicBezTo>
                  <a:pt x="145258" y="167376"/>
                  <a:pt x="143101" y="169171"/>
                  <a:pt x="140943" y="169171"/>
                </a:cubicBezTo>
                <a:cubicBezTo>
                  <a:pt x="138426" y="169171"/>
                  <a:pt x="136269" y="167376"/>
                  <a:pt x="136269" y="164864"/>
                </a:cubicBezTo>
                <a:lnTo>
                  <a:pt x="136269" y="151588"/>
                </a:lnTo>
                <a:lnTo>
                  <a:pt x="50337" y="151588"/>
                </a:lnTo>
                <a:lnTo>
                  <a:pt x="50337" y="164864"/>
                </a:lnTo>
                <a:cubicBezTo>
                  <a:pt x="50337" y="167376"/>
                  <a:pt x="48179" y="169171"/>
                  <a:pt x="46022" y="169171"/>
                </a:cubicBezTo>
                <a:cubicBezTo>
                  <a:pt x="43505" y="169171"/>
                  <a:pt x="41708" y="167376"/>
                  <a:pt x="41708" y="164864"/>
                </a:cubicBezTo>
                <a:lnTo>
                  <a:pt x="41708" y="151588"/>
                </a:lnTo>
                <a:lnTo>
                  <a:pt x="26247" y="151588"/>
                </a:lnTo>
                <a:close/>
                <a:moveTo>
                  <a:pt x="93123" y="104221"/>
                </a:moveTo>
                <a:cubicBezTo>
                  <a:pt x="71191" y="104221"/>
                  <a:pt x="52854" y="121086"/>
                  <a:pt x="50696" y="142617"/>
                </a:cubicBezTo>
                <a:lnTo>
                  <a:pt x="136269" y="142617"/>
                </a:lnTo>
                <a:cubicBezTo>
                  <a:pt x="133752" y="121086"/>
                  <a:pt x="115415" y="104221"/>
                  <a:pt x="93123" y="104221"/>
                </a:cubicBezTo>
                <a:close/>
                <a:moveTo>
                  <a:pt x="93123" y="95250"/>
                </a:moveTo>
                <a:cubicBezTo>
                  <a:pt x="120449" y="95250"/>
                  <a:pt x="142741" y="116063"/>
                  <a:pt x="144898" y="142617"/>
                </a:cubicBezTo>
                <a:lnTo>
                  <a:pt x="164314" y="142617"/>
                </a:lnTo>
                <a:cubicBezTo>
                  <a:pt x="166831" y="142617"/>
                  <a:pt x="168629" y="144411"/>
                  <a:pt x="168988" y="146564"/>
                </a:cubicBezTo>
                <a:lnTo>
                  <a:pt x="186606" y="288663"/>
                </a:lnTo>
                <a:cubicBezTo>
                  <a:pt x="186966" y="289740"/>
                  <a:pt x="186606" y="291175"/>
                  <a:pt x="185527" y="291893"/>
                </a:cubicBezTo>
                <a:cubicBezTo>
                  <a:pt x="184808" y="292969"/>
                  <a:pt x="183370" y="293328"/>
                  <a:pt x="182291" y="293328"/>
                </a:cubicBezTo>
                <a:lnTo>
                  <a:pt x="4314" y="293328"/>
                </a:lnTo>
                <a:cubicBezTo>
                  <a:pt x="3236" y="293328"/>
                  <a:pt x="2157" y="292969"/>
                  <a:pt x="1079" y="291893"/>
                </a:cubicBezTo>
                <a:cubicBezTo>
                  <a:pt x="359" y="291175"/>
                  <a:pt x="0" y="289740"/>
                  <a:pt x="0" y="288663"/>
                </a:cubicBezTo>
                <a:lnTo>
                  <a:pt x="17977" y="146564"/>
                </a:lnTo>
                <a:cubicBezTo>
                  <a:pt x="18337" y="144411"/>
                  <a:pt x="20135" y="142617"/>
                  <a:pt x="22292" y="142617"/>
                </a:cubicBezTo>
                <a:lnTo>
                  <a:pt x="41708" y="142617"/>
                </a:lnTo>
                <a:cubicBezTo>
                  <a:pt x="44224" y="116063"/>
                  <a:pt x="66157" y="95250"/>
                  <a:pt x="93123" y="95250"/>
                </a:cubicBezTo>
                <a:close/>
                <a:moveTo>
                  <a:pt x="187814" y="8997"/>
                </a:moveTo>
                <a:cubicBezTo>
                  <a:pt x="164046" y="8997"/>
                  <a:pt x="144960" y="28431"/>
                  <a:pt x="144960" y="52184"/>
                </a:cubicBezTo>
                <a:lnTo>
                  <a:pt x="144960" y="59382"/>
                </a:lnTo>
                <a:lnTo>
                  <a:pt x="231027" y="59382"/>
                </a:lnTo>
                <a:lnTo>
                  <a:pt x="231027" y="52184"/>
                </a:lnTo>
                <a:cubicBezTo>
                  <a:pt x="231027" y="28431"/>
                  <a:pt x="211941" y="8997"/>
                  <a:pt x="187814" y="8997"/>
                </a:cubicBezTo>
                <a:close/>
                <a:moveTo>
                  <a:pt x="187814" y="0"/>
                </a:moveTo>
                <a:cubicBezTo>
                  <a:pt x="216623" y="0"/>
                  <a:pt x="240030" y="23393"/>
                  <a:pt x="240030" y="52184"/>
                </a:cubicBezTo>
                <a:lnTo>
                  <a:pt x="240030" y="59382"/>
                </a:lnTo>
                <a:lnTo>
                  <a:pt x="265238" y="59382"/>
                </a:lnTo>
                <a:cubicBezTo>
                  <a:pt x="267399" y="59382"/>
                  <a:pt x="269199" y="61182"/>
                  <a:pt x="269560" y="63341"/>
                </a:cubicBezTo>
                <a:lnTo>
                  <a:pt x="293327" y="253004"/>
                </a:lnTo>
                <a:cubicBezTo>
                  <a:pt x="293327" y="254443"/>
                  <a:pt x="292967" y="255523"/>
                  <a:pt x="292247" y="256603"/>
                </a:cubicBezTo>
                <a:cubicBezTo>
                  <a:pt x="291526" y="257682"/>
                  <a:pt x="290086" y="258402"/>
                  <a:pt x="288646" y="258402"/>
                </a:cubicBezTo>
                <a:lnTo>
                  <a:pt x="195376" y="258402"/>
                </a:lnTo>
                <a:cubicBezTo>
                  <a:pt x="192855" y="258402"/>
                  <a:pt x="190695" y="255883"/>
                  <a:pt x="190695" y="253724"/>
                </a:cubicBezTo>
                <a:cubicBezTo>
                  <a:pt x="190695" y="251204"/>
                  <a:pt x="192855" y="249405"/>
                  <a:pt x="195376" y="249405"/>
                </a:cubicBezTo>
                <a:lnTo>
                  <a:pt x="283964" y="249405"/>
                </a:lnTo>
                <a:lnTo>
                  <a:pt x="279643" y="216655"/>
                </a:lnTo>
                <a:lnTo>
                  <a:pt x="190335" y="216655"/>
                </a:lnTo>
                <a:cubicBezTo>
                  <a:pt x="187814" y="216655"/>
                  <a:pt x="185653" y="214855"/>
                  <a:pt x="185653" y="211976"/>
                </a:cubicBezTo>
                <a:cubicBezTo>
                  <a:pt x="185653" y="209817"/>
                  <a:pt x="187814" y="207657"/>
                  <a:pt x="190335" y="207657"/>
                </a:cubicBezTo>
                <a:lnTo>
                  <a:pt x="278562" y="207657"/>
                </a:lnTo>
                <a:lnTo>
                  <a:pt x="261277" y="68379"/>
                </a:lnTo>
                <a:lnTo>
                  <a:pt x="240030" y="68379"/>
                </a:lnTo>
                <a:lnTo>
                  <a:pt x="240030" y="87454"/>
                </a:lnTo>
                <a:cubicBezTo>
                  <a:pt x="240030" y="90333"/>
                  <a:pt x="237870" y="92132"/>
                  <a:pt x="235349" y="92132"/>
                </a:cubicBezTo>
                <a:cubicBezTo>
                  <a:pt x="232828" y="92132"/>
                  <a:pt x="231027" y="90333"/>
                  <a:pt x="231027" y="87454"/>
                </a:cubicBezTo>
                <a:lnTo>
                  <a:pt x="231027" y="68379"/>
                </a:lnTo>
                <a:lnTo>
                  <a:pt x="144960" y="68379"/>
                </a:lnTo>
                <a:lnTo>
                  <a:pt x="144960" y="87454"/>
                </a:lnTo>
                <a:cubicBezTo>
                  <a:pt x="144960" y="90333"/>
                  <a:pt x="142800" y="92132"/>
                  <a:pt x="140639" y="92132"/>
                </a:cubicBezTo>
                <a:cubicBezTo>
                  <a:pt x="138118" y="92132"/>
                  <a:pt x="135957" y="90333"/>
                  <a:pt x="135957" y="87454"/>
                </a:cubicBezTo>
                <a:lnTo>
                  <a:pt x="135957" y="68379"/>
                </a:lnTo>
                <a:lnTo>
                  <a:pt x="114711" y="68379"/>
                </a:lnTo>
                <a:lnTo>
                  <a:pt x="112190" y="88173"/>
                </a:lnTo>
                <a:cubicBezTo>
                  <a:pt x="111830" y="90693"/>
                  <a:pt x="109669" y="92132"/>
                  <a:pt x="107148" y="92132"/>
                </a:cubicBezTo>
                <a:cubicBezTo>
                  <a:pt x="104628" y="91772"/>
                  <a:pt x="103187" y="89613"/>
                  <a:pt x="103547" y="87094"/>
                </a:cubicBezTo>
                <a:lnTo>
                  <a:pt x="106428" y="63341"/>
                </a:lnTo>
                <a:cubicBezTo>
                  <a:pt x="106788" y="61182"/>
                  <a:pt x="108589" y="59382"/>
                  <a:pt x="110750" y="59382"/>
                </a:cubicBezTo>
                <a:lnTo>
                  <a:pt x="135957" y="59382"/>
                </a:lnTo>
                <a:lnTo>
                  <a:pt x="135957" y="52184"/>
                </a:lnTo>
                <a:cubicBezTo>
                  <a:pt x="135957" y="23393"/>
                  <a:pt x="159365" y="0"/>
                  <a:pt x="187814" y="0"/>
                </a:cubicBezTo>
                <a:close/>
              </a:path>
            </a:pathLst>
          </a:custGeom>
          <a:solidFill>
            <a:srgbClr val="FFFFFF"/>
          </a:solidFill>
          <a:ln>
            <a:noFill/>
          </a:ln>
        </p:spPr>
        <p:txBody>
          <a:bodyPr anchor="ctr"/>
          <a:lstStyle/>
          <a:p>
            <a:pPr marL="0" marR="0" lvl="0" indent="0" algn="l" defTabSz="1828434" rtl="0" eaLnBrk="1" fontAlgn="auto" latinLnBrk="0" hangingPunct="1">
              <a:lnSpc>
                <a:spcPct val="100000"/>
              </a:lnSpc>
              <a:spcBef>
                <a:spcPts val="0"/>
              </a:spcBef>
              <a:spcAft>
                <a:spcPts val="0"/>
              </a:spcAft>
              <a:buClrTx/>
              <a:buSzTx/>
              <a:buFontTx/>
              <a:buNone/>
              <a:tabLst/>
              <a:defRPr/>
            </a:pPr>
            <a:endParaRPr kumimoji="0" lang="en-US" sz="3600" b="0" i="0" u="none" strike="noStrike" kern="0" cap="none" spc="0" normalizeH="0" baseline="0" noProof="0" dirty="0">
              <a:ln>
                <a:noFill/>
              </a:ln>
              <a:solidFill>
                <a:srgbClr val="AAAAAA"/>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B1ADE748-2693-ACDC-67B8-4E51B2FA79EE}"/>
              </a:ext>
            </a:extLst>
          </p:cNvPr>
          <p:cNvGrpSpPr/>
          <p:nvPr/>
        </p:nvGrpSpPr>
        <p:grpSpPr>
          <a:xfrm>
            <a:off x="6422054" y="1348906"/>
            <a:ext cx="4805111" cy="1575730"/>
            <a:chOff x="6413852" y="1371992"/>
            <a:chExt cx="4805111" cy="1575730"/>
          </a:xfrm>
        </p:grpSpPr>
        <p:sp>
          <p:nvSpPr>
            <p:cNvPr id="19" name="L-Shape 18">
              <a:extLst>
                <a:ext uri="{FF2B5EF4-FFF2-40B4-BE49-F238E27FC236}">
                  <a16:creationId xmlns:a16="http://schemas.microsoft.com/office/drawing/2014/main" id="{67C21131-9EE5-4C90-644A-D9AFB8CB03DE}"/>
                </a:ext>
              </a:extLst>
            </p:cNvPr>
            <p:cNvSpPr/>
            <p:nvPr/>
          </p:nvSpPr>
          <p:spPr>
            <a:xfrm rot="16200000" flipH="1" flipV="1">
              <a:off x="7342899" y="1180708"/>
              <a:ext cx="276961" cy="1045724"/>
            </a:xfrm>
            <a:prstGeom prst="corner">
              <a:avLst>
                <a:gd name="adj1" fmla="val 0"/>
                <a:gd name="adj2" fmla="val 0"/>
              </a:avLst>
            </a:prstGeom>
            <a:solidFill>
              <a:srgbClr val="3FADFF"/>
            </a:solidFill>
            <a:ln>
              <a:solidFill>
                <a:srgbClr val="3FAD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Open Sans"/>
                <a:ea typeface="+mn-ea"/>
                <a:cs typeface="+mn-cs"/>
              </a:endParaRPr>
            </a:p>
          </p:txBody>
        </p:sp>
        <p:sp>
          <p:nvSpPr>
            <p:cNvPr id="20" name="TextBox 19">
              <a:extLst>
                <a:ext uri="{FF2B5EF4-FFF2-40B4-BE49-F238E27FC236}">
                  <a16:creationId xmlns:a16="http://schemas.microsoft.com/office/drawing/2014/main" id="{E05D3F44-5D74-3663-160A-918F94CE622E}"/>
                </a:ext>
              </a:extLst>
            </p:cNvPr>
            <p:cNvSpPr txBox="1"/>
            <p:nvPr/>
          </p:nvSpPr>
          <p:spPr>
            <a:xfrm>
              <a:off x="8133461" y="1371992"/>
              <a:ext cx="1961034"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3FADFF"/>
                  </a:solidFill>
                  <a:effectLst/>
                  <a:uLnTx/>
                  <a:uFillTx/>
                  <a:latin typeface="Arial Nova" panose="020B0504020202020204" pitchFamily="34" charset="0"/>
                  <a:ea typeface="+mn-ea"/>
                  <a:cs typeface="+mn-cs"/>
                </a:rPr>
                <a:t>Longevity</a:t>
              </a:r>
            </a:p>
          </p:txBody>
        </p:sp>
        <p:pic>
          <p:nvPicPr>
            <p:cNvPr id="21" name="Picture 20" descr="Graphical user interface, text&#10;&#10;Description automatically generated with medium confidence">
              <a:extLst>
                <a:ext uri="{FF2B5EF4-FFF2-40B4-BE49-F238E27FC236}">
                  <a16:creationId xmlns:a16="http://schemas.microsoft.com/office/drawing/2014/main" id="{081CB0B7-6F92-2335-9272-80A20F09C8C3}"/>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413852" y="2124762"/>
              <a:ext cx="900441" cy="822960"/>
            </a:xfrm>
            <a:prstGeom prst="rect">
              <a:avLst/>
            </a:prstGeom>
          </p:spPr>
        </p:pic>
        <p:sp>
          <p:nvSpPr>
            <p:cNvPr id="22" name="TextBox 21">
              <a:extLst>
                <a:ext uri="{FF2B5EF4-FFF2-40B4-BE49-F238E27FC236}">
                  <a16:creationId xmlns:a16="http://schemas.microsoft.com/office/drawing/2014/main" id="{56861086-EC2F-1B2E-23A2-1DF5C569A2B3}"/>
                </a:ext>
              </a:extLst>
            </p:cNvPr>
            <p:cNvSpPr txBox="1"/>
            <p:nvPr/>
          </p:nvSpPr>
          <p:spPr>
            <a:xfrm>
              <a:off x="8158267" y="1728473"/>
              <a:ext cx="306069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Outliving financial assets as the result of a longer life</a:t>
              </a:r>
            </a:p>
          </p:txBody>
        </p:sp>
      </p:grpSp>
      <p:grpSp>
        <p:nvGrpSpPr>
          <p:cNvPr id="23" name="Group 22">
            <a:extLst>
              <a:ext uri="{FF2B5EF4-FFF2-40B4-BE49-F238E27FC236}">
                <a16:creationId xmlns:a16="http://schemas.microsoft.com/office/drawing/2014/main" id="{CCB52C49-8847-1FD2-FF6B-25461E73F5F8}"/>
              </a:ext>
            </a:extLst>
          </p:cNvPr>
          <p:cNvGrpSpPr/>
          <p:nvPr/>
        </p:nvGrpSpPr>
        <p:grpSpPr>
          <a:xfrm>
            <a:off x="7175787" y="3360955"/>
            <a:ext cx="4748836" cy="1409285"/>
            <a:chOff x="7167585" y="3384041"/>
            <a:chExt cx="4748836" cy="1409285"/>
          </a:xfrm>
        </p:grpSpPr>
        <p:cxnSp>
          <p:nvCxnSpPr>
            <p:cNvPr id="24" name="Straight Connector 23">
              <a:extLst>
                <a:ext uri="{FF2B5EF4-FFF2-40B4-BE49-F238E27FC236}">
                  <a16:creationId xmlns:a16="http://schemas.microsoft.com/office/drawing/2014/main" id="{1CB7EE1C-3A09-A306-7B74-57BB1C47CC02}"/>
                </a:ext>
              </a:extLst>
            </p:cNvPr>
            <p:cNvCxnSpPr>
              <a:cxnSpLocks/>
            </p:cNvCxnSpPr>
            <p:nvPr/>
          </p:nvCxnSpPr>
          <p:spPr>
            <a:xfrm flipH="1">
              <a:off x="8191675" y="3723504"/>
              <a:ext cx="822960" cy="0"/>
            </a:xfrm>
            <a:prstGeom prst="line">
              <a:avLst/>
            </a:prstGeom>
            <a:ln>
              <a:solidFill>
                <a:srgbClr val="0076BC"/>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A4C30724-F28A-EF10-1E1B-B1F23DFD6A92}"/>
                </a:ext>
              </a:extLst>
            </p:cNvPr>
            <p:cNvSpPr txBox="1"/>
            <p:nvPr/>
          </p:nvSpPr>
          <p:spPr>
            <a:xfrm>
              <a:off x="9136184" y="3514938"/>
              <a:ext cx="1472463"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76BC"/>
                  </a:solidFill>
                  <a:effectLst/>
                  <a:uLnTx/>
                  <a:uFillTx/>
                  <a:latin typeface="Arial Nova" panose="020B0504020202020204" pitchFamily="34" charset="0"/>
                  <a:ea typeface="+mn-ea"/>
                  <a:cs typeface="+mn-cs"/>
                </a:rPr>
                <a:t>Liquidity</a:t>
              </a:r>
            </a:p>
          </p:txBody>
        </p:sp>
        <p:pic>
          <p:nvPicPr>
            <p:cNvPr id="26" name="Picture 25" descr="Graphical user interface, text&#10;&#10;Description automatically generated with medium confidence">
              <a:extLst>
                <a:ext uri="{FF2B5EF4-FFF2-40B4-BE49-F238E27FC236}">
                  <a16:creationId xmlns:a16="http://schemas.microsoft.com/office/drawing/2014/main" id="{57B1E1EF-EC3E-5B42-1B6A-FBAC0F96D047}"/>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7167585" y="3384041"/>
              <a:ext cx="761888" cy="822960"/>
            </a:xfrm>
            <a:prstGeom prst="rect">
              <a:avLst/>
            </a:prstGeom>
          </p:spPr>
        </p:pic>
        <p:sp>
          <p:nvSpPr>
            <p:cNvPr id="27" name="TextBox 26">
              <a:extLst>
                <a:ext uri="{FF2B5EF4-FFF2-40B4-BE49-F238E27FC236}">
                  <a16:creationId xmlns:a16="http://schemas.microsoft.com/office/drawing/2014/main" id="{8CEDF940-E795-F35E-67DA-D5C6AF6FE1AF}"/>
                </a:ext>
              </a:extLst>
            </p:cNvPr>
            <p:cNvSpPr txBox="1"/>
            <p:nvPr/>
          </p:nvSpPr>
          <p:spPr>
            <a:xfrm>
              <a:off x="9136184" y="3869996"/>
              <a:ext cx="2780237"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Limited access to assets to meet life’s unexpected financial needs</a:t>
              </a:r>
            </a:p>
          </p:txBody>
        </p:sp>
      </p:grpSp>
      <p:grpSp>
        <p:nvGrpSpPr>
          <p:cNvPr id="28" name="Group 27">
            <a:extLst>
              <a:ext uri="{FF2B5EF4-FFF2-40B4-BE49-F238E27FC236}">
                <a16:creationId xmlns:a16="http://schemas.microsoft.com/office/drawing/2014/main" id="{37AB9D9F-A70C-E7D8-37B0-4F9110DC161C}"/>
              </a:ext>
            </a:extLst>
          </p:cNvPr>
          <p:cNvGrpSpPr/>
          <p:nvPr/>
        </p:nvGrpSpPr>
        <p:grpSpPr>
          <a:xfrm>
            <a:off x="208670" y="3360955"/>
            <a:ext cx="4790913" cy="1409285"/>
            <a:chOff x="200468" y="3384041"/>
            <a:chExt cx="4790913" cy="1409285"/>
          </a:xfrm>
        </p:grpSpPr>
        <p:sp>
          <p:nvSpPr>
            <p:cNvPr id="29" name="TextBox 28">
              <a:extLst>
                <a:ext uri="{FF2B5EF4-FFF2-40B4-BE49-F238E27FC236}">
                  <a16:creationId xmlns:a16="http://schemas.microsoft.com/office/drawing/2014/main" id="{5EC59C40-D906-9C53-BDD8-A6B7C09D8DDF}"/>
                </a:ext>
              </a:extLst>
            </p:cNvPr>
            <p:cNvSpPr txBox="1"/>
            <p:nvPr/>
          </p:nvSpPr>
          <p:spPr>
            <a:xfrm>
              <a:off x="1604517" y="3522191"/>
              <a:ext cx="1472463" cy="43088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3359"/>
                  </a:solidFill>
                  <a:effectLst/>
                  <a:uLnTx/>
                  <a:uFillTx/>
                  <a:latin typeface="Arial Nova" panose="020B0504020202020204" pitchFamily="34" charset="0"/>
                  <a:ea typeface="+mn-ea"/>
                  <a:cs typeface="+mn-cs"/>
                </a:rPr>
                <a:t>Mortality</a:t>
              </a:r>
            </a:p>
          </p:txBody>
        </p:sp>
        <p:pic>
          <p:nvPicPr>
            <p:cNvPr id="30" name="Picture 29" descr="Graphical user interface, text&#10;&#10;Description automatically generated with medium confidence">
              <a:extLst>
                <a:ext uri="{FF2B5EF4-FFF2-40B4-BE49-F238E27FC236}">
                  <a16:creationId xmlns:a16="http://schemas.microsoft.com/office/drawing/2014/main" id="{478B9DDB-9D0E-1DB4-4B6D-C8183016CDBB}"/>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4162953" y="3384041"/>
              <a:ext cx="828428" cy="822960"/>
            </a:xfrm>
            <a:prstGeom prst="rect">
              <a:avLst/>
            </a:prstGeom>
          </p:spPr>
        </p:pic>
        <p:sp>
          <p:nvSpPr>
            <p:cNvPr id="31" name="TextBox 30">
              <a:extLst>
                <a:ext uri="{FF2B5EF4-FFF2-40B4-BE49-F238E27FC236}">
                  <a16:creationId xmlns:a16="http://schemas.microsoft.com/office/drawing/2014/main" id="{677D9327-37E2-C6C3-7C35-332D62FC7CF8}"/>
                </a:ext>
              </a:extLst>
            </p:cNvPr>
            <p:cNvSpPr txBox="1"/>
            <p:nvPr/>
          </p:nvSpPr>
          <p:spPr>
            <a:xfrm>
              <a:off x="200468" y="3869996"/>
              <a:ext cx="2876512" cy="92333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Loss of financial assets as the result of a partner’s or spouse’s death</a:t>
              </a:r>
            </a:p>
          </p:txBody>
        </p:sp>
        <p:cxnSp>
          <p:nvCxnSpPr>
            <p:cNvPr id="32" name="Straight Connector 31">
              <a:extLst>
                <a:ext uri="{FF2B5EF4-FFF2-40B4-BE49-F238E27FC236}">
                  <a16:creationId xmlns:a16="http://schemas.microsoft.com/office/drawing/2014/main" id="{E6D81A32-9D40-65E7-6453-A605FE1FB4DF}"/>
                </a:ext>
              </a:extLst>
            </p:cNvPr>
            <p:cNvCxnSpPr>
              <a:cxnSpLocks/>
            </p:cNvCxnSpPr>
            <p:nvPr/>
          </p:nvCxnSpPr>
          <p:spPr>
            <a:xfrm flipH="1">
              <a:off x="3162464" y="3723518"/>
              <a:ext cx="822960" cy="0"/>
            </a:xfrm>
            <a:prstGeom prst="line">
              <a:avLst/>
            </a:prstGeom>
            <a:ln>
              <a:solidFill>
                <a:srgbClr val="003359"/>
              </a:solidFill>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DEF6226A-688F-4FAA-DB48-CDB9AFE5E041}"/>
              </a:ext>
            </a:extLst>
          </p:cNvPr>
          <p:cNvGrpSpPr/>
          <p:nvPr/>
        </p:nvGrpSpPr>
        <p:grpSpPr>
          <a:xfrm>
            <a:off x="546649" y="1350368"/>
            <a:ext cx="5121566" cy="1560559"/>
            <a:chOff x="538447" y="1373454"/>
            <a:chExt cx="5121566" cy="1560559"/>
          </a:xfrm>
        </p:grpSpPr>
        <p:sp>
          <p:nvSpPr>
            <p:cNvPr id="34" name="TextBox 33">
              <a:extLst>
                <a:ext uri="{FF2B5EF4-FFF2-40B4-BE49-F238E27FC236}">
                  <a16:creationId xmlns:a16="http://schemas.microsoft.com/office/drawing/2014/main" id="{C1C6D5B7-EE67-6A9C-CA45-AC7E0EDE4E6B}"/>
                </a:ext>
              </a:extLst>
            </p:cNvPr>
            <p:cNvSpPr txBox="1"/>
            <p:nvPr/>
          </p:nvSpPr>
          <p:spPr>
            <a:xfrm>
              <a:off x="2537443" y="1373454"/>
              <a:ext cx="1472463" cy="43088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3359"/>
                  </a:solidFill>
                  <a:effectLst/>
                  <a:uLnTx/>
                  <a:uFillTx/>
                  <a:latin typeface="Arial Nova" panose="020B0504020202020204" pitchFamily="34" charset="0"/>
                  <a:ea typeface="+mn-ea"/>
                  <a:cs typeface="+mn-cs"/>
                </a:rPr>
                <a:t>Taxes</a:t>
              </a:r>
            </a:p>
          </p:txBody>
        </p:sp>
        <p:pic>
          <p:nvPicPr>
            <p:cNvPr id="35" name="Picture 34" descr="Graphical user interface, text&#10;&#10;Description automatically generated with medium confidence">
              <a:extLst>
                <a:ext uri="{FF2B5EF4-FFF2-40B4-BE49-F238E27FC236}">
                  <a16:creationId xmlns:a16="http://schemas.microsoft.com/office/drawing/2014/main" id="{AC5CDBCF-925D-03BF-A9F2-53FDDE8DC335}"/>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5102260" y="2111053"/>
              <a:ext cx="557753" cy="822960"/>
            </a:xfrm>
            <a:prstGeom prst="rect">
              <a:avLst/>
            </a:prstGeom>
          </p:spPr>
        </p:pic>
        <p:sp>
          <p:nvSpPr>
            <p:cNvPr id="36" name="TextBox 35">
              <a:extLst>
                <a:ext uri="{FF2B5EF4-FFF2-40B4-BE49-F238E27FC236}">
                  <a16:creationId xmlns:a16="http://schemas.microsoft.com/office/drawing/2014/main" id="{051EB9FF-FDF5-A5BF-64AA-FB178F09FB5B}"/>
                </a:ext>
              </a:extLst>
            </p:cNvPr>
            <p:cNvSpPr txBox="1"/>
            <p:nvPr/>
          </p:nvSpPr>
          <p:spPr>
            <a:xfrm>
              <a:off x="538447" y="1728473"/>
              <a:ext cx="3465464" cy="92333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Decreased income and assets and/or the impairment of legacy assets from increasing taxes </a:t>
              </a:r>
            </a:p>
          </p:txBody>
        </p:sp>
        <p:sp>
          <p:nvSpPr>
            <p:cNvPr id="37" name="L-Shape 36">
              <a:extLst>
                <a:ext uri="{FF2B5EF4-FFF2-40B4-BE49-F238E27FC236}">
                  <a16:creationId xmlns:a16="http://schemas.microsoft.com/office/drawing/2014/main" id="{71AE5EEE-A687-3055-68D9-0E37729966A9}"/>
                </a:ext>
              </a:extLst>
            </p:cNvPr>
            <p:cNvSpPr/>
            <p:nvPr/>
          </p:nvSpPr>
          <p:spPr>
            <a:xfrm rot="5400000" flipV="1">
              <a:off x="4491863" y="1180708"/>
              <a:ext cx="276961" cy="1045724"/>
            </a:xfrm>
            <a:prstGeom prst="corner">
              <a:avLst>
                <a:gd name="adj1" fmla="val 0"/>
                <a:gd name="adj2" fmla="val 0"/>
              </a:avLst>
            </a:prstGeom>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Open Sans"/>
                <a:ea typeface="+mn-ea"/>
                <a:cs typeface="+mn-cs"/>
              </a:endParaRPr>
            </a:p>
          </p:txBody>
        </p:sp>
      </p:grpSp>
      <p:grpSp>
        <p:nvGrpSpPr>
          <p:cNvPr id="38" name="Group 37">
            <a:extLst>
              <a:ext uri="{FF2B5EF4-FFF2-40B4-BE49-F238E27FC236}">
                <a16:creationId xmlns:a16="http://schemas.microsoft.com/office/drawing/2014/main" id="{223A1774-2061-A990-1147-8C2ADADF0C86}"/>
              </a:ext>
            </a:extLst>
          </p:cNvPr>
          <p:cNvGrpSpPr/>
          <p:nvPr/>
        </p:nvGrpSpPr>
        <p:grpSpPr>
          <a:xfrm>
            <a:off x="6437584" y="4714309"/>
            <a:ext cx="5599620" cy="1577416"/>
            <a:chOff x="6429382" y="4737395"/>
            <a:chExt cx="5599620" cy="1577416"/>
          </a:xfrm>
        </p:grpSpPr>
        <p:sp>
          <p:nvSpPr>
            <p:cNvPr id="39" name="TextBox 38">
              <a:extLst>
                <a:ext uri="{FF2B5EF4-FFF2-40B4-BE49-F238E27FC236}">
                  <a16:creationId xmlns:a16="http://schemas.microsoft.com/office/drawing/2014/main" id="{BF3EB6EE-D478-1515-F4E1-6B20E1755EA2}"/>
                </a:ext>
              </a:extLst>
            </p:cNvPr>
            <p:cNvSpPr txBox="1"/>
            <p:nvPr/>
          </p:nvSpPr>
          <p:spPr>
            <a:xfrm>
              <a:off x="7797414" y="5329008"/>
              <a:ext cx="1472463"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5390"/>
                  </a:solidFill>
                  <a:effectLst/>
                  <a:uLnTx/>
                  <a:uFillTx/>
                  <a:latin typeface="Arial Nova" panose="020B0504020202020204" pitchFamily="34" charset="0"/>
                  <a:ea typeface="+mn-ea"/>
                  <a:cs typeface="+mn-cs"/>
                </a:rPr>
                <a:t>Inflation</a:t>
              </a:r>
            </a:p>
          </p:txBody>
        </p:sp>
        <p:pic>
          <p:nvPicPr>
            <p:cNvPr id="40" name="Picture 39" descr="Graphical user interface, text&#10;&#10;Description automatically generated with medium confidence">
              <a:extLst>
                <a:ext uri="{FF2B5EF4-FFF2-40B4-BE49-F238E27FC236}">
                  <a16:creationId xmlns:a16="http://schemas.microsoft.com/office/drawing/2014/main" id="{E2C1D22C-1244-44FD-B8E1-134949721373}"/>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6429382" y="4737395"/>
              <a:ext cx="738203" cy="822960"/>
            </a:xfrm>
            <a:prstGeom prst="rect">
              <a:avLst/>
            </a:prstGeom>
          </p:spPr>
        </p:pic>
        <p:sp>
          <p:nvSpPr>
            <p:cNvPr id="41" name="TextBox 40">
              <a:extLst>
                <a:ext uri="{FF2B5EF4-FFF2-40B4-BE49-F238E27FC236}">
                  <a16:creationId xmlns:a16="http://schemas.microsoft.com/office/drawing/2014/main" id="{C814CAE5-14B7-A5BF-648D-829C66739DB9}"/>
                </a:ext>
              </a:extLst>
            </p:cNvPr>
            <p:cNvSpPr txBox="1"/>
            <p:nvPr/>
          </p:nvSpPr>
          <p:spPr>
            <a:xfrm>
              <a:off x="7801707" y="5668480"/>
              <a:ext cx="422729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Reduction in real purchasing power as the result of increasing cost of living</a:t>
              </a:r>
            </a:p>
          </p:txBody>
        </p:sp>
        <p:cxnSp>
          <p:nvCxnSpPr>
            <p:cNvPr id="42" name="Straight Connector 41">
              <a:extLst>
                <a:ext uri="{FF2B5EF4-FFF2-40B4-BE49-F238E27FC236}">
                  <a16:creationId xmlns:a16="http://schemas.microsoft.com/office/drawing/2014/main" id="{14A53C59-C1AD-E79A-7FED-960FFEB350FE}"/>
                </a:ext>
              </a:extLst>
            </p:cNvPr>
            <p:cNvCxnSpPr>
              <a:cxnSpLocks/>
            </p:cNvCxnSpPr>
            <p:nvPr/>
          </p:nvCxnSpPr>
          <p:spPr>
            <a:xfrm flipH="1">
              <a:off x="7347402" y="5520387"/>
              <a:ext cx="457200" cy="0"/>
            </a:xfrm>
            <a:prstGeom prst="line">
              <a:avLst/>
            </a:prstGeom>
            <a:ln>
              <a:solidFill>
                <a:srgbClr val="005390"/>
              </a:solidFill>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58552BED-534E-1C19-5D1E-DA496136B28C}"/>
              </a:ext>
            </a:extLst>
          </p:cNvPr>
          <p:cNvGrpSpPr/>
          <p:nvPr/>
        </p:nvGrpSpPr>
        <p:grpSpPr>
          <a:xfrm>
            <a:off x="207297" y="4716342"/>
            <a:ext cx="5498654" cy="1575383"/>
            <a:chOff x="199095" y="4739428"/>
            <a:chExt cx="5498654" cy="1575383"/>
          </a:xfrm>
        </p:grpSpPr>
        <p:sp>
          <p:nvSpPr>
            <p:cNvPr id="44" name="TextBox 43">
              <a:extLst>
                <a:ext uri="{FF2B5EF4-FFF2-40B4-BE49-F238E27FC236}">
                  <a16:creationId xmlns:a16="http://schemas.microsoft.com/office/drawing/2014/main" id="{1D4B6191-E215-33E1-C983-28CE39D17038}"/>
                </a:ext>
              </a:extLst>
            </p:cNvPr>
            <p:cNvSpPr txBox="1"/>
            <p:nvPr/>
          </p:nvSpPr>
          <p:spPr>
            <a:xfrm>
              <a:off x="2935006" y="5329008"/>
              <a:ext cx="1472463" cy="43088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3417F"/>
                  </a:solidFill>
                  <a:effectLst/>
                  <a:uLnTx/>
                  <a:uFillTx/>
                  <a:latin typeface="Arial Nova" panose="020B0504020202020204" pitchFamily="34" charset="0"/>
                  <a:ea typeface="+mn-ea"/>
                  <a:cs typeface="+mn-cs"/>
                </a:rPr>
                <a:t>Market</a:t>
              </a:r>
            </a:p>
          </p:txBody>
        </p:sp>
        <p:pic>
          <p:nvPicPr>
            <p:cNvPr id="45" name="Picture 44" descr="Graphical user interface, text&#10;&#10;Description automatically generated with medium confidence">
              <a:extLst>
                <a:ext uri="{FF2B5EF4-FFF2-40B4-BE49-F238E27FC236}">
                  <a16:creationId xmlns:a16="http://schemas.microsoft.com/office/drawing/2014/main" id="{24ABBB19-215B-8524-EE93-7F373F137776}"/>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5064526" y="4739428"/>
              <a:ext cx="633223" cy="822960"/>
            </a:xfrm>
            <a:prstGeom prst="rect">
              <a:avLst/>
            </a:prstGeom>
          </p:spPr>
        </p:pic>
        <p:sp>
          <p:nvSpPr>
            <p:cNvPr id="46" name="TextBox 45">
              <a:extLst>
                <a:ext uri="{FF2B5EF4-FFF2-40B4-BE49-F238E27FC236}">
                  <a16:creationId xmlns:a16="http://schemas.microsoft.com/office/drawing/2014/main" id="{B4979296-5F04-EAEA-B3EB-ECB6BAA0C4D0}"/>
                </a:ext>
              </a:extLst>
            </p:cNvPr>
            <p:cNvSpPr txBox="1"/>
            <p:nvPr/>
          </p:nvSpPr>
          <p:spPr>
            <a:xfrm>
              <a:off x="199095" y="5668480"/>
              <a:ext cx="4227295" cy="6463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Unexpected reduction in the value of financial assets at the time of withdrawal</a:t>
              </a:r>
            </a:p>
          </p:txBody>
        </p:sp>
        <p:cxnSp>
          <p:nvCxnSpPr>
            <p:cNvPr id="47" name="Straight Connector 46">
              <a:extLst>
                <a:ext uri="{FF2B5EF4-FFF2-40B4-BE49-F238E27FC236}">
                  <a16:creationId xmlns:a16="http://schemas.microsoft.com/office/drawing/2014/main" id="{08CBA83B-78BB-1BF7-8DCB-B3FE9196E081}"/>
                </a:ext>
              </a:extLst>
            </p:cNvPr>
            <p:cNvCxnSpPr>
              <a:cxnSpLocks/>
            </p:cNvCxnSpPr>
            <p:nvPr/>
          </p:nvCxnSpPr>
          <p:spPr>
            <a:xfrm flipH="1">
              <a:off x="4355658" y="5532419"/>
              <a:ext cx="457200" cy="0"/>
            </a:xfrm>
            <a:prstGeom prst="line">
              <a:avLst/>
            </a:prstGeom>
            <a:ln>
              <a:solidFill>
                <a:srgbClr val="13417F"/>
              </a:solidFill>
            </a:ln>
          </p:spPr>
          <p:style>
            <a:lnRef idx="1">
              <a:schemeClr val="accent1"/>
            </a:lnRef>
            <a:fillRef idx="0">
              <a:schemeClr val="accent1"/>
            </a:fillRef>
            <a:effectRef idx="0">
              <a:schemeClr val="accent1"/>
            </a:effectRef>
            <a:fontRef idx="minor">
              <a:schemeClr val="tx1"/>
            </a:fontRef>
          </p:style>
        </p:cxnSp>
      </p:grpSp>
      <p:sp>
        <p:nvSpPr>
          <p:cNvPr id="2" name="Slide Number Placeholder 5">
            <a:extLst>
              <a:ext uri="{FF2B5EF4-FFF2-40B4-BE49-F238E27FC236}">
                <a16:creationId xmlns:a16="http://schemas.microsoft.com/office/drawing/2014/main" id="{002E8A52-9CA2-2EDF-F436-5AB896F8F4A6}"/>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4</a:t>
            </a:fld>
            <a:endParaRPr lang="en-US" dirty="0">
              <a:solidFill>
                <a:schemeClr val="bg1">
                  <a:lumMod val="75000"/>
                </a:schemeClr>
              </a:solidFill>
              <a:latin typeface="Arial Nova" panose="020B0504020202020204" pitchFamily="34" charset="0"/>
            </a:endParaRPr>
          </a:p>
        </p:txBody>
      </p:sp>
      <p:sp>
        <p:nvSpPr>
          <p:cNvPr id="3" name="Footer Placeholder 4">
            <a:extLst>
              <a:ext uri="{FF2B5EF4-FFF2-40B4-BE49-F238E27FC236}">
                <a16:creationId xmlns:a16="http://schemas.microsoft.com/office/drawing/2014/main" id="{F4723DF3-7F62-8E7D-69DB-06F46FA20DAB}"/>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3783247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500"/>
                                        <p:tgtEl>
                                          <p:spTgt spid="3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500"/>
                                        <p:tgtEl>
                                          <p:spTgt spid="4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F1FE5F-F629-53E8-ADD8-7BD44E7908EF}"/>
              </a:ext>
            </a:extLst>
          </p:cNvPr>
          <p:cNvSpPr/>
          <p:nvPr/>
        </p:nvSpPr>
        <p:spPr>
          <a:xfrm>
            <a:off x="0" y="0"/>
            <a:ext cx="12192000" cy="6857999"/>
          </a:xfrm>
          <a:prstGeom prst="rect">
            <a:avLst/>
          </a:prstGeom>
          <a:solidFill>
            <a:srgbClr val="02437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D56A5A5B-BBD6-9856-0FDE-71F3BA17F89B}"/>
              </a:ext>
            </a:extLst>
          </p:cNvPr>
          <p:cNvCxnSpPr>
            <a:cxnSpLocks/>
          </p:cNvCxnSpPr>
          <p:nvPr/>
        </p:nvCxnSpPr>
        <p:spPr>
          <a:xfrm>
            <a:off x="-176349" y="2495890"/>
            <a:ext cx="13075920" cy="0"/>
          </a:xfrm>
          <a:prstGeom prst="line">
            <a:avLst/>
          </a:prstGeom>
          <a:ln>
            <a:solidFill>
              <a:srgbClr val="0076B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D709ED0-478E-BB4D-A785-67292D453136}"/>
              </a:ext>
            </a:extLst>
          </p:cNvPr>
          <p:cNvSpPr txBox="1"/>
          <p:nvPr/>
        </p:nvSpPr>
        <p:spPr>
          <a:xfrm>
            <a:off x="2581832" y="1572712"/>
            <a:ext cx="8416091" cy="784830"/>
          </a:xfrm>
          <a:prstGeom prst="rect">
            <a:avLst/>
          </a:prstGeom>
          <a:noFill/>
        </p:spPr>
        <p:txBody>
          <a:bodyPr wrap="square" rtlCol="0">
            <a:spAutoFit/>
          </a:bodyPr>
          <a:lstStyle/>
          <a:p>
            <a:r>
              <a:rPr lang="en-US" sz="4500" dirty="0">
                <a:solidFill>
                  <a:schemeClr val="bg1"/>
                </a:solidFill>
                <a:latin typeface="Arial Nova" panose="020B0504020202020204" pitchFamily="34" charset="0"/>
              </a:rPr>
              <a:t>Start Smart</a:t>
            </a:r>
          </a:p>
        </p:txBody>
      </p:sp>
      <p:grpSp>
        <p:nvGrpSpPr>
          <p:cNvPr id="8" name="Group 7">
            <a:extLst>
              <a:ext uri="{FF2B5EF4-FFF2-40B4-BE49-F238E27FC236}">
                <a16:creationId xmlns:a16="http://schemas.microsoft.com/office/drawing/2014/main" id="{1D92F1E9-EB66-E44A-D8A9-178537FD7B9E}"/>
              </a:ext>
            </a:extLst>
          </p:cNvPr>
          <p:cNvGrpSpPr/>
          <p:nvPr/>
        </p:nvGrpSpPr>
        <p:grpSpPr>
          <a:xfrm>
            <a:off x="857540" y="1301725"/>
            <a:ext cx="1488163" cy="1451609"/>
            <a:chOff x="3917525" y="3526347"/>
            <a:chExt cx="1488163" cy="1451609"/>
          </a:xfrm>
        </p:grpSpPr>
        <p:sp>
          <p:nvSpPr>
            <p:cNvPr id="9" name="Oval 8">
              <a:extLst>
                <a:ext uri="{FF2B5EF4-FFF2-40B4-BE49-F238E27FC236}">
                  <a16:creationId xmlns:a16="http://schemas.microsoft.com/office/drawing/2014/main" id="{77789400-6D9E-ED5A-DA11-3DE14AB76271}"/>
                </a:ext>
              </a:extLst>
            </p:cNvPr>
            <p:cNvSpPr>
              <a:spLocks noChangeAspect="1"/>
            </p:cNvSpPr>
            <p:nvPr/>
          </p:nvSpPr>
          <p:spPr>
            <a:xfrm>
              <a:off x="3917525" y="3526347"/>
              <a:ext cx="1488163" cy="1451609"/>
            </a:xfrm>
            <a:prstGeom prst="ellipse">
              <a:avLst/>
            </a:prstGeom>
            <a:solidFill>
              <a:schemeClr val="bg1"/>
            </a:solidFill>
            <a:ln w="12700" cap="flat" cmpd="sng" algn="ctr">
              <a:solidFill>
                <a:srgbClr val="1D71BD"/>
              </a:solidFill>
              <a:prstDash val="solid"/>
              <a:miter lim="800000"/>
            </a:ln>
            <a:effectLst/>
          </p:spPr>
          <p:txBody>
            <a:bodyPr rtlCol="0" anchor="ctr"/>
            <a:lstStyle/>
            <a:p>
              <a:pPr marL="0" marR="0" lvl="0" indent="0" algn="ctr" defTabSz="1828434" eaLnBrk="1" fontAlgn="auto" latinLnBrk="0" hangingPunct="1">
                <a:lnSpc>
                  <a:spcPct val="100000"/>
                </a:lnSpc>
                <a:spcBef>
                  <a:spcPts val="0"/>
                </a:spcBef>
                <a:spcAft>
                  <a:spcPts val="0"/>
                </a:spcAft>
                <a:buClrTx/>
                <a:buSzTx/>
                <a:buFontTx/>
                <a:buNone/>
                <a:tabLst/>
                <a:defRPr/>
              </a:pPr>
              <a:endParaRPr kumimoji="0" lang="en-US" sz="6398" b="0" i="0" u="none" strike="noStrike" kern="0" cap="none" spc="0" normalizeH="0" baseline="0" noProof="0" dirty="0">
                <a:ln>
                  <a:noFill/>
                </a:ln>
                <a:solidFill>
                  <a:srgbClr val="FFFFFF"/>
                </a:solidFill>
                <a:effectLst/>
                <a:uLnTx/>
                <a:uFillTx/>
                <a:latin typeface="Noto Sans ExtraLight" panose="020B0302040504020204" pitchFamily="34" charset="0"/>
                <a:ea typeface="+mn-ea"/>
                <a:cs typeface="+mn-cs"/>
              </a:endParaRPr>
            </a:p>
          </p:txBody>
        </p:sp>
        <p:pic>
          <p:nvPicPr>
            <p:cNvPr id="11" name="Picture 10" descr="Icon&#10;&#10;Description automatically generated">
              <a:extLst>
                <a:ext uri="{FF2B5EF4-FFF2-40B4-BE49-F238E27FC236}">
                  <a16:creationId xmlns:a16="http://schemas.microsoft.com/office/drawing/2014/main" id="{B566EC6B-3E8B-9EC2-67D7-C78BAEF2BF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95846" y="3708922"/>
              <a:ext cx="731520" cy="1086459"/>
            </a:xfrm>
            <a:prstGeom prst="rect">
              <a:avLst/>
            </a:prstGeom>
          </p:spPr>
        </p:pic>
      </p:grpSp>
      <p:sp>
        <p:nvSpPr>
          <p:cNvPr id="5" name="Slide Number Placeholder 5">
            <a:extLst>
              <a:ext uri="{FF2B5EF4-FFF2-40B4-BE49-F238E27FC236}">
                <a16:creationId xmlns:a16="http://schemas.microsoft.com/office/drawing/2014/main" id="{B9023039-5FA3-47B9-FF1F-431DAD3A23CF}"/>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solidFill>
                <a:latin typeface="Arial Nova" panose="020B0504020202020204" pitchFamily="34" charset="0"/>
              </a:rPr>
              <a:t>5</a:t>
            </a:fld>
            <a:endParaRPr lang="en-US" dirty="0">
              <a:solidFill>
                <a:schemeClr val="bg1"/>
              </a:solidFill>
              <a:latin typeface="Arial Nova" panose="020B0504020202020204" pitchFamily="34" charset="0"/>
            </a:endParaRPr>
          </a:p>
        </p:txBody>
      </p:sp>
      <p:sp>
        <p:nvSpPr>
          <p:cNvPr id="6" name="Footer Placeholder 4">
            <a:extLst>
              <a:ext uri="{FF2B5EF4-FFF2-40B4-BE49-F238E27FC236}">
                <a16:creationId xmlns:a16="http://schemas.microsoft.com/office/drawing/2014/main" id="{1E4D8360-4BD4-520A-954F-0AA8467CF552}"/>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3009147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D9297AC-E2D4-FAD7-E465-36AF411D4D60}"/>
              </a:ext>
            </a:extLst>
          </p:cNvPr>
          <p:cNvSpPr txBox="1">
            <a:spLocks/>
          </p:cNvSpPr>
          <p:nvPr/>
        </p:nvSpPr>
        <p:spPr>
          <a:xfrm>
            <a:off x="381000" y="320676"/>
            <a:ext cx="10972800" cy="805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a:t>Risk Comes Down to…</a:t>
            </a:r>
          </a:p>
        </p:txBody>
      </p:sp>
      <p:grpSp>
        <p:nvGrpSpPr>
          <p:cNvPr id="4" name="Group 3">
            <a:extLst>
              <a:ext uri="{FF2B5EF4-FFF2-40B4-BE49-F238E27FC236}">
                <a16:creationId xmlns:a16="http://schemas.microsoft.com/office/drawing/2014/main" id="{72342474-11AB-A761-2BBA-82EF47F9D6D0}"/>
              </a:ext>
            </a:extLst>
          </p:cNvPr>
          <p:cNvGrpSpPr/>
          <p:nvPr/>
        </p:nvGrpSpPr>
        <p:grpSpPr>
          <a:xfrm>
            <a:off x="8370253" y="1932276"/>
            <a:ext cx="3308700" cy="4117877"/>
            <a:chOff x="6215781" y="1932276"/>
            <a:chExt cx="3308700" cy="4117877"/>
          </a:xfrm>
        </p:grpSpPr>
        <p:sp>
          <p:nvSpPr>
            <p:cNvPr id="5" name="TextBox 4">
              <a:extLst>
                <a:ext uri="{FF2B5EF4-FFF2-40B4-BE49-F238E27FC236}">
                  <a16:creationId xmlns:a16="http://schemas.microsoft.com/office/drawing/2014/main" id="{019291D1-4D07-1E62-F854-4306C3AB9935}"/>
                </a:ext>
              </a:extLst>
            </p:cNvPr>
            <p:cNvSpPr txBox="1"/>
            <p:nvPr/>
          </p:nvSpPr>
          <p:spPr>
            <a:xfrm>
              <a:off x="6215781" y="5096046"/>
              <a:ext cx="3308700"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4372"/>
                  </a:solidFill>
                  <a:effectLst/>
                  <a:uLnTx/>
                  <a:uFillTx/>
                  <a:latin typeface="Arial Nova" panose="020B0504020202020204" pitchFamily="34" charset="0"/>
                  <a:ea typeface="+mn-ea"/>
                  <a:cs typeface="Arial"/>
                  <a:sym typeface="Arial"/>
                </a:rPr>
                <a:t>What an investor </a:t>
              </a:r>
              <a:r>
                <a:rPr kumimoji="0" lang="en-US" sz="2800" b="1" i="0" u="none" strike="noStrike" kern="1200" cap="none" spc="0" normalizeH="0" baseline="0" noProof="0">
                  <a:ln>
                    <a:noFill/>
                  </a:ln>
                  <a:solidFill>
                    <a:srgbClr val="0076BD"/>
                  </a:solidFill>
                  <a:effectLst/>
                  <a:uLnTx/>
                  <a:uFillTx/>
                  <a:latin typeface="Arial Nova" panose="020B0504020202020204" pitchFamily="34" charset="0"/>
                  <a:ea typeface="+mn-ea"/>
                  <a:cs typeface="Arial"/>
                  <a:sym typeface="Arial"/>
                </a:rPr>
                <a:t>should do</a:t>
              </a:r>
            </a:p>
          </p:txBody>
        </p:sp>
        <p:pic>
          <p:nvPicPr>
            <p:cNvPr id="7" name="Picture 6" descr="Background pattern, icon&#10;&#10;Description automatically generated">
              <a:extLst>
                <a:ext uri="{FF2B5EF4-FFF2-40B4-BE49-F238E27FC236}">
                  <a16:creationId xmlns:a16="http://schemas.microsoft.com/office/drawing/2014/main" id="{8793C3B6-E9CE-1D68-B519-099D411DB6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5781" y="1932276"/>
              <a:ext cx="1898732" cy="3093656"/>
            </a:xfrm>
            <a:prstGeom prst="rect">
              <a:avLst/>
            </a:prstGeom>
          </p:spPr>
        </p:pic>
      </p:grpSp>
      <p:grpSp>
        <p:nvGrpSpPr>
          <p:cNvPr id="16" name="Group 15">
            <a:extLst>
              <a:ext uri="{FF2B5EF4-FFF2-40B4-BE49-F238E27FC236}">
                <a16:creationId xmlns:a16="http://schemas.microsoft.com/office/drawing/2014/main" id="{1E29C4D2-0D66-FA9C-1F5B-F930C2A74D2B}"/>
              </a:ext>
            </a:extLst>
          </p:cNvPr>
          <p:cNvGrpSpPr/>
          <p:nvPr/>
        </p:nvGrpSpPr>
        <p:grpSpPr>
          <a:xfrm>
            <a:off x="358264" y="1485273"/>
            <a:ext cx="3873234" cy="2932125"/>
            <a:chOff x="2940925" y="1502089"/>
            <a:chExt cx="3873234" cy="2932125"/>
          </a:xfrm>
        </p:grpSpPr>
        <p:sp>
          <p:nvSpPr>
            <p:cNvPr id="17" name="TextBox 16">
              <a:extLst>
                <a:ext uri="{FF2B5EF4-FFF2-40B4-BE49-F238E27FC236}">
                  <a16:creationId xmlns:a16="http://schemas.microsoft.com/office/drawing/2014/main" id="{B09CFD13-FB88-38BB-18C1-8DFFA144A4A8}"/>
                </a:ext>
              </a:extLst>
            </p:cNvPr>
            <p:cNvSpPr txBox="1"/>
            <p:nvPr/>
          </p:nvSpPr>
          <p:spPr>
            <a:xfrm>
              <a:off x="2940925" y="1502089"/>
              <a:ext cx="3274856" cy="95410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76BD"/>
                  </a:solidFill>
                  <a:effectLst/>
                  <a:uLnTx/>
                  <a:uFillTx/>
                  <a:latin typeface="Arial Nova" panose="020B0504020202020204" pitchFamily="34" charset="0"/>
                  <a:ea typeface="+mn-ea"/>
                  <a:cs typeface="Arial"/>
                  <a:sym typeface="Arial"/>
                </a:rPr>
                <a:t>What an investor </a:t>
              </a:r>
              <a:r>
                <a:rPr kumimoji="0" lang="en-US" sz="2800" b="1" i="0" u="none" strike="noStrike" kern="1200" cap="none" spc="0" normalizeH="0" baseline="0" noProof="0">
                  <a:ln>
                    <a:noFill/>
                  </a:ln>
                  <a:solidFill>
                    <a:srgbClr val="004372"/>
                  </a:solidFill>
                  <a:effectLst/>
                  <a:uLnTx/>
                  <a:uFillTx/>
                  <a:latin typeface="Arial Nova" panose="020B0504020202020204" pitchFamily="34" charset="0"/>
                  <a:ea typeface="+mn-ea"/>
                  <a:cs typeface="Arial"/>
                  <a:sym typeface="Arial"/>
                </a:rPr>
                <a:t>can do</a:t>
              </a:r>
            </a:p>
          </p:txBody>
        </p:sp>
        <p:pic>
          <p:nvPicPr>
            <p:cNvPr id="18" name="Picture 17" descr="Icon&#10;&#10;Description automatically generated">
              <a:extLst>
                <a:ext uri="{FF2B5EF4-FFF2-40B4-BE49-F238E27FC236}">
                  <a16:creationId xmlns:a16="http://schemas.microsoft.com/office/drawing/2014/main" id="{2C8CEEAE-7BC5-CD11-717F-34245D14DF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10660" y="2529442"/>
              <a:ext cx="3103499" cy="1904772"/>
            </a:xfrm>
            <a:prstGeom prst="rect">
              <a:avLst/>
            </a:prstGeom>
          </p:spPr>
        </p:pic>
      </p:grpSp>
      <p:grpSp>
        <p:nvGrpSpPr>
          <p:cNvPr id="19" name="Group 18">
            <a:extLst>
              <a:ext uri="{FF2B5EF4-FFF2-40B4-BE49-F238E27FC236}">
                <a16:creationId xmlns:a16="http://schemas.microsoft.com/office/drawing/2014/main" id="{EEEB012C-351D-8CC7-2A7C-E9860F2A3E22}"/>
              </a:ext>
            </a:extLst>
          </p:cNvPr>
          <p:cNvGrpSpPr/>
          <p:nvPr/>
        </p:nvGrpSpPr>
        <p:grpSpPr>
          <a:xfrm>
            <a:off x="6306154" y="1932276"/>
            <a:ext cx="3308700" cy="4117877"/>
            <a:chOff x="6215781" y="1932276"/>
            <a:chExt cx="3308700" cy="4117877"/>
          </a:xfrm>
        </p:grpSpPr>
        <p:sp>
          <p:nvSpPr>
            <p:cNvPr id="20" name="TextBox 19">
              <a:extLst>
                <a:ext uri="{FF2B5EF4-FFF2-40B4-BE49-F238E27FC236}">
                  <a16:creationId xmlns:a16="http://schemas.microsoft.com/office/drawing/2014/main" id="{579E8321-81B8-9EB8-E141-567E9F716B69}"/>
                </a:ext>
              </a:extLst>
            </p:cNvPr>
            <p:cNvSpPr txBox="1"/>
            <p:nvPr/>
          </p:nvSpPr>
          <p:spPr>
            <a:xfrm>
              <a:off x="6215781" y="5096046"/>
              <a:ext cx="3308700"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4372"/>
                  </a:solidFill>
                  <a:effectLst/>
                  <a:uLnTx/>
                  <a:uFillTx/>
                  <a:latin typeface="Arial Nova" panose="020B0504020202020204" pitchFamily="34" charset="0"/>
                  <a:ea typeface="+mn-ea"/>
                  <a:cs typeface="Arial"/>
                  <a:sym typeface="Arial"/>
                </a:rPr>
                <a:t>What an investor </a:t>
              </a:r>
              <a:r>
                <a:rPr kumimoji="0" lang="en-US" sz="2800" b="1" i="0" u="none" strike="noStrike" kern="1200" cap="none" spc="0" normalizeH="0" baseline="0" noProof="0">
                  <a:ln>
                    <a:noFill/>
                  </a:ln>
                  <a:solidFill>
                    <a:srgbClr val="0076BD"/>
                  </a:solidFill>
                  <a:effectLst/>
                  <a:uLnTx/>
                  <a:uFillTx/>
                  <a:latin typeface="Arial Nova" panose="020B0504020202020204" pitchFamily="34" charset="0"/>
                  <a:ea typeface="+mn-ea"/>
                  <a:cs typeface="Arial"/>
                  <a:sym typeface="Arial"/>
                </a:rPr>
                <a:t>should do</a:t>
              </a:r>
            </a:p>
          </p:txBody>
        </p:sp>
        <p:pic>
          <p:nvPicPr>
            <p:cNvPr id="21" name="Picture 20" descr="Background pattern, icon&#10;&#10;Description automatically generated">
              <a:extLst>
                <a:ext uri="{FF2B5EF4-FFF2-40B4-BE49-F238E27FC236}">
                  <a16:creationId xmlns:a16="http://schemas.microsoft.com/office/drawing/2014/main" id="{39A966E2-02F4-3114-45E6-D71FE3FC66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5781" y="1932276"/>
              <a:ext cx="1898732" cy="3093656"/>
            </a:xfrm>
            <a:prstGeom prst="rect">
              <a:avLst/>
            </a:prstGeom>
          </p:spPr>
        </p:pic>
      </p:grpSp>
      <p:grpSp>
        <p:nvGrpSpPr>
          <p:cNvPr id="22" name="Group 21">
            <a:extLst>
              <a:ext uri="{FF2B5EF4-FFF2-40B4-BE49-F238E27FC236}">
                <a16:creationId xmlns:a16="http://schemas.microsoft.com/office/drawing/2014/main" id="{B304EE94-DA0A-D887-2A84-DA678569AB2A}"/>
              </a:ext>
            </a:extLst>
          </p:cNvPr>
          <p:cNvGrpSpPr/>
          <p:nvPr/>
        </p:nvGrpSpPr>
        <p:grpSpPr>
          <a:xfrm>
            <a:off x="3033020" y="1497799"/>
            <a:ext cx="3873234" cy="2932125"/>
            <a:chOff x="2940925" y="1502089"/>
            <a:chExt cx="3873234" cy="2932125"/>
          </a:xfrm>
        </p:grpSpPr>
        <p:sp>
          <p:nvSpPr>
            <p:cNvPr id="23" name="TextBox 22">
              <a:extLst>
                <a:ext uri="{FF2B5EF4-FFF2-40B4-BE49-F238E27FC236}">
                  <a16:creationId xmlns:a16="http://schemas.microsoft.com/office/drawing/2014/main" id="{24AB1CB3-9E99-557F-6FEC-9473BC788A23}"/>
                </a:ext>
              </a:extLst>
            </p:cNvPr>
            <p:cNvSpPr txBox="1"/>
            <p:nvPr/>
          </p:nvSpPr>
          <p:spPr>
            <a:xfrm>
              <a:off x="2940925" y="1502089"/>
              <a:ext cx="3274856" cy="95410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76BD"/>
                  </a:solidFill>
                  <a:effectLst/>
                  <a:uLnTx/>
                  <a:uFillTx/>
                  <a:latin typeface="Arial Nova" panose="020B0504020202020204" pitchFamily="34" charset="0"/>
                  <a:ea typeface="+mn-ea"/>
                  <a:cs typeface="Arial"/>
                  <a:sym typeface="Arial"/>
                </a:rPr>
                <a:t>What an investor </a:t>
              </a:r>
              <a:r>
                <a:rPr kumimoji="0" lang="en-US" sz="2800" b="1" i="0" u="none" strike="noStrike" kern="1200" cap="none" spc="0" normalizeH="0" baseline="0" noProof="0">
                  <a:ln>
                    <a:noFill/>
                  </a:ln>
                  <a:solidFill>
                    <a:srgbClr val="004372"/>
                  </a:solidFill>
                  <a:effectLst/>
                  <a:uLnTx/>
                  <a:uFillTx/>
                  <a:latin typeface="Arial Nova" panose="020B0504020202020204" pitchFamily="34" charset="0"/>
                  <a:ea typeface="+mn-ea"/>
                  <a:cs typeface="Arial"/>
                  <a:sym typeface="Arial"/>
                </a:rPr>
                <a:t>can do</a:t>
              </a:r>
            </a:p>
          </p:txBody>
        </p:sp>
        <p:pic>
          <p:nvPicPr>
            <p:cNvPr id="24" name="Picture 23" descr="Icon&#10;&#10;Description automatically generated">
              <a:extLst>
                <a:ext uri="{FF2B5EF4-FFF2-40B4-BE49-F238E27FC236}">
                  <a16:creationId xmlns:a16="http://schemas.microsoft.com/office/drawing/2014/main" id="{36F9D394-B38D-75C9-DC8D-CDA62ACD3B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10660" y="2529442"/>
              <a:ext cx="3103499" cy="1904772"/>
            </a:xfrm>
            <a:prstGeom prst="rect">
              <a:avLst/>
            </a:prstGeom>
          </p:spPr>
        </p:pic>
      </p:grpSp>
      <p:sp>
        <p:nvSpPr>
          <p:cNvPr id="2" name="Slide Number Placeholder 5">
            <a:extLst>
              <a:ext uri="{FF2B5EF4-FFF2-40B4-BE49-F238E27FC236}">
                <a16:creationId xmlns:a16="http://schemas.microsoft.com/office/drawing/2014/main" id="{89B57C31-2BB0-8024-347F-E655E33F0578}"/>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6</a:t>
            </a:fld>
            <a:endParaRPr lang="en-US" dirty="0">
              <a:solidFill>
                <a:schemeClr val="bg1">
                  <a:lumMod val="75000"/>
                </a:schemeClr>
              </a:solidFill>
              <a:latin typeface="Arial Nova" panose="020B0504020202020204" pitchFamily="34" charset="0"/>
            </a:endParaRPr>
          </a:p>
        </p:txBody>
      </p:sp>
      <p:sp>
        <p:nvSpPr>
          <p:cNvPr id="3" name="Footer Placeholder 4">
            <a:extLst>
              <a:ext uri="{FF2B5EF4-FFF2-40B4-BE49-F238E27FC236}">
                <a16:creationId xmlns:a16="http://schemas.microsoft.com/office/drawing/2014/main" id="{FB11B0B5-7E63-DB63-D6D6-B39BCE395BA2}"/>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65119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16"/>
                                        </p:tgtEl>
                                      </p:cBhvr>
                                    </p:animEffect>
                                    <p:set>
                                      <p:cBhvr>
                                        <p:cTn id="17" dur="1" fill="hold">
                                          <p:stCondLst>
                                            <p:cond delay="499"/>
                                          </p:stCondLst>
                                        </p:cTn>
                                        <p:tgtEl>
                                          <p:spTgt spid="16"/>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500"/>
                                        <p:tgtEl>
                                          <p:spTgt spid="4"/>
                                        </p:tgtEl>
                                      </p:cBhvr>
                                    </p:animEffect>
                                    <p:set>
                                      <p:cBhvr>
                                        <p:cTn id="20" dur="1" fill="hold">
                                          <p:stCondLst>
                                            <p:cond delay="499"/>
                                          </p:stCondLst>
                                        </p:cTn>
                                        <p:tgtEl>
                                          <p:spTgt spid="4"/>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D9297AC-E2D4-FAD7-E465-36AF411D4D60}"/>
              </a:ext>
            </a:extLst>
          </p:cNvPr>
          <p:cNvSpPr txBox="1">
            <a:spLocks/>
          </p:cNvSpPr>
          <p:nvPr/>
        </p:nvSpPr>
        <p:spPr>
          <a:xfrm>
            <a:off x="381000" y="320676"/>
            <a:ext cx="10972800" cy="805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a:t>Start Smart: Relevant Risk Management</a:t>
            </a:r>
          </a:p>
        </p:txBody>
      </p:sp>
      <p:grpSp>
        <p:nvGrpSpPr>
          <p:cNvPr id="9" name="Group 8">
            <a:extLst>
              <a:ext uri="{FF2B5EF4-FFF2-40B4-BE49-F238E27FC236}">
                <a16:creationId xmlns:a16="http://schemas.microsoft.com/office/drawing/2014/main" id="{FC335274-FACB-4B23-D492-29B51ABE94AA}"/>
              </a:ext>
            </a:extLst>
          </p:cNvPr>
          <p:cNvGrpSpPr/>
          <p:nvPr/>
        </p:nvGrpSpPr>
        <p:grpSpPr>
          <a:xfrm>
            <a:off x="785663" y="2278018"/>
            <a:ext cx="10620673" cy="2926080"/>
            <a:chOff x="944991" y="2278018"/>
            <a:chExt cx="10620673" cy="2926080"/>
          </a:xfrm>
        </p:grpSpPr>
        <p:sp>
          <p:nvSpPr>
            <p:cNvPr id="2" name="TextBox 1">
              <a:extLst>
                <a:ext uri="{FF2B5EF4-FFF2-40B4-BE49-F238E27FC236}">
                  <a16:creationId xmlns:a16="http://schemas.microsoft.com/office/drawing/2014/main" id="{C1028F77-59AF-BD32-E609-64CC626CC41E}"/>
                </a:ext>
              </a:extLst>
            </p:cNvPr>
            <p:cNvSpPr txBox="1"/>
            <p:nvPr/>
          </p:nvSpPr>
          <p:spPr>
            <a:xfrm>
              <a:off x="4246709" y="2694617"/>
              <a:ext cx="7318955" cy="209288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076BD"/>
                  </a:solidFill>
                  <a:effectLst/>
                  <a:uLnTx/>
                  <a:uFillTx/>
                  <a:latin typeface="Arial Nova" panose="020B0504020202020204" pitchFamily="34" charset="0"/>
                  <a:ea typeface="+mn-ea"/>
                  <a:cs typeface="Arial"/>
                  <a:sym typeface="Arial"/>
                </a:rPr>
                <a:t>Simplicity’s proprietary algorithm is </a:t>
              </a:r>
              <a:r>
                <a:rPr kumimoji="0" lang="en-US" sz="2600" b="0" i="0" u="none" strike="noStrike" kern="1200" cap="none" spc="0" normalizeH="0" baseline="0" noProof="0" dirty="0">
                  <a:ln>
                    <a:noFill/>
                  </a:ln>
                  <a:solidFill>
                    <a:srgbClr val="000000"/>
                  </a:solidFill>
                  <a:effectLst/>
                  <a:uLnTx/>
                  <a:uFillTx/>
                  <a:latin typeface="Arial Nova" panose="020B0504020202020204" pitchFamily="34" charset="0"/>
                  <a:ea typeface="+mn-ea"/>
                  <a:cs typeface="Arial"/>
                  <a:sym typeface="Arial"/>
                </a:rPr>
                <a:t>based on Value at Risk (VaR) methodology and incorporates the investor’s emotional tolerance with respect to the potential </a:t>
              </a:r>
              <a:r>
                <a:rPr kumimoji="0" lang="en-US" sz="2600" b="1" i="0" u="none" strike="noStrike" kern="1200" cap="none" spc="0" normalizeH="0" baseline="0" noProof="0" dirty="0">
                  <a:ln>
                    <a:noFill/>
                  </a:ln>
                  <a:solidFill>
                    <a:srgbClr val="0076BD"/>
                  </a:solidFill>
                  <a:effectLst/>
                  <a:uLnTx/>
                  <a:uFillTx/>
                  <a:latin typeface="Arial Nova" panose="020B0504020202020204" pitchFamily="34" charset="0"/>
                  <a:ea typeface="+mn-ea"/>
                  <a:cs typeface="Arial"/>
                  <a:sym typeface="Arial"/>
                </a:rPr>
                <a:t>magnitude</a:t>
              </a:r>
              <a:r>
                <a:rPr kumimoji="0" lang="en-US" sz="2600" b="1" i="0" u="none" strike="noStrike" kern="1200" cap="none" spc="0" normalizeH="0" baseline="0" noProof="0" dirty="0">
                  <a:ln>
                    <a:noFill/>
                  </a:ln>
                  <a:solidFill>
                    <a:srgbClr val="000000"/>
                  </a:solidFill>
                  <a:effectLst/>
                  <a:uLnTx/>
                  <a:uFillTx/>
                  <a:latin typeface="Arial Nova" panose="020B0504020202020204" pitchFamily="34" charset="0"/>
                  <a:ea typeface="+mn-ea"/>
                  <a:cs typeface="Arial"/>
                  <a:sym typeface="Arial"/>
                </a:rPr>
                <a:t> </a:t>
              </a:r>
              <a:r>
                <a:rPr kumimoji="0" lang="en-US" sz="2600" b="0" i="0" u="none" strike="noStrike" kern="1200" cap="none" spc="0" normalizeH="0" baseline="0" noProof="0" dirty="0">
                  <a:ln>
                    <a:noFill/>
                  </a:ln>
                  <a:solidFill>
                    <a:srgbClr val="000000"/>
                  </a:solidFill>
                  <a:effectLst/>
                  <a:uLnTx/>
                  <a:uFillTx/>
                  <a:latin typeface="Arial Nova" panose="020B0504020202020204" pitchFamily="34" charset="0"/>
                  <a:ea typeface="+mn-ea"/>
                  <a:cs typeface="Arial"/>
                  <a:sym typeface="Arial"/>
                </a:rPr>
                <a:t>and </a:t>
              </a:r>
              <a:r>
                <a:rPr kumimoji="0" lang="en-US" sz="2600" b="1" i="0" u="none" strike="noStrike" kern="1200" cap="none" spc="0" normalizeH="0" baseline="0" noProof="0" dirty="0">
                  <a:ln>
                    <a:noFill/>
                  </a:ln>
                  <a:solidFill>
                    <a:srgbClr val="0076BD"/>
                  </a:solidFill>
                  <a:effectLst/>
                  <a:uLnTx/>
                  <a:uFillTx/>
                  <a:latin typeface="Arial Nova" panose="020B0504020202020204" pitchFamily="34" charset="0"/>
                  <a:ea typeface="+mn-ea"/>
                  <a:cs typeface="Arial"/>
                  <a:sym typeface="Arial"/>
                </a:rPr>
                <a:t>speed of investment loss</a:t>
              </a:r>
              <a:r>
                <a:rPr kumimoji="0" lang="en-US" sz="2600" b="0" i="0" u="none" strike="noStrike" kern="1200" cap="none" spc="0" normalizeH="0" baseline="0" noProof="0" dirty="0">
                  <a:ln>
                    <a:noFill/>
                  </a:ln>
                  <a:solidFill>
                    <a:srgbClr val="0076BD"/>
                  </a:solidFill>
                  <a:effectLst/>
                  <a:uLnTx/>
                  <a:uFillTx/>
                  <a:latin typeface="Arial Nova" panose="020B0504020202020204" pitchFamily="34" charset="0"/>
                  <a:ea typeface="+mn-ea"/>
                  <a:cs typeface="Arial"/>
                  <a:sym typeface="Arial"/>
                </a:rPr>
                <a:t>.</a:t>
              </a:r>
              <a:endParaRPr kumimoji="0" lang="en-US" sz="2600" b="1" i="0" u="none" strike="noStrike" kern="1200" cap="none" spc="0" normalizeH="0" baseline="0" noProof="0" dirty="0">
                <a:ln>
                  <a:noFill/>
                </a:ln>
                <a:solidFill>
                  <a:srgbClr val="0076BD"/>
                </a:solidFill>
                <a:effectLst/>
                <a:uLnTx/>
                <a:uFillTx/>
                <a:latin typeface="Arial Nova" panose="020B0504020202020204" pitchFamily="34" charset="0"/>
                <a:ea typeface="+mn-ea"/>
                <a:cs typeface="Arial"/>
                <a:sym typeface="Arial"/>
              </a:endParaRPr>
            </a:p>
          </p:txBody>
        </p:sp>
        <p:grpSp>
          <p:nvGrpSpPr>
            <p:cNvPr id="3" name="Group 2">
              <a:extLst>
                <a:ext uri="{FF2B5EF4-FFF2-40B4-BE49-F238E27FC236}">
                  <a16:creationId xmlns:a16="http://schemas.microsoft.com/office/drawing/2014/main" id="{E7E9F1CC-B88F-DA69-0601-B9592DD4D9BD}"/>
                </a:ext>
              </a:extLst>
            </p:cNvPr>
            <p:cNvGrpSpPr>
              <a:grpSpLocks noChangeAspect="1"/>
            </p:cNvGrpSpPr>
            <p:nvPr/>
          </p:nvGrpSpPr>
          <p:grpSpPr>
            <a:xfrm>
              <a:off x="944991" y="2278018"/>
              <a:ext cx="2945499" cy="2926080"/>
              <a:chOff x="862465" y="1984814"/>
              <a:chExt cx="3676134" cy="3651897"/>
            </a:xfrm>
          </p:grpSpPr>
          <p:pic>
            <p:nvPicPr>
              <p:cNvPr id="7" name="Graphic 6">
                <a:extLst>
                  <a:ext uri="{FF2B5EF4-FFF2-40B4-BE49-F238E27FC236}">
                    <a16:creationId xmlns:a16="http://schemas.microsoft.com/office/drawing/2014/main" id="{780CC313-DA29-D711-CF16-A8B3D5B09961}"/>
                  </a:ext>
                </a:extLst>
              </p:cNvPr>
              <p:cNvPicPr>
                <a:picLocks noChangeAspect="1"/>
              </p:cNvPicPr>
              <p:nvPr/>
            </p:nvPicPr>
            <p:blipFill>
              <a:blip r:embed="rId3">
                <a:extLst>
                  <a:ext uri="{96DAC541-7B7A-43D3-8B79-37D633B846F1}">
                    <asvg:svgBlip xmlns:asvg="http://schemas.microsoft.com/office/drawing/2016/SVG/main" r:embed="rId4"/>
                  </a:ext>
                </a:extLst>
              </a:blip>
              <a:srcRect l="13276" t="13453" r="12980" b="13289"/>
              <a:stretch/>
            </p:blipFill>
            <p:spPr>
              <a:xfrm>
                <a:off x="862465" y="1984814"/>
                <a:ext cx="3676134" cy="3651897"/>
              </a:xfrm>
              <a:prstGeom prst="rect">
                <a:avLst/>
              </a:prstGeom>
            </p:spPr>
          </p:pic>
          <p:sp>
            <p:nvSpPr>
              <p:cNvPr id="8" name="TextBox 7">
                <a:extLst>
                  <a:ext uri="{FF2B5EF4-FFF2-40B4-BE49-F238E27FC236}">
                    <a16:creationId xmlns:a16="http://schemas.microsoft.com/office/drawing/2014/main" id="{A33157B7-E628-021B-283E-5EBCED19E0E4}"/>
                  </a:ext>
                </a:extLst>
              </p:cNvPr>
              <p:cNvSpPr txBox="1"/>
              <p:nvPr/>
            </p:nvSpPr>
            <p:spPr>
              <a:xfrm>
                <a:off x="1667135" y="3264459"/>
                <a:ext cx="2066794" cy="1267599"/>
              </a:xfrm>
              <a:prstGeom prst="rect">
                <a:avLst/>
              </a:prstGeom>
              <a:noFill/>
            </p:spPr>
            <p:txBody>
              <a:bodyPr wrap="square" rtlCol="0">
                <a:spAutoFit/>
              </a:bodyPr>
              <a:lstStyle/>
              <a:p>
                <a:pPr algn="ctr"/>
                <a:r>
                  <a:rPr lang="en-US" sz="6000" b="1" dirty="0">
                    <a:solidFill>
                      <a:srgbClr val="0276BD"/>
                    </a:solidFill>
                    <a:latin typeface="Arial Nova" panose="020B0504020202020204" pitchFamily="34" charset="0"/>
                  </a:rPr>
                  <a:t>VaR</a:t>
                </a:r>
              </a:p>
            </p:txBody>
          </p:sp>
        </p:grpSp>
      </p:grpSp>
      <p:sp>
        <p:nvSpPr>
          <p:cNvPr id="10" name="Slide Number Placeholder 5">
            <a:extLst>
              <a:ext uri="{FF2B5EF4-FFF2-40B4-BE49-F238E27FC236}">
                <a16:creationId xmlns:a16="http://schemas.microsoft.com/office/drawing/2014/main" id="{6A692F9A-6B0E-3D62-65B0-75A910DBB4BF}"/>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7</a:t>
            </a:fld>
            <a:endParaRPr lang="en-US" dirty="0">
              <a:solidFill>
                <a:schemeClr val="bg1">
                  <a:lumMod val="75000"/>
                </a:schemeClr>
              </a:solidFill>
              <a:latin typeface="Arial Nova" panose="020B0504020202020204" pitchFamily="34" charset="0"/>
            </a:endParaRPr>
          </a:p>
        </p:txBody>
      </p:sp>
      <p:sp>
        <p:nvSpPr>
          <p:cNvPr id="11" name="Footer Placeholder 4">
            <a:extLst>
              <a:ext uri="{FF2B5EF4-FFF2-40B4-BE49-F238E27FC236}">
                <a16:creationId xmlns:a16="http://schemas.microsoft.com/office/drawing/2014/main" id="{17C7EB2B-4857-6DFE-2168-E30631F81419}"/>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3420544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D9297AC-E2D4-FAD7-E465-36AF411D4D60}"/>
              </a:ext>
            </a:extLst>
          </p:cNvPr>
          <p:cNvSpPr txBox="1">
            <a:spLocks/>
          </p:cNvSpPr>
          <p:nvPr/>
        </p:nvSpPr>
        <p:spPr>
          <a:xfrm>
            <a:off x="381000" y="320676"/>
            <a:ext cx="10972800" cy="805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a:t>Start Smart: Relevant Risk Management</a:t>
            </a:r>
          </a:p>
        </p:txBody>
      </p:sp>
      <p:sp>
        <p:nvSpPr>
          <p:cNvPr id="2" name="TextBox 1">
            <a:extLst>
              <a:ext uri="{FF2B5EF4-FFF2-40B4-BE49-F238E27FC236}">
                <a16:creationId xmlns:a16="http://schemas.microsoft.com/office/drawing/2014/main" id="{79155854-ECE9-04AE-E943-DB4126D1E7E6}"/>
              </a:ext>
            </a:extLst>
          </p:cNvPr>
          <p:cNvSpPr txBox="1"/>
          <p:nvPr/>
        </p:nvSpPr>
        <p:spPr>
          <a:xfrm>
            <a:off x="1402976" y="1401258"/>
            <a:ext cx="9386047"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a:ln>
                  <a:noFill/>
                </a:ln>
                <a:solidFill>
                  <a:srgbClr val="0079C4"/>
                </a:solidFill>
                <a:effectLst/>
                <a:uLnTx/>
                <a:uFillTx/>
                <a:latin typeface="Arial Nova" panose="020B0504020202020204" pitchFamily="34" charset="0"/>
                <a:ea typeface="+mn-ea"/>
                <a:cs typeface="Arial"/>
                <a:sym typeface="Arial"/>
              </a:rPr>
              <a:t>Hypothetical Example: Speed of Loss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000000"/>
                </a:solidFill>
                <a:effectLst/>
                <a:uLnTx/>
                <a:uFillTx/>
                <a:latin typeface="Arial Nova" panose="020B0504020202020204" pitchFamily="34" charset="0"/>
                <a:ea typeface="+mn-ea"/>
                <a:cs typeface="Arial"/>
                <a:sym typeface="Arial"/>
              </a:rPr>
              <a:t>$100,000 Initial Investment Experiences a </a:t>
            </a:r>
            <a:r>
              <a:rPr kumimoji="0" lang="en-US" b="1" i="0" u="none" strike="noStrike" kern="1200" cap="none" spc="0" normalizeH="0" baseline="0" noProof="0">
                <a:ln>
                  <a:noFill/>
                </a:ln>
                <a:solidFill>
                  <a:srgbClr val="000000"/>
                </a:solidFill>
                <a:effectLst/>
                <a:uLnTx/>
                <a:uFillTx/>
                <a:latin typeface="Arial Nova" panose="020B0504020202020204" pitchFamily="34" charset="0"/>
                <a:ea typeface="+mn-ea"/>
                <a:cs typeface="Arial"/>
                <a:sym typeface="Arial"/>
              </a:rPr>
              <a:t>20% </a:t>
            </a:r>
            <a:r>
              <a:rPr kumimoji="0" lang="en-US" b="0" i="0" u="none" strike="noStrike" kern="1200" cap="none" spc="0" normalizeH="0" baseline="0" noProof="0">
                <a:ln>
                  <a:noFill/>
                </a:ln>
                <a:solidFill>
                  <a:srgbClr val="000000"/>
                </a:solidFill>
                <a:effectLst/>
                <a:uLnTx/>
                <a:uFillTx/>
                <a:latin typeface="Arial Nova" panose="020B0504020202020204" pitchFamily="34" charset="0"/>
                <a:ea typeface="+mn-ea"/>
                <a:cs typeface="Arial"/>
                <a:sym typeface="Arial"/>
              </a:rPr>
              <a:t>Loss Over a 3-Month vs. 12-Month Period</a:t>
            </a:r>
          </a:p>
        </p:txBody>
      </p:sp>
      <p:pic>
        <p:nvPicPr>
          <p:cNvPr id="3" name="Picture 2" descr="A picture containing graphical user interface&#10;&#10;Description automatically generated">
            <a:extLst>
              <a:ext uri="{FF2B5EF4-FFF2-40B4-BE49-F238E27FC236}">
                <a16:creationId xmlns:a16="http://schemas.microsoft.com/office/drawing/2014/main" id="{A41848A0-9B3D-424F-56EC-8695F0CB92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6419" y="2343694"/>
            <a:ext cx="9858073" cy="3933807"/>
          </a:xfrm>
          <a:prstGeom prst="rect">
            <a:avLst/>
          </a:prstGeom>
        </p:spPr>
      </p:pic>
      <p:cxnSp>
        <p:nvCxnSpPr>
          <p:cNvPr id="4" name="Straight Connector 3">
            <a:extLst>
              <a:ext uri="{FF2B5EF4-FFF2-40B4-BE49-F238E27FC236}">
                <a16:creationId xmlns:a16="http://schemas.microsoft.com/office/drawing/2014/main" id="{E0F84A13-D0D2-5AF2-00DC-85DAF6C7A6AC}"/>
              </a:ext>
            </a:extLst>
          </p:cNvPr>
          <p:cNvCxnSpPr>
            <a:cxnSpLocks noChangeAspect="1"/>
          </p:cNvCxnSpPr>
          <p:nvPr/>
        </p:nvCxnSpPr>
        <p:spPr>
          <a:xfrm>
            <a:off x="2932242" y="2566737"/>
            <a:ext cx="7451852" cy="317542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64DFB8E-1EDE-D2A9-58A0-182569B28BA3}"/>
              </a:ext>
            </a:extLst>
          </p:cNvPr>
          <p:cNvCxnSpPr>
            <a:cxnSpLocks noChangeAspect="1"/>
          </p:cNvCxnSpPr>
          <p:nvPr/>
        </p:nvCxnSpPr>
        <p:spPr>
          <a:xfrm>
            <a:off x="2932242" y="2566737"/>
            <a:ext cx="1725935" cy="317542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Slide Number Placeholder 5">
            <a:extLst>
              <a:ext uri="{FF2B5EF4-FFF2-40B4-BE49-F238E27FC236}">
                <a16:creationId xmlns:a16="http://schemas.microsoft.com/office/drawing/2014/main" id="{88F383E3-7DD7-3392-B748-B7976EBA4CFB}"/>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8</a:t>
            </a:fld>
            <a:endParaRPr lang="en-US" dirty="0">
              <a:solidFill>
                <a:schemeClr val="bg1">
                  <a:lumMod val="75000"/>
                </a:schemeClr>
              </a:solidFill>
              <a:latin typeface="Arial Nova" panose="020B0504020202020204" pitchFamily="34" charset="0"/>
            </a:endParaRPr>
          </a:p>
        </p:txBody>
      </p:sp>
      <p:sp>
        <p:nvSpPr>
          <p:cNvPr id="9" name="Footer Placeholder 4">
            <a:extLst>
              <a:ext uri="{FF2B5EF4-FFF2-40B4-BE49-F238E27FC236}">
                <a16:creationId xmlns:a16="http://schemas.microsoft.com/office/drawing/2014/main" id="{0DA03F6E-BB16-C5DA-71D6-C714D83104E9}"/>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4021461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86C5E55E-4E48-6F18-9DAF-90594E6FE9DF}"/>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9</a:t>
            </a:fld>
            <a:endParaRPr lang="en-US" dirty="0">
              <a:solidFill>
                <a:schemeClr val="bg1">
                  <a:lumMod val="75000"/>
                </a:schemeClr>
              </a:solidFill>
              <a:latin typeface="Arial Nova" panose="020B0504020202020204" pitchFamily="34" charset="0"/>
            </a:endParaRPr>
          </a:p>
        </p:txBody>
      </p:sp>
      <p:sp>
        <p:nvSpPr>
          <p:cNvPr id="4" name="Footer Placeholder 4">
            <a:extLst>
              <a:ext uri="{FF2B5EF4-FFF2-40B4-BE49-F238E27FC236}">
                <a16:creationId xmlns:a16="http://schemas.microsoft.com/office/drawing/2014/main" id="{D89E6365-EB83-DB07-513B-DC061BE2DA52}"/>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
        <p:nvSpPr>
          <p:cNvPr id="3" name="Title Placeholder 1">
            <a:extLst>
              <a:ext uri="{FF2B5EF4-FFF2-40B4-BE49-F238E27FC236}">
                <a16:creationId xmlns:a16="http://schemas.microsoft.com/office/drawing/2014/main" id="{11979DDC-3BE2-CDC4-4E5E-6209B648D4E8}"/>
              </a:ext>
            </a:extLst>
          </p:cNvPr>
          <p:cNvSpPr txBox="1">
            <a:spLocks/>
          </p:cNvSpPr>
          <p:nvPr/>
        </p:nvSpPr>
        <p:spPr>
          <a:xfrm>
            <a:off x="381000" y="320676"/>
            <a:ext cx="10972800" cy="805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a:t>Start Smart: Relevant Risk Management</a:t>
            </a:r>
          </a:p>
        </p:txBody>
      </p:sp>
      <p:sp>
        <p:nvSpPr>
          <p:cNvPr id="21" name="Rectangle 20">
            <a:extLst>
              <a:ext uri="{FF2B5EF4-FFF2-40B4-BE49-F238E27FC236}">
                <a16:creationId xmlns:a16="http://schemas.microsoft.com/office/drawing/2014/main" id="{FD7F37A8-9FAD-2341-5B30-0C9B967F556C}"/>
              </a:ext>
            </a:extLst>
          </p:cNvPr>
          <p:cNvSpPr/>
          <p:nvPr/>
        </p:nvSpPr>
        <p:spPr>
          <a:xfrm>
            <a:off x="381000" y="1358266"/>
            <a:ext cx="11582398" cy="4998084"/>
          </a:xfrm>
          <a:prstGeom prst="rect">
            <a:avLst/>
          </a:prstGeom>
          <a:solidFill>
            <a:srgbClr val="FAFA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Nova" panose="020B0504020202020204" pitchFamily="34" charset="0"/>
              <a:ea typeface="+mn-ea"/>
              <a:cs typeface="+mn-cs"/>
              <a:sym typeface="Arial"/>
            </a:endParaRPr>
          </a:p>
        </p:txBody>
      </p:sp>
      <p:pic>
        <p:nvPicPr>
          <p:cNvPr id="22" name="Picture 21">
            <a:extLst>
              <a:ext uri="{FF2B5EF4-FFF2-40B4-BE49-F238E27FC236}">
                <a16:creationId xmlns:a16="http://schemas.microsoft.com/office/drawing/2014/main" id="{9BA7DB4B-C70D-2800-732B-C22E582CECB3}"/>
              </a:ext>
            </a:extLst>
          </p:cNvPr>
          <p:cNvPicPr>
            <a:picLocks noChangeAspect="1"/>
          </p:cNvPicPr>
          <p:nvPr/>
        </p:nvPicPr>
        <p:blipFill rotWithShape="1">
          <a:blip r:embed="rId3"/>
          <a:srcRect l="2472" t="55166" r="64162" b="3795"/>
          <a:stretch/>
        </p:blipFill>
        <p:spPr>
          <a:xfrm>
            <a:off x="4629595" y="2704430"/>
            <a:ext cx="2850723" cy="3007319"/>
          </a:xfrm>
          <a:prstGeom prst="rect">
            <a:avLst/>
          </a:prstGeom>
        </p:spPr>
      </p:pic>
      <p:pic>
        <p:nvPicPr>
          <p:cNvPr id="23" name="Picture 22">
            <a:extLst>
              <a:ext uri="{FF2B5EF4-FFF2-40B4-BE49-F238E27FC236}">
                <a16:creationId xmlns:a16="http://schemas.microsoft.com/office/drawing/2014/main" id="{5C55F336-830D-C7D2-3ED5-B0484D2735BC}"/>
              </a:ext>
            </a:extLst>
          </p:cNvPr>
          <p:cNvPicPr>
            <a:picLocks noChangeAspect="1"/>
          </p:cNvPicPr>
          <p:nvPr/>
        </p:nvPicPr>
        <p:blipFill rotWithShape="1">
          <a:blip r:embed="rId4"/>
          <a:srcRect l="1837" t="10312" r="64611" b="29348"/>
          <a:stretch/>
        </p:blipFill>
        <p:spPr>
          <a:xfrm>
            <a:off x="8354316" y="2704428"/>
            <a:ext cx="2932808" cy="3007319"/>
          </a:xfrm>
          <a:prstGeom prst="rect">
            <a:avLst/>
          </a:prstGeom>
        </p:spPr>
      </p:pic>
      <p:pic>
        <p:nvPicPr>
          <p:cNvPr id="24" name="Picture 23">
            <a:extLst>
              <a:ext uri="{FF2B5EF4-FFF2-40B4-BE49-F238E27FC236}">
                <a16:creationId xmlns:a16="http://schemas.microsoft.com/office/drawing/2014/main" id="{582CB915-2032-F809-C1CF-31BBA04D0ACD}"/>
              </a:ext>
            </a:extLst>
          </p:cNvPr>
          <p:cNvPicPr>
            <a:picLocks noChangeAspect="1"/>
          </p:cNvPicPr>
          <p:nvPr/>
        </p:nvPicPr>
        <p:blipFill rotWithShape="1">
          <a:blip r:embed="rId3"/>
          <a:srcRect l="2325" t="8152" r="64310" b="50810"/>
          <a:stretch/>
        </p:blipFill>
        <p:spPr>
          <a:xfrm>
            <a:off x="904875" y="2704428"/>
            <a:ext cx="2850723" cy="3007319"/>
          </a:xfrm>
          <a:prstGeom prst="rect">
            <a:avLst/>
          </a:prstGeom>
        </p:spPr>
      </p:pic>
      <p:pic>
        <p:nvPicPr>
          <p:cNvPr id="25" name="Picture 24">
            <a:extLst>
              <a:ext uri="{FF2B5EF4-FFF2-40B4-BE49-F238E27FC236}">
                <a16:creationId xmlns:a16="http://schemas.microsoft.com/office/drawing/2014/main" id="{E010010B-8FD8-237F-9CBA-AE0CC2A0D387}"/>
              </a:ext>
            </a:extLst>
          </p:cNvPr>
          <p:cNvPicPr>
            <a:picLocks noChangeAspect="1"/>
          </p:cNvPicPr>
          <p:nvPr/>
        </p:nvPicPr>
        <p:blipFill rotWithShape="1">
          <a:blip r:embed="rId5"/>
          <a:srcRect l="15326" t="9798" r="67117" b="74217"/>
          <a:stretch/>
        </p:blipFill>
        <p:spPr>
          <a:xfrm>
            <a:off x="911606" y="3637992"/>
            <a:ext cx="593810" cy="1620178"/>
          </a:xfrm>
          <a:prstGeom prst="rect">
            <a:avLst/>
          </a:prstGeom>
        </p:spPr>
      </p:pic>
      <p:pic>
        <p:nvPicPr>
          <p:cNvPr id="26" name="Picture 25">
            <a:extLst>
              <a:ext uri="{FF2B5EF4-FFF2-40B4-BE49-F238E27FC236}">
                <a16:creationId xmlns:a16="http://schemas.microsoft.com/office/drawing/2014/main" id="{0EAE4095-830B-43DC-A280-83770E31C450}"/>
              </a:ext>
            </a:extLst>
          </p:cNvPr>
          <p:cNvPicPr>
            <a:picLocks noChangeAspect="1"/>
          </p:cNvPicPr>
          <p:nvPr/>
        </p:nvPicPr>
        <p:blipFill rotWithShape="1">
          <a:blip r:embed="rId5"/>
          <a:srcRect l="41169" t="22143" r="24725" b="75535"/>
          <a:stretch/>
        </p:blipFill>
        <p:spPr>
          <a:xfrm>
            <a:off x="1777542" y="4859267"/>
            <a:ext cx="1153552" cy="235290"/>
          </a:xfrm>
          <a:prstGeom prst="rect">
            <a:avLst/>
          </a:prstGeom>
        </p:spPr>
      </p:pic>
      <p:pic>
        <p:nvPicPr>
          <p:cNvPr id="27" name="Picture 26">
            <a:extLst>
              <a:ext uri="{FF2B5EF4-FFF2-40B4-BE49-F238E27FC236}">
                <a16:creationId xmlns:a16="http://schemas.microsoft.com/office/drawing/2014/main" id="{FCBD2624-A7FF-2A6F-48BB-3E661DE2ECE9}"/>
              </a:ext>
            </a:extLst>
          </p:cNvPr>
          <p:cNvPicPr>
            <a:picLocks noChangeAspect="1"/>
          </p:cNvPicPr>
          <p:nvPr/>
        </p:nvPicPr>
        <p:blipFill rotWithShape="1">
          <a:blip r:embed="rId5"/>
          <a:srcRect l="43395" t="16338" r="24917" b="81151"/>
          <a:stretch/>
        </p:blipFill>
        <p:spPr>
          <a:xfrm>
            <a:off x="1818421" y="4320802"/>
            <a:ext cx="1071794" cy="254530"/>
          </a:xfrm>
          <a:prstGeom prst="rect">
            <a:avLst/>
          </a:prstGeom>
        </p:spPr>
      </p:pic>
      <p:pic>
        <p:nvPicPr>
          <p:cNvPr id="28" name="Picture 27">
            <a:extLst>
              <a:ext uri="{FF2B5EF4-FFF2-40B4-BE49-F238E27FC236}">
                <a16:creationId xmlns:a16="http://schemas.microsoft.com/office/drawing/2014/main" id="{3E92D834-0E95-188C-8EB9-422C4B6E2667}"/>
              </a:ext>
            </a:extLst>
          </p:cNvPr>
          <p:cNvPicPr>
            <a:picLocks noChangeAspect="1"/>
          </p:cNvPicPr>
          <p:nvPr/>
        </p:nvPicPr>
        <p:blipFill rotWithShape="1">
          <a:blip r:embed="rId5"/>
          <a:srcRect l="16071" t="52480" r="72116" b="39744"/>
          <a:stretch/>
        </p:blipFill>
        <p:spPr>
          <a:xfrm>
            <a:off x="4629595" y="4510785"/>
            <a:ext cx="400049" cy="789115"/>
          </a:xfrm>
          <a:prstGeom prst="rect">
            <a:avLst/>
          </a:prstGeom>
        </p:spPr>
      </p:pic>
      <p:pic>
        <p:nvPicPr>
          <p:cNvPr id="29" name="Picture 28">
            <a:extLst>
              <a:ext uri="{FF2B5EF4-FFF2-40B4-BE49-F238E27FC236}">
                <a16:creationId xmlns:a16="http://schemas.microsoft.com/office/drawing/2014/main" id="{E2385F2F-FA43-37B8-C3AB-D80EF7E6AD8B}"/>
              </a:ext>
            </a:extLst>
          </p:cNvPr>
          <p:cNvPicPr>
            <a:picLocks noChangeAspect="1"/>
          </p:cNvPicPr>
          <p:nvPr/>
        </p:nvPicPr>
        <p:blipFill rotWithShape="1">
          <a:blip r:embed="rId5"/>
          <a:srcRect l="44262" t="50978" r="28114" b="46466"/>
          <a:stretch/>
        </p:blipFill>
        <p:spPr>
          <a:xfrm>
            <a:off x="5587203" y="4320802"/>
            <a:ext cx="935503" cy="259372"/>
          </a:xfrm>
          <a:prstGeom prst="rect">
            <a:avLst/>
          </a:prstGeom>
        </p:spPr>
      </p:pic>
      <p:pic>
        <p:nvPicPr>
          <p:cNvPr id="30" name="Picture 29">
            <a:extLst>
              <a:ext uri="{FF2B5EF4-FFF2-40B4-BE49-F238E27FC236}">
                <a16:creationId xmlns:a16="http://schemas.microsoft.com/office/drawing/2014/main" id="{B9F5078B-82EE-673C-020B-528FFC9A9BB7}"/>
              </a:ext>
            </a:extLst>
          </p:cNvPr>
          <p:cNvPicPr>
            <a:picLocks noChangeAspect="1"/>
          </p:cNvPicPr>
          <p:nvPr/>
        </p:nvPicPr>
        <p:blipFill rotWithShape="1">
          <a:blip r:embed="rId5"/>
          <a:srcRect l="47819" t="56889" r="32450" b="41104"/>
          <a:stretch/>
        </p:blipFill>
        <p:spPr>
          <a:xfrm>
            <a:off x="5720848" y="4890979"/>
            <a:ext cx="668215" cy="203578"/>
          </a:xfrm>
          <a:prstGeom prst="rect">
            <a:avLst/>
          </a:prstGeom>
        </p:spPr>
      </p:pic>
      <p:pic>
        <p:nvPicPr>
          <p:cNvPr id="31" name="Picture 30">
            <a:extLst>
              <a:ext uri="{FF2B5EF4-FFF2-40B4-BE49-F238E27FC236}">
                <a16:creationId xmlns:a16="http://schemas.microsoft.com/office/drawing/2014/main" id="{324E2667-C8A5-27D5-C1CF-DD42D2813C13}"/>
              </a:ext>
            </a:extLst>
          </p:cNvPr>
          <p:cNvPicPr>
            <a:picLocks noChangeAspect="1"/>
          </p:cNvPicPr>
          <p:nvPr/>
        </p:nvPicPr>
        <p:blipFill rotWithShape="1">
          <a:blip r:embed="rId5"/>
          <a:srcRect l="15084" t="85202" r="69223" b="4691"/>
          <a:stretch/>
        </p:blipFill>
        <p:spPr>
          <a:xfrm>
            <a:off x="8380710" y="4294528"/>
            <a:ext cx="519039" cy="1001814"/>
          </a:xfrm>
          <a:prstGeom prst="rect">
            <a:avLst/>
          </a:prstGeom>
        </p:spPr>
      </p:pic>
      <p:pic>
        <p:nvPicPr>
          <p:cNvPr id="32" name="Picture 31">
            <a:extLst>
              <a:ext uri="{FF2B5EF4-FFF2-40B4-BE49-F238E27FC236}">
                <a16:creationId xmlns:a16="http://schemas.microsoft.com/office/drawing/2014/main" id="{3326608B-A367-78DA-951B-DCFAE2680B0C}"/>
              </a:ext>
            </a:extLst>
          </p:cNvPr>
          <p:cNvPicPr>
            <a:picLocks noChangeAspect="1"/>
          </p:cNvPicPr>
          <p:nvPr/>
        </p:nvPicPr>
        <p:blipFill rotWithShape="1">
          <a:blip r:embed="rId5"/>
          <a:srcRect l="44027" t="85838" r="27264" b="11643"/>
          <a:stretch/>
        </p:blipFill>
        <p:spPr>
          <a:xfrm>
            <a:off x="9345935" y="4320802"/>
            <a:ext cx="949569" cy="249688"/>
          </a:xfrm>
          <a:prstGeom prst="rect">
            <a:avLst/>
          </a:prstGeom>
        </p:spPr>
      </p:pic>
      <p:pic>
        <p:nvPicPr>
          <p:cNvPr id="33" name="Picture 32">
            <a:extLst>
              <a:ext uri="{FF2B5EF4-FFF2-40B4-BE49-F238E27FC236}">
                <a16:creationId xmlns:a16="http://schemas.microsoft.com/office/drawing/2014/main" id="{666981A3-745B-DE68-6ABE-D27771D90C00}"/>
              </a:ext>
            </a:extLst>
          </p:cNvPr>
          <p:cNvPicPr>
            <a:picLocks noChangeAspect="1"/>
          </p:cNvPicPr>
          <p:nvPr/>
        </p:nvPicPr>
        <p:blipFill rotWithShape="1">
          <a:blip r:embed="rId5"/>
          <a:srcRect l="48569" t="91667" r="33143" b="6283"/>
          <a:stretch/>
        </p:blipFill>
        <p:spPr>
          <a:xfrm>
            <a:off x="9559310" y="4905342"/>
            <a:ext cx="604910" cy="203229"/>
          </a:xfrm>
          <a:prstGeom prst="rect">
            <a:avLst/>
          </a:prstGeom>
        </p:spPr>
      </p:pic>
      <p:sp>
        <p:nvSpPr>
          <p:cNvPr id="34" name="Arrow: Right 33">
            <a:extLst>
              <a:ext uri="{FF2B5EF4-FFF2-40B4-BE49-F238E27FC236}">
                <a16:creationId xmlns:a16="http://schemas.microsoft.com/office/drawing/2014/main" id="{DCB0838E-9CC1-8148-877C-16C3E8AC9215}"/>
              </a:ext>
            </a:extLst>
          </p:cNvPr>
          <p:cNvSpPr/>
          <p:nvPr/>
        </p:nvSpPr>
        <p:spPr>
          <a:xfrm rot="16200000">
            <a:off x="1293805" y="6010265"/>
            <a:ext cx="2072861" cy="440633"/>
          </a:xfrm>
          <a:prstGeom prst="righ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Nova" panose="020B0504020202020204" pitchFamily="34" charset="0"/>
              <a:ea typeface="+mn-ea"/>
              <a:cs typeface="+mn-cs"/>
              <a:sym typeface="Arial"/>
            </a:endParaRPr>
          </a:p>
        </p:txBody>
      </p:sp>
      <p:sp>
        <p:nvSpPr>
          <p:cNvPr id="35" name="Arrow: Right 34">
            <a:extLst>
              <a:ext uri="{FF2B5EF4-FFF2-40B4-BE49-F238E27FC236}">
                <a16:creationId xmlns:a16="http://schemas.microsoft.com/office/drawing/2014/main" id="{79B07CF2-9993-1AEF-D740-FCB496F71D91}"/>
              </a:ext>
            </a:extLst>
          </p:cNvPr>
          <p:cNvSpPr/>
          <p:nvPr/>
        </p:nvSpPr>
        <p:spPr>
          <a:xfrm rot="16200000">
            <a:off x="5028064" y="6010266"/>
            <a:ext cx="2072861" cy="440633"/>
          </a:xfrm>
          <a:prstGeom prst="righ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Nova" panose="020B0504020202020204" pitchFamily="34" charset="0"/>
              <a:ea typeface="+mn-ea"/>
              <a:cs typeface="+mn-cs"/>
              <a:sym typeface="Arial"/>
            </a:endParaRPr>
          </a:p>
        </p:txBody>
      </p:sp>
      <p:sp>
        <p:nvSpPr>
          <p:cNvPr id="36" name="Arrow: Right 35">
            <a:extLst>
              <a:ext uri="{FF2B5EF4-FFF2-40B4-BE49-F238E27FC236}">
                <a16:creationId xmlns:a16="http://schemas.microsoft.com/office/drawing/2014/main" id="{9FC81FB5-13F3-0935-BED1-860BF0CF4052}"/>
              </a:ext>
            </a:extLst>
          </p:cNvPr>
          <p:cNvSpPr/>
          <p:nvPr/>
        </p:nvSpPr>
        <p:spPr>
          <a:xfrm rot="16200000">
            <a:off x="8825335" y="6010265"/>
            <a:ext cx="2072861" cy="440633"/>
          </a:xfrm>
          <a:prstGeom prst="righ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Nova" panose="020B0504020202020204" pitchFamily="34" charset="0"/>
              <a:ea typeface="+mn-ea"/>
              <a:cs typeface="+mn-cs"/>
              <a:sym typeface="Arial"/>
            </a:endParaRPr>
          </a:p>
        </p:txBody>
      </p:sp>
      <p:sp>
        <p:nvSpPr>
          <p:cNvPr id="37" name="TextBox 36">
            <a:extLst>
              <a:ext uri="{FF2B5EF4-FFF2-40B4-BE49-F238E27FC236}">
                <a16:creationId xmlns:a16="http://schemas.microsoft.com/office/drawing/2014/main" id="{15667DD8-0677-990C-41F7-0911EAB7C28A}"/>
              </a:ext>
            </a:extLst>
          </p:cNvPr>
          <p:cNvSpPr txBox="1"/>
          <p:nvPr/>
        </p:nvSpPr>
        <p:spPr>
          <a:xfrm>
            <a:off x="608531" y="1508096"/>
            <a:ext cx="11025130" cy="67710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0076BD"/>
                </a:solidFill>
                <a:effectLst/>
                <a:uLnTx/>
                <a:uFillTx/>
                <a:latin typeface="Arial Nova" panose="020B0504020202020204" pitchFamily="34" charset="0"/>
                <a:ea typeface="+mn-ea"/>
                <a:cs typeface="Arial"/>
                <a:sym typeface="Arial"/>
              </a:rPr>
              <a:t>KEY QUESTION: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000000"/>
                </a:solidFill>
                <a:effectLst/>
                <a:uLnTx/>
                <a:uFillTx/>
                <a:latin typeface="Arial Nova" panose="020B0504020202020204" pitchFamily="34" charset="0"/>
                <a:ea typeface="+mn-ea"/>
                <a:cs typeface="Arial"/>
                <a:sym typeface="Arial"/>
              </a:rPr>
              <a:t>What percentage of loss over the course of a year would make you </a:t>
            </a:r>
            <a:r>
              <a:rPr kumimoji="0" lang="en-US" sz="1800" b="1" i="0" u="none" strike="noStrike" kern="0" cap="none" spc="0" normalizeH="0" baseline="0" noProof="0">
                <a:ln>
                  <a:noFill/>
                </a:ln>
                <a:solidFill>
                  <a:srgbClr val="000000"/>
                </a:solidFill>
                <a:effectLst/>
                <a:uLnTx/>
                <a:uFillTx/>
                <a:latin typeface="Arial Nova" panose="020B0504020202020204" pitchFamily="34" charset="0"/>
                <a:ea typeface="+mn-ea"/>
                <a:cs typeface="Arial"/>
                <a:sym typeface="Arial"/>
              </a:rPr>
              <a:t>AWARE</a:t>
            </a:r>
            <a:r>
              <a:rPr kumimoji="0" lang="en-US" sz="1800" b="0" i="0" u="none" strike="noStrike" kern="0" cap="none" spc="0" normalizeH="0" baseline="0" noProof="0">
                <a:ln>
                  <a:noFill/>
                </a:ln>
                <a:solidFill>
                  <a:srgbClr val="000000"/>
                </a:solidFill>
                <a:effectLst/>
                <a:uLnTx/>
                <a:uFillTx/>
                <a:latin typeface="Arial Nova" panose="020B0504020202020204" pitchFamily="34" charset="0"/>
                <a:ea typeface="+mn-ea"/>
                <a:cs typeface="Arial"/>
                <a:sym typeface="Arial"/>
              </a:rPr>
              <a:t>, </a:t>
            </a:r>
            <a:r>
              <a:rPr kumimoji="0" lang="en-US" sz="1800" b="1" i="0" u="none" strike="noStrike" kern="0" cap="none" spc="0" normalizeH="0" baseline="0" noProof="0">
                <a:ln>
                  <a:noFill/>
                </a:ln>
                <a:solidFill>
                  <a:srgbClr val="000000"/>
                </a:solidFill>
                <a:effectLst/>
                <a:uLnTx/>
                <a:uFillTx/>
                <a:latin typeface="Arial Nova" panose="020B0504020202020204" pitchFamily="34" charset="0"/>
                <a:ea typeface="+mn-ea"/>
                <a:cs typeface="Arial"/>
                <a:sym typeface="Arial"/>
              </a:rPr>
              <a:t>WORRIED,</a:t>
            </a:r>
            <a:r>
              <a:rPr kumimoji="0" lang="en-US" sz="1800" b="0" i="0" u="none" strike="noStrike" kern="0" cap="none" spc="0" normalizeH="0" baseline="0" noProof="0">
                <a:ln>
                  <a:noFill/>
                </a:ln>
                <a:solidFill>
                  <a:srgbClr val="000000"/>
                </a:solidFill>
                <a:effectLst/>
                <a:uLnTx/>
                <a:uFillTx/>
                <a:latin typeface="Arial Nova" panose="020B0504020202020204" pitchFamily="34" charset="0"/>
                <a:ea typeface="+mn-ea"/>
                <a:cs typeface="Arial"/>
                <a:sym typeface="Arial"/>
              </a:rPr>
              <a:t> and </a:t>
            </a:r>
            <a:r>
              <a:rPr kumimoji="0" lang="en-US" sz="1800" b="1" i="0" u="none" strike="noStrike" kern="0" cap="none" spc="0" normalizeH="0" baseline="0" noProof="0">
                <a:ln>
                  <a:noFill/>
                </a:ln>
                <a:solidFill>
                  <a:srgbClr val="000000"/>
                </a:solidFill>
                <a:effectLst/>
                <a:uLnTx/>
                <a:uFillTx/>
                <a:latin typeface="Arial Nova" panose="020B0504020202020204" pitchFamily="34" charset="0"/>
                <a:ea typeface="+mn-ea"/>
                <a:cs typeface="Arial"/>
                <a:sym typeface="Arial"/>
              </a:rPr>
              <a:t>ALARMED</a:t>
            </a:r>
            <a:r>
              <a:rPr kumimoji="0" lang="en-US" sz="1800" b="0" i="0" u="none" strike="noStrike" kern="0" cap="none" spc="0" normalizeH="0" baseline="0" noProof="0">
                <a:ln>
                  <a:noFill/>
                </a:ln>
                <a:solidFill>
                  <a:srgbClr val="000000"/>
                </a:solidFill>
                <a:effectLst/>
                <a:uLnTx/>
                <a:uFillTx/>
                <a:latin typeface="Arial Nova" panose="020B0504020202020204" pitchFamily="34" charset="0"/>
                <a:ea typeface="+mn-ea"/>
                <a:cs typeface="Arial"/>
                <a:sym typeface="Arial"/>
              </a:rPr>
              <a:t>?</a:t>
            </a:r>
          </a:p>
        </p:txBody>
      </p:sp>
    </p:spTree>
    <p:extLst>
      <p:ext uri="{BB962C8B-B14F-4D97-AF65-F5344CB8AC3E}">
        <p14:creationId xmlns:p14="http://schemas.microsoft.com/office/powerpoint/2010/main" val="1965149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wipe(down)">
                                      <p:cBhvr>
                                        <p:cTn id="22" dur="1000"/>
                                        <p:tgtEl>
                                          <p:spTgt spid="34"/>
                                        </p:tgtEl>
                                      </p:cBhvr>
                                    </p:animEffect>
                                  </p:childTnLst>
                                  <p:subTnLst>
                                    <p:set>
                                      <p:cBhvr override="childStyle">
                                        <p:cTn dur="1" fill="hold" display="0" masterRel="nextClick" afterEffect="1"/>
                                        <p:tgtEl>
                                          <p:spTgt spid="34"/>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down)">
                                      <p:cBhvr>
                                        <p:cTn id="32" dur="500"/>
                                        <p:tgtEl>
                                          <p:spTgt spid="25"/>
                                        </p:tgtEl>
                                      </p:cBhvr>
                                    </p:animEffect>
                                  </p:childTnLst>
                                </p:cTn>
                              </p:par>
                              <p:par>
                                <p:cTn id="33" presetID="10" presetClass="entr" presetSubtype="0"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wipe(down)">
                                      <p:cBhvr>
                                        <p:cTn id="40" dur="1000"/>
                                        <p:tgtEl>
                                          <p:spTgt spid="35"/>
                                        </p:tgtEl>
                                      </p:cBhvr>
                                    </p:animEffect>
                                  </p:childTnLst>
                                  <p:subTnLst>
                                    <p:set>
                                      <p:cBhvr override="childStyle">
                                        <p:cTn dur="1" fill="hold" display="0" masterRel="nextClick" afterEffect="1"/>
                                        <p:tgtEl>
                                          <p:spTgt spid="35"/>
                                        </p:tgtEl>
                                        <p:attrNameLst>
                                          <p:attrName>style.visibility</p:attrName>
                                        </p:attrNameLst>
                                      </p:cBhvr>
                                      <p:to>
                                        <p:strVal val="hidden"/>
                                      </p:to>
                                    </p:set>
                                  </p:sub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wipe(left)">
                                      <p:cBhvr>
                                        <p:cTn id="45" dur="5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wipe(down)">
                                      <p:cBhvr>
                                        <p:cTn id="50" dur="500"/>
                                        <p:tgtEl>
                                          <p:spTgt spid="28"/>
                                        </p:tgtEl>
                                      </p:cBhvr>
                                    </p:animEffect>
                                  </p:childTnLst>
                                </p:cTn>
                              </p:par>
                              <p:par>
                                <p:cTn id="51" presetID="10" presetClass="entr" presetSubtype="0" fill="hold"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00"/>
                                        <p:tgtEl>
                                          <p:spTgt spid="29"/>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wipe(down)">
                                      <p:cBhvr>
                                        <p:cTn id="58" dur="1000"/>
                                        <p:tgtEl>
                                          <p:spTgt spid="36"/>
                                        </p:tgtEl>
                                      </p:cBhvr>
                                    </p:animEffect>
                                  </p:childTnLst>
                                  <p:subTnLst>
                                    <p:set>
                                      <p:cBhvr override="childStyle">
                                        <p:cTn dur="1" fill="hold" display="0" masterRel="nextClick" afterEffect="1"/>
                                        <p:tgtEl>
                                          <p:spTgt spid="36"/>
                                        </p:tgtEl>
                                        <p:attrNameLst>
                                          <p:attrName>style.visibility</p:attrName>
                                        </p:attrNameLst>
                                      </p:cBhvr>
                                      <p:to>
                                        <p:strVal val="hidden"/>
                                      </p:to>
                                    </p:set>
                                  </p:sub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wipe(left)">
                                      <p:cBhvr>
                                        <p:cTn id="63" dur="500"/>
                                        <p:tgtEl>
                                          <p:spTgt spid="33"/>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nodeType="click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wipe(down)">
                                      <p:cBhvr>
                                        <p:cTn id="68" dur="500"/>
                                        <p:tgtEl>
                                          <p:spTgt spid="31"/>
                                        </p:tgtEl>
                                      </p:cBhvr>
                                    </p:animEffect>
                                  </p:childTnLst>
                                </p:cTn>
                              </p:par>
                              <p:par>
                                <p:cTn id="69" presetID="10" presetClass="entr" presetSubtype="0" fill="hold" nodeType="with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5">
            <a:extLst>
              <a:ext uri="{FF2B5EF4-FFF2-40B4-BE49-F238E27FC236}">
                <a16:creationId xmlns:a16="http://schemas.microsoft.com/office/drawing/2014/main" id="{9C716DFC-F5E0-AA55-7249-63E9871C3A91}"/>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10</a:t>
            </a:fld>
            <a:endParaRPr lang="en-US" dirty="0">
              <a:solidFill>
                <a:schemeClr val="bg1">
                  <a:lumMod val="75000"/>
                </a:schemeClr>
              </a:solidFill>
              <a:latin typeface="Arial Nova" panose="020B0504020202020204" pitchFamily="34" charset="0"/>
            </a:endParaRPr>
          </a:p>
        </p:txBody>
      </p:sp>
      <p:sp>
        <p:nvSpPr>
          <p:cNvPr id="13" name="Footer Placeholder 4">
            <a:extLst>
              <a:ext uri="{FF2B5EF4-FFF2-40B4-BE49-F238E27FC236}">
                <a16:creationId xmlns:a16="http://schemas.microsoft.com/office/drawing/2014/main" id="{7D63D72A-116F-86CF-5407-C0081D7D82C2}"/>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pic>
        <p:nvPicPr>
          <p:cNvPr id="3" name="Picture 2" descr="Timeline&#10;&#10;Description automatically generated">
            <a:extLst>
              <a:ext uri="{FF2B5EF4-FFF2-40B4-BE49-F238E27FC236}">
                <a16:creationId xmlns:a16="http://schemas.microsoft.com/office/drawing/2014/main" id="{7C2B7AE5-B943-9E57-7F39-28FB8CDD5D58}"/>
              </a:ext>
            </a:extLst>
          </p:cNvPr>
          <p:cNvPicPr>
            <a:picLocks noChangeAspect="1"/>
          </p:cNvPicPr>
          <p:nvPr/>
        </p:nvPicPr>
        <p:blipFill rotWithShape="1">
          <a:blip r:embed="rId3">
            <a:extLst>
              <a:ext uri="{28A0092B-C50C-407E-A947-70E740481C1C}">
                <a14:useLocalDpi xmlns:a14="http://schemas.microsoft.com/office/drawing/2010/main" val="0"/>
              </a:ext>
            </a:extLst>
          </a:blip>
          <a:srcRect t="55339" r="39635"/>
          <a:stretch/>
        </p:blipFill>
        <p:spPr>
          <a:xfrm>
            <a:off x="2076645" y="4228883"/>
            <a:ext cx="9057274" cy="2327465"/>
          </a:xfrm>
          <a:prstGeom prst="rect">
            <a:avLst/>
          </a:prstGeom>
        </p:spPr>
      </p:pic>
      <p:sp>
        <p:nvSpPr>
          <p:cNvPr id="4" name="Arrow: Right 3">
            <a:extLst>
              <a:ext uri="{FF2B5EF4-FFF2-40B4-BE49-F238E27FC236}">
                <a16:creationId xmlns:a16="http://schemas.microsoft.com/office/drawing/2014/main" id="{3A826206-B476-B0F7-FBB5-67805DCC7818}"/>
              </a:ext>
            </a:extLst>
          </p:cNvPr>
          <p:cNvSpPr/>
          <p:nvPr/>
        </p:nvSpPr>
        <p:spPr>
          <a:xfrm rot="16200000">
            <a:off x="4353482" y="5780374"/>
            <a:ext cx="1755984" cy="440633"/>
          </a:xfrm>
          <a:prstGeom prst="righ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Nova" panose="020B0504020202020204" pitchFamily="34" charset="0"/>
              <a:ea typeface="+mn-ea"/>
              <a:cs typeface="+mn-cs"/>
              <a:sym typeface="Arial"/>
            </a:endParaRPr>
          </a:p>
        </p:txBody>
      </p:sp>
      <p:sp>
        <p:nvSpPr>
          <p:cNvPr id="5" name="Arrow: Right 4">
            <a:extLst>
              <a:ext uri="{FF2B5EF4-FFF2-40B4-BE49-F238E27FC236}">
                <a16:creationId xmlns:a16="http://schemas.microsoft.com/office/drawing/2014/main" id="{BE40A39D-472E-8A32-4B3A-90E22EDCFF22}"/>
              </a:ext>
            </a:extLst>
          </p:cNvPr>
          <p:cNvSpPr/>
          <p:nvPr/>
        </p:nvSpPr>
        <p:spPr>
          <a:xfrm rot="16200000">
            <a:off x="9468259" y="5202304"/>
            <a:ext cx="2912124" cy="440633"/>
          </a:xfrm>
          <a:prstGeom prst="righ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Nova" panose="020B0504020202020204" pitchFamily="34" charset="0"/>
              <a:ea typeface="+mn-ea"/>
              <a:cs typeface="+mn-cs"/>
              <a:sym typeface="Arial"/>
            </a:endParaRPr>
          </a:p>
        </p:txBody>
      </p:sp>
      <p:pic>
        <p:nvPicPr>
          <p:cNvPr id="6" name="Picture 5" descr="Timeline&#10;&#10;Description automatically generated">
            <a:extLst>
              <a:ext uri="{FF2B5EF4-FFF2-40B4-BE49-F238E27FC236}">
                <a16:creationId xmlns:a16="http://schemas.microsoft.com/office/drawing/2014/main" id="{84953ED3-6625-FD8C-9D7A-94E99544BAFA}"/>
              </a:ext>
            </a:extLst>
          </p:cNvPr>
          <p:cNvPicPr>
            <a:picLocks noChangeAspect="1"/>
          </p:cNvPicPr>
          <p:nvPr/>
        </p:nvPicPr>
        <p:blipFill rotWithShape="1">
          <a:blip r:embed="rId4">
            <a:extLst>
              <a:ext uri="{28A0092B-C50C-407E-A947-70E740481C1C}">
                <a14:useLocalDpi xmlns:a14="http://schemas.microsoft.com/office/drawing/2010/main" val="0"/>
              </a:ext>
            </a:extLst>
          </a:blip>
          <a:srcRect t="9703" r="69174"/>
          <a:stretch/>
        </p:blipFill>
        <p:spPr>
          <a:xfrm>
            <a:off x="6178914" y="1555730"/>
            <a:ext cx="1698705" cy="2699627"/>
          </a:xfrm>
          <a:prstGeom prst="rect">
            <a:avLst/>
          </a:prstGeom>
        </p:spPr>
      </p:pic>
      <p:pic>
        <p:nvPicPr>
          <p:cNvPr id="7" name="Picture 6" descr="Timeline&#10;&#10;Description automatically generated">
            <a:extLst>
              <a:ext uri="{FF2B5EF4-FFF2-40B4-BE49-F238E27FC236}">
                <a16:creationId xmlns:a16="http://schemas.microsoft.com/office/drawing/2014/main" id="{21D19F97-9A1E-21F6-9E4E-FC22644EF54C}"/>
              </a:ext>
            </a:extLst>
          </p:cNvPr>
          <p:cNvPicPr>
            <a:picLocks noChangeAspect="1"/>
          </p:cNvPicPr>
          <p:nvPr/>
        </p:nvPicPr>
        <p:blipFill rotWithShape="1">
          <a:blip r:embed="rId3">
            <a:extLst>
              <a:ext uri="{28A0092B-C50C-407E-A947-70E740481C1C}">
                <a14:useLocalDpi xmlns:a14="http://schemas.microsoft.com/office/drawing/2010/main" val="0"/>
              </a:ext>
            </a:extLst>
          </a:blip>
          <a:srcRect t="19063" r="80637" b="63898"/>
          <a:stretch/>
        </p:blipFill>
        <p:spPr>
          <a:xfrm>
            <a:off x="626058" y="2771045"/>
            <a:ext cx="2400776" cy="733785"/>
          </a:xfrm>
          <a:prstGeom prst="rect">
            <a:avLst/>
          </a:prstGeom>
        </p:spPr>
      </p:pic>
      <p:pic>
        <p:nvPicPr>
          <p:cNvPr id="8" name="Picture 7" descr="Timeline&#10;&#10;Description automatically generated">
            <a:extLst>
              <a:ext uri="{FF2B5EF4-FFF2-40B4-BE49-F238E27FC236}">
                <a16:creationId xmlns:a16="http://schemas.microsoft.com/office/drawing/2014/main" id="{9CA8AEC6-35A0-7B68-9B3D-EA01177F2C51}"/>
              </a:ext>
            </a:extLst>
          </p:cNvPr>
          <p:cNvPicPr>
            <a:picLocks noChangeAspect="1"/>
          </p:cNvPicPr>
          <p:nvPr/>
        </p:nvPicPr>
        <p:blipFill rotWithShape="1">
          <a:blip r:embed="rId3">
            <a:extLst>
              <a:ext uri="{28A0092B-C50C-407E-A947-70E740481C1C}">
                <a14:useLocalDpi xmlns:a14="http://schemas.microsoft.com/office/drawing/2010/main" val="0"/>
              </a:ext>
            </a:extLst>
          </a:blip>
          <a:srcRect r="80637" b="81054"/>
          <a:stretch/>
        </p:blipFill>
        <p:spPr>
          <a:xfrm>
            <a:off x="626058" y="1317865"/>
            <a:ext cx="3951980" cy="1343074"/>
          </a:xfrm>
          <a:prstGeom prst="rect">
            <a:avLst/>
          </a:prstGeom>
        </p:spPr>
      </p:pic>
      <p:pic>
        <p:nvPicPr>
          <p:cNvPr id="9" name="Picture 8" descr="Timeline&#10;&#10;Description automatically generated">
            <a:extLst>
              <a:ext uri="{FF2B5EF4-FFF2-40B4-BE49-F238E27FC236}">
                <a16:creationId xmlns:a16="http://schemas.microsoft.com/office/drawing/2014/main" id="{2FACE9B7-269C-3E13-88DD-CAE26683E691}"/>
              </a:ext>
            </a:extLst>
          </p:cNvPr>
          <p:cNvPicPr>
            <a:picLocks noChangeAspect="1"/>
          </p:cNvPicPr>
          <p:nvPr/>
        </p:nvPicPr>
        <p:blipFill rotWithShape="1">
          <a:blip r:embed="rId4">
            <a:extLst>
              <a:ext uri="{28A0092B-C50C-407E-A947-70E740481C1C}">
                <a14:useLocalDpi xmlns:a14="http://schemas.microsoft.com/office/drawing/2010/main" val="0"/>
              </a:ext>
            </a:extLst>
          </a:blip>
          <a:srcRect l="75461" t="9851"/>
          <a:stretch/>
        </p:blipFill>
        <p:spPr>
          <a:xfrm>
            <a:off x="10052104" y="1569913"/>
            <a:ext cx="1325806" cy="2642582"/>
          </a:xfrm>
          <a:prstGeom prst="rect">
            <a:avLst/>
          </a:prstGeom>
        </p:spPr>
      </p:pic>
      <p:pic>
        <p:nvPicPr>
          <p:cNvPr id="10" name="Picture 9" descr="Timeline&#10;&#10;Description automatically generated">
            <a:extLst>
              <a:ext uri="{FF2B5EF4-FFF2-40B4-BE49-F238E27FC236}">
                <a16:creationId xmlns:a16="http://schemas.microsoft.com/office/drawing/2014/main" id="{344487E3-D2F6-D99F-51F7-2C4730B14794}"/>
              </a:ext>
            </a:extLst>
          </p:cNvPr>
          <p:cNvPicPr>
            <a:picLocks noChangeAspect="1"/>
          </p:cNvPicPr>
          <p:nvPr/>
        </p:nvPicPr>
        <p:blipFill rotWithShape="1">
          <a:blip r:embed="rId4">
            <a:extLst>
              <a:ext uri="{28A0092B-C50C-407E-A947-70E740481C1C}">
                <a14:useLocalDpi xmlns:a14="http://schemas.microsoft.com/office/drawing/2010/main" val="0"/>
              </a:ext>
            </a:extLst>
          </a:blip>
          <a:srcRect l="38247" t="9851" r="34694"/>
          <a:stretch/>
        </p:blipFill>
        <p:spPr>
          <a:xfrm>
            <a:off x="8122943" y="1569913"/>
            <a:ext cx="1461994" cy="2642582"/>
          </a:xfrm>
          <a:prstGeom prst="rect">
            <a:avLst/>
          </a:prstGeom>
        </p:spPr>
      </p:pic>
      <p:sp>
        <p:nvSpPr>
          <p:cNvPr id="11" name="Title Placeholder 1">
            <a:extLst>
              <a:ext uri="{FF2B5EF4-FFF2-40B4-BE49-F238E27FC236}">
                <a16:creationId xmlns:a16="http://schemas.microsoft.com/office/drawing/2014/main" id="{03ED7F18-37CC-BB51-D689-64B642B931B8}"/>
              </a:ext>
            </a:extLst>
          </p:cNvPr>
          <p:cNvSpPr txBox="1">
            <a:spLocks/>
          </p:cNvSpPr>
          <p:nvPr/>
        </p:nvSpPr>
        <p:spPr>
          <a:xfrm>
            <a:off x="381000" y="320676"/>
            <a:ext cx="10972800" cy="805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a:t>Start Smart: Relevant Risk Management</a:t>
            </a:r>
          </a:p>
        </p:txBody>
      </p:sp>
    </p:spTree>
    <p:extLst>
      <p:ext uri="{BB962C8B-B14F-4D97-AF65-F5344CB8AC3E}">
        <p14:creationId xmlns:p14="http://schemas.microsoft.com/office/powerpoint/2010/main" val="2394410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0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F1FE5F-F629-53E8-ADD8-7BD44E7908EF}"/>
              </a:ext>
            </a:extLst>
          </p:cNvPr>
          <p:cNvSpPr/>
          <p:nvPr/>
        </p:nvSpPr>
        <p:spPr>
          <a:xfrm>
            <a:off x="0" y="0"/>
            <a:ext cx="12192000" cy="6857999"/>
          </a:xfrm>
          <a:prstGeom prst="rect">
            <a:avLst/>
          </a:prstGeom>
          <a:solidFill>
            <a:srgbClr val="02437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D56A5A5B-BBD6-9856-0FDE-71F3BA17F89B}"/>
              </a:ext>
            </a:extLst>
          </p:cNvPr>
          <p:cNvCxnSpPr>
            <a:cxnSpLocks/>
          </p:cNvCxnSpPr>
          <p:nvPr/>
        </p:nvCxnSpPr>
        <p:spPr>
          <a:xfrm>
            <a:off x="-176349" y="2495890"/>
            <a:ext cx="13075920" cy="0"/>
          </a:xfrm>
          <a:prstGeom prst="line">
            <a:avLst/>
          </a:prstGeom>
          <a:ln>
            <a:solidFill>
              <a:srgbClr val="0076B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D709ED0-478E-BB4D-A785-67292D453136}"/>
              </a:ext>
            </a:extLst>
          </p:cNvPr>
          <p:cNvSpPr txBox="1"/>
          <p:nvPr/>
        </p:nvSpPr>
        <p:spPr>
          <a:xfrm>
            <a:off x="2581832" y="1572712"/>
            <a:ext cx="8416091" cy="784830"/>
          </a:xfrm>
          <a:prstGeom prst="rect">
            <a:avLst/>
          </a:prstGeom>
          <a:noFill/>
        </p:spPr>
        <p:txBody>
          <a:bodyPr wrap="square" rtlCol="0">
            <a:spAutoFit/>
          </a:bodyPr>
          <a:lstStyle/>
          <a:p>
            <a:r>
              <a:rPr lang="en-US" sz="4500">
                <a:solidFill>
                  <a:schemeClr val="bg1"/>
                </a:solidFill>
                <a:latin typeface="Arial Nova" panose="020B0504020202020204" pitchFamily="34" charset="0"/>
              </a:rPr>
              <a:t>Apply Discipline</a:t>
            </a:r>
          </a:p>
        </p:txBody>
      </p:sp>
      <p:grpSp>
        <p:nvGrpSpPr>
          <p:cNvPr id="2" name="Group 1">
            <a:extLst>
              <a:ext uri="{FF2B5EF4-FFF2-40B4-BE49-F238E27FC236}">
                <a16:creationId xmlns:a16="http://schemas.microsoft.com/office/drawing/2014/main" id="{7BBB14A9-1D07-0457-EAE6-5D02225E5948}"/>
              </a:ext>
            </a:extLst>
          </p:cNvPr>
          <p:cNvGrpSpPr/>
          <p:nvPr/>
        </p:nvGrpSpPr>
        <p:grpSpPr>
          <a:xfrm>
            <a:off x="857539" y="1301724"/>
            <a:ext cx="1488163" cy="1451609"/>
            <a:chOff x="6320976" y="2421578"/>
            <a:chExt cx="1488163" cy="1451609"/>
          </a:xfrm>
        </p:grpSpPr>
        <p:sp>
          <p:nvSpPr>
            <p:cNvPr id="4" name="Oval 3">
              <a:extLst>
                <a:ext uri="{FF2B5EF4-FFF2-40B4-BE49-F238E27FC236}">
                  <a16:creationId xmlns:a16="http://schemas.microsoft.com/office/drawing/2014/main" id="{50F823FC-B554-88A6-E26F-FD07AD779443}"/>
                </a:ext>
              </a:extLst>
            </p:cNvPr>
            <p:cNvSpPr>
              <a:spLocks noChangeAspect="1"/>
            </p:cNvSpPr>
            <p:nvPr/>
          </p:nvSpPr>
          <p:spPr>
            <a:xfrm>
              <a:off x="6320976" y="2421578"/>
              <a:ext cx="1488163" cy="1451609"/>
            </a:xfrm>
            <a:prstGeom prst="ellipse">
              <a:avLst/>
            </a:prstGeom>
            <a:solidFill>
              <a:schemeClr val="bg1"/>
            </a:solidFill>
            <a:ln w="12700" cap="flat" cmpd="sng" algn="ctr">
              <a:solidFill>
                <a:srgbClr val="1D71BD"/>
              </a:solidFill>
              <a:prstDash val="solid"/>
              <a:miter lim="800000"/>
            </a:ln>
            <a:effectLst/>
          </p:spPr>
          <p:txBody>
            <a:bodyPr rtlCol="0" anchor="ctr"/>
            <a:lstStyle/>
            <a:p>
              <a:pPr marL="0" marR="0" lvl="0" indent="0" algn="ctr" defTabSz="1828434" eaLnBrk="1" fontAlgn="auto" latinLnBrk="0" hangingPunct="1">
                <a:lnSpc>
                  <a:spcPct val="100000"/>
                </a:lnSpc>
                <a:spcBef>
                  <a:spcPts val="0"/>
                </a:spcBef>
                <a:spcAft>
                  <a:spcPts val="0"/>
                </a:spcAft>
                <a:buClrTx/>
                <a:buSzTx/>
                <a:buFontTx/>
                <a:buNone/>
                <a:tabLst/>
                <a:defRPr/>
              </a:pPr>
              <a:endParaRPr kumimoji="0" lang="en-US" sz="6398" b="0" i="0" u="none" strike="noStrike" kern="0" cap="none" spc="0" normalizeH="0" baseline="0" noProof="0">
                <a:ln>
                  <a:noFill/>
                </a:ln>
                <a:solidFill>
                  <a:srgbClr val="FFFFFF"/>
                </a:solidFill>
                <a:effectLst/>
                <a:uLnTx/>
                <a:uFillTx/>
                <a:latin typeface="Noto Sans ExtraLight" panose="020B0302040504020204" pitchFamily="34" charset="0"/>
                <a:ea typeface="+mn-ea"/>
                <a:cs typeface="+mn-cs"/>
              </a:endParaRPr>
            </a:p>
          </p:txBody>
        </p:sp>
        <p:pic>
          <p:nvPicPr>
            <p:cNvPr id="7" name="Picture 6">
              <a:extLst>
                <a:ext uri="{FF2B5EF4-FFF2-40B4-BE49-F238E27FC236}">
                  <a16:creationId xmlns:a16="http://schemas.microsoft.com/office/drawing/2014/main" id="{4F1296AE-6D35-D599-F2CA-F669D073B1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7857" y="2692667"/>
              <a:ext cx="914400" cy="909430"/>
            </a:xfrm>
            <a:prstGeom prst="rect">
              <a:avLst/>
            </a:prstGeom>
          </p:spPr>
        </p:pic>
      </p:grpSp>
      <p:sp>
        <p:nvSpPr>
          <p:cNvPr id="5" name="Slide Number Placeholder 5">
            <a:extLst>
              <a:ext uri="{FF2B5EF4-FFF2-40B4-BE49-F238E27FC236}">
                <a16:creationId xmlns:a16="http://schemas.microsoft.com/office/drawing/2014/main" id="{E8CA19F6-BB51-BD64-5D64-1B0311DE37DA}"/>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solidFill>
                <a:latin typeface="Arial Nova" panose="020B0504020202020204" pitchFamily="34" charset="0"/>
              </a:rPr>
              <a:t>11</a:t>
            </a:fld>
            <a:endParaRPr lang="en-US" dirty="0">
              <a:solidFill>
                <a:schemeClr val="bg1"/>
              </a:solidFill>
              <a:latin typeface="Arial Nova" panose="020B0504020202020204" pitchFamily="34" charset="0"/>
            </a:endParaRPr>
          </a:p>
        </p:txBody>
      </p:sp>
      <p:sp>
        <p:nvSpPr>
          <p:cNvPr id="6" name="Footer Placeholder 4">
            <a:extLst>
              <a:ext uri="{FF2B5EF4-FFF2-40B4-BE49-F238E27FC236}">
                <a16:creationId xmlns:a16="http://schemas.microsoft.com/office/drawing/2014/main" id="{5525F241-0EBA-5790-A140-9F2BD60655BB}"/>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3594967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3789DA3-0FED-EA0B-D98B-034864AAE28D}"/>
              </a:ext>
            </a:extLst>
          </p:cNvPr>
          <p:cNvSpPr txBox="1">
            <a:spLocks/>
          </p:cNvSpPr>
          <p:nvPr/>
        </p:nvSpPr>
        <p:spPr>
          <a:xfrm>
            <a:off x="334696" y="444171"/>
            <a:ext cx="9030978" cy="577073"/>
          </a:xfrm>
          <a:prstGeom prst="rect">
            <a:avLst/>
          </a:prstGeom>
        </p:spPr>
        <p:txBody>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a:t>Apply Discipline</a:t>
            </a:r>
          </a:p>
        </p:txBody>
      </p:sp>
      <p:grpSp>
        <p:nvGrpSpPr>
          <p:cNvPr id="4" name="Group 3">
            <a:extLst>
              <a:ext uri="{FF2B5EF4-FFF2-40B4-BE49-F238E27FC236}">
                <a16:creationId xmlns:a16="http://schemas.microsoft.com/office/drawing/2014/main" id="{E0709F76-D4D4-784E-B325-D56A0D9CCB1D}"/>
              </a:ext>
            </a:extLst>
          </p:cNvPr>
          <p:cNvGrpSpPr/>
          <p:nvPr/>
        </p:nvGrpSpPr>
        <p:grpSpPr>
          <a:xfrm>
            <a:off x="2608749" y="3033791"/>
            <a:ext cx="3042577" cy="1745189"/>
            <a:chOff x="4220271" y="4523361"/>
            <a:chExt cx="1715107" cy="1745189"/>
          </a:xfrm>
        </p:grpSpPr>
        <p:sp>
          <p:nvSpPr>
            <p:cNvPr id="5" name="Rectangle 4">
              <a:extLst>
                <a:ext uri="{FF2B5EF4-FFF2-40B4-BE49-F238E27FC236}">
                  <a16:creationId xmlns:a16="http://schemas.microsoft.com/office/drawing/2014/main" id="{A9802C7E-2743-BC9D-8CCF-EBD0A4E40230}"/>
                </a:ext>
              </a:extLst>
            </p:cNvPr>
            <p:cNvSpPr/>
            <p:nvPr/>
          </p:nvSpPr>
          <p:spPr>
            <a:xfrm>
              <a:off x="4220271" y="4523361"/>
              <a:ext cx="1715107" cy="1745189"/>
            </a:xfrm>
            <a:prstGeom prst="rect">
              <a:avLst/>
            </a:prstGeom>
            <a:solidFill>
              <a:schemeClr val="bg1">
                <a:lumMod val="95000"/>
              </a:schemeClr>
            </a:solidFill>
            <a:ln>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6" name="TextBox 5">
              <a:extLst>
                <a:ext uri="{FF2B5EF4-FFF2-40B4-BE49-F238E27FC236}">
                  <a16:creationId xmlns:a16="http://schemas.microsoft.com/office/drawing/2014/main" id="{7E820556-B86E-1D6E-E95A-986D6B0CC469}"/>
                </a:ext>
              </a:extLst>
            </p:cNvPr>
            <p:cNvSpPr txBox="1"/>
            <p:nvPr/>
          </p:nvSpPr>
          <p:spPr>
            <a:xfrm>
              <a:off x="4476382" y="4811180"/>
              <a:ext cx="1202885" cy="11695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a:ln>
                    <a:noFill/>
                  </a:ln>
                  <a:solidFill>
                    <a:srgbClr val="0E4774"/>
                  </a:solidFill>
                  <a:effectLst/>
                  <a:uLnTx/>
                  <a:uFillTx/>
                  <a:latin typeface="Arial Nova" panose="020B0504020202020204" pitchFamily="34" charset="0"/>
                  <a:ea typeface="+mn-ea"/>
                  <a:cs typeface="+mn-cs"/>
                </a:rPr>
                <a:t>Design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a:ln>
                    <a:noFill/>
                  </a:ln>
                  <a:solidFill>
                    <a:srgbClr val="0E4774"/>
                  </a:solidFill>
                  <a:effectLst/>
                  <a:uLnTx/>
                  <a:uFillTx/>
                  <a:latin typeface="Arial Nova" panose="020B0504020202020204" pitchFamily="34" charset="0"/>
                  <a:ea typeface="+mn-ea"/>
                  <a:cs typeface="+mn-cs"/>
                </a:rPr>
                <a:t>Portfolio</a:t>
              </a:r>
              <a:endParaRPr kumimoji="0" lang="en-US" sz="3500" b="0" i="0" u="none" strike="noStrike" kern="1200" cap="none" spc="0" normalizeH="0" baseline="0" noProof="0">
                <a:ln>
                  <a:noFill/>
                </a:ln>
                <a:solidFill>
                  <a:srgbClr val="000000"/>
                </a:solidFill>
                <a:effectLst/>
                <a:uLnTx/>
                <a:uFillTx/>
                <a:latin typeface="Arial Nova" panose="020B0504020202020204" pitchFamily="34" charset="0"/>
                <a:ea typeface="+mn-ea"/>
                <a:cs typeface="+mn-cs"/>
              </a:endParaRPr>
            </a:p>
          </p:txBody>
        </p:sp>
      </p:grpSp>
      <p:grpSp>
        <p:nvGrpSpPr>
          <p:cNvPr id="7" name="Group 6">
            <a:extLst>
              <a:ext uri="{FF2B5EF4-FFF2-40B4-BE49-F238E27FC236}">
                <a16:creationId xmlns:a16="http://schemas.microsoft.com/office/drawing/2014/main" id="{91F85EDB-32D8-ABFD-ECA7-2AD8592F1397}"/>
              </a:ext>
            </a:extLst>
          </p:cNvPr>
          <p:cNvGrpSpPr/>
          <p:nvPr/>
        </p:nvGrpSpPr>
        <p:grpSpPr>
          <a:xfrm>
            <a:off x="6540676" y="3009555"/>
            <a:ext cx="3042577" cy="1745189"/>
            <a:chOff x="4220271" y="4523361"/>
            <a:chExt cx="1715107" cy="1745189"/>
          </a:xfrm>
        </p:grpSpPr>
        <p:sp>
          <p:nvSpPr>
            <p:cNvPr id="8" name="Rectangle 7">
              <a:extLst>
                <a:ext uri="{FF2B5EF4-FFF2-40B4-BE49-F238E27FC236}">
                  <a16:creationId xmlns:a16="http://schemas.microsoft.com/office/drawing/2014/main" id="{5EDCD587-2A4F-B4D8-B246-A18CE0434061}"/>
                </a:ext>
              </a:extLst>
            </p:cNvPr>
            <p:cNvSpPr/>
            <p:nvPr/>
          </p:nvSpPr>
          <p:spPr>
            <a:xfrm>
              <a:off x="4220271" y="4523361"/>
              <a:ext cx="1715107" cy="1745189"/>
            </a:xfrm>
            <a:prstGeom prst="rect">
              <a:avLst/>
            </a:prstGeom>
            <a:solidFill>
              <a:schemeClr val="bg1">
                <a:lumMod val="95000"/>
              </a:schemeClr>
            </a:solidFill>
            <a:ln>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 name="TextBox 8">
              <a:extLst>
                <a:ext uri="{FF2B5EF4-FFF2-40B4-BE49-F238E27FC236}">
                  <a16:creationId xmlns:a16="http://schemas.microsoft.com/office/drawing/2014/main" id="{2027DBDC-0C48-61F5-2779-5F4F85CA5A51}"/>
                </a:ext>
              </a:extLst>
            </p:cNvPr>
            <p:cNvSpPr txBox="1"/>
            <p:nvPr/>
          </p:nvSpPr>
          <p:spPr>
            <a:xfrm>
              <a:off x="4476382" y="4811180"/>
              <a:ext cx="1202885" cy="11695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a:ln>
                    <a:noFill/>
                  </a:ln>
                  <a:solidFill>
                    <a:srgbClr val="0E4774"/>
                  </a:solidFill>
                  <a:effectLst/>
                  <a:uLnTx/>
                  <a:uFillTx/>
                  <a:latin typeface="Arial Nova" panose="020B0504020202020204" pitchFamily="34" charset="0"/>
                  <a:ea typeface="+mn-ea"/>
                  <a:cs typeface="+mn-cs"/>
                </a:rPr>
                <a:t>Monitor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a:ln>
                    <a:noFill/>
                  </a:ln>
                  <a:solidFill>
                    <a:srgbClr val="0E4774"/>
                  </a:solidFill>
                  <a:effectLst/>
                  <a:uLnTx/>
                  <a:uFillTx/>
                  <a:latin typeface="Arial Nova" panose="020B0504020202020204" pitchFamily="34" charset="0"/>
                  <a:ea typeface="+mn-ea"/>
                  <a:cs typeface="+mn-cs"/>
                </a:rPr>
                <a:t>Portfolio</a:t>
              </a:r>
              <a:endParaRPr kumimoji="0" lang="en-US" sz="3500" b="0" i="0" u="none" strike="noStrike" kern="1200" cap="none" spc="0" normalizeH="0" baseline="0" noProof="0">
                <a:ln>
                  <a:noFill/>
                </a:ln>
                <a:solidFill>
                  <a:srgbClr val="000000"/>
                </a:solidFill>
                <a:effectLst/>
                <a:uLnTx/>
                <a:uFillTx/>
                <a:latin typeface="Arial Nova" panose="020B0504020202020204" pitchFamily="34" charset="0"/>
                <a:ea typeface="+mn-ea"/>
                <a:cs typeface="+mn-cs"/>
              </a:endParaRPr>
            </a:p>
          </p:txBody>
        </p:sp>
      </p:grpSp>
      <p:sp>
        <p:nvSpPr>
          <p:cNvPr id="10" name="Slide Number Placeholder 5">
            <a:extLst>
              <a:ext uri="{FF2B5EF4-FFF2-40B4-BE49-F238E27FC236}">
                <a16:creationId xmlns:a16="http://schemas.microsoft.com/office/drawing/2014/main" id="{9F2484CE-759B-7F57-360D-0BECBFA6EAC2}"/>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12</a:t>
            </a:fld>
            <a:endParaRPr lang="en-US" dirty="0">
              <a:solidFill>
                <a:schemeClr val="bg1">
                  <a:lumMod val="75000"/>
                </a:schemeClr>
              </a:solidFill>
              <a:latin typeface="Arial Nova" panose="020B0504020202020204" pitchFamily="34" charset="0"/>
            </a:endParaRPr>
          </a:p>
        </p:txBody>
      </p:sp>
      <p:sp>
        <p:nvSpPr>
          <p:cNvPr id="11" name="Footer Placeholder 4">
            <a:extLst>
              <a:ext uri="{FF2B5EF4-FFF2-40B4-BE49-F238E27FC236}">
                <a16:creationId xmlns:a16="http://schemas.microsoft.com/office/drawing/2014/main" id="{E254AA6E-1C08-4FAB-5611-7A3E519DB351}"/>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3046249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01;p13">
            <a:extLst>
              <a:ext uri="{FF2B5EF4-FFF2-40B4-BE49-F238E27FC236}">
                <a16:creationId xmlns:a16="http://schemas.microsoft.com/office/drawing/2014/main" id="{3F220831-E58D-84EF-42AF-88E5459AE142}"/>
              </a:ext>
            </a:extLst>
          </p:cNvPr>
          <p:cNvSpPr txBox="1">
            <a:spLocks/>
          </p:cNvSpPr>
          <p:nvPr/>
        </p:nvSpPr>
        <p:spPr>
          <a:xfrm>
            <a:off x="222730" y="444171"/>
            <a:ext cx="9030978" cy="577073"/>
          </a:xfrm>
          <a:prstGeom prst="rect">
            <a:avLst/>
          </a:prstGeom>
          <a:noFill/>
          <a:ln>
            <a:noFill/>
          </a:ln>
        </p:spPr>
        <p:txBody>
          <a:bodyPr spcFirstLastPara="1" wrap="square" lIns="91425" tIns="45700" rIns="91425" bIns="45700" anchor="ctr" anchorCtr="0">
            <a:normAutofit/>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pPr>
              <a:spcBef>
                <a:spcPts val="0"/>
              </a:spcBef>
              <a:buClr>
                <a:schemeClr val="lt1"/>
              </a:buClr>
              <a:buSzPts val="3400"/>
              <a:buFont typeface="Arial"/>
              <a:buNone/>
            </a:pPr>
            <a:r>
              <a:rPr lang="en-US"/>
              <a:t>Apply Discipline</a:t>
            </a:r>
          </a:p>
        </p:txBody>
      </p:sp>
      <p:sp>
        <p:nvSpPr>
          <p:cNvPr id="3" name="TextBox 2">
            <a:extLst>
              <a:ext uri="{FF2B5EF4-FFF2-40B4-BE49-F238E27FC236}">
                <a16:creationId xmlns:a16="http://schemas.microsoft.com/office/drawing/2014/main" id="{D3905F12-CADD-9F83-592E-80E6B6F48B50}"/>
              </a:ext>
            </a:extLst>
          </p:cNvPr>
          <p:cNvSpPr txBox="1"/>
          <p:nvPr/>
        </p:nvSpPr>
        <p:spPr>
          <a:xfrm>
            <a:off x="3717870" y="5836296"/>
            <a:ext cx="7830899"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a:ln>
                  <a:noFill/>
                </a:ln>
                <a:solidFill>
                  <a:srgbClr val="124472"/>
                </a:solidFill>
                <a:effectLst/>
                <a:uLnTx/>
                <a:uFillTx/>
                <a:latin typeface="Arial Nova" panose="020B0504020202020204" pitchFamily="34" charset="0"/>
                <a:ea typeface="+mn-ea"/>
                <a:cs typeface="+mn-cs"/>
              </a:rPr>
              <a:t>15-25 Money Managers and 200-300 Strategies</a:t>
            </a:r>
          </a:p>
        </p:txBody>
      </p:sp>
      <p:grpSp>
        <p:nvGrpSpPr>
          <p:cNvPr id="4" name="Group 3">
            <a:extLst>
              <a:ext uri="{FF2B5EF4-FFF2-40B4-BE49-F238E27FC236}">
                <a16:creationId xmlns:a16="http://schemas.microsoft.com/office/drawing/2014/main" id="{8C2FF5BB-B58D-B28D-1D1C-848AA8E3BD17}"/>
              </a:ext>
            </a:extLst>
          </p:cNvPr>
          <p:cNvGrpSpPr/>
          <p:nvPr/>
        </p:nvGrpSpPr>
        <p:grpSpPr>
          <a:xfrm>
            <a:off x="5564881" y="1913169"/>
            <a:ext cx="4161662" cy="3787911"/>
            <a:chOff x="2064801" y="2230759"/>
            <a:chExt cx="6997466" cy="8018933"/>
          </a:xfrm>
        </p:grpSpPr>
        <p:sp>
          <p:nvSpPr>
            <p:cNvPr id="5" name="Freeform 66">
              <a:extLst>
                <a:ext uri="{FF2B5EF4-FFF2-40B4-BE49-F238E27FC236}">
                  <a16:creationId xmlns:a16="http://schemas.microsoft.com/office/drawing/2014/main" id="{AF9DC563-8740-5194-F68B-4750FFABEDFA}"/>
                </a:ext>
              </a:extLst>
            </p:cNvPr>
            <p:cNvSpPr/>
            <p:nvPr/>
          </p:nvSpPr>
          <p:spPr bwMode="auto">
            <a:xfrm>
              <a:off x="4261328" y="8900668"/>
              <a:ext cx="2621867" cy="1349024"/>
            </a:xfrm>
            <a:custGeom>
              <a:avLst/>
              <a:gdLst>
                <a:gd name="connsiteX0" fmla="*/ 2621867 w 2621867"/>
                <a:gd name="connsiteY0" fmla="*/ 0 h 1349024"/>
                <a:gd name="connsiteX1" fmla="*/ 2200305 w 2621867"/>
                <a:gd name="connsiteY1" fmla="*/ 1044519 h 1349024"/>
                <a:gd name="connsiteX2" fmla="*/ 2199211 w 2621867"/>
                <a:gd name="connsiteY2" fmla="*/ 1044521 h 1349024"/>
                <a:gd name="connsiteX3" fmla="*/ 2195624 w 2621867"/>
                <a:gd name="connsiteY3" fmla="*/ 1058827 h 1349024"/>
                <a:gd name="connsiteX4" fmla="*/ 1310141 w 2621867"/>
                <a:gd name="connsiteY4" fmla="*/ 1349024 h 1349024"/>
                <a:gd name="connsiteX5" fmla="*/ 424658 w 2621867"/>
                <a:gd name="connsiteY5" fmla="*/ 1058827 h 1349024"/>
                <a:gd name="connsiteX6" fmla="*/ 421813 w 2621867"/>
                <a:gd name="connsiteY6" fmla="*/ 1047476 h 1349024"/>
                <a:gd name="connsiteX7" fmla="*/ 421441 w 2621867"/>
                <a:gd name="connsiteY7" fmla="*/ 1047477 h 1349024"/>
                <a:gd name="connsiteX8" fmla="*/ 0 w 2621867"/>
                <a:gd name="connsiteY8" fmla="*/ 5189 h 1349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21867" h="1349024">
                  <a:moveTo>
                    <a:pt x="2621867" y="0"/>
                  </a:moveTo>
                  <a:lnTo>
                    <a:pt x="2200305" y="1044519"/>
                  </a:lnTo>
                  <a:lnTo>
                    <a:pt x="2199211" y="1044521"/>
                  </a:lnTo>
                  <a:lnTo>
                    <a:pt x="2195624" y="1058827"/>
                  </a:lnTo>
                  <a:cubicBezTo>
                    <a:pt x="2111344" y="1224442"/>
                    <a:pt x="1746924" y="1349024"/>
                    <a:pt x="1310141" y="1349024"/>
                  </a:cubicBezTo>
                  <a:cubicBezTo>
                    <a:pt x="873359" y="1349024"/>
                    <a:pt x="508939" y="1224442"/>
                    <a:pt x="424658" y="1058827"/>
                  </a:cubicBezTo>
                  <a:lnTo>
                    <a:pt x="421813" y="1047476"/>
                  </a:lnTo>
                  <a:lnTo>
                    <a:pt x="421441" y="1047477"/>
                  </a:lnTo>
                  <a:lnTo>
                    <a:pt x="0" y="5189"/>
                  </a:lnTo>
                  <a:close/>
                </a:path>
              </a:pathLst>
            </a:custGeom>
            <a:solidFill>
              <a:srgbClr val="2181D9"/>
            </a:solidFill>
            <a:ln w="12700" cap="flat">
              <a:noFill/>
              <a:miter lim="400000"/>
            </a:ln>
            <a:effectLst/>
          </p:spPr>
          <p:txBody>
            <a:bodyPr wrap="square" lIns="50787" tIns="50787" rIns="50787" bIns="50787" anchor="ctr">
              <a:noAutofit/>
            </a:bodyPr>
            <a:lstStyle/>
            <a:p>
              <a:pPr marL="0" marR="0" lvl="0" indent="0" algn="l" defTabSz="1828434" rtl="0" eaLnBrk="1" fontAlgn="auto" latinLnBrk="0" hangingPunct="1">
                <a:lnSpc>
                  <a:spcPct val="100000"/>
                </a:lnSpc>
                <a:spcBef>
                  <a:spcPts val="0"/>
                </a:spcBef>
                <a:spcAft>
                  <a:spcPts val="0"/>
                </a:spcAft>
                <a:buClrTx/>
                <a:buSzTx/>
                <a:buFontTx/>
                <a:buNone/>
                <a:tabLst/>
                <a:defRPr sz="3200" b="0">
                  <a:solidFill>
                    <a:srgbClr val="FFFFFF"/>
                  </a:solidFill>
                  <a:latin typeface="Helvetica Light"/>
                  <a:ea typeface="Helvetica Light"/>
                  <a:cs typeface="Helvetica Light"/>
                  <a:sym typeface="Helvetica Light"/>
                </a:defRPr>
              </a:pPr>
              <a:endParaRPr kumimoji="0" sz="3199" b="0" i="0" u="none" strike="noStrike" kern="0" cap="none" spc="0" normalizeH="0" baseline="0" noProof="0">
                <a:ln>
                  <a:noFill/>
                </a:ln>
                <a:solidFill>
                  <a:srgbClr val="FFFFFF"/>
                </a:solidFill>
                <a:effectLst/>
                <a:uLnTx/>
                <a:uFillTx/>
                <a:latin typeface="Noto Sans ExtraLight" panose="020B0302040504020204" pitchFamily="34" charset="0"/>
                <a:ea typeface="Noto Sans ExtraLight" panose="020B0302040504020204" pitchFamily="34" charset="0"/>
                <a:cs typeface="Noto Sans ExtraLight" panose="020B0302040504020204" pitchFamily="34" charset="0"/>
                <a:sym typeface="Helvetica Light"/>
              </a:endParaRPr>
            </a:p>
          </p:txBody>
        </p:sp>
        <p:sp>
          <p:nvSpPr>
            <p:cNvPr id="6" name="Овал">
              <a:extLst>
                <a:ext uri="{FF2B5EF4-FFF2-40B4-BE49-F238E27FC236}">
                  <a16:creationId xmlns:a16="http://schemas.microsoft.com/office/drawing/2014/main" id="{66C16F49-A87E-4DAF-B6A1-EA6219B6DFD9}"/>
                </a:ext>
              </a:extLst>
            </p:cNvPr>
            <p:cNvSpPr/>
            <p:nvPr/>
          </p:nvSpPr>
          <p:spPr bwMode="auto">
            <a:xfrm>
              <a:off x="4258155" y="8541987"/>
              <a:ext cx="2626628" cy="671338"/>
            </a:xfrm>
            <a:prstGeom prst="ellipse">
              <a:avLst/>
            </a:prstGeom>
            <a:solidFill>
              <a:srgbClr val="1B67AD"/>
            </a:solidFill>
            <a:ln w="12700" cap="flat">
              <a:noFill/>
              <a:miter lim="400000"/>
            </a:ln>
            <a:effectLst/>
          </p:spPr>
          <p:txBody>
            <a:bodyPr lIns="50787" tIns="50787" rIns="50787" bIns="50787" anchor="ctr"/>
            <a:lstStyle/>
            <a:p>
              <a:pPr marL="0" marR="0" lvl="0" indent="0" algn="l" defTabSz="1828434" rtl="0" eaLnBrk="1" fontAlgn="auto" latinLnBrk="0" hangingPunct="1">
                <a:lnSpc>
                  <a:spcPct val="100000"/>
                </a:lnSpc>
                <a:spcBef>
                  <a:spcPts val="0"/>
                </a:spcBef>
                <a:spcAft>
                  <a:spcPts val="0"/>
                </a:spcAft>
                <a:buClrTx/>
                <a:buSzTx/>
                <a:buFontTx/>
                <a:buNone/>
                <a:tabLst/>
                <a:defRPr sz="3200" b="0">
                  <a:solidFill>
                    <a:srgbClr val="FFFFFF"/>
                  </a:solidFill>
                  <a:latin typeface="Helvetica Light"/>
                  <a:ea typeface="Helvetica Light"/>
                  <a:cs typeface="Helvetica Light"/>
                  <a:sym typeface="Helvetica Light"/>
                </a:defRPr>
              </a:pPr>
              <a:endParaRPr kumimoji="0" sz="3199" b="0" i="0" u="none" strike="noStrike" kern="0" cap="none" spc="0" normalizeH="0" baseline="0" noProof="0">
                <a:ln>
                  <a:noFill/>
                </a:ln>
                <a:solidFill>
                  <a:srgbClr val="FFFFFF"/>
                </a:solidFill>
                <a:effectLst/>
                <a:uLnTx/>
                <a:uFillTx/>
                <a:latin typeface="Noto Sans ExtraLight" panose="020B0302040504020204" pitchFamily="34" charset="0"/>
                <a:ea typeface="Noto Sans ExtraLight" panose="020B0302040504020204" pitchFamily="34" charset="0"/>
                <a:cs typeface="Noto Sans ExtraLight" panose="020B0302040504020204" pitchFamily="34" charset="0"/>
                <a:sym typeface="Helvetica Light"/>
              </a:endParaRPr>
            </a:p>
          </p:txBody>
        </p:sp>
        <p:sp>
          <p:nvSpPr>
            <p:cNvPr id="7" name="Freeform 65">
              <a:extLst>
                <a:ext uri="{FF2B5EF4-FFF2-40B4-BE49-F238E27FC236}">
                  <a16:creationId xmlns:a16="http://schemas.microsoft.com/office/drawing/2014/main" id="{4D33694C-EED9-0F3F-E5E3-8936408CCD97}"/>
                </a:ext>
              </a:extLst>
            </p:cNvPr>
            <p:cNvSpPr>
              <a:spLocks/>
            </p:cNvSpPr>
            <p:nvPr/>
          </p:nvSpPr>
          <p:spPr bwMode="auto">
            <a:xfrm>
              <a:off x="3775937" y="7526298"/>
              <a:ext cx="3592112" cy="1291959"/>
            </a:xfrm>
            <a:custGeom>
              <a:avLst/>
              <a:gdLst>
                <a:gd name="connsiteX0" fmla="*/ 3592112 w 3592112"/>
                <a:gd name="connsiteY0" fmla="*/ 0 h 1291959"/>
                <a:gd name="connsiteX1" fmla="*/ 3220096 w 3592112"/>
                <a:gd name="connsiteY1" fmla="*/ 989519 h 1291959"/>
                <a:gd name="connsiteX2" fmla="*/ 3215992 w 3592112"/>
                <a:gd name="connsiteY2" fmla="*/ 989522 h 1291959"/>
                <a:gd name="connsiteX3" fmla="*/ 3195602 w 3592112"/>
                <a:gd name="connsiteY3" fmla="*/ 1034861 h 1291959"/>
                <a:gd name="connsiteX4" fmla="*/ 1788290 w 3592112"/>
                <a:gd name="connsiteY4" fmla="*/ 1291959 h 1291959"/>
                <a:gd name="connsiteX5" fmla="*/ 380979 w 3592112"/>
                <a:gd name="connsiteY5" fmla="*/ 1034861 h 1291959"/>
                <a:gd name="connsiteX6" fmla="*/ 361308 w 3592112"/>
                <a:gd name="connsiteY6" fmla="*/ 991123 h 1291959"/>
                <a:gd name="connsiteX7" fmla="*/ 357548 w 3592112"/>
                <a:gd name="connsiteY7" fmla="*/ 991125 h 1291959"/>
                <a:gd name="connsiteX8" fmla="*/ 0 w 3592112"/>
                <a:gd name="connsiteY8" fmla="*/ 2753 h 129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92112" h="1291959">
                  <a:moveTo>
                    <a:pt x="3592112" y="0"/>
                  </a:moveTo>
                  <a:lnTo>
                    <a:pt x="3220096" y="989519"/>
                  </a:lnTo>
                  <a:lnTo>
                    <a:pt x="3215992" y="989522"/>
                  </a:lnTo>
                  <a:lnTo>
                    <a:pt x="3195602" y="1034861"/>
                  </a:lnTo>
                  <a:cubicBezTo>
                    <a:pt x="3061654" y="1181587"/>
                    <a:pt x="2482476" y="1291959"/>
                    <a:pt x="1788290" y="1291959"/>
                  </a:cubicBezTo>
                  <a:cubicBezTo>
                    <a:pt x="1094105" y="1291959"/>
                    <a:pt x="514927" y="1181587"/>
                    <a:pt x="380979" y="1034861"/>
                  </a:cubicBezTo>
                  <a:lnTo>
                    <a:pt x="361308" y="991123"/>
                  </a:lnTo>
                  <a:lnTo>
                    <a:pt x="357548" y="991125"/>
                  </a:lnTo>
                  <a:lnTo>
                    <a:pt x="0" y="2753"/>
                  </a:lnTo>
                  <a:close/>
                </a:path>
              </a:pathLst>
            </a:custGeom>
            <a:solidFill>
              <a:srgbClr val="1D71BD"/>
            </a:solidFill>
            <a:ln>
              <a:noFill/>
            </a:ln>
          </p:spPr>
          <p:txBody>
            <a:bodyPr wrap="square" lIns="50787" tIns="50787" rIns="50787" bIns="50787" anchor="ctr">
              <a:noAutofit/>
            </a:bodyPr>
            <a:lstStyle/>
            <a:p>
              <a:pPr marL="0" marR="0" lvl="0" indent="0" algn="l" defTabSz="1828434" rtl="0" eaLnBrk="1" fontAlgn="auto" latinLnBrk="0" hangingPunct="1">
                <a:lnSpc>
                  <a:spcPct val="100000"/>
                </a:lnSpc>
                <a:spcBef>
                  <a:spcPts val="0"/>
                </a:spcBef>
                <a:spcAft>
                  <a:spcPts val="0"/>
                </a:spcAft>
                <a:buClrTx/>
                <a:buSzTx/>
                <a:buFontTx/>
                <a:buNone/>
                <a:tabLst/>
                <a:defRPr/>
              </a:pPr>
              <a:endParaRPr kumimoji="0" lang="ru-RU" sz="3599" b="0" i="0" u="none" strike="noStrike" kern="0" cap="none" spc="0" normalizeH="0" baseline="0" noProof="0">
                <a:ln>
                  <a:noFill/>
                </a:ln>
                <a:solidFill>
                  <a:srgbClr val="272727"/>
                </a:solidFill>
                <a:effectLst/>
                <a:uLnTx/>
                <a:uFillTx/>
                <a:latin typeface="Noto Sans ExtraLight" panose="020B0302040504020204" pitchFamily="34" charset="0"/>
                <a:ea typeface="+mn-ea"/>
                <a:cs typeface="+mn-cs"/>
              </a:endParaRPr>
            </a:p>
          </p:txBody>
        </p:sp>
        <p:sp>
          <p:nvSpPr>
            <p:cNvPr id="8" name="Овал">
              <a:extLst>
                <a:ext uri="{FF2B5EF4-FFF2-40B4-BE49-F238E27FC236}">
                  <a16:creationId xmlns:a16="http://schemas.microsoft.com/office/drawing/2014/main" id="{9F95155E-2041-4C16-E1A7-1A893097F494}"/>
                </a:ext>
              </a:extLst>
            </p:cNvPr>
            <p:cNvSpPr/>
            <p:nvPr/>
          </p:nvSpPr>
          <p:spPr bwMode="auto">
            <a:xfrm>
              <a:off x="3777267" y="7247961"/>
              <a:ext cx="3588403" cy="539609"/>
            </a:xfrm>
            <a:prstGeom prst="ellipse">
              <a:avLst/>
            </a:prstGeom>
            <a:solidFill>
              <a:srgbClr val="185994"/>
            </a:solidFill>
            <a:ln w="12700" cap="flat">
              <a:noFill/>
              <a:miter lim="400000"/>
            </a:ln>
            <a:effectLst/>
          </p:spPr>
          <p:txBody>
            <a:bodyPr lIns="50787" tIns="50787" rIns="50787" bIns="50787" anchor="ctr"/>
            <a:lstStyle/>
            <a:p>
              <a:pPr marL="0" marR="0" lvl="0" indent="0" algn="l" defTabSz="1828434" rtl="0" eaLnBrk="1" fontAlgn="auto" latinLnBrk="0" hangingPunct="1">
                <a:lnSpc>
                  <a:spcPct val="100000"/>
                </a:lnSpc>
                <a:spcBef>
                  <a:spcPts val="0"/>
                </a:spcBef>
                <a:spcAft>
                  <a:spcPts val="0"/>
                </a:spcAft>
                <a:buClrTx/>
                <a:buSzTx/>
                <a:buFontTx/>
                <a:buNone/>
                <a:tabLst/>
                <a:defRPr sz="3200" b="0">
                  <a:solidFill>
                    <a:srgbClr val="FFFFFF"/>
                  </a:solidFill>
                  <a:latin typeface="Helvetica Light"/>
                  <a:ea typeface="Helvetica Light"/>
                  <a:cs typeface="Helvetica Light"/>
                  <a:sym typeface="Helvetica Light"/>
                </a:defRPr>
              </a:pPr>
              <a:endParaRPr kumimoji="0" sz="3199" b="0" i="0" u="none" strike="noStrike" kern="0" cap="none" spc="0" normalizeH="0" baseline="0" noProof="0">
                <a:ln>
                  <a:noFill/>
                </a:ln>
                <a:solidFill>
                  <a:srgbClr val="FFFFFF"/>
                </a:solidFill>
                <a:effectLst/>
                <a:uLnTx/>
                <a:uFillTx/>
                <a:latin typeface="Noto Sans ExtraLight" panose="020B0302040504020204" pitchFamily="34" charset="0"/>
                <a:ea typeface="Noto Sans ExtraLight" panose="020B0302040504020204" pitchFamily="34" charset="0"/>
                <a:cs typeface="Noto Sans ExtraLight" panose="020B0302040504020204" pitchFamily="34" charset="0"/>
                <a:sym typeface="Helvetica Light"/>
              </a:endParaRPr>
            </a:p>
          </p:txBody>
        </p:sp>
        <p:sp>
          <p:nvSpPr>
            <p:cNvPr id="9" name="Freeform 61">
              <a:extLst>
                <a:ext uri="{FF2B5EF4-FFF2-40B4-BE49-F238E27FC236}">
                  <a16:creationId xmlns:a16="http://schemas.microsoft.com/office/drawing/2014/main" id="{A5577CDE-A04A-9CEE-1EBC-CB425767DD6E}"/>
                </a:ext>
              </a:extLst>
            </p:cNvPr>
            <p:cNvSpPr/>
            <p:nvPr/>
          </p:nvSpPr>
          <p:spPr bwMode="auto">
            <a:xfrm>
              <a:off x="3212261" y="6127479"/>
              <a:ext cx="4705712" cy="1314107"/>
            </a:xfrm>
            <a:custGeom>
              <a:avLst/>
              <a:gdLst>
                <a:gd name="connsiteX0" fmla="*/ 0 w 4705712"/>
                <a:gd name="connsiteY0" fmla="*/ 0 h 1314107"/>
                <a:gd name="connsiteX1" fmla="*/ 4705712 w 4705712"/>
                <a:gd name="connsiteY1" fmla="*/ 9339 h 1314107"/>
                <a:gd name="connsiteX2" fmla="*/ 4315312 w 4705712"/>
                <a:gd name="connsiteY2" fmla="*/ 981489 h 1314107"/>
                <a:gd name="connsiteX3" fmla="*/ 4305024 w 4705712"/>
                <a:gd name="connsiteY3" fmla="*/ 981495 h 1314107"/>
                <a:gd name="connsiteX4" fmla="*/ 4275274 w 4705712"/>
                <a:gd name="connsiteY4" fmla="*/ 1034049 h 1314107"/>
                <a:gd name="connsiteX5" fmla="*/ 2345714 w 4705712"/>
                <a:gd name="connsiteY5" fmla="*/ 1314107 h 1314107"/>
                <a:gd name="connsiteX6" fmla="*/ 416154 w 4705712"/>
                <a:gd name="connsiteY6" fmla="*/ 1034049 h 1314107"/>
                <a:gd name="connsiteX7" fmla="*/ 387817 w 4705712"/>
                <a:gd name="connsiteY7" fmla="*/ 983990 h 1314107"/>
                <a:gd name="connsiteX8" fmla="*/ 380814 w 4705712"/>
                <a:gd name="connsiteY8" fmla="*/ 983994 h 131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05712" h="1314107">
                  <a:moveTo>
                    <a:pt x="0" y="0"/>
                  </a:moveTo>
                  <a:lnTo>
                    <a:pt x="4705712" y="9339"/>
                  </a:lnTo>
                  <a:lnTo>
                    <a:pt x="4315312" y="981489"/>
                  </a:lnTo>
                  <a:lnTo>
                    <a:pt x="4305024" y="981495"/>
                  </a:lnTo>
                  <a:lnTo>
                    <a:pt x="4275274" y="1034049"/>
                  </a:lnTo>
                  <a:cubicBezTo>
                    <a:pt x="4091619" y="1193878"/>
                    <a:pt x="3297510" y="1314107"/>
                    <a:pt x="2345714" y="1314107"/>
                  </a:cubicBezTo>
                  <a:cubicBezTo>
                    <a:pt x="1393919" y="1314107"/>
                    <a:pt x="599810" y="1193878"/>
                    <a:pt x="416154" y="1034049"/>
                  </a:cubicBezTo>
                  <a:lnTo>
                    <a:pt x="387817" y="983990"/>
                  </a:lnTo>
                  <a:lnTo>
                    <a:pt x="380814" y="983994"/>
                  </a:lnTo>
                  <a:close/>
                </a:path>
              </a:pathLst>
            </a:custGeom>
            <a:solidFill>
              <a:srgbClr val="1A63A6"/>
            </a:solidFill>
            <a:ln w="12700" cap="flat">
              <a:noFill/>
              <a:miter lim="400000"/>
            </a:ln>
            <a:effectLst/>
          </p:spPr>
          <p:txBody>
            <a:bodyPr wrap="square" lIns="50787" tIns="50787" rIns="50787" bIns="50787" anchor="ctr">
              <a:noAutofit/>
            </a:bodyPr>
            <a:lstStyle/>
            <a:p>
              <a:pPr marL="0" marR="0" lvl="0" indent="0" algn="l" defTabSz="1828434" rtl="0" eaLnBrk="1" fontAlgn="auto" latinLnBrk="0" hangingPunct="1">
                <a:lnSpc>
                  <a:spcPct val="100000"/>
                </a:lnSpc>
                <a:spcBef>
                  <a:spcPts val="0"/>
                </a:spcBef>
                <a:spcAft>
                  <a:spcPts val="0"/>
                </a:spcAft>
                <a:buClrTx/>
                <a:buSzTx/>
                <a:buFontTx/>
                <a:buNone/>
                <a:tabLst/>
                <a:defRPr sz="3200" b="0">
                  <a:latin typeface="Helvetica Light"/>
                  <a:ea typeface="Helvetica Light"/>
                  <a:cs typeface="Helvetica Light"/>
                  <a:sym typeface="Helvetica Light"/>
                </a:defRPr>
              </a:pPr>
              <a:endParaRPr kumimoji="0" sz="3199" b="0" i="0" u="none" strike="noStrike" kern="0" cap="none" spc="0" normalizeH="0" baseline="0" noProof="0">
                <a:ln>
                  <a:noFill/>
                </a:ln>
                <a:solidFill>
                  <a:srgbClr val="272727"/>
                </a:solidFill>
                <a:effectLst/>
                <a:uLnTx/>
                <a:uFillTx/>
                <a:latin typeface="Noto Sans ExtraLight" panose="020B0302040504020204" pitchFamily="34" charset="0"/>
                <a:ea typeface="Noto Sans ExtraLight" panose="020B0302040504020204" pitchFamily="34" charset="0"/>
                <a:cs typeface="Noto Sans ExtraLight" panose="020B0302040504020204" pitchFamily="34" charset="0"/>
                <a:sym typeface="Helvetica Light"/>
              </a:endParaRPr>
            </a:p>
          </p:txBody>
        </p:sp>
        <p:sp>
          <p:nvSpPr>
            <p:cNvPr id="10" name="Овал">
              <a:extLst>
                <a:ext uri="{FF2B5EF4-FFF2-40B4-BE49-F238E27FC236}">
                  <a16:creationId xmlns:a16="http://schemas.microsoft.com/office/drawing/2014/main" id="{5C14B673-4D30-074F-B78C-6E92CD6F9971}"/>
                </a:ext>
              </a:extLst>
            </p:cNvPr>
            <p:cNvSpPr/>
            <p:nvPr/>
          </p:nvSpPr>
          <p:spPr bwMode="auto">
            <a:xfrm>
              <a:off x="3221787" y="5805301"/>
              <a:ext cx="4716821" cy="604679"/>
            </a:xfrm>
            <a:prstGeom prst="ellipse">
              <a:avLst/>
            </a:prstGeom>
            <a:solidFill>
              <a:srgbClr val="13497B"/>
            </a:solidFill>
            <a:ln w="12700" cap="flat">
              <a:noFill/>
              <a:miter lim="400000"/>
            </a:ln>
            <a:effectLst/>
          </p:spPr>
          <p:txBody>
            <a:bodyPr lIns="50787" tIns="50787" rIns="50787" bIns="50787" anchor="ctr"/>
            <a:lstStyle/>
            <a:p>
              <a:pPr marL="0" marR="0" lvl="0" indent="0" algn="l" defTabSz="1828434" rtl="0" eaLnBrk="1" fontAlgn="auto" latinLnBrk="0" hangingPunct="1">
                <a:lnSpc>
                  <a:spcPct val="100000"/>
                </a:lnSpc>
                <a:spcBef>
                  <a:spcPts val="0"/>
                </a:spcBef>
                <a:spcAft>
                  <a:spcPts val="0"/>
                </a:spcAft>
                <a:buClrTx/>
                <a:buSzTx/>
                <a:buFontTx/>
                <a:buNone/>
                <a:tabLst/>
                <a:defRPr sz="3200" b="0">
                  <a:solidFill>
                    <a:srgbClr val="FFFFFF"/>
                  </a:solidFill>
                  <a:latin typeface="Helvetica Light"/>
                  <a:ea typeface="Helvetica Light"/>
                  <a:cs typeface="Helvetica Light"/>
                  <a:sym typeface="Helvetica Light"/>
                </a:defRPr>
              </a:pPr>
              <a:endParaRPr kumimoji="0" sz="3199" b="0" i="0" u="none" strike="noStrike" kern="0" cap="none" spc="0" normalizeH="0" baseline="0" noProof="0">
                <a:ln>
                  <a:noFill/>
                </a:ln>
                <a:solidFill>
                  <a:srgbClr val="FFFFFF"/>
                </a:solidFill>
                <a:effectLst/>
                <a:uLnTx/>
                <a:uFillTx/>
                <a:latin typeface="Noto Sans ExtraLight" panose="020B0302040504020204" pitchFamily="34" charset="0"/>
                <a:ea typeface="Noto Sans ExtraLight" panose="020B0302040504020204" pitchFamily="34" charset="0"/>
                <a:cs typeface="Noto Sans ExtraLight" panose="020B0302040504020204" pitchFamily="34" charset="0"/>
                <a:sym typeface="Helvetica Light"/>
              </a:endParaRPr>
            </a:p>
          </p:txBody>
        </p:sp>
        <p:sp>
          <p:nvSpPr>
            <p:cNvPr id="11" name="Freeform 60">
              <a:extLst>
                <a:ext uri="{FF2B5EF4-FFF2-40B4-BE49-F238E27FC236}">
                  <a16:creationId xmlns:a16="http://schemas.microsoft.com/office/drawing/2014/main" id="{E0B911A3-0249-4B63-86C0-FA153127FF4E}"/>
                </a:ext>
              </a:extLst>
            </p:cNvPr>
            <p:cNvSpPr/>
            <p:nvPr/>
          </p:nvSpPr>
          <p:spPr bwMode="auto">
            <a:xfrm>
              <a:off x="2642501" y="4681643"/>
              <a:ext cx="5848413" cy="1376003"/>
            </a:xfrm>
            <a:custGeom>
              <a:avLst/>
              <a:gdLst>
                <a:gd name="connsiteX0" fmla="*/ 5848413 w 5848413"/>
                <a:gd name="connsiteY0" fmla="*/ 0 h 1376003"/>
                <a:gd name="connsiteX1" fmla="*/ 5439837 w 5848413"/>
                <a:gd name="connsiteY1" fmla="*/ 1037955 h 1376003"/>
                <a:gd name="connsiteX2" fmla="*/ 5428583 w 5848413"/>
                <a:gd name="connsiteY2" fmla="*/ 1037952 h 1376003"/>
                <a:gd name="connsiteX3" fmla="*/ 5395582 w 5848413"/>
                <a:gd name="connsiteY3" fmla="*/ 1085173 h 1376003"/>
                <a:gd name="connsiteX4" fmla="*/ 2921827 w 5848413"/>
                <a:gd name="connsiteY4" fmla="*/ 1376003 h 1376003"/>
                <a:gd name="connsiteX5" fmla="*/ 448072 w 5848413"/>
                <a:gd name="connsiteY5" fmla="*/ 1085173 h 1376003"/>
                <a:gd name="connsiteX6" fmla="*/ 414002 w 5848413"/>
                <a:gd name="connsiteY6" fmla="*/ 1036421 h 1376003"/>
                <a:gd name="connsiteX7" fmla="*/ 402349 w 5848413"/>
                <a:gd name="connsiteY7" fmla="*/ 1036418 h 1376003"/>
                <a:gd name="connsiteX8" fmla="*/ 0 w 5848413"/>
                <a:gd name="connsiteY8" fmla="*/ 1153 h 137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48413" h="1376003">
                  <a:moveTo>
                    <a:pt x="5848413" y="0"/>
                  </a:moveTo>
                  <a:lnTo>
                    <a:pt x="5439837" y="1037955"/>
                  </a:lnTo>
                  <a:lnTo>
                    <a:pt x="5428583" y="1037952"/>
                  </a:lnTo>
                  <a:lnTo>
                    <a:pt x="5395582" y="1085173"/>
                  </a:lnTo>
                  <a:cubicBezTo>
                    <a:pt x="5160130" y="1251150"/>
                    <a:pt x="4142058" y="1376003"/>
                    <a:pt x="2921827" y="1376003"/>
                  </a:cubicBezTo>
                  <a:cubicBezTo>
                    <a:pt x="1701597" y="1376003"/>
                    <a:pt x="683524" y="1251150"/>
                    <a:pt x="448072" y="1085173"/>
                  </a:cubicBezTo>
                  <a:lnTo>
                    <a:pt x="414002" y="1036421"/>
                  </a:lnTo>
                  <a:lnTo>
                    <a:pt x="402349" y="1036418"/>
                  </a:lnTo>
                  <a:lnTo>
                    <a:pt x="0" y="1153"/>
                  </a:lnTo>
                  <a:close/>
                </a:path>
              </a:pathLst>
            </a:custGeom>
            <a:solidFill>
              <a:srgbClr val="16548C"/>
            </a:solidFill>
            <a:ln w="12700" cap="flat">
              <a:noFill/>
              <a:miter lim="400000"/>
            </a:ln>
            <a:effectLst/>
          </p:spPr>
          <p:txBody>
            <a:bodyPr wrap="square" lIns="50787" tIns="50787" rIns="50787" bIns="50787" anchor="ctr">
              <a:noAutofit/>
            </a:bodyPr>
            <a:lstStyle/>
            <a:p>
              <a:pPr marL="0" marR="0" lvl="0" indent="0" algn="l" defTabSz="1828434" rtl="0" eaLnBrk="1" fontAlgn="auto" latinLnBrk="0" hangingPunct="1">
                <a:lnSpc>
                  <a:spcPct val="100000"/>
                </a:lnSpc>
                <a:spcBef>
                  <a:spcPts val="0"/>
                </a:spcBef>
                <a:spcAft>
                  <a:spcPts val="0"/>
                </a:spcAft>
                <a:buClrTx/>
                <a:buSzTx/>
                <a:buFontTx/>
                <a:buNone/>
                <a:tabLst/>
                <a:defRPr sz="3200" b="0">
                  <a:latin typeface="Helvetica Light"/>
                  <a:ea typeface="Helvetica Light"/>
                  <a:cs typeface="Helvetica Light"/>
                  <a:sym typeface="Helvetica Light"/>
                </a:defRPr>
              </a:pPr>
              <a:endParaRPr kumimoji="0" sz="3199" b="0" i="0" u="none" strike="noStrike" kern="0" cap="none" spc="0" normalizeH="0" baseline="0" noProof="0">
                <a:ln>
                  <a:noFill/>
                </a:ln>
                <a:solidFill>
                  <a:srgbClr val="272727"/>
                </a:solidFill>
                <a:effectLst/>
                <a:uLnTx/>
                <a:uFillTx/>
                <a:latin typeface="Noto Sans ExtraLight" panose="020B0302040504020204" pitchFamily="34" charset="0"/>
                <a:ea typeface="Noto Sans ExtraLight" panose="020B0302040504020204" pitchFamily="34" charset="0"/>
                <a:cs typeface="Noto Sans ExtraLight" panose="020B0302040504020204" pitchFamily="34" charset="0"/>
                <a:sym typeface="Helvetica Light"/>
              </a:endParaRPr>
            </a:p>
          </p:txBody>
        </p:sp>
        <p:sp>
          <p:nvSpPr>
            <p:cNvPr id="12" name="Овал">
              <a:extLst>
                <a:ext uri="{FF2B5EF4-FFF2-40B4-BE49-F238E27FC236}">
                  <a16:creationId xmlns:a16="http://schemas.microsoft.com/office/drawing/2014/main" id="{5951742B-147B-DDC8-F512-022A0F548C47}"/>
                </a:ext>
              </a:extLst>
            </p:cNvPr>
            <p:cNvSpPr/>
            <p:nvPr/>
          </p:nvSpPr>
          <p:spPr bwMode="auto">
            <a:xfrm>
              <a:off x="2639327" y="4300742"/>
              <a:ext cx="5850001" cy="744343"/>
            </a:xfrm>
            <a:prstGeom prst="ellipse">
              <a:avLst/>
            </a:prstGeom>
            <a:solidFill>
              <a:srgbClr val="0F385D"/>
            </a:solidFill>
            <a:ln w="12700" cap="flat">
              <a:noFill/>
              <a:miter lim="400000"/>
            </a:ln>
            <a:effectLst/>
          </p:spPr>
          <p:txBody>
            <a:bodyPr lIns="50787" tIns="50787" rIns="50787" bIns="50787" anchor="ctr"/>
            <a:lstStyle/>
            <a:p>
              <a:pPr marL="0" marR="0" lvl="0" indent="0" algn="l" defTabSz="1828434" rtl="0" eaLnBrk="1" fontAlgn="auto" latinLnBrk="0" hangingPunct="1">
                <a:lnSpc>
                  <a:spcPct val="100000"/>
                </a:lnSpc>
                <a:spcBef>
                  <a:spcPts val="0"/>
                </a:spcBef>
                <a:spcAft>
                  <a:spcPts val="0"/>
                </a:spcAft>
                <a:buClrTx/>
                <a:buSzTx/>
                <a:buFontTx/>
                <a:buNone/>
                <a:tabLst/>
                <a:defRPr sz="3200" b="0">
                  <a:solidFill>
                    <a:srgbClr val="FFFFFF"/>
                  </a:solidFill>
                  <a:latin typeface="Helvetica Light"/>
                  <a:ea typeface="Helvetica Light"/>
                  <a:cs typeface="Helvetica Light"/>
                  <a:sym typeface="Helvetica Light"/>
                </a:defRPr>
              </a:pPr>
              <a:endParaRPr kumimoji="0" sz="3199" b="0" i="0" u="none" strike="noStrike" kern="0" cap="none" spc="0" normalizeH="0" baseline="0" noProof="0">
                <a:ln>
                  <a:noFill/>
                </a:ln>
                <a:solidFill>
                  <a:srgbClr val="FFFFFF"/>
                </a:solidFill>
                <a:effectLst/>
                <a:uLnTx/>
                <a:uFillTx/>
                <a:latin typeface="Noto Sans ExtraLight" panose="020B0302040504020204" pitchFamily="34" charset="0"/>
                <a:ea typeface="Noto Sans ExtraLight" panose="020B0302040504020204" pitchFamily="34" charset="0"/>
                <a:cs typeface="Noto Sans ExtraLight" panose="020B0302040504020204" pitchFamily="34" charset="0"/>
                <a:sym typeface="Helvetica Light"/>
              </a:endParaRPr>
            </a:p>
          </p:txBody>
        </p:sp>
        <p:sp>
          <p:nvSpPr>
            <p:cNvPr id="13" name="Freeform 59">
              <a:extLst>
                <a:ext uri="{FF2B5EF4-FFF2-40B4-BE49-F238E27FC236}">
                  <a16:creationId xmlns:a16="http://schemas.microsoft.com/office/drawing/2014/main" id="{856342E1-3349-177E-284A-CA0F07CB8545}"/>
                </a:ext>
              </a:extLst>
            </p:cNvPr>
            <p:cNvSpPr>
              <a:spLocks/>
            </p:cNvSpPr>
            <p:nvPr/>
          </p:nvSpPr>
          <p:spPr bwMode="auto">
            <a:xfrm>
              <a:off x="2067701" y="3293820"/>
              <a:ext cx="6994566" cy="1398157"/>
            </a:xfrm>
            <a:custGeom>
              <a:avLst/>
              <a:gdLst>
                <a:gd name="connsiteX0" fmla="*/ 6994566 w 6994566"/>
                <a:gd name="connsiteY0" fmla="*/ 0 h 1398157"/>
                <a:gd name="connsiteX1" fmla="*/ 6575539 w 6994566"/>
                <a:gd name="connsiteY1" fmla="*/ 1038896 h 1398157"/>
                <a:gd name="connsiteX2" fmla="*/ 6566939 w 6994566"/>
                <a:gd name="connsiteY2" fmla="*/ 1038925 h 1398157"/>
                <a:gd name="connsiteX3" fmla="*/ 6515178 w 6994566"/>
                <a:gd name="connsiteY3" fmla="*/ 1100980 h 1398157"/>
                <a:gd name="connsiteX4" fmla="*/ 3498175 w 6994566"/>
                <a:gd name="connsiteY4" fmla="*/ 1398157 h 1398157"/>
                <a:gd name="connsiteX5" fmla="*/ 481172 w 6994566"/>
                <a:gd name="connsiteY5" fmla="*/ 1100980 h 1398157"/>
                <a:gd name="connsiteX6" fmla="*/ 446441 w 6994566"/>
                <a:gd name="connsiteY6" fmla="*/ 1059341 h 1398157"/>
                <a:gd name="connsiteX7" fmla="*/ 429713 w 6994566"/>
                <a:gd name="connsiteY7" fmla="*/ 1059397 h 1398157"/>
                <a:gd name="connsiteX8" fmla="*/ 0 w 6994566"/>
                <a:gd name="connsiteY8" fmla="*/ 5444 h 1398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94566" h="1398157">
                  <a:moveTo>
                    <a:pt x="6994566" y="0"/>
                  </a:moveTo>
                  <a:lnTo>
                    <a:pt x="6575539" y="1038896"/>
                  </a:lnTo>
                  <a:lnTo>
                    <a:pt x="6566939" y="1038925"/>
                  </a:lnTo>
                  <a:lnTo>
                    <a:pt x="6515178" y="1100980"/>
                  </a:lnTo>
                  <a:cubicBezTo>
                    <a:pt x="6228020" y="1270579"/>
                    <a:pt x="4986374" y="1398157"/>
                    <a:pt x="3498175" y="1398157"/>
                  </a:cubicBezTo>
                  <a:cubicBezTo>
                    <a:pt x="2009976" y="1398157"/>
                    <a:pt x="768330" y="1270579"/>
                    <a:pt x="481172" y="1100980"/>
                  </a:cubicBezTo>
                  <a:lnTo>
                    <a:pt x="446441" y="1059341"/>
                  </a:lnTo>
                  <a:lnTo>
                    <a:pt x="429713" y="1059397"/>
                  </a:lnTo>
                  <a:lnTo>
                    <a:pt x="0" y="5444"/>
                  </a:lnTo>
                  <a:close/>
                </a:path>
              </a:pathLst>
            </a:custGeom>
            <a:solidFill>
              <a:srgbClr val="124472"/>
            </a:solidFill>
            <a:ln>
              <a:noFill/>
            </a:ln>
          </p:spPr>
          <p:txBody>
            <a:bodyPr wrap="square" lIns="50787" tIns="50787" rIns="50787" bIns="50787" anchor="ctr">
              <a:noAutofit/>
            </a:bodyPr>
            <a:lstStyle/>
            <a:p>
              <a:pPr marL="0" marR="0" lvl="0" indent="0" algn="l" defTabSz="1828434" rtl="0" eaLnBrk="1" fontAlgn="auto" latinLnBrk="0" hangingPunct="1">
                <a:lnSpc>
                  <a:spcPct val="100000"/>
                </a:lnSpc>
                <a:spcBef>
                  <a:spcPts val="0"/>
                </a:spcBef>
                <a:spcAft>
                  <a:spcPts val="0"/>
                </a:spcAft>
                <a:buClrTx/>
                <a:buSzTx/>
                <a:buFontTx/>
                <a:buNone/>
                <a:tabLst/>
                <a:defRPr/>
              </a:pPr>
              <a:endParaRPr kumimoji="0" lang="ru-RU" sz="3599" b="0" i="0" u="none" strike="noStrike" kern="0" cap="none" spc="0" normalizeH="0" baseline="0" noProof="0">
                <a:ln>
                  <a:noFill/>
                </a:ln>
                <a:solidFill>
                  <a:srgbClr val="272727"/>
                </a:solidFill>
                <a:effectLst/>
                <a:uLnTx/>
                <a:uFillTx/>
                <a:latin typeface="Noto Sans ExtraLight" panose="020B0302040504020204" pitchFamily="34" charset="0"/>
                <a:ea typeface="+mn-ea"/>
                <a:cs typeface="+mn-cs"/>
              </a:endParaRPr>
            </a:p>
          </p:txBody>
        </p:sp>
        <p:sp>
          <p:nvSpPr>
            <p:cNvPr id="14" name="Овал">
              <a:extLst>
                <a:ext uri="{FF2B5EF4-FFF2-40B4-BE49-F238E27FC236}">
                  <a16:creationId xmlns:a16="http://schemas.microsoft.com/office/drawing/2014/main" id="{C1D9B458-FC1C-67F9-D266-7DF422C0CF69}"/>
                </a:ext>
              </a:extLst>
            </p:cNvPr>
            <p:cNvSpPr/>
            <p:nvPr/>
          </p:nvSpPr>
          <p:spPr bwMode="auto">
            <a:xfrm>
              <a:off x="2064801" y="2912041"/>
              <a:ext cx="6997464" cy="744344"/>
            </a:xfrm>
            <a:prstGeom prst="ellipse">
              <a:avLst/>
            </a:prstGeom>
            <a:solidFill>
              <a:srgbClr val="0F3555"/>
            </a:solidFill>
            <a:ln w="12700" cap="flat">
              <a:noFill/>
              <a:miter lim="400000"/>
            </a:ln>
            <a:effectLst/>
          </p:spPr>
          <p:txBody>
            <a:bodyPr lIns="50787" tIns="50787" rIns="50787" bIns="50787" anchor="ctr"/>
            <a:lstStyle/>
            <a:p>
              <a:pPr marL="0" marR="0" lvl="0" indent="0" algn="l" defTabSz="1828434" rtl="0" eaLnBrk="1" fontAlgn="auto" latinLnBrk="0" hangingPunct="1">
                <a:lnSpc>
                  <a:spcPct val="100000"/>
                </a:lnSpc>
                <a:spcBef>
                  <a:spcPts val="0"/>
                </a:spcBef>
                <a:spcAft>
                  <a:spcPts val="0"/>
                </a:spcAft>
                <a:buClrTx/>
                <a:buSzTx/>
                <a:buFontTx/>
                <a:buNone/>
                <a:tabLst/>
                <a:defRPr sz="3200" b="0">
                  <a:solidFill>
                    <a:srgbClr val="FFFFFF"/>
                  </a:solidFill>
                  <a:latin typeface="Helvetica Light"/>
                  <a:ea typeface="Helvetica Light"/>
                  <a:cs typeface="Helvetica Light"/>
                  <a:sym typeface="Helvetica Light"/>
                </a:defRPr>
              </a:pPr>
              <a:endParaRPr kumimoji="0" sz="3199" b="0" i="0" u="none" strike="noStrike" kern="0" cap="none" spc="0" normalizeH="0" baseline="0" noProof="0">
                <a:ln>
                  <a:noFill/>
                </a:ln>
                <a:solidFill>
                  <a:srgbClr val="FFFFFF"/>
                </a:solidFill>
                <a:effectLst/>
                <a:uLnTx/>
                <a:uFillTx/>
                <a:latin typeface="Noto Sans ExtraLight" panose="020B0302040504020204" pitchFamily="34" charset="0"/>
                <a:ea typeface="Noto Sans ExtraLight" panose="020B0302040504020204" pitchFamily="34" charset="0"/>
                <a:cs typeface="Noto Sans ExtraLight" panose="020B0302040504020204" pitchFamily="34" charset="0"/>
                <a:sym typeface="Helvetica Light"/>
              </a:endParaRPr>
            </a:p>
          </p:txBody>
        </p:sp>
        <p:grpSp>
          <p:nvGrpSpPr>
            <p:cNvPr id="15" name="Группа 144">
              <a:extLst>
                <a:ext uri="{FF2B5EF4-FFF2-40B4-BE49-F238E27FC236}">
                  <a16:creationId xmlns:a16="http://schemas.microsoft.com/office/drawing/2014/main" id="{57113096-04D2-F3AE-CBD6-B51CE1C32514}"/>
                </a:ext>
              </a:extLst>
            </p:cNvPr>
            <p:cNvGrpSpPr>
              <a:grpSpLocks/>
            </p:cNvGrpSpPr>
            <p:nvPr/>
          </p:nvGrpSpPr>
          <p:grpSpPr bwMode="auto">
            <a:xfrm>
              <a:off x="4256815" y="2230759"/>
              <a:ext cx="2575589" cy="1000272"/>
              <a:chOff x="3871635" y="1565774"/>
              <a:chExt cx="2577561" cy="1000860"/>
            </a:xfrm>
            <a:solidFill>
              <a:srgbClr val="7DAD7C"/>
            </a:solidFill>
          </p:grpSpPr>
          <p:sp>
            <p:nvSpPr>
              <p:cNvPr id="16" name="Arrow">
                <a:extLst>
                  <a:ext uri="{FF2B5EF4-FFF2-40B4-BE49-F238E27FC236}">
                    <a16:creationId xmlns:a16="http://schemas.microsoft.com/office/drawing/2014/main" id="{0A29419F-7D56-826F-FD2B-C7493D36721A}"/>
                  </a:ext>
                </a:extLst>
              </p:cNvPr>
              <p:cNvSpPr>
                <a:spLocks noChangeArrowheads="1"/>
              </p:cNvSpPr>
              <p:nvPr/>
            </p:nvSpPr>
            <p:spPr bwMode="auto">
              <a:xfrm rot="5400000">
                <a:off x="3712183" y="1725233"/>
                <a:ext cx="1000853" cy="681949"/>
              </a:xfrm>
              <a:prstGeom prst="rightArrow">
                <a:avLst>
                  <a:gd name="adj1" fmla="val 50676"/>
                  <a:gd name="adj2" fmla="val 58160"/>
                </a:avLst>
              </a:prstGeom>
              <a:solidFill>
                <a:srgbClr val="1D71BD"/>
              </a:solidFill>
              <a:ln>
                <a:noFill/>
              </a:ln>
              <a:effectLst>
                <a:outerShdw blurRad="50800" dist="38100" dir="5400000" algn="t" rotWithShape="0">
                  <a:prstClr val="black">
                    <a:alpha val="40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lIns="50787" tIns="50787" rIns="50787" bIns="50787" anchor="ctr"/>
              <a:lstStyle>
                <a:lvl1pPr>
                  <a:defRPr sz="2000">
                    <a:solidFill>
                      <a:srgbClr val="74808C"/>
                    </a:solidFill>
                    <a:latin typeface="Poppins" charset="0"/>
                    <a:ea typeface="Poppins" charset="0"/>
                    <a:cs typeface="Poppins" charset="0"/>
                    <a:sym typeface="Poppins" charset="0"/>
                  </a:defRPr>
                </a:lvl1pPr>
                <a:lvl2pPr marL="742950" indent="-285750">
                  <a:defRPr sz="2000">
                    <a:solidFill>
                      <a:srgbClr val="74808C"/>
                    </a:solidFill>
                    <a:latin typeface="Poppins" charset="0"/>
                    <a:ea typeface="Poppins" charset="0"/>
                    <a:cs typeface="Poppins" charset="0"/>
                    <a:sym typeface="Poppins" charset="0"/>
                  </a:defRPr>
                </a:lvl2pPr>
                <a:lvl3pPr marL="1143000" indent="-228600">
                  <a:defRPr sz="2000">
                    <a:solidFill>
                      <a:srgbClr val="74808C"/>
                    </a:solidFill>
                    <a:latin typeface="Poppins" charset="0"/>
                    <a:ea typeface="Poppins" charset="0"/>
                    <a:cs typeface="Poppins" charset="0"/>
                    <a:sym typeface="Poppins" charset="0"/>
                  </a:defRPr>
                </a:lvl3pPr>
                <a:lvl4pPr marL="1600200" indent="-228600">
                  <a:defRPr sz="2000">
                    <a:solidFill>
                      <a:srgbClr val="74808C"/>
                    </a:solidFill>
                    <a:latin typeface="Poppins" charset="0"/>
                    <a:ea typeface="Poppins" charset="0"/>
                    <a:cs typeface="Poppins" charset="0"/>
                    <a:sym typeface="Poppins" charset="0"/>
                  </a:defRPr>
                </a:lvl4pPr>
                <a:lvl5pPr marL="2057400" indent="-228600">
                  <a:defRPr sz="2000">
                    <a:solidFill>
                      <a:srgbClr val="74808C"/>
                    </a:solidFill>
                    <a:latin typeface="Poppins" charset="0"/>
                    <a:ea typeface="Poppins" charset="0"/>
                    <a:cs typeface="Poppins" charset="0"/>
                    <a:sym typeface="Poppins" charset="0"/>
                  </a:defRPr>
                </a:lvl5pPr>
                <a:lvl6pPr marL="2514600" indent="-228600" defTabSz="825500" eaLnBrk="0" fontAlgn="base" hangingPunct="0">
                  <a:spcBef>
                    <a:spcPct val="0"/>
                  </a:spcBef>
                  <a:spcAft>
                    <a:spcPct val="0"/>
                  </a:spcAft>
                  <a:defRPr sz="2000">
                    <a:solidFill>
                      <a:srgbClr val="74808C"/>
                    </a:solidFill>
                    <a:latin typeface="Poppins" charset="0"/>
                    <a:ea typeface="Poppins" charset="0"/>
                    <a:cs typeface="Poppins" charset="0"/>
                    <a:sym typeface="Poppins" charset="0"/>
                  </a:defRPr>
                </a:lvl6pPr>
                <a:lvl7pPr marL="2971800" indent="-228600" defTabSz="825500" eaLnBrk="0" fontAlgn="base" hangingPunct="0">
                  <a:spcBef>
                    <a:spcPct val="0"/>
                  </a:spcBef>
                  <a:spcAft>
                    <a:spcPct val="0"/>
                  </a:spcAft>
                  <a:defRPr sz="2000">
                    <a:solidFill>
                      <a:srgbClr val="74808C"/>
                    </a:solidFill>
                    <a:latin typeface="Poppins" charset="0"/>
                    <a:ea typeface="Poppins" charset="0"/>
                    <a:cs typeface="Poppins" charset="0"/>
                    <a:sym typeface="Poppins" charset="0"/>
                  </a:defRPr>
                </a:lvl7pPr>
                <a:lvl8pPr marL="3429000" indent="-228600" defTabSz="825500" eaLnBrk="0" fontAlgn="base" hangingPunct="0">
                  <a:spcBef>
                    <a:spcPct val="0"/>
                  </a:spcBef>
                  <a:spcAft>
                    <a:spcPct val="0"/>
                  </a:spcAft>
                  <a:defRPr sz="2000">
                    <a:solidFill>
                      <a:srgbClr val="74808C"/>
                    </a:solidFill>
                    <a:latin typeface="Poppins" charset="0"/>
                    <a:ea typeface="Poppins" charset="0"/>
                    <a:cs typeface="Poppins" charset="0"/>
                    <a:sym typeface="Poppins" charset="0"/>
                  </a:defRPr>
                </a:lvl8pPr>
                <a:lvl9pPr marL="3886200" indent="-228600" defTabSz="825500" eaLnBrk="0" fontAlgn="base" hangingPunct="0">
                  <a:spcBef>
                    <a:spcPct val="0"/>
                  </a:spcBef>
                  <a:spcAft>
                    <a:spcPct val="0"/>
                  </a:spcAft>
                  <a:defRPr sz="2000">
                    <a:solidFill>
                      <a:srgbClr val="74808C"/>
                    </a:solidFill>
                    <a:latin typeface="Poppins" charset="0"/>
                    <a:ea typeface="Poppins" charset="0"/>
                    <a:cs typeface="Poppins" charset="0"/>
                    <a:sym typeface="Poppins" charset="0"/>
                  </a:defRPr>
                </a:lvl9pPr>
              </a:lstStyle>
              <a:p>
                <a:pPr marL="0" marR="0" lvl="0" indent="0" algn="ctr" defTabSz="1828434" rtl="0" eaLnBrk="1" fontAlgn="auto" latinLnBrk="0" hangingPunct="1">
                  <a:lnSpc>
                    <a:spcPct val="100000"/>
                  </a:lnSpc>
                  <a:spcBef>
                    <a:spcPts val="0"/>
                  </a:spcBef>
                  <a:spcAft>
                    <a:spcPts val="0"/>
                  </a:spcAft>
                  <a:buClrTx/>
                  <a:buSzTx/>
                  <a:buFontTx/>
                  <a:buNone/>
                  <a:tabLst/>
                  <a:defRPr/>
                </a:pPr>
                <a:endParaRPr kumimoji="0" lang="ru-RU" altLang="ru-RU" sz="3199" b="0" i="0" u="none" strike="noStrike" kern="0" cap="none" spc="0" normalizeH="0" baseline="0" noProof="0">
                  <a:ln>
                    <a:noFill/>
                  </a:ln>
                  <a:solidFill>
                    <a:srgbClr val="FFFFFF"/>
                  </a:solidFill>
                  <a:effectLst/>
                  <a:uLnTx/>
                  <a:uFillTx/>
                  <a:latin typeface="Noto Sans ExtraLight" panose="020B0302040504020204" pitchFamily="34" charset="0"/>
                  <a:ea typeface="Noto Sans ExtraLight" panose="020B0302040504020204" pitchFamily="34" charset="0"/>
                  <a:cs typeface="Noto Sans ExtraLight" panose="020B0302040504020204" pitchFamily="34" charset="0"/>
                  <a:sym typeface="Helvetica Light" pitchFamily="2" charset="0"/>
                </a:endParaRPr>
              </a:p>
            </p:txBody>
          </p:sp>
          <p:sp>
            <p:nvSpPr>
              <p:cNvPr id="17" name="Arrow">
                <a:extLst>
                  <a:ext uri="{FF2B5EF4-FFF2-40B4-BE49-F238E27FC236}">
                    <a16:creationId xmlns:a16="http://schemas.microsoft.com/office/drawing/2014/main" id="{BE3C7BA9-AFE2-B635-D902-C04D7F419BCA}"/>
                  </a:ext>
                </a:extLst>
              </p:cNvPr>
              <p:cNvSpPr>
                <a:spLocks noChangeArrowheads="1"/>
              </p:cNvSpPr>
              <p:nvPr/>
            </p:nvSpPr>
            <p:spPr bwMode="auto">
              <a:xfrm rot="5400000">
                <a:off x="4659992" y="1725230"/>
                <a:ext cx="1000860" cy="681947"/>
              </a:xfrm>
              <a:prstGeom prst="rightArrow">
                <a:avLst>
                  <a:gd name="adj1" fmla="val 50676"/>
                  <a:gd name="adj2" fmla="val 58160"/>
                </a:avLst>
              </a:prstGeom>
              <a:solidFill>
                <a:srgbClr val="1D71BD"/>
              </a:solidFill>
              <a:ln>
                <a:noFill/>
              </a:ln>
              <a:effectLst>
                <a:outerShdw blurRad="50800" dist="38100" dir="5400000" algn="t" rotWithShape="0">
                  <a:prstClr val="black">
                    <a:alpha val="40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lIns="50787" tIns="50787" rIns="50787" bIns="50787" anchor="ctr"/>
              <a:lstStyle>
                <a:lvl1pPr>
                  <a:defRPr sz="2000">
                    <a:solidFill>
                      <a:srgbClr val="74808C"/>
                    </a:solidFill>
                    <a:latin typeface="Poppins" charset="0"/>
                    <a:ea typeface="Poppins" charset="0"/>
                    <a:cs typeface="Poppins" charset="0"/>
                    <a:sym typeface="Poppins" charset="0"/>
                  </a:defRPr>
                </a:lvl1pPr>
                <a:lvl2pPr marL="742950" indent="-285750">
                  <a:defRPr sz="2000">
                    <a:solidFill>
                      <a:srgbClr val="74808C"/>
                    </a:solidFill>
                    <a:latin typeface="Poppins" charset="0"/>
                    <a:ea typeface="Poppins" charset="0"/>
                    <a:cs typeface="Poppins" charset="0"/>
                    <a:sym typeface="Poppins" charset="0"/>
                  </a:defRPr>
                </a:lvl2pPr>
                <a:lvl3pPr marL="1143000" indent="-228600">
                  <a:defRPr sz="2000">
                    <a:solidFill>
                      <a:srgbClr val="74808C"/>
                    </a:solidFill>
                    <a:latin typeface="Poppins" charset="0"/>
                    <a:ea typeface="Poppins" charset="0"/>
                    <a:cs typeface="Poppins" charset="0"/>
                    <a:sym typeface="Poppins" charset="0"/>
                  </a:defRPr>
                </a:lvl3pPr>
                <a:lvl4pPr marL="1600200" indent="-228600">
                  <a:defRPr sz="2000">
                    <a:solidFill>
                      <a:srgbClr val="74808C"/>
                    </a:solidFill>
                    <a:latin typeface="Poppins" charset="0"/>
                    <a:ea typeface="Poppins" charset="0"/>
                    <a:cs typeface="Poppins" charset="0"/>
                    <a:sym typeface="Poppins" charset="0"/>
                  </a:defRPr>
                </a:lvl4pPr>
                <a:lvl5pPr marL="2057400" indent="-228600">
                  <a:defRPr sz="2000">
                    <a:solidFill>
                      <a:srgbClr val="74808C"/>
                    </a:solidFill>
                    <a:latin typeface="Poppins" charset="0"/>
                    <a:ea typeface="Poppins" charset="0"/>
                    <a:cs typeface="Poppins" charset="0"/>
                    <a:sym typeface="Poppins" charset="0"/>
                  </a:defRPr>
                </a:lvl5pPr>
                <a:lvl6pPr marL="2514600" indent="-228600" defTabSz="825500" eaLnBrk="0" fontAlgn="base" hangingPunct="0">
                  <a:spcBef>
                    <a:spcPct val="0"/>
                  </a:spcBef>
                  <a:spcAft>
                    <a:spcPct val="0"/>
                  </a:spcAft>
                  <a:defRPr sz="2000">
                    <a:solidFill>
                      <a:srgbClr val="74808C"/>
                    </a:solidFill>
                    <a:latin typeface="Poppins" charset="0"/>
                    <a:ea typeface="Poppins" charset="0"/>
                    <a:cs typeface="Poppins" charset="0"/>
                    <a:sym typeface="Poppins" charset="0"/>
                  </a:defRPr>
                </a:lvl6pPr>
                <a:lvl7pPr marL="2971800" indent="-228600" defTabSz="825500" eaLnBrk="0" fontAlgn="base" hangingPunct="0">
                  <a:spcBef>
                    <a:spcPct val="0"/>
                  </a:spcBef>
                  <a:spcAft>
                    <a:spcPct val="0"/>
                  </a:spcAft>
                  <a:defRPr sz="2000">
                    <a:solidFill>
                      <a:srgbClr val="74808C"/>
                    </a:solidFill>
                    <a:latin typeface="Poppins" charset="0"/>
                    <a:ea typeface="Poppins" charset="0"/>
                    <a:cs typeface="Poppins" charset="0"/>
                    <a:sym typeface="Poppins" charset="0"/>
                  </a:defRPr>
                </a:lvl7pPr>
                <a:lvl8pPr marL="3429000" indent="-228600" defTabSz="825500" eaLnBrk="0" fontAlgn="base" hangingPunct="0">
                  <a:spcBef>
                    <a:spcPct val="0"/>
                  </a:spcBef>
                  <a:spcAft>
                    <a:spcPct val="0"/>
                  </a:spcAft>
                  <a:defRPr sz="2000">
                    <a:solidFill>
                      <a:srgbClr val="74808C"/>
                    </a:solidFill>
                    <a:latin typeface="Poppins" charset="0"/>
                    <a:ea typeface="Poppins" charset="0"/>
                    <a:cs typeface="Poppins" charset="0"/>
                    <a:sym typeface="Poppins" charset="0"/>
                  </a:defRPr>
                </a:lvl8pPr>
                <a:lvl9pPr marL="3886200" indent="-228600" defTabSz="825500" eaLnBrk="0" fontAlgn="base" hangingPunct="0">
                  <a:spcBef>
                    <a:spcPct val="0"/>
                  </a:spcBef>
                  <a:spcAft>
                    <a:spcPct val="0"/>
                  </a:spcAft>
                  <a:defRPr sz="2000">
                    <a:solidFill>
                      <a:srgbClr val="74808C"/>
                    </a:solidFill>
                    <a:latin typeface="Poppins" charset="0"/>
                    <a:ea typeface="Poppins" charset="0"/>
                    <a:cs typeface="Poppins" charset="0"/>
                    <a:sym typeface="Poppins" charset="0"/>
                  </a:defRPr>
                </a:lvl9pPr>
              </a:lstStyle>
              <a:p>
                <a:pPr marL="0" marR="0" lvl="0" indent="0" algn="ctr" defTabSz="1828434" rtl="0" eaLnBrk="1" fontAlgn="auto" latinLnBrk="0" hangingPunct="1">
                  <a:lnSpc>
                    <a:spcPct val="100000"/>
                  </a:lnSpc>
                  <a:spcBef>
                    <a:spcPts val="0"/>
                  </a:spcBef>
                  <a:spcAft>
                    <a:spcPts val="0"/>
                  </a:spcAft>
                  <a:buClrTx/>
                  <a:buSzTx/>
                  <a:buFontTx/>
                  <a:buNone/>
                  <a:tabLst/>
                  <a:defRPr/>
                </a:pPr>
                <a:endParaRPr kumimoji="0" lang="ru-RU" altLang="ru-RU" sz="3199" b="0" i="0" u="none" strike="noStrike" kern="0" cap="none" spc="0" normalizeH="0" baseline="0" noProof="0">
                  <a:ln>
                    <a:noFill/>
                  </a:ln>
                  <a:solidFill>
                    <a:srgbClr val="FFFFFF"/>
                  </a:solidFill>
                  <a:effectLst/>
                  <a:uLnTx/>
                  <a:uFillTx/>
                  <a:latin typeface="Noto Sans ExtraLight" panose="020B0302040504020204" pitchFamily="34" charset="0"/>
                  <a:ea typeface="Noto Sans ExtraLight" panose="020B0302040504020204" pitchFamily="34" charset="0"/>
                  <a:cs typeface="Noto Sans ExtraLight" panose="020B0302040504020204" pitchFamily="34" charset="0"/>
                  <a:sym typeface="Helvetica Light" pitchFamily="2" charset="0"/>
                </a:endParaRPr>
              </a:p>
            </p:txBody>
          </p:sp>
          <p:sp>
            <p:nvSpPr>
              <p:cNvPr id="18" name="Arrow">
                <a:extLst>
                  <a:ext uri="{FF2B5EF4-FFF2-40B4-BE49-F238E27FC236}">
                    <a16:creationId xmlns:a16="http://schemas.microsoft.com/office/drawing/2014/main" id="{EC65ED30-86BD-C61A-7387-66E2231B2579}"/>
                  </a:ext>
                </a:extLst>
              </p:cNvPr>
              <p:cNvSpPr>
                <a:spLocks noChangeArrowheads="1"/>
              </p:cNvSpPr>
              <p:nvPr/>
            </p:nvSpPr>
            <p:spPr bwMode="auto">
              <a:xfrm rot="5400000">
                <a:off x="5607796" y="1725227"/>
                <a:ext cx="1000854" cy="681947"/>
              </a:xfrm>
              <a:prstGeom prst="rightArrow">
                <a:avLst>
                  <a:gd name="adj1" fmla="val 50676"/>
                  <a:gd name="adj2" fmla="val 58160"/>
                </a:avLst>
              </a:prstGeom>
              <a:solidFill>
                <a:srgbClr val="1D71BD"/>
              </a:solidFill>
              <a:ln>
                <a:noFill/>
              </a:ln>
              <a:effectLst>
                <a:outerShdw blurRad="50800" dist="38100" dir="5400000" algn="t" rotWithShape="0">
                  <a:prstClr val="black">
                    <a:alpha val="40000"/>
                  </a:prstClr>
                </a:outerShdw>
              </a:effectLst>
              <a:extLst>
                <a:ext uri="{91240B29-F687-4F45-9708-019B960494DF}">
                  <a14:hiddenLine xmlns:a14="http://schemas.microsoft.com/office/drawing/2010/main" w="9525">
                    <a:solidFill>
                      <a:srgbClr val="000000"/>
                    </a:solidFill>
                    <a:miter lim="800000"/>
                    <a:headEnd/>
                    <a:tailEnd/>
                  </a14:hiddenLine>
                </a:ext>
              </a:extLst>
            </p:spPr>
            <p:txBody>
              <a:bodyPr lIns="50787" tIns="50787" rIns="50787" bIns="50787" anchor="ctr"/>
              <a:lstStyle>
                <a:lvl1pPr>
                  <a:defRPr sz="2000">
                    <a:solidFill>
                      <a:srgbClr val="74808C"/>
                    </a:solidFill>
                    <a:latin typeface="Poppins" charset="0"/>
                    <a:ea typeface="Poppins" charset="0"/>
                    <a:cs typeface="Poppins" charset="0"/>
                    <a:sym typeface="Poppins" charset="0"/>
                  </a:defRPr>
                </a:lvl1pPr>
                <a:lvl2pPr marL="742950" indent="-285750">
                  <a:defRPr sz="2000">
                    <a:solidFill>
                      <a:srgbClr val="74808C"/>
                    </a:solidFill>
                    <a:latin typeface="Poppins" charset="0"/>
                    <a:ea typeface="Poppins" charset="0"/>
                    <a:cs typeface="Poppins" charset="0"/>
                    <a:sym typeface="Poppins" charset="0"/>
                  </a:defRPr>
                </a:lvl2pPr>
                <a:lvl3pPr marL="1143000" indent="-228600">
                  <a:defRPr sz="2000">
                    <a:solidFill>
                      <a:srgbClr val="74808C"/>
                    </a:solidFill>
                    <a:latin typeface="Poppins" charset="0"/>
                    <a:ea typeface="Poppins" charset="0"/>
                    <a:cs typeface="Poppins" charset="0"/>
                    <a:sym typeface="Poppins" charset="0"/>
                  </a:defRPr>
                </a:lvl3pPr>
                <a:lvl4pPr marL="1600200" indent="-228600">
                  <a:defRPr sz="2000">
                    <a:solidFill>
                      <a:srgbClr val="74808C"/>
                    </a:solidFill>
                    <a:latin typeface="Poppins" charset="0"/>
                    <a:ea typeface="Poppins" charset="0"/>
                    <a:cs typeface="Poppins" charset="0"/>
                    <a:sym typeface="Poppins" charset="0"/>
                  </a:defRPr>
                </a:lvl4pPr>
                <a:lvl5pPr marL="2057400" indent="-228600">
                  <a:defRPr sz="2000">
                    <a:solidFill>
                      <a:srgbClr val="74808C"/>
                    </a:solidFill>
                    <a:latin typeface="Poppins" charset="0"/>
                    <a:ea typeface="Poppins" charset="0"/>
                    <a:cs typeface="Poppins" charset="0"/>
                    <a:sym typeface="Poppins" charset="0"/>
                  </a:defRPr>
                </a:lvl5pPr>
                <a:lvl6pPr marL="2514600" indent="-228600" defTabSz="825500" eaLnBrk="0" fontAlgn="base" hangingPunct="0">
                  <a:spcBef>
                    <a:spcPct val="0"/>
                  </a:spcBef>
                  <a:spcAft>
                    <a:spcPct val="0"/>
                  </a:spcAft>
                  <a:defRPr sz="2000">
                    <a:solidFill>
                      <a:srgbClr val="74808C"/>
                    </a:solidFill>
                    <a:latin typeface="Poppins" charset="0"/>
                    <a:ea typeface="Poppins" charset="0"/>
                    <a:cs typeface="Poppins" charset="0"/>
                    <a:sym typeface="Poppins" charset="0"/>
                  </a:defRPr>
                </a:lvl6pPr>
                <a:lvl7pPr marL="2971800" indent="-228600" defTabSz="825500" eaLnBrk="0" fontAlgn="base" hangingPunct="0">
                  <a:spcBef>
                    <a:spcPct val="0"/>
                  </a:spcBef>
                  <a:spcAft>
                    <a:spcPct val="0"/>
                  </a:spcAft>
                  <a:defRPr sz="2000">
                    <a:solidFill>
                      <a:srgbClr val="74808C"/>
                    </a:solidFill>
                    <a:latin typeface="Poppins" charset="0"/>
                    <a:ea typeface="Poppins" charset="0"/>
                    <a:cs typeface="Poppins" charset="0"/>
                    <a:sym typeface="Poppins" charset="0"/>
                  </a:defRPr>
                </a:lvl7pPr>
                <a:lvl8pPr marL="3429000" indent="-228600" defTabSz="825500" eaLnBrk="0" fontAlgn="base" hangingPunct="0">
                  <a:spcBef>
                    <a:spcPct val="0"/>
                  </a:spcBef>
                  <a:spcAft>
                    <a:spcPct val="0"/>
                  </a:spcAft>
                  <a:defRPr sz="2000">
                    <a:solidFill>
                      <a:srgbClr val="74808C"/>
                    </a:solidFill>
                    <a:latin typeface="Poppins" charset="0"/>
                    <a:ea typeface="Poppins" charset="0"/>
                    <a:cs typeface="Poppins" charset="0"/>
                    <a:sym typeface="Poppins" charset="0"/>
                  </a:defRPr>
                </a:lvl8pPr>
                <a:lvl9pPr marL="3886200" indent="-228600" defTabSz="825500" eaLnBrk="0" fontAlgn="base" hangingPunct="0">
                  <a:spcBef>
                    <a:spcPct val="0"/>
                  </a:spcBef>
                  <a:spcAft>
                    <a:spcPct val="0"/>
                  </a:spcAft>
                  <a:defRPr sz="2000">
                    <a:solidFill>
                      <a:srgbClr val="74808C"/>
                    </a:solidFill>
                    <a:latin typeface="Poppins" charset="0"/>
                    <a:ea typeface="Poppins" charset="0"/>
                    <a:cs typeface="Poppins" charset="0"/>
                    <a:sym typeface="Poppins" charset="0"/>
                  </a:defRPr>
                </a:lvl9pPr>
              </a:lstStyle>
              <a:p>
                <a:pPr marL="0" marR="0" lvl="0" indent="0" algn="ctr" defTabSz="1828434" rtl="0" eaLnBrk="1" fontAlgn="auto" latinLnBrk="0" hangingPunct="1">
                  <a:lnSpc>
                    <a:spcPct val="100000"/>
                  </a:lnSpc>
                  <a:spcBef>
                    <a:spcPts val="0"/>
                  </a:spcBef>
                  <a:spcAft>
                    <a:spcPts val="0"/>
                  </a:spcAft>
                  <a:buClrTx/>
                  <a:buSzTx/>
                  <a:buFontTx/>
                  <a:buNone/>
                  <a:tabLst/>
                  <a:defRPr/>
                </a:pPr>
                <a:endParaRPr kumimoji="0" lang="ru-RU" altLang="ru-RU" sz="3199" b="0" i="0" u="none" strike="noStrike" kern="0" cap="none" spc="0" normalizeH="0" baseline="0" noProof="0">
                  <a:ln>
                    <a:noFill/>
                  </a:ln>
                  <a:solidFill>
                    <a:srgbClr val="FFFFFF"/>
                  </a:solidFill>
                  <a:effectLst/>
                  <a:uLnTx/>
                  <a:uFillTx/>
                  <a:latin typeface="Noto Sans ExtraLight" panose="020B0302040504020204" pitchFamily="34" charset="0"/>
                  <a:ea typeface="Noto Sans ExtraLight" panose="020B0302040504020204" pitchFamily="34" charset="0"/>
                  <a:cs typeface="Noto Sans ExtraLight" panose="020B0302040504020204" pitchFamily="34" charset="0"/>
                  <a:sym typeface="Helvetica Light" pitchFamily="2" charset="0"/>
                </a:endParaRPr>
              </a:p>
            </p:txBody>
          </p:sp>
        </p:grpSp>
      </p:grpSp>
      <p:sp>
        <p:nvSpPr>
          <p:cNvPr id="19" name="TextBox 18">
            <a:extLst>
              <a:ext uri="{FF2B5EF4-FFF2-40B4-BE49-F238E27FC236}">
                <a16:creationId xmlns:a16="http://schemas.microsoft.com/office/drawing/2014/main" id="{AAB43E25-BC93-2149-83F5-AE5E80ED439C}"/>
              </a:ext>
            </a:extLst>
          </p:cNvPr>
          <p:cNvSpPr txBox="1"/>
          <p:nvPr/>
        </p:nvSpPr>
        <p:spPr>
          <a:xfrm>
            <a:off x="4122164" y="1469148"/>
            <a:ext cx="7047094"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24472"/>
                </a:solidFill>
                <a:effectLst/>
                <a:uLnTx/>
                <a:uFillTx/>
                <a:latin typeface="Arial Nova" panose="020B0504020202020204" pitchFamily="34" charset="0"/>
                <a:ea typeface="+mn-ea"/>
                <a:cs typeface="+mn-cs"/>
              </a:rPr>
              <a:t>150+ Money Managers and 1,000+ Strategies</a:t>
            </a:r>
          </a:p>
        </p:txBody>
      </p:sp>
      <p:sp>
        <p:nvSpPr>
          <p:cNvPr id="20" name="TextBox 19">
            <a:extLst>
              <a:ext uri="{FF2B5EF4-FFF2-40B4-BE49-F238E27FC236}">
                <a16:creationId xmlns:a16="http://schemas.microsoft.com/office/drawing/2014/main" id="{2912B5FD-E80D-8549-073B-34299FA830EF}"/>
              </a:ext>
            </a:extLst>
          </p:cNvPr>
          <p:cNvSpPr txBox="1"/>
          <p:nvPr/>
        </p:nvSpPr>
        <p:spPr>
          <a:xfrm>
            <a:off x="491936" y="2715286"/>
            <a:ext cx="4732196" cy="954107"/>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1D71BD"/>
                </a:solidFill>
                <a:effectLst/>
                <a:uLnTx/>
                <a:uFillTx/>
                <a:latin typeface="Arial Nova" panose="020B0504020202020204" pitchFamily="34" charset="0"/>
                <a:ea typeface="+mn-ea"/>
                <a:cs typeface="+mn-cs"/>
              </a:rPr>
              <a:t>Investment Research and Due Diligence Process</a:t>
            </a:r>
          </a:p>
        </p:txBody>
      </p:sp>
      <p:sp>
        <p:nvSpPr>
          <p:cNvPr id="21" name="Arrow: Right 20">
            <a:extLst>
              <a:ext uri="{FF2B5EF4-FFF2-40B4-BE49-F238E27FC236}">
                <a16:creationId xmlns:a16="http://schemas.microsoft.com/office/drawing/2014/main" id="{7BD3AB73-997E-C3BB-FEE5-2249BB1E67F7}"/>
              </a:ext>
            </a:extLst>
          </p:cNvPr>
          <p:cNvSpPr/>
          <p:nvPr/>
        </p:nvSpPr>
        <p:spPr>
          <a:xfrm rot="10800000">
            <a:off x="3634081" y="5049637"/>
            <a:ext cx="3285970" cy="608273"/>
          </a:xfrm>
          <a:prstGeom prst="rightArrow">
            <a:avLst/>
          </a:prstGeom>
          <a:solidFill>
            <a:srgbClr val="0E47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2" name="TextBox 21">
            <a:extLst>
              <a:ext uri="{FF2B5EF4-FFF2-40B4-BE49-F238E27FC236}">
                <a16:creationId xmlns:a16="http://schemas.microsoft.com/office/drawing/2014/main" id="{9AA29B7F-DC9B-340C-D89D-D60934C25FFA}"/>
              </a:ext>
            </a:extLst>
          </p:cNvPr>
          <p:cNvSpPr txBox="1"/>
          <p:nvPr/>
        </p:nvSpPr>
        <p:spPr>
          <a:xfrm>
            <a:off x="1074542" y="4749970"/>
            <a:ext cx="2416141" cy="9079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500" b="1" i="0" u="none" strike="noStrike" kern="1200" cap="none" spc="0" normalizeH="0" baseline="0" noProof="0" err="1">
                <a:ln>
                  <a:noFill/>
                </a:ln>
                <a:solidFill>
                  <a:srgbClr val="0E4774"/>
                </a:solidFill>
                <a:effectLst/>
                <a:uLnTx/>
                <a:uFillTx/>
                <a:latin typeface="Arial"/>
                <a:ea typeface="+mn-ea"/>
                <a:cs typeface="+mn-cs"/>
              </a:rPr>
              <a:t>VaR</a:t>
            </a:r>
            <a:endParaRPr kumimoji="0" lang="en-US" sz="3500" b="1" i="0" u="none" strike="noStrike" kern="1200" cap="none" spc="0" normalizeH="0" baseline="0" noProof="0">
              <a:ln>
                <a:noFill/>
              </a:ln>
              <a:solidFill>
                <a:srgbClr val="0E4774"/>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E4774"/>
                </a:solidFill>
                <a:effectLst/>
                <a:uLnTx/>
                <a:uFillTx/>
                <a:latin typeface="Arial"/>
                <a:ea typeface="+mn-ea"/>
                <a:cs typeface="+mn-cs"/>
              </a:rPr>
              <a:t>Continued Monitoring </a:t>
            </a:r>
          </a:p>
        </p:txBody>
      </p:sp>
      <p:sp>
        <p:nvSpPr>
          <p:cNvPr id="23" name="Slide Number Placeholder 5">
            <a:extLst>
              <a:ext uri="{FF2B5EF4-FFF2-40B4-BE49-F238E27FC236}">
                <a16:creationId xmlns:a16="http://schemas.microsoft.com/office/drawing/2014/main" id="{8C07BB45-CBCE-A8B4-7AAC-F5B6C03F9EA0}"/>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13</a:t>
            </a:fld>
            <a:endParaRPr lang="en-US" dirty="0">
              <a:solidFill>
                <a:schemeClr val="bg1">
                  <a:lumMod val="75000"/>
                </a:schemeClr>
              </a:solidFill>
              <a:latin typeface="Arial Nova" panose="020B0504020202020204" pitchFamily="34" charset="0"/>
            </a:endParaRPr>
          </a:p>
        </p:txBody>
      </p:sp>
      <p:sp>
        <p:nvSpPr>
          <p:cNvPr id="24" name="Footer Placeholder 4">
            <a:extLst>
              <a:ext uri="{FF2B5EF4-FFF2-40B4-BE49-F238E27FC236}">
                <a16:creationId xmlns:a16="http://schemas.microsoft.com/office/drawing/2014/main" id="{F32B5228-879E-1E02-87F4-91324758E333}"/>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2622281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right)">
                                      <p:cBhvr>
                                        <p:cTn id="7" dur="500"/>
                                        <p:tgtEl>
                                          <p:spTgt spid="2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A9776-9266-CD05-61CF-E773782AF17C}"/>
              </a:ext>
            </a:extLst>
          </p:cNvPr>
          <p:cNvSpPr txBox="1">
            <a:spLocks/>
          </p:cNvSpPr>
          <p:nvPr/>
        </p:nvSpPr>
        <p:spPr>
          <a:xfrm>
            <a:off x="334696" y="444171"/>
            <a:ext cx="9030978" cy="577073"/>
          </a:xfrm>
          <a:prstGeom prst="rect">
            <a:avLst/>
          </a:prstGeom>
        </p:spPr>
        <p:txBody>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a:t>VaR Analysis of Money Managers</a:t>
            </a:r>
          </a:p>
        </p:txBody>
      </p:sp>
      <p:grpSp>
        <p:nvGrpSpPr>
          <p:cNvPr id="3" name="Group 2">
            <a:extLst>
              <a:ext uri="{FF2B5EF4-FFF2-40B4-BE49-F238E27FC236}">
                <a16:creationId xmlns:a16="http://schemas.microsoft.com/office/drawing/2014/main" id="{E1267C6B-3097-BA21-AFC8-5453384971F8}"/>
              </a:ext>
            </a:extLst>
          </p:cNvPr>
          <p:cNvGrpSpPr/>
          <p:nvPr/>
        </p:nvGrpSpPr>
        <p:grpSpPr>
          <a:xfrm>
            <a:off x="7794172" y="4302491"/>
            <a:ext cx="2743200" cy="1828800"/>
            <a:chOff x="6927621" y="4395806"/>
            <a:chExt cx="2743200" cy="1828800"/>
          </a:xfrm>
        </p:grpSpPr>
        <p:sp>
          <p:nvSpPr>
            <p:cNvPr id="4" name="Rectangle 3">
              <a:extLst>
                <a:ext uri="{FF2B5EF4-FFF2-40B4-BE49-F238E27FC236}">
                  <a16:creationId xmlns:a16="http://schemas.microsoft.com/office/drawing/2014/main" id="{6B4FD233-53A8-B14F-EE6C-865C6BFEDCDE}"/>
                </a:ext>
              </a:extLst>
            </p:cNvPr>
            <p:cNvSpPr/>
            <p:nvPr/>
          </p:nvSpPr>
          <p:spPr>
            <a:xfrm>
              <a:off x="6927621" y="4395806"/>
              <a:ext cx="2743200" cy="1828800"/>
            </a:xfrm>
            <a:prstGeom prst="rect">
              <a:avLst/>
            </a:prstGeom>
            <a:solidFill>
              <a:schemeClr val="bg1">
                <a:lumMod val="95000"/>
              </a:schemeClr>
            </a:solidFill>
            <a:ln>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5" name="TextBox 4">
              <a:extLst>
                <a:ext uri="{FF2B5EF4-FFF2-40B4-BE49-F238E27FC236}">
                  <a16:creationId xmlns:a16="http://schemas.microsoft.com/office/drawing/2014/main" id="{9D18BF49-F412-A735-C6F4-2EE439514828}"/>
                </a:ext>
              </a:extLst>
            </p:cNvPr>
            <p:cNvSpPr txBox="1"/>
            <p:nvPr/>
          </p:nvSpPr>
          <p:spPr>
            <a:xfrm>
              <a:off x="7169878" y="4710042"/>
              <a:ext cx="2258687" cy="123110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E4774"/>
                  </a:solidFill>
                  <a:effectLst/>
                  <a:uLnTx/>
                  <a:uFillTx/>
                  <a:latin typeface="Arial Nova" panose="020B0504020202020204" pitchFamily="34" charset="0"/>
                  <a:ea typeface="+mn-ea"/>
                  <a:cs typeface="+mn-cs"/>
                </a:rPr>
                <a:t>Inspire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Arial Nova" panose="020B05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F47027"/>
                  </a:solidFill>
                  <a:effectLst/>
                  <a:uLnTx/>
                  <a:uFillTx/>
                  <a:latin typeface="Arial Nova" panose="020B0504020202020204" pitchFamily="34" charset="0"/>
                  <a:ea typeface="+mn-ea"/>
                  <a:cs typeface="+mn-cs"/>
                </a:rPr>
                <a:t>61</a:t>
              </a:r>
            </a:p>
          </p:txBody>
        </p:sp>
      </p:grpSp>
      <p:pic>
        <p:nvPicPr>
          <p:cNvPr id="6" name="Picture 5" descr="Timeline&#10;&#10;Description automatically generated">
            <a:extLst>
              <a:ext uri="{FF2B5EF4-FFF2-40B4-BE49-F238E27FC236}">
                <a16:creationId xmlns:a16="http://schemas.microsoft.com/office/drawing/2014/main" id="{19DAA511-3FCD-0E58-61F3-5D9813461BBD}"/>
              </a:ext>
            </a:extLst>
          </p:cNvPr>
          <p:cNvPicPr>
            <a:picLocks noChangeAspect="1"/>
          </p:cNvPicPr>
          <p:nvPr/>
        </p:nvPicPr>
        <p:blipFill rotWithShape="1">
          <a:blip r:embed="rId3">
            <a:extLst>
              <a:ext uri="{28A0092B-C50C-407E-A947-70E740481C1C}">
                <a14:useLocalDpi xmlns:a14="http://schemas.microsoft.com/office/drawing/2010/main" val="0"/>
              </a:ext>
            </a:extLst>
          </a:blip>
          <a:srcRect t="73603" r="39635" b="5646"/>
          <a:stretch/>
        </p:blipFill>
        <p:spPr>
          <a:xfrm>
            <a:off x="603372" y="2686107"/>
            <a:ext cx="10912366" cy="1302907"/>
          </a:xfrm>
          <a:prstGeom prst="rect">
            <a:avLst/>
          </a:prstGeom>
        </p:spPr>
      </p:pic>
      <p:sp>
        <p:nvSpPr>
          <p:cNvPr id="7" name="TextBox 6">
            <a:extLst>
              <a:ext uri="{FF2B5EF4-FFF2-40B4-BE49-F238E27FC236}">
                <a16:creationId xmlns:a16="http://schemas.microsoft.com/office/drawing/2014/main" id="{9E5194C4-74CD-F63F-634E-ACC0EB21905E}"/>
              </a:ext>
            </a:extLst>
          </p:cNvPr>
          <p:cNvSpPr txBox="1"/>
          <p:nvPr/>
        </p:nvSpPr>
        <p:spPr>
          <a:xfrm>
            <a:off x="588395" y="1787854"/>
            <a:ext cx="1094232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E4774"/>
                </a:solidFill>
                <a:effectLst/>
                <a:uLnTx/>
                <a:uFillTx/>
                <a:latin typeface="Arial Nova" panose="020B0504020202020204" pitchFamily="34" charset="0"/>
                <a:ea typeface="+mn-ea"/>
                <a:cs typeface="+mn-cs"/>
              </a:rPr>
              <a:t>Comparable Moderate Models VaR Scores</a:t>
            </a:r>
          </a:p>
        </p:txBody>
      </p:sp>
      <p:grpSp>
        <p:nvGrpSpPr>
          <p:cNvPr id="8" name="Group 7">
            <a:extLst>
              <a:ext uri="{FF2B5EF4-FFF2-40B4-BE49-F238E27FC236}">
                <a16:creationId xmlns:a16="http://schemas.microsoft.com/office/drawing/2014/main" id="{7BB34AA3-4AA3-4B5F-74DE-49657F4063CC}"/>
              </a:ext>
            </a:extLst>
          </p:cNvPr>
          <p:cNvGrpSpPr/>
          <p:nvPr/>
        </p:nvGrpSpPr>
        <p:grpSpPr>
          <a:xfrm>
            <a:off x="4724400" y="4302491"/>
            <a:ext cx="2743200" cy="1828800"/>
            <a:chOff x="3775598" y="4523360"/>
            <a:chExt cx="2743200" cy="1828800"/>
          </a:xfrm>
        </p:grpSpPr>
        <p:sp>
          <p:nvSpPr>
            <p:cNvPr id="9" name="Rectangle 8">
              <a:extLst>
                <a:ext uri="{FF2B5EF4-FFF2-40B4-BE49-F238E27FC236}">
                  <a16:creationId xmlns:a16="http://schemas.microsoft.com/office/drawing/2014/main" id="{7A1725AD-73D9-AE4F-66B7-852D7F608497}"/>
                </a:ext>
              </a:extLst>
            </p:cNvPr>
            <p:cNvSpPr/>
            <p:nvPr/>
          </p:nvSpPr>
          <p:spPr>
            <a:xfrm>
              <a:off x="3775598" y="4523360"/>
              <a:ext cx="2743200" cy="1828800"/>
            </a:xfrm>
            <a:prstGeom prst="rect">
              <a:avLst/>
            </a:prstGeom>
            <a:solidFill>
              <a:schemeClr val="bg1">
                <a:lumMod val="95000"/>
              </a:schemeClr>
            </a:solidFill>
            <a:ln>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0" name="TextBox 9">
              <a:extLst>
                <a:ext uri="{FF2B5EF4-FFF2-40B4-BE49-F238E27FC236}">
                  <a16:creationId xmlns:a16="http://schemas.microsoft.com/office/drawing/2014/main" id="{130E8251-1D40-4BD2-0373-58E5DEC90C56}"/>
                </a:ext>
              </a:extLst>
            </p:cNvPr>
            <p:cNvSpPr txBox="1"/>
            <p:nvPr/>
          </p:nvSpPr>
          <p:spPr>
            <a:xfrm>
              <a:off x="4275770" y="4837596"/>
              <a:ext cx="1742857" cy="123110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E4774"/>
                  </a:solidFill>
                  <a:effectLst/>
                  <a:uLnTx/>
                  <a:uFillTx/>
                  <a:latin typeface="Arial Nova" panose="020B0504020202020204" pitchFamily="34" charset="0"/>
                  <a:ea typeface="+mn-ea"/>
                  <a:cs typeface="+mn-cs"/>
                </a:rPr>
                <a:t>Globalt</a:t>
              </a:r>
              <a:endParaRPr kumimoji="0" lang="en-US" sz="2400" b="0" i="0" u="none" strike="noStrike" kern="1200" cap="none" spc="0" normalizeH="0" baseline="0" noProof="0" dirty="0">
                <a:ln>
                  <a:noFill/>
                </a:ln>
                <a:solidFill>
                  <a:srgbClr val="000000"/>
                </a:solidFill>
                <a:effectLst/>
                <a:uLnTx/>
                <a:uFillTx/>
                <a:latin typeface="Arial Nova" panose="020B05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Arial Nova" panose="020B05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0C9046"/>
                  </a:solidFill>
                  <a:effectLst/>
                  <a:uLnTx/>
                  <a:uFillTx/>
                  <a:latin typeface="Arial Nova" panose="020B0504020202020204" pitchFamily="34" charset="0"/>
                  <a:ea typeface="+mn-ea"/>
                  <a:cs typeface="+mn-cs"/>
                </a:rPr>
                <a:t>50</a:t>
              </a:r>
            </a:p>
          </p:txBody>
        </p:sp>
      </p:grpSp>
      <p:grpSp>
        <p:nvGrpSpPr>
          <p:cNvPr id="11" name="Group 10">
            <a:extLst>
              <a:ext uri="{FF2B5EF4-FFF2-40B4-BE49-F238E27FC236}">
                <a16:creationId xmlns:a16="http://schemas.microsoft.com/office/drawing/2014/main" id="{CE719C50-3036-761C-D5F6-DE66DBDA8446}"/>
              </a:ext>
            </a:extLst>
          </p:cNvPr>
          <p:cNvGrpSpPr/>
          <p:nvPr/>
        </p:nvGrpSpPr>
        <p:grpSpPr>
          <a:xfrm>
            <a:off x="1654628" y="4302491"/>
            <a:ext cx="2743200" cy="1828800"/>
            <a:chOff x="9403772" y="5224776"/>
            <a:chExt cx="2743200" cy="1828800"/>
          </a:xfrm>
        </p:grpSpPr>
        <p:sp>
          <p:nvSpPr>
            <p:cNvPr id="12" name="Rectangle 11">
              <a:extLst>
                <a:ext uri="{FF2B5EF4-FFF2-40B4-BE49-F238E27FC236}">
                  <a16:creationId xmlns:a16="http://schemas.microsoft.com/office/drawing/2014/main" id="{B80E9B8D-8C9D-9CF4-094F-3FF015B9A824}"/>
                </a:ext>
              </a:extLst>
            </p:cNvPr>
            <p:cNvSpPr/>
            <p:nvPr/>
          </p:nvSpPr>
          <p:spPr>
            <a:xfrm>
              <a:off x="9403772" y="5224776"/>
              <a:ext cx="2743200" cy="1828800"/>
            </a:xfrm>
            <a:prstGeom prst="rect">
              <a:avLst/>
            </a:prstGeom>
            <a:solidFill>
              <a:schemeClr val="bg1">
                <a:lumMod val="95000"/>
              </a:schemeClr>
            </a:solidFill>
            <a:ln>
              <a:solidFill>
                <a:schemeClr val="bg1">
                  <a:lumMod val="8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3" name="TextBox 12">
              <a:extLst>
                <a:ext uri="{FF2B5EF4-FFF2-40B4-BE49-F238E27FC236}">
                  <a16:creationId xmlns:a16="http://schemas.microsoft.com/office/drawing/2014/main" id="{2F06AFE3-EC1F-6606-0FB0-99737A221D1C}"/>
                </a:ext>
              </a:extLst>
            </p:cNvPr>
            <p:cNvSpPr txBox="1"/>
            <p:nvPr/>
          </p:nvSpPr>
          <p:spPr>
            <a:xfrm>
              <a:off x="9495212" y="5361936"/>
              <a:ext cx="2560320" cy="160043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E4774"/>
                  </a:solidFill>
                  <a:effectLst/>
                  <a:uLnTx/>
                  <a:uFillTx/>
                  <a:latin typeface="Arial Nova" panose="020B0504020202020204" pitchFamily="34" charset="0"/>
                  <a:ea typeface="+mn-ea"/>
                  <a:cs typeface="+mn-cs"/>
                </a:rPr>
                <a:t>Columbia Threadneedle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Arial Nova" panose="020B05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047EC8"/>
                  </a:solidFill>
                  <a:effectLst/>
                  <a:uLnTx/>
                  <a:uFillTx/>
                  <a:latin typeface="Arial Nova" panose="020B0504020202020204" pitchFamily="34" charset="0"/>
                  <a:ea typeface="+mn-ea"/>
                  <a:cs typeface="+mn-cs"/>
                </a:rPr>
                <a:t>38</a:t>
              </a:r>
            </a:p>
          </p:txBody>
        </p:sp>
      </p:grpSp>
      <p:sp>
        <p:nvSpPr>
          <p:cNvPr id="14" name="Slide Number Placeholder 5">
            <a:extLst>
              <a:ext uri="{FF2B5EF4-FFF2-40B4-BE49-F238E27FC236}">
                <a16:creationId xmlns:a16="http://schemas.microsoft.com/office/drawing/2014/main" id="{E9EE169E-47B7-517F-C47F-EB4BDA9AD4C4}"/>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14</a:t>
            </a:fld>
            <a:endParaRPr lang="en-US" dirty="0">
              <a:solidFill>
                <a:schemeClr val="bg1">
                  <a:lumMod val="75000"/>
                </a:schemeClr>
              </a:solidFill>
              <a:latin typeface="Arial Nova" panose="020B0504020202020204" pitchFamily="34" charset="0"/>
            </a:endParaRPr>
          </a:p>
        </p:txBody>
      </p:sp>
      <p:sp>
        <p:nvSpPr>
          <p:cNvPr id="15" name="Footer Placeholder 4">
            <a:extLst>
              <a:ext uri="{FF2B5EF4-FFF2-40B4-BE49-F238E27FC236}">
                <a16:creationId xmlns:a16="http://schemas.microsoft.com/office/drawing/2014/main" id="{680C1F4A-2B20-12BD-9CF4-029A39294131}"/>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2986522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567CE379-E734-941E-4797-8A22E3D2E985}"/>
              </a:ext>
            </a:extLst>
          </p:cNvPr>
          <p:cNvSpPr txBox="1">
            <a:spLocks/>
          </p:cNvSpPr>
          <p:nvPr/>
        </p:nvSpPr>
        <p:spPr>
          <a:xfrm>
            <a:off x="381000" y="320676"/>
            <a:ext cx="10972800" cy="805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dirty="0"/>
              <a:t>Apply Discipline: Money Manager Due Diligence</a:t>
            </a:r>
          </a:p>
        </p:txBody>
      </p:sp>
      <p:sp>
        <p:nvSpPr>
          <p:cNvPr id="4" name="TextBox 3">
            <a:extLst>
              <a:ext uri="{FF2B5EF4-FFF2-40B4-BE49-F238E27FC236}">
                <a16:creationId xmlns:a16="http://schemas.microsoft.com/office/drawing/2014/main" id="{AF6BB424-0812-AE4F-34A8-DBAB6A19C1AC}"/>
              </a:ext>
            </a:extLst>
          </p:cNvPr>
          <p:cNvSpPr txBox="1"/>
          <p:nvPr/>
        </p:nvSpPr>
        <p:spPr>
          <a:xfrm>
            <a:off x="381001" y="2818218"/>
            <a:ext cx="5532120" cy="2804807"/>
          </a:xfrm>
          <a:prstGeom prst="rect">
            <a:avLst/>
          </a:prstGeom>
          <a:noFill/>
        </p:spPr>
        <p:txBody>
          <a:bodyPr wrap="square" rtlCol="0">
            <a:spAutoFit/>
          </a:bodyPr>
          <a:lstStyle/>
          <a:p>
            <a:pPr algn="ctr">
              <a:lnSpc>
                <a:spcPct val="150000"/>
              </a:lnSpc>
            </a:pPr>
            <a:r>
              <a:rPr lang="en-US" sz="2000" b="1" i="0" dirty="0">
                <a:solidFill>
                  <a:srgbClr val="004371"/>
                </a:solidFill>
                <a:effectLst/>
                <a:latin typeface="Arial Nova" panose="020B0504020202020204" pitchFamily="34" charset="0"/>
              </a:rPr>
              <a:t>BlackRock</a:t>
            </a:r>
            <a:br>
              <a:rPr lang="en-US" sz="2000" b="1" i="0" dirty="0">
                <a:solidFill>
                  <a:srgbClr val="004371"/>
                </a:solidFill>
                <a:effectLst/>
                <a:latin typeface="Arial Nova" panose="020B0504020202020204" pitchFamily="34" charset="0"/>
              </a:rPr>
            </a:br>
            <a:r>
              <a:rPr lang="en-US" sz="2000" b="1" i="0" dirty="0">
                <a:solidFill>
                  <a:srgbClr val="004371"/>
                </a:solidFill>
                <a:effectLst/>
                <a:latin typeface="Arial Nova" panose="020B0504020202020204" pitchFamily="34" charset="0"/>
              </a:rPr>
              <a:t>Capital Group | American Funds</a:t>
            </a:r>
            <a:br>
              <a:rPr lang="en-US" sz="2000" b="1" i="0" dirty="0">
                <a:solidFill>
                  <a:srgbClr val="004371"/>
                </a:solidFill>
                <a:effectLst/>
                <a:latin typeface="Arial Nova" panose="020B0504020202020204" pitchFamily="34" charset="0"/>
              </a:rPr>
            </a:br>
            <a:r>
              <a:rPr lang="en-US" sz="2000" b="1" i="0" dirty="0">
                <a:solidFill>
                  <a:srgbClr val="004371"/>
                </a:solidFill>
                <a:effectLst/>
                <a:latin typeface="Arial Nova" panose="020B0504020202020204" pitchFamily="34" charset="0"/>
              </a:rPr>
              <a:t>Clark Capital</a:t>
            </a:r>
          </a:p>
          <a:p>
            <a:pPr algn="ctr">
              <a:lnSpc>
                <a:spcPct val="150000"/>
              </a:lnSpc>
            </a:pPr>
            <a:r>
              <a:rPr lang="en-US" sz="2000" b="1" i="0" dirty="0">
                <a:solidFill>
                  <a:srgbClr val="004371"/>
                </a:solidFill>
                <a:effectLst/>
                <a:latin typeface="Arial Nova" panose="020B0504020202020204" pitchFamily="34" charset="0"/>
              </a:rPr>
              <a:t>Columbia Threadneedle</a:t>
            </a:r>
            <a:br>
              <a:rPr lang="en-US" sz="2000" b="1" i="0" dirty="0">
                <a:solidFill>
                  <a:srgbClr val="004371"/>
                </a:solidFill>
                <a:effectLst/>
                <a:latin typeface="Arial Nova" panose="020B0504020202020204" pitchFamily="34" charset="0"/>
              </a:rPr>
            </a:br>
            <a:r>
              <a:rPr lang="en-US" sz="2000" b="1" i="0" dirty="0">
                <a:solidFill>
                  <a:srgbClr val="004371"/>
                </a:solidFill>
                <a:effectLst/>
                <a:latin typeface="Arial Nova" panose="020B0504020202020204" pitchFamily="34" charset="0"/>
              </a:rPr>
              <a:t>First Trust</a:t>
            </a:r>
          </a:p>
          <a:p>
            <a:pPr algn="ctr">
              <a:lnSpc>
                <a:spcPct val="150000"/>
              </a:lnSpc>
            </a:pPr>
            <a:r>
              <a:rPr lang="en-US" sz="2000" b="1" i="0" dirty="0" err="1">
                <a:solidFill>
                  <a:srgbClr val="004371"/>
                </a:solidFill>
                <a:effectLst/>
                <a:latin typeface="Arial Nova" panose="020B0504020202020204" pitchFamily="34" charset="0"/>
              </a:rPr>
              <a:t>Globalt</a:t>
            </a:r>
            <a:r>
              <a:rPr lang="en-US" sz="2000" b="1" i="0" dirty="0">
                <a:solidFill>
                  <a:srgbClr val="004371"/>
                </a:solidFill>
                <a:effectLst/>
                <a:latin typeface="Arial Nova" panose="020B0504020202020204" pitchFamily="34" charset="0"/>
              </a:rPr>
              <a:t> Investments</a:t>
            </a:r>
          </a:p>
        </p:txBody>
      </p:sp>
      <p:sp>
        <p:nvSpPr>
          <p:cNvPr id="5" name="TextBox 4">
            <a:extLst>
              <a:ext uri="{FF2B5EF4-FFF2-40B4-BE49-F238E27FC236}">
                <a16:creationId xmlns:a16="http://schemas.microsoft.com/office/drawing/2014/main" id="{678790DF-0899-ED48-0D68-922E20266DA2}"/>
              </a:ext>
            </a:extLst>
          </p:cNvPr>
          <p:cNvSpPr txBox="1"/>
          <p:nvPr/>
        </p:nvSpPr>
        <p:spPr>
          <a:xfrm>
            <a:off x="6278880" y="2818218"/>
            <a:ext cx="5532120" cy="2804807"/>
          </a:xfrm>
          <a:prstGeom prst="rect">
            <a:avLst/>
          </a:prstGeom>
          <a:noFill/>
        </p:spPr>
        <p:txBody>
          <a:bodyPr wrap="square" rtlCol="0">
            <a:spAutoFit/>
          </a:bodyPr>
          <a:lstStyle/>
          <a:p>
            <a:pPr algn="ctr">
              <a:lnSpc>
                <a:spcPct val="150000"/>
              </a:lnSpc>
            </a:pPr>
            <a:r>
              <a:rPr lang="en-US" sz="2000" b="1" i="0" dirty="0">
                <a:solidFill>
                  <a:srgbClr val="004371"/>
                </a:solidFill>
                <a:effectLst/>
                <a:latin typeface="Arial Nova" panose="020B0504020202020204" pitchFamily="34" charset="0"/>
              </a:rPr>
              <a:t>Invesco</a:t>
            </a:r>
          </a:p>
          <a:p>
            <a:pPr algn="ctr">
              <a:lnSpc>
                <a:spcPct val="150000"/>
              </a:lnSpc>
            </a:pPr>
            <a:r>
              <a:rPr lang="en-US" sz="2000" b="1" dirty="0">
                <a:solidFill>
                  <a:srgbClr val="004371"/>
                </a:solidFill>
                <a:latin typeface="Arial Nova" panose="020B0504020202020204" pitchFamily="34" charset="0"/>
              </a:rPr>
              <a:t>John Hancock Investment Management</a:t>
            </a:r>
            <a:endParaRPr lang="en-US" sz="2000" b="1" i="0" dirty="0">
              <a:solidFill>
                <a:srgbClr val="004371"/>
              </a:solidFill>
              <a:effectLst/>
              <a:latin typeface="Arial Nova" panose="020B0504020202020204" pitchFamily="34" charset="0"/>
            </a:endParaRPr>
          </a:p>
          <a:p>
            <a:pPr algn="ctr">
              <a:lnSpc>
                <a:spcPct val="150000"/>
              </a:lnSpc>
            </a:pPr>
            <a:r>
              <a:rPr lang="en-US" sz="2000" b="1" i="0" dirty="0">
                <a:solidFill>
                  <a:srgbClr val="004371"/>
                </a:solidFill>
                <a:effectLst/>
                <a:latin typeface="Arial Nova" panose="020B0504020202020204" pitchFamily="34" charset="0"/>
              </a:rPr>
              <a:t>State Street Global Advisors</a:t>
            </a:r>
          </a:p>
          <a:p>
            <a:pPr algn="ctr">
              <a:lnSpc>
                <a:spcPct val="150000"/>
              </a:lnSpc>
            </a:pPr>
            <a:r>
              <a:rPr lang="en-US" sz="2000" b="1" i="0" dirty="0">
                <a:solidFill>
                  <a:srgbClr val="004371"/>
                </a:solidFill>
                <a:effectLst/>
                <a:latin typeface="Arial Nova" panose="020B0504020202020204" pitchFamily="34" charset="0"/>
              </a:rPr>
              <a:t>Sterling Capital</a:t>
            </a:r>
          </a:p>
          <a:p>
            <a:pPr algn="ctr">
              <a:lnSpc>
                <a:spcPct val="150000"/>
              </a:lnSpc>
            </a:pPr>
            <a:r>
              <a:rPr lang="en-US" sz="2000" b="1" dirty="0">
                <a:solidFill>
                  <a:srgbClr val="004371"/>
                </a:solidFill>
                <a:latin typeface="Arial Nova" panose="020B0504020202020204" pitchFamily="34" charset="0"/>
              </a:rPr>
              <a:t>The Leuthold Group</a:t>
            </a:r>
          </a:p>
          <a:p>
            <a:pPr algn="ctr">
              <a:lnSpc>
                <a:spcPct val="150000"/>
              </a:lnSpc>
            </a:pPr>
            <a:r>
              <a:rPr lang="en-US" sz="2000" b="1" i="0" dirty="0" err="1">
                <a:solidFill>
                  <a:srgbClr val="004371"/>
                </a:solidFill>
                <a:effectLst/>
                <a:latin typeface="Arial Nova" panose="020B0504020202020204" pitchFamily="34" charset="0"/>
              </a:rPr>
              <a:t>WestEnd</a:t>
            </a:r>
            <a:r>
              <a:rPr lang="en-US" sz="2000" b="1" i="0" dirty="0">
                <a:solidFill>
                  <a:srgbClr val="004371"/>
                </a:solidFill>
                <a:effectLst/>
                <a:latin typeface="Arial Nova" panose="020B0504020202020204" pitchFamily="34" charset="0"/>
              </a:rPr>
              <a:t> Advisors</a:t>
            </a:r>
          </a:p>
        </p:txBody>
      </p:sp>
      <p:sp>
        <p:nvSpPr>
          <p:cNvPr id="6" name="TextBox 5">
            <a:extLst>
              <a:ext uri="{FF2B5EF4-FFF2-40B4-BE49-F238E27FC236}">
                <a16:creationId xmlns:a16="http://schemas.microsoft.com/office/drawing/2014/main" id="{76C7CF8C-7D0A-8911-ABB9-0392F240A2BE}"/>
              </a:ext>
            </a:extLst>
          </p:cNvPr>
          <p:cNvSpPr txBox="1"/>
          <p:nvPr/>
        </p:nvSpPr>
        <p:spPr>
          <a:xfrm>
            <a:off x="1077265" y="1502457"/>
            <a:ext cx="9580270" cy="1200329"/>
          </a:xfrm>
          <a:prstGeom prst="rect">
            <a:avLst/>
          </a:prstGeom>
          <a:noFill/>
        </p:spPr>
        <p:txBody>
          <a:bodyPr wrap="square" rtlCol="0">
            <a:spAutoFit/>
          </a:bodyPr>
          <a:lstStyle/>
          <a:p>
            <a:pPr algn="ctr"/>
            <a:r>
              <a:rPr lang="en-US" sz="2400">
                <a:latin typeface="Arial Nova" panose="020B0504020202020204" pitchFamily="34" charset="0"/>
              </a:rPr>
              <a:t>Money managers and investment strategies are </a:t>
            </a:r>
            <a:r>
              <a:rPr lang="en-US" sz="2400" b="1">
                <a:solidFill>
                  <a:srgbClr val="0076BD"/>
                </a:solidFill>
                <a:latin typeface="Arial Nova" panose="020B0504020202020204" pitchFamily="34" charset="0"/>
              </a:rPr>
              <a:t>vetted and monitored on a continuous basis </a:t>
            </a:r>
            <a:r>
              <a:rPr lang="en-US" sz="2400">
                <a:latin typeface="Arial Nova" panose="020B0504020202020204" pitchFamily="34" charset="0"/>
              </a:rPr>
              <a:t>to help ensure clients remain on track to </a:t>
            </a:r>
            <a:r>
              <a:rPr lang="en-US" sz="2400" b="1">
                <a:solidFill>
                  <a:srgbClr val="0076BD"/>
                </a:solidFill>
                <a:latin typeface="Arial Nova" panose="020B0504020202020204" pitchFamily="34" charset="0"/>
              </a:rPr>
              <a:t>achieve their financial goals.</a:t>
            </a:r>
          </a:p>
        </p:txBody>
      </p:sp>
      <p:sp>
        <p:nvSpPr>
          <p:cNvPr id="9" name="TextBox 8">
            <a:extLst>
              <a:ext uri="{FF2B5EF4-FFF2-40B4-BE49-F238E27FC236}">
                <a16:creationId xmlns:a16="http://schemas.microsoft.com/office/drawing/2014/main" id="{D234DCA2-FAE7-E967-E7B3-BA665730D9D1}"/>
              </a:ext>
            </a:extLst>
          </p:cNvPr>
          <p:cNvSpPr txBox="1"/>
          <p:nvPr/>
        </p:nvSpPr>
        <p:spPr>
          <a:xfrm>
            <a:off x="1870165" y="5758855"/>
            <a:ext cx="9194075" cy="461665"/>
          </a:xfrm>
          <a:prstGeom prst="rect">
            <a:avLst/>
          </a:prstGeom>
          <a:noFill/>
        </p:spPr>
        <p:txBody>
          <a:bodyPr wrap="square">
            <a:spAutoFit/>
          </a:bodyPr>
          <a:lstStyle/>
          <a:p>
            <a:pPr algn="ctr"/>
            <a:r>
              <a:rPr lang="en-US" sz="1200" b="0" i="0" dirty="0">
                <a:solidFill>
                  <a:schemeClr val="bg1">
                    <a:lumMod val="65000"/>
                  </a:schemeClr>
                </a:solidFill>
                <a:effectLst/>
                <a:latin typeface="Arial" panose="020B0604020202020204" pitchFamily="34" charset="0"/>
              </a:rPr>
              <a:t>The list is not all inclusive and does not represent an endorsement of any entity. </a:t>
            </a:r>
          </a:p>
          <a:p>
            <a:pPr algn="ctr"/>
            <a:r>
              <a:rPr lang="en-US" sz="1200" b="0" i="0" dirty="0">
                <a:solidFill>
                  <a:schemeClr val="bg1">
                    <a:lumMod val="65000"/>
                  </a:schemeClr>
                </a:solidFill>
                <a:effectLst/>
                <a:latin typeface="Arial" panose="020B0604020202020204" pitchFamily="34" charset="0"/>
              </a:rPr>
              <a:t>Please make sure to review any money manager disclosure documents before any investment.</a:t>
            </a:r>
            <a:endParaRPr lang="en-US" sz="1200" dirty="0">
              <a:solidFill>
                <a:schemeClr val="bg1">
                  <a:lumMod val="65000"/>
                </a:schemeClr>
              </a:solidFill>
            </a:endParaRPr>
          </a:p>
        </p:txBody>
      </p:sp>
      <p:sp>
        <p:nvSpPr>
          <p:cNvPr id="2" name="Slide Number Placeholder 5">
            <a:extLst>
              <a:ext uri="{FF2B5EF4-FFF2-40B4-BE49-F238E27FC236}">
                <a16:creationId xmlns:a16="http://schemas.microsoft.com/office/drawing/2014/main" id="{7AB17674-97A8-FB67-6CBC-A19CA7C80FBF}"/>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15</a:t>
            </a:fld>
            <a:endParaRPr lang="en-US" dirty="0">
              <a:solidFill>
                <a:schemeClr val="bg1">
                  <a:lumMod val="75000"/>
                </a:schemeClr>
              </a:solidFill>
              <a:latin typeface="Arial Nova" panose="020B0504020202020204" pitchFamily="34" charset="0"/>
            </a:endParaRPr>
          </a:p>
        </p:txBody>
      </p:sp>
      <p:sp>
        <p:nvSpPr>
          <p:cNvPr id="7" name="Footer Placeholder 4">
            <a:extLst>
              <a:ext uri="{FF2B5EF4-FFF2-40B4-BE49-F238E27FC236}">
                <a16:creationId xmlns:a16="http://schemas.microsoft.com/office/drawing/2014/main" id="{67116B86-EA2A-B405-4B90-3C0909B728EC}"/>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1729476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D7864-993C-22EB-4126-A7046C392DD6}"/>
            </a:ext>
          </a:extLst>
        </p:cNvPr>
        <p:cNvGrpSpPr/>
        <p:nvPr/>
      </p:nvGrpSpPr>
      <p:grpSpPr>
        <a:xfrm>
          <a:off x="0" y="0"/>
          <a:ext cx="0" cy="0"/>
          <a:chOff x="0" y="0"/>
          <a:chExt cx="0" cy="0"/>
        </a:xfrm>
      </p:grpSpPr>
      <p:grpSp>
        <p:nvGrpSpPr>
          <p:cNvPr id="122" name="Group 121">
            <a:extLst>
              <a:ext uri="{FF2B5EF4-FFF2-40B4-BE49-F238E27FC236}">
                <a16:creationId xmlns:a16="http://schemas.microsoft.com/office/drawing/2014/main" id="{298E20C4-0F2D-5C28-FA95-CA9755152675}"/>
              </a:ext>
            </a:extLst>
          </p:cNvPr>
          <p:cNvGrpSpPr/>
          <p:nvPr/>
        </p:nvGrpSpPr>
        <p:grpSpPr>
          <a:xfrm>
            <a:off x="9017459" y="2064344"/>
            <a:ext cx="2347703" cy="2843381"/>
            <a:chOff x="9017459" y="2290007"/>
            <a:chExt cx="2347703" cy="2843381"/>
          </a:xfrm>
        </p:grpSpPr>
        <p:grpSp>
          <p:nvGrpSpPr>
            <p:cNvPr id="104" name="Group 103">
              <a:extLst>
                <a:ext uri="{FF2B5EF4-FFF2-40B4-BE49-F238E27FC236}">
                  <a16:creationId xmlns:a16="http://schemas.microsoft.com/office/drawing/2014/main" id="{0490B171-74AB-3E78-A359-9260B92B8857}"/>
                </a:ext>
              </a:extLst>
            </p:cNvPr>
            <p:cNvGrpSpPr/>
            <p:nvPr/>
          </p:nvGrpSpPr>
          <p:grpSpPr>
            <a:xfrm>
              <a:off x="9017459" y="2290007"/>
              <a:ext cx="2347703" cy="2843381"/>
              <a:chOff x="556260" y="2108890"/>
              <a:chExt cx="2347703" cy="2843381"/>
            </a:xfrm>
          </p:grpSpPr>
          <p:sp>
            <p:nvSpPr>
              <p:cNvPr id="109" name="Oval 108">
                <a:extLst>
                  <a:ext uri="{FF2B5EF4-FFF2-40B4-BE49-F238E27FC236}">
                    <a16:creationId xmlns:a16="http://schemas.microsoft.com/office/drawing/2014/main" id="{11B051F9-61EA-272B-3EDF-946DA8472D6B}"/>
                  </a:ext>
                </a:extLst>
              </p:cNvPr>
              <p:cNvSpPr/>
              <p:nvPr/>
            </p:nvSpPr>
            <p:spPr>
              <a:xfrm>
                <a:off x="556260" y="2666271"/>
                <a:ext cx="2324100" cy="2286000"/>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6" name="Group 105">
                <a:extLst>
                  <a:ext uri="{FF2B5EF4-FFF2-40B4-BE49-F238E27FC236}">
                    <a16:creationId xmlns:a16="http://schemas.microsoft.com/office/drawing/2014/main" id="{E93C8199-6D4E-BBE6-7AA7-E93EB02BD475}"/>
                  </a:ext>
                </a:extLst>
              </p:cNvPr>
              <p:cNvGrpSpPr/>
              <p:nvPr/>
            </p:nvGrpSpPr>
            <p:grpSpPr>
              <a:xfrm>
                <a:off x="617963" y="2108890"/>
                <a:ext cx="2286000" cy="768864"/>
                <a:chOff x="1289829" y="3375896"/>
                <a:chExt cx="2286000" cy="768864"/>
              </a:xfrm>
            </p:grpSpPr>
            <p:sp>
              <p:nvSpPr>
                <p:cNvPr id="107" name="Rectangle 106">
                  <a:extLst>
                    <a:ext uri="{FF2B5EF4-FFF2-40B4-BE49-F238E27FC236}">
                      <a16:creationId xmlns:a16="http://schemas.microsoft.com/office/drawing/2014/main" id="{F2E4F523-9B94-7EB7-5884-E40C20590E98}"/>
                    </a:ext>
                  </a:extLst>
                </p:cNvPr>
                <p:cNvSpPr/>
                <p:nvPr/>
              </p:nvSpPr>
              <p:spPr>
                <a:xfrm>
                  <a:off x="1289829" y="3375896"/>
                  <a:ext cx="2286000" cy="768864"/>
                </a:xfrm>
                <a:prstGeom prst="rect">
                  <a:avLst/>
                </a:prstGeom>
                <a:solidFill>
                  <a:srgbClr val="0F4C7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Nova"/>
                    <a:ea typeface="+mn-ea"/>
                    <a:cs typeface="+mn-cs"/>
                  </a:endParaRPr>
                </a:p>
              </p:txBody>
            </p:sp>
            <p:sp>
              <p:nvSpPr>
                <p:cNvPr id="108" name="TextBox 107">
                  <a:extLst>
                    <a:ext uri="{FF2B5EF4-FFF2-40B4-BE49-F238E27FC236}">
                      <a16:creationId xmlns:a16="http://schemas.microsoft.com/office/drawing/2014/main" id="{3504343B-154D-08A4-221D-7C58FE41D5FA}"/>
                    </a:ext>
                  </a:extLst>
                </p:cNvPr>
                <p:cNvSpPr txBox="1"/>
                <p:nvPr/>
              </p:nvSpPr>
              <p:spPr>
                <a:xfrm>
                  <a:off x="1381269" y="3529496"/>
                  <a:ext cx="2103120"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Arial Nova"/>
                    </a:rPr>
                    <a:t>Sustainable</a:t>
                  </a:r>
                </a:p>
              </p:txBody>
            </p:sp>
          </p:grpSp>
        </p:grpSp>
        <p:pic>
          <p:nvPicPr>
            <p:cNvPr id="121" name="Graphic 120" descr="Leaf with solid fill">
              <a:extLst>
                <a:ext uri="{FF2B5EF4-FFF2-40B4-BE49-F238E27FC236}">
                  <a16:creationId xmlns:a16="http://schemas.microsoft.com/office/drawing/2014/main" id="{E3844A1A-F6FB-2BF3-C915-1CF190CB326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96950" y="3376385"/>
              <a:ext cx="1188720" cy="1188720"/>
            </a:xfrm>
            <a:prstGeom prst="rect">
              <a:avLst/>
            </a:prstGeom>
          </p:spPr>
        </p:pic>
      </p:grpSp>
      <p:grpSp>
        <p:nvGrpSpPr>
          <p:cNvPr id="123" name="Group 122">
            <a:extLst>
              <a:ext uri="{FF2B5EF4-FFF2-40B4-BE49-F238E27FC236}">
                <a16:creationId xmlns:a16="http://schemas.microsoft.com/office/drawing/2014/main" id="{FF9A2B47-AF11-3B45-4F8C-53713AFB6331}"/>
              </a:ext>
            </a:extLst>
          </p:cNvPr>
          <p:cNvGrpSpPr/>
          <p:nvPr/>
        </p:nvGrpSpPr>
        <p:grpSpPr>
          <a:xfrm>
            <a:off x="6220934" y="2064344"/>
            <a:ext cx="2347703" cy="2843381"/>
            <a:chOff x="6220934" y="2290007"/>
            <a:chExt cx="2347703" cy="2843381"/>
          </a:xfrm>
        </p:grpSpPr>
        <p:grpSp>
          <p:nvGrpSpPr>
            <p:cNvPr id="111" name="Group 110">
              <a:extLst>
                <a:ext uri="{FF2B5EF4-FFF2-40B4-BE49-F238E27FC236}">
                  <a16:creationId xmlns:a16="http://schemas.microsoft.com/office/drawing/2014/main" id="{211BC84D-670E-20A2-BD23-6A9D50EF611D}"/>
                </a:ext>
              </a:extLst>
            </p:cNvPr>
            <p:cNvGrpSpPr/>
            <p:nvPr/>
          </p:nvGrpSpPr>
          <p:grpSpPr>
            <a:xfrm>
              <a:off x="6220934" y="2290007"/>
              <a:ext cx="2347703" cy="2843381"/>
              <a:chOff x="556260" y="2108890"/>
              <a:chExt cx="2347703" cy="2843381"/>
            </a:xfrm>
          </p:grpSpPr>
          <p:sp>
            <p:nvSpPr>
              <p:cNvPr id="116" name="Oval 115">
                <a:extLst>
                  <a:ext uri="{FF2B5EF4-FFF2-40B4-BE49-F238E27FC236}">
                    <a16:creationId xmlns:a16="http://schemas.microsoft.com/office/drawing/2014/main" id="{64146A87-2180-74F8-1873-D9FCAF9725EA}"/>
                  </a:ext>
                </a:extLst>
              </p:cNvPr>
              <p:cNvSpPr/>
              <p:nvPr/>
            </p:nvSpPr>
            <p:spPr>
              <a:xfrm>
                <a:off x="556260" y="2666271"/>
                <a:ext cx="2324100" cy="2286000"/>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3" name="Group 112">
                <a:extLst>
                  <a:ext uri="{FF2B5EF4-FFF2-40B4-BE49-F238E27FC236}">
                    <a16:creationId xmlns:a16="http://schemas.microsoft.com/office/drawing/2014/main" id="{AD330362-009D-56B6-734E-A1682A063F9A}"/>
                  </a:ext>
                </a:extLst>
              </p:cNvPr>
              <p:cNvGrpSpPr/>
              <p:nvPr/>
            </p:nvGrpSpPr>
            <p:grpSpPr>
              <a:xfrm>
                <a:off x="617963" y="2108890"/>
                <a:ext cx="2286000" cy="768864"/>
                <a:chOff x="1289829" y="3375896"/>
                <a:chExt cx="2286000" cy="768864"/>
              </a:xfrm>
            </p:grpSpPr>
            <p:sp>
              <p:nvSpPr>
                <p:cNvPr id="114" name="Rectangle 113">
                  <a:extLst>
                    <a:ext uri="{FF2B5EF4-FFF2-40B4-BE49-F238E27FC236}">
                      <a16:creationId xmlns:a16="http://schemas.microsoft.com/office/drawing/2014/main" id="{61454B37-83AB-D787-5C65-DA5079EF946B}"/>
                    </a:ext>
                  </a:extLst>
                </p:cNvPr>
                <p:cNvSpPr/>
                <p:nvPr/>
              </p:nvSpPr>
              <p:spPr>
                <a:xfrm>
                  <a:off x="1289829" y="3375896"/>
                  <a:ext cx="2286000" cy="768864"/>
                </a:xfrm>
                <a:prstGeom prst="rect">
                  <a:avLst/>
                </a:prstGeom>
                <a:solidFill>
                  <a:srgbClr val="0276B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Nova"/>
                    <a:ea typeface="+mn-ea"/>
                    <a:cs typeface="+mn-cs"/>
                  </a:endParaRPr>
                </a:p>
              </p:txBody>
            </p:sp>
            <p:sp>
              <p:nvSpPr>
                <p:cNvPr id="115" name="TextBox 114">
                  <a:extLst>
                    <a:ext uri="{FF2B5EF4-FFF2-40B4-BE49-F238E27FC236}">
                      <a16:creationId xmlns:a16="http://schemas.microsoft.com/office/drawing/2014/main" id="{28753B7F-155C-1C26-61C2-9A996DCCE96C}"/>
                    </a:ext>
                  </a:extLst>
                </p:cNvPr>
                <p:cNvSpPr txBox="1"/>
                <p:nvPr/>
              </p:nvSpPr>
              <p:spPr>
                <a:xfrm>
                  <a:off x="1381269" y="3529496"/>
                  <a:ext cx="2103120"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Arial Nova"/>
                    </a:rPr>
                    <a:t>Income</a:t>
                  </a:r>
                </a:p>
              </p:txBody>
            </p:sp>
          </p:grpSp>
        </p:grpSp>
        <p:pic>
          <p:nvPicPr>
            <p:cNvPr id="120" name="Graphic 119" descr="Piggy Bank with solid fill">
              <a:extLst>
                <a:ext uri="{FF2B5EF4-FFF2-40B4-BE49-F238E27FC236}">
                  <a16:creationId xmlns:a16="http://schemas.microsoft.com/office/drawing/2014/main" id="{A5A297EA-C08C-C8C2-6CE0-499219C61E2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31277" y="3382996"/>
              <a:ext cx="1188720" cy="1188720"/>
            </a:xfrm>
            <a:prstGeom prst="rect">
              <a:avLst/>
            </a:prstGeom>
          </p:spPr>
        </p:pic>
      </p:grpSp>
      <p:grpSp>
        <p:nvGrpSpPr>
          <p:cNvPr id="124" name="Group 123">
            <a:extLst>
              <a:ext uri="{FF2B5EF4-FFF2-40B4-BE49-F238E27FC236}">
                <a16:creationId xmlns:a16="http://schemas.microsoft.com/office/drawing/2014/main" id="{62C3AC50-40E7-20EB-A2C3-4B31DFA2618D}"/>
              </a:ext>
            </a:extLst>
          </p:cNvPr>
          <p:cNvGrpSpPr/>
          <p:nvPr/>
        </p:nvGrpSpPr>
        <p:grpSpPr>
          <a:xfrm>
            <a:off x="3424409" y="2064344"/>
            <a:ext cx="2347703" cy="2843381"/>
            <a:chOff x="3424409" y="2290007"/>
            <a:chExt cx="2347703" cy="2843381"/>
          </a:xfrm>
        </p:grpSpPr>
        <p:grpSp>
          <p:nvGrpSpPr>
            <p:cNvPr id="97" name="Group 96">
              <a:extLst>
                <a:ext uri="{FF2B5EF4-FFF2-40B4-BE49-F238E27FC236}">
                  <a16:creationId xmlns:a16="http://schemas.microsoft.com/office/drawing/2014/main" id="{72D14588-EACD-100E-D969-93A2CC719B57}"/>
                </a:ext>
              </a:extLst>
            </p:cNvPr>
            <p:cNvGrpSpPr/>
            <p:nvPr/>
          </p:nvGrpSpPr>
          <p:grpSpPr>
            <a:xfrm>
              <a:off x="3424409" y="2290007"/>
              <a:ext cx="2347703" cy="2843381"/>
              <a:chOff x="556260" y="2108890"/>
              <a:chExt cx="2347703" cy="2843381"/>
            </a:xfrm>
          </p:grpSpPr>
          <p:sp>
            <p:nvSpPr>
              <p:cNvPr id="102" name="Oval 101">
                <a:extLst>
                  <a:ext uri="{FF2B5EF4-FFF2-40B4-BE49-F238E27FC236}">
                    <a16:creationId xmlns:a16="http://schemas.microsoft.com/office/drawing/2014/main" id="{22FEE43A-F261-F1A1-3C6F-504101DBC04C}"/>
                  </a:ext>
                </a:extLst>
              </p:cNvPr>
              <p:cNvSpPr/>
              <p:nvPr/>
            </p:nvSpPr>
            <p:spPr>
              <a:xfrm>
                <a:off x="556260" y="2666271"/>
                <a:ext cx="2324100" cy="2286000"/>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9" name="Group 98">
                <a:extLst>
                  <a:ext uri="{FF2B5EF4-FFF2-40B4-BE49-F238E27FC236}">
                    <a16:creationId xmlns:a16="http://schemas.microsoft.com/office/drawing/2014/main" id="{4AC3E95E-8910-EF31-4CF2-AE633053927D}"/>
                  </a:ext>
                </a:extLst>
              </p:cNvPr>
              <p:cNvGrpSpPr/>
              <p:nvPr/>
            </p:nvGrpSpPr>
            <p:grpSpPr>
              <a:xfrm>
                <a:off x="617963" y="2108890"/>
                <a:ext cx="2286000" cy="768864"/>
                <a:chOff x="1289829" y="3375896"/>
                <a:chExt cx="2286000" cy="768864"/>
              </a:xfrm>
            </p:grpSpPr>
            <p:sp>
              <p:nvSpPr>
                <p:cNvPr id="100" name="Rectangle 99">
                  <a:extLst>
                    <a:ext uri="{FF2B5EF4-FFF2-40B4-BE49-F238E27FC236}">
                      <a16:creationId xmlns:a16="http://schemas.microsoft.com/office/drawing/2014/main" id="{EA4B6BFB-6F98-270F-292B-169F7855339D}"/>
                    </a:ext>
                  </a:extLst>
                </p:cNvPr>
                <p:cNvSpPr/>
                <p:nvPr/>
              </p:nvSpPr>
              <p:spPr>
                <a:xfrm>
                  <a:off x="1289829" y="3375896"/>
                  <a:ext cx="2286000" cy="768864"/>
                </a:xfrm>
                <a:prstGeom prst="rect">
                  <a:avLst/>
                </a:prstGeom>
                <a:solidFill>
                  <a:srgbClr val="5B9BD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Nova"/>
                    <a:ea typeface="+mn-ea"/>
                    <a:cs typeface="+mn-cs"/>
                  </a:endParaRPr>
                </a:p>
              </p:txBody>
            </p:sp>
            <p:sp>
              <p:nvSpPr>
                <p:cNvPr id="101" name="TextBox 100">
                  <a:extLst>
                    <a:ext uri="{FF2B5EF4-FFF2-40B4-BE49-F238E27FC236}">
                      <a16:creationId xmlns:a16="http://schemas.microsoft.com/office/drawing/2014/main" id="{96DEDE2B-D33F-BFC2-8C36-872CCB0CAF2F}"/>
                    </a:ext>
                  </a:extLst>
                </p:cNvPr>
                <p:cNvSpPr txBox="1"/>
                <p:nvPr/>
              </p:nvSpPr>
              <p:spPr>
                <a:xfrm>
                  <a:off x="1381269" y="3529496"/>
                  <a:ext cx="2103120"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Arial Nova"/>
                    </a:rPr>
                    <a:t>Passive</a:t>
                  </a:r>
                </a:p>
              </p:txBody>
            </p:sp>
          </p:grpSp>
        </p:grpSp>
        <p:pic>
          <p:nvPicPr>
            <p:cNvPr id="119" name="Graphic 118" descr="Venn diagram with solid fill">
              <a:extLst>
                <a:ext uri="{FF2B5EF4-FFF2-40B4-BE49-F238E27FC236}">
                  <a16:creationId xmlns:a16="http://schemas.microsoft.com/office/drawing/2014/main" id="{616D0748-E190-030C-F17E-D4AF7949AFF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92099" y="3403659"/>
              <a:ext cx="1188720" cy="1188720"/>
            </a:xfrm>
            <a:prstGeom prst="rect">
              <a:avLst/>
            </a:prstGeom>
          </p:spPr>
        </p:pic>
      </p:grpSp>
      <p:sp>
        <p:nvSpPr>
          <p:cNvPr id="3" name="Title 1">
            <a:extLst>
              <a:ext uri="{FF2B5EF4-FFF2-40B4-BE49-F238E27FC236}">
                <a16:creationId xmlns:a16="http://schemas.microsoft.com/office/drawing/2014/main" id="{BDC583B1-FBD8-0037-76C5-221A332742A0}"/>
              </a:ext>
            </a:extLst>
          </p:cNvPr>
          <p:cNvSpPr txBox="1">
            <a:spLocks/>
          </p:cNvSpPr>
          <p:nvPr/>
        </p:nvSpPr>
        <p:spPr>
          <a:xfrm>
            <a:off x="334696" y="433020"/>
            <a:ext cx="10405022" cy="577073"/>
          </a:xfrm>
          <a:prstGeom prst="rect">
            <a:avLst/>
          </a:prstGeom>
        </p:spPr>
        <p:txBody>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dirty="0"/>
              <a:t>Apply Discipline: Investment Strategies</a:t>
            </a:r>
          </a:p>
        </p:txBody>
      </p:sp>
      <p:grpSp>
        <p:nvGrpSpPr>
          <p:cNvPr id="96" name="Group 95">
            <a:extLst>
              <a:ext uri="{FF2B5EF4-FFF2-40B4-BE49-F238E27FC236}">
                <a16:creationId xmlns:a16="http://schemas.microsoft.com/office/drawing/2014/main" id="{45B51636-A490-4906-B34E-80D6F30D38E4}"/>
              </a:ext>
            </a:extLst>
          </p:cNvPr>
          <p:cNvGrpSpPr/>
          <p:nvPr/>
        </p:nvGrpSpPr>
        <p:grpSpPr>
          <a:xfrm>
            <a:off x="627884" y="2064344"/>
            <a:ext cx="2347703" cy="2843381"/>
            <a:chOff x="556260" y="2108890"/>
            <a:chExt cx="2347703" cy="2843381"/>
          </a:xfrm>
        </p:grpSpPr>
        <p:grpSp>
          <p:nvGrpSpPr>
            <p:cNvPr id="95" name="Group 94">
              <a:extLst>
                <a:ext uri="{FF2B5EF4-FFF2-40B4-BE49-F238E27FC236}">
                  <a16:creationId xmlns:a16="http://schemas.microsoft.com/office/drawing/2014/main" id="{BF6904BD-5A30-1394-96CF-CE6F41F2AF70}"/>
                </a:ext>
              </a:extLst>
            </p:cNvPr>
            <p:cNvGrpSpPr/>
            <p:nvPr/>
          </p:nvGrpSpPr>
          <p:grpSpPr>
            <a:xfrm>
              <a:off x="556260" y="2666271"/>
              <a:ext cx="2324100" cy="2286000"/>
              <a:chOff x="447749" y="1910374"/>
              <a:chExt cx="2324100" cy="2286000"/>
            </a:xfrm>
          </p:grpSpPr>
          <p:sp>
            <p:nvSpPr>
              <p:cNvPr id="94" name="Oval 93">
                <a:extLst>
                  <a:ext uri="{FF2B5EF4-FFF2-40B4-BE49-F238E27FC236}">
                    <a16:creationId xmlns:a16="http://schemas.microsoft.com/office/drawing/2014/main" id="{8F314815-38AC-8A2E-D8E3-F37F4D6668A1}"/>
                  </a:ext>
                </a:extLst>
              </p:cNvPr>
              <p:cNvSpPr/>
              <p:nvPr/>
            </p:nvSpPr>
            <p:spPr>
              <a:xfrm>
                <a:off x="447749" y="1910374"/>
                <a:ext cx="2324100" cy="2286000"/>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Graphic 72" descr="Chess pieces with solid fill">
                <a:extLst>
                  <a:ext uri="{FF2B5EF4-FFF2-40B4-BE49-F238E27FC236}">
                    <a16:creationId xmlns:a16="http://schemas.microsoft.com/office/drawing/2014/main" id="{905FE7BC-29EC-0604-FBFA-C502D676E75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15439" y="2459014"/>
                <a:ext cx="1188720" cy="1188720"/>
              </a:xfrm>
              <a:prstGeom prst="rect">
                <a:avLst/>
              </a:prstGeom>
            </p:spPr>
          </p:pic>
        </p:grpSp>
        <p:grpSp>
          <p:nvGrpSpPr>
            <p:cNvPr id="78" name="Group 77">
              <a:extLst>
                <a:ext uri="{FF2B5EF4-FFF2-40B4-BE49-F238E27FC236}">
                  <a16:creationId xmlns:a16="http://schemas.microsoft.com/office/drawing/2014/main" id="{5CADDC27-8A0D-FD83-792C-12B6584B7537}"/>
                </a:ext>
              </a:extLst>
            </p:cNvPr>
            <p:cNvGrpSpPr/>
            <p:nvPr/>
          </p:nvGrpSpPr>
          <p:grpSpPr>
            <a:xfrm>
              <a:off x="617963" y="2108890"/>
              <a:ext cx="2286000" cy="768864"/>
              <a:chOff x="1289829" y="3375896"/>
              <a:chExt cx="2286000" cy="768864"/>
            </a:xfrm>
          </p:grpSpPr>
          <p:sp>
            <p:nvSpPr>
              <p:cNvPr id="89" name="Rectangle 88">
                <a:extLst>
                  <a:ext uri="{FF2B5EF4-FFF2-40B4-BE49-F238E27FC236}">
                    <a16:creationId xmlns:a16="http://schemas.microsoft.com/office/drawing/2014/main" id="{A299C64D-9E43-6C42-5B6E-8FBDD62FFD85}"/>
                  </a:ext>
                </a:extLst>
              </p:cNvPr>
              <p:cNvSpPr/>
              <p:nvPr/>
            </p:nvSpPr>
            <p:spPr>
              <a:xfrm>
                <a:off x="1289829" y="3375896"/>
                <a:ext cx="2286000" cy="768864"/>
              </a:xfrm>
              <a:prstGeom prst="rect">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Nova"/>
                  <a:ea typeface="+mn-ea"/>
                  <a:cs typeface="+mn-cs"/>
                </a:endParaRPr>
              </a:p>
            </p:txBody>
          </p:sp>
          <p:sp>
            <p:nvSpPr>
              <p:cNvPr id="90" name="TextBox 89">
                <a:extLst>
                  <a:ext uri="{FF2B5EF4-FFF2-40B4-BE49-F238E27FC236}">
                    <a16:creationId xmlns:a16="http://schemas.microsoft.com/office/drawing/2014/main" id="{677927F5-31C4-3C18-DBC4-69AD62CE8AA5}"/>
                  </a:ext>
                </a:extLst>
              </p:cNvPr>
              <p:cNvSpPr txBox="1"/>
              <p:nvPr/>
            </p:nvSpPr>
            <p:spPr>
              <a:xfrm>
                <a:off x="1381269" y="3529496"/>
                <a:ext cx="2103120"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Arial Nova"/>
                  </a:rPr>
                  <a:t>Active</a:t>
                </a:r>
              </a:p>
            </p:txBody>
          </p:sp>
        </p:grpSp>
      </p:grpSp>
      <p:sp>
        <p:nvSpPr>
          <p:cNvPr id="125" name="TextBox 124">
            <a:extLst>
              <a:ext uri="{FF2B5EF4-FFF2-40B4-BE49-F238E27FC236}">
                <a16:creationId xmlns:a16="http://schemas.microsoft.com/office/drawing/2014/main" id="{EAD32949-8867-4FD9-5D92-E7F7049496C6}"/>
              </a:ext>
            </a:extLst>
          </p:cNvPr>
          <p:cNvSpPr txBox="1"/>
          <p:nvPr/>
        </p:nvSpPr>
        <p:spPr>
          <a:xfrm>
            <a:off x="627884" y="5125048"/>
            <a:ext cx="10897366" cy="492443"/>
          </a:xfrm>
          <a:prstGeom prst="rect">
            <a:avLst/>
          </a:prstGeom>
          <a:noFill/>
        </p:spPr>
        <p:txBody>
          <a:bodyPr wrap="square" rtlCol="0">
            <a:spAutoFit/>
          </a:bodyPr>
          <a:lstStyle/>
          <a:p>
            <a:pPr algn="ctr"/>
            <a:r>
              <a:rPr lang="en-US" sz="2600" b="1" dirty="0">
                <a:solidFill>
                  <a:srgbClr val="024372"/>
                </a:solidFill>
                <a:latin typeface="Arial Nova" panose="020B0504020202020204" pitchFamily="34" charset="0"/>
              </a:rPr>
              <a:t>Taxable and Tax-Aware strategies available within each category.</a:t>
            </a:r>
          </a:p>
        </p:txBody>
      </p:sp>
      <p:sp>
        <p:nvSpPr>
          <p:cNvPr id="2" name="Slide Number Placeholder 5">
            <a:extLst>
              <a:ext uri="{FF2B5EF4-FFF2-40B4-BE49-F238E27FC236}">
                <a16:creationId xmlns:a16="http://schemas.microsoft.com/office/drawing/2014/main" id="{BC8B7407-FF12-C096-76B5-3AA3860C7297}"/>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16</a:t>
            </a:fld>
            <a:endParaRPr lang="en-US" dirty="0">
              <a:solidFill>
                <a:schemeClr val="bg1">
                  <a:lumMod val="75000"/>
                </a:schemeClr>
              </a:solidFill>
              <a:latin typeface="Arial Nova" panose="020B0504020202020204" pitchFamily="34" charset="0"/>
            </a:endParaRPr>
          </a:p>
        </p:txBody>
      </p:sp>
      <p:sp>
        <p:nvSpPr>
          <p:cNvPr id="4" name="Footer Placeholder 4">
            <a:extLst>
              <a:ext uri="{FF2B5EF4-FFF2-40B4-BE49-F238E27FC236}">
                <a16:creationId xmlns:a16="http://schemas.microsoft.com/office/drawing/2014/main" id="{15AC4D50-D837-42EF-FB84-BA075448B3C5}"/>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1275585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8DFDB1B-810D-23F7-1022-401E40022233}"/>
              </a:ext>
            </a:extLst>
          </p:cNvPr>
          <p:cNvSpPr txBox="1">
            <a:spLocks/>
          </p:cNvSpPr>
          <p:nvPr/>
        </p:nvSpPr>
        <p:spPr>
          <a:xfrm>
            <a:off x="334696" y="433020"/>
            <a:ext cx="10405022" cy="577073"/>
          </a:xfrm>
          <a:prstGeom prst="rect">
            <a:avLst/>
          </a:prstGeom>
        </p:spPr>
        <p:txBody>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dirty="0"/>
              <a:t>Apply Discipline: Advanced Tax Services</a:t>
            </a:r>
          </a:p>
        </p:txBody>
      </p:sp>
      <p:sp>
        <p:nvSpPr>
          <p:cNvPr id="7" name="TextBox 6">
            <a:extLst>
              <a:ext uri="{FF2B5EF4-FFF2-40B4-BE49-F238E27FC236}">
                <a16:creationId xmlns:a16="http://schemas.microsoft.com/office/drawing/2014/main" id="{394C556D-9FAD-1940-3E10-08268EEC72EB}"/>
              </a:ext>
            </a:extLst>
          </p:cNvPr>
          <p:cNvSpPr txBox="1"/>
          <p:nvPr/>
        </p:nvSpPr>
        <p:spPr>
          <a:xfrm>
            <a:off x="3590925" y="1775007"/>
            <a:ext cx="8029575" cy="3816429"/>
          </a:xfrm>
          <a:prstGeom prst="rect">
            <a:avLst/>
          </a:prstGeom>
          <a:noFill/>
        </p:spPr>
        <p:txBody>
          <a:bodyPr wrap="square">
            <a:spAutoFit/>
          </a:bodyPr>
          <a:lstStyle/>
          <a:p>
            <a:pPr>
              <a:defRPr/>
            </a:pPr>
            <a:r>
              <a:rPr kumimoji="0" lang="en-US" sz="2200" b="1" i="0" u="none" strike="noStrike" kern="1200" cap="none" spc="0" normalizeH="0" baseline="0" noProof="0" dirty="0">
                <a:ln>
                  <a:noFill/>
                </a:ln>
                <a:solidFill>
                  <a:srgbClr val="0076BD"/>
                </a:solidFill>
                <a:effectLst/>
                <a:uLnTx/>
                <a:uFillTx/>
                <a:latin typeface="Arial Nova" panose="020B0504020202020204" pitchFamily="34" charset="0"/>
                <a:ea typeface="+mn-ea"/>
                <a:cs typeface="+mn-cs"/>
              </a:rPr>
              <a:t>Direct Indexing </a:t>
            </a:r>
            <a:r>
              <a:rPr kumimoji="0" lang="en-US" sz="2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is when a target index (e.g., S&amp;P 500) is replicated using individual stocks and allows for those stocks to be individually traded. </a:t>
            </a:r>
            <a:endParaRPr lang="en-US" sz="2200" b="1" dirty="0">
              <a:solidFill>
                <a:prstClr val="black"/>
              </a:solidFill>
              <a:latin typeface="Arial Nova" panose="020B0504020202020204" pitchFamily="34" charset="0"/>
            </a:endParaRPr>
          </a:p>
          <a:p>
            <a:pPr>
              <a:defRPr/>
            </a:pPr>
            <a:endParaRPr kumimoji="0" lang="en-US" sz="2200" b="1" i="0" u="none" strike="noStrike" kern="1200" cap="none" spc="0" normalizeH="0" baseline="0" noProof="0" dirty="0">
              <a:ln>
                <a:noFill/>
              </a:ln>
              <a:solidFill>
                <a:prstClr val="black"/>
              </a:solidFill>
              <a:effectLst/>
              <a:uLnTx/>
              <a:uFillTx/>
              <a:latin typeface="Arial Nova" panose="020B0504020202020204" pitchFamily="34" charset="0"/>
              <a:ea typeface="+mn-ea"/>
              <a:cs typeface="+mn-cs"/>
            </a:endParaRPr>
          </a:p>
          <a:p>
            <a:pPr>
              <a:defRPr/>
            </a:pPr>
            <a:r>
              <a:rPr kumimoji="0" lang="en-US" sz="2200" b="1" i="0" u="none" strike="noStrike" kern="1200" cap="none" spc="0" normalizeH="0" baseline="0" noProof="0" dirty="0">
                <a:ln>
                  <a:noFill/>
                </a:ln>
                <a:solidFill>
                  <a:srgbClr val="0076BD"/>
                </a:solidFill>
                <a:effectLst/>
                <a:uLnTx/>
                <a:uFillTx/>
                <a:latin typeface="Arial Nova" panose="020B0504020202020204" pitchFamily="34" charset="0"/>
                <a:ea typeface="+mn-ea"/>
                <a:cs typeface="+mn-cs"/>
              </a:rPr>
              <a:t>Tax-Loss Harvesting </a:t>
            </a:r>
            <a:r>
              <a:rPr kumimoji="0" lang="en-US" sz="2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is selling some stocks at a loss to offset the gains realized by selling other stocks at a profit.</a:t>
            </a:r>
          </a:p>
          <a:p>
            <a:pPr>
              <a:defRPr/>
            </a:pPr>
            <a:endParaRPr lang="en-US" sz="2200" dirty="0">
              <a:solidFill>
                <a:prstClr val="black"/>
              </a:solidFill>
              <a:latin typeface="Arial Nova" panose="020B0504020202020204" pitchFamily="34" charset="0"/>
            </a:endParaRPr>
          </a:p>
          <a:p>
            <a:pPr>
              <a:defRPr/>
            </a:pPr>
            <a:r>
              <a:rPr lang="en-US" sz="2200" dirty="0">
                <a:solidFill>
                  <a:prstClr val="black"/>
                </a:solidFill>
                <a:latin typeface="Arial Nova" panose="020B0504020202020204" pitchFamily="34" charset="0"/>
              </a:rPr>
              <a:t>A </a:t>
            </a:r>
            <a:r>
              <a:rPr lang="en-US" sz="2200" b="1" dirty="0">
                <a:solidFill>
                  <a:srgbClr val="0076BD"/>
                </a:solidFill>
                <a:latin typeface="Arial Nova" panose="020B0504020202020204" pitchFamily="34" charset="0"/>
              </a:rPr>
              <a:t>Tax-Optimized Transition </a:t>
            </a:r>
            <a:r>
              <a:rPr lang="en-US" sz="2200" dirty="0">
                <a:solidFill>
                  <a:prstClr val="black"/>
                </a:solidFill>
                <a:latin typeface="Arial Nova" panose="020B0504020202020204" pitchFamily="34" charset="0"/>
              </a:rPr>
              <a:t>is a sophisticated transfer strategy for eliminating an investor’s tax-burdened legacy positions (a portfolio containing unrealized gains and/or losses) by gradually transferring assets to a new portfolio tax efficiently.</a:t>
            </a:r>
          </a:p>
        </p:txBody>
      </p:sp>
      <p:pic>
        <p:nvPicPr>
          <p:cNvPr id="9" name="Graphic 8" descr="Tax outline">
            <a:extLst>
              <a:ext uri="{FF2B5EF4-FFF2-40B4-BE49-F238E27FC236}">
                <a16:creationId xmlns:a16="http://schemas.microsoft.com/office/drawing/2014/main" id="{58E94710-1A15-5272-005B-4409B394937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724" y="2011583"/>
            <a:ext cx="3343276" cy="3343276"/>
          </a:xfrm>
          <a:prstGeom prst="rect">
            <a:avLst/>
          </a:prstGeom>
        </p:spPr>
      </p:pic>
      <p:sp>
        <p:nvSpPr>
          <p:cNvPr id="2" name="Slide Number Placeholder 5">
            <a:extLst>
              <a:ext uri="{FF2B5EF4-FFF2-40B4-BE49-F238E27FC236}">
                <a16:creationId xmlns:a16="http://schemas.microsoft.com/office/drawing/2014/main" id="{20276824-CC45-1CB1-7A8B-0B03EFCC54A8}"/>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17</a:t>
            </a:fld>
            <a:endParaRPr lang="en-US" dirty="0">
              <a:solidFill>
                <a:schemeClr val="bg1">
                  <a:lumMod val="75000"/>
                </a:schemeClr>
              </a:solidFill>
              <a:latin typeface="Arial Nova" panose="020B0504020202020204" pitchFamily="34" charset="0"/>
            </a:endParaRPr>
          </a:p>
        </p:txBody>
      </p:sp>
      <p:sp>
        <p:nvSpPr>
          <p:cNvPr id="4" name="Footer Placeholder 4">
            <a:extLst>
              <a:ext uri="{FF2B5EF4-FFF2-40B4-BE49-F238E27FC236}">
                <a16:creationId xmlns:a16="http://schemas.microsoft.com/office/drawing/2014/main" id="{CD35185B-E097-354E-87FF-D10D3C33779D}"/>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546185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fade">
                                      <p:cBhvr>
                                        <p:cTn id="1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25EFF1F-0396-B281-C89D-1FEED133386A}"/>
              </a:ext>
            </a:extLst>
          </p:cNvPr>
          <p:cNvSpPr txBox="1">
            <a:spLocks/>
          </p:cNvSpPr>
          <p:nvPr/>
        </p:nvSpPr>
        <p:spPr>
          <a:xfrm>
            <a:off x="334695" y="444171"/>
            <a:ext cx="11476303" cy="577073"/>
          </a:xfrm>
          <a:prstGeom prst="rect">
            <a:avLst/>
          </a:prstGeom>
        </p:spPr>
        <p:txBody>
          <a:bodyPr>
            <a:normAutofit fontScale="92500"/>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dirty="0"/>
              <a:t>Apply Discipline: Lowering Volatility with Annuity Inclusion</a:t>
            </a:r>
          </a:p>
        </p:txBody>
      </p:sp>
      <p:grpSp>
        <p:nvGrpSpPr>
          <p:cNvPr id="4" name="Group 3">
            <a:extLst>
              <a:ext uri="{FF2B5EF4-FFF2-40B4-BE49-F238E27FC236}">
                <a16:creationId xmlns:a16="http://schemas.microsoft.com/office/drawing/2014/main" id="{73AAB531-67AD-534C-A861-D213599F5726}"/>
              </a:ext>
            </a:extLst>
          </p:cNvPr>
          <p:cNvGrpSpPr/>
          <p:nvPr/>
        </p:nvGrpSpPr>
        <p:grpSpPr>
          <a:xfrm>
            <a:off x="1863635" y="1736028"/>
            <a:ext cx="3994138" cy="4205118"/>
            <a:chOff x="1863635" y="1587753"/>
            <a:chExt cx="3994138" cy="4205118"/>
          </a:xfrm>
        </p:grpSpPr>
        <p:pic>
          <p:nvPicPr>
            <p:cNvPr id="5" name="Picture 4" descr="Shape&#10;&#10;Description automatically generated">
              <a:extLst>
                <a:ext uri="{FF2B5EF4-FFF2-40B4-BE49-F238E27FC236}">
                  <a16:creationId xmlns:a16="http://schemas.microsoft.com/office/drawing/2014/main" id="{C1F2E772-4AB1-625A-5895-70ABFCBA6B37}"/>
                </a:ext>
              </a:extLst>
            </p:cNvPr>
            <p:cNvPicPr>
              <a:picLocks noChangeAspect="1"/>
            </p:cNvPicPr>
            <p:nvPr/>
          </p:nvPicPr>
          <p:blipFill rotWithShape="1">
            <a:blip r:embed="rId3"/>
            <a:srcRect r="74006"/>
            <a:stretch/>
          </p:blipFill>
          <p:spPr>
            <a:xfrm>
              <a:off x="2048325" y="2207947"/>
              <a:ext cx="3624759" cy="3584924"/>
            </a:xfrm>
            <a:prstGeom prst="rect">
              <a:avLst/>
            </a:prstGeom>
          </p:spPr>
        </p:pic>
        <p:sp>
          <p:nvSpPr>
            <p:cNvPr id="6" name="TextBox 5">
              <a:extLst>
                <a:ext uri="{FF2B5EF4-FFF2-40B4-BE49-F238E27FC236}">
                  <a16:creationId xmlns:a16="http://schemas.microsoft.com/office/drawing/2014/main" id="{BB2FEB9A-A8BF-9D89-7523-5E580DDA03EC}"/>
                </a:ext>
              </a:extLst>
            </p:cNvPr>
            <p:cNvSpPr txBox="1"/>
            <p:nvPr/>
          </p:nvSpPr>
          <p:spPr>
            <a:xfrm>
              <a:off x="1863635" y="1587753"/>
              <a:ext cx="399413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124472"/>
                  </a:solidFill>
                  <a:effectLst/>
                  <a:uLnTx/>
                  <a:uFillTx/>
                  <a:latin typeface="Arial Nova" panose="020B0504020202020204" pitchFamily="34" charset="0"/>
                  <a:ea typeface="+mn-ea"/>
                  <a:cs typeface="+mn-cs"/>
                </a:rPr>
                <a:t>Managed Account</a:t>
              </a:r>
            </a:p>
          </p:txBody>
        </p:sp>
      </p:grpSp>
      <p:grpSp>
        <p:nvGrpSpPr>
          <p:cNvPr id="7" name="Group 6">
            <a:extLst>
              <a:ext uri="{FF2B5EF4-FFF2-40B4-BE49-F238E27FC236}">
                <a16:creationId xmlns:a16="http://schemas.microsoft.com/office/drawing/2014/main" id="{F40C07A5-0D79-7AF9-61E2-A1B6B059F1A1}"/>
              </a:ext>
            </a:extLst>
          </p:cNvPr>
          <p:cNvGrpSpPr/>
          <p:nvPr/>
        </p:nvGrpSpPr>
        <p:grpSpPr>
          <a:xfrm>
            <a:off x="6334227" y="1742291"/>
            <a:ext cx="3994138" cy="4192592"/>
            <a:chOff x="6215113" y="1600279"/>
            <a:chExt cx="3994138" cy="4192592"/>
          </a:xfrm>
        </p:grpSpPr>
        <p:pic>
          <p:nvPicPr>
            <p:cNvPr id="8" name="Picture 7" descr="Shape&#10;&#10;Description automatically generated">
              <a:extLst>
                <a:ext uri="{FF2B5EF4-FFF2-40B4-BE49-F238E27FC236}">
                  <a16:creationId xmlns:a16="http://schemas.microsoft.com/office/drawing/2014/main" id="{DB7772D5-E525-6D01-6B3F-CE27F5C1D015}"/>
                </a:ext>
              </a:extLst>
            </p:cNvPr>
            <p:cNvPicPr>
              <a:picLocks noChangeAspect="1"/>
            </p:cNvPicPr>
            <p:nvPr/>
          </p:nvPicPr>
          <p:blipFill rotWithShape="1">
            <a:blip r:embed="rId3"/>
            <a:srcRect l="36059" r="37947"/>
            <a:stretch/>
          </p:blipFill>
          <p:spPr>
            <a:xfrm>
              <a:off x="6399803" y="2207947"/>
              <a:ext cx="3624759" cy="3584924"/>
            </a:xfrm>
            <a:prstGeom prst="rect">
              <a:avLst/>
            </a:prstGeom>
          </p:spPr>
        </p:pic>
        <p:sp>
          <p:nvSpPr>
            <p:cNvPr id="9" name="TextBox 8">
              <a:extLst>
                <a:ext uri="{FF2B5EF4-FFF2-40B4-BE49-F238E27FC236}">
                  <a16:creationId xmlns:a16="http://schemas.microsoft.com/office/drawing/2014/main" id="{D324AB45-D1FE-BFB7-6BD7-1DC87628540C}"/>
                </a:ext>
              </a:extLst>
            </p:cNvPr>
            <p:cNvSpPr txBox="1"/>
            <p:nvPr/>
          </p:nvSpPr>
          <p:spPr>
            <a:xfrm>
              <a:off x="6215113" y="1600279"/>
              <a:ext cx="399413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124472"/>
                  </a:solidFill>
                  <a:effectLst/>
                  <a:uLnTx/>
                  <a:uFillTx/>
                  <a:latin typeface="Arial Nova" panose="020B0504020202020204" pitchFamily="34" charset="0"/>
                  <a:ea typeface="+mn-ea"/>
                  <a:cs typeface="+mn-cs"/>
                </a:rPr>
                <a:t>Annuity</a:t>
              </a:r>
            </a:p>
          </p:txBody>
        </p:sp>
      </p:grpSp>
      <p:grpSp>
        <p:nvGrpSpPr>
          <p:cNvPr id="10" name="Group 9">
            <a:extLst>
              <a:ext uri="{FF2B5EF4-FFF2-40B4-BE49-F238E27FC236}">
                <a16:creationId xmlns:a16="http://schemas.microsoft.com/office/drawing/2014/main" id="{5A24BF3F-8D45-339C-B0B7-7B41120728DC}"/>
              </a:ext>
            </a:extLst>
          </p:cNvPr>
          <p:cNvGrpSpPr/>
          <p:nvPr/>
        </p:nvGrpSpPr>
        <p:grpSpPr>
          <a:xfrm>
            <a:off x="2642200" y="1277514"/>
            <a:ext cx="6907600" cy="4696263"/>
            <a:chOff x="2049138" y="6324079"/>
            <a:chExt cx="6907600" cy="4696263"/>
          </a:xfrm>
        </p:grpSpPr>
        <p:pic>
          <p:nvPicPr>
            <p:cNvPr id="11" name="Picture 10" descr="Shape&#10;&#10;Description automatically generated">
              <a:extLst>
                <a:ext uri="{FF2B5EF4-FFF2-40B4-BE49-F238E27FC236}">
                  <a16:creationId xmlns:a16="http://schemas.microsoft.com/office/drawing/2014/main" id="{CABF0C7A-A5D1-27CF-8941-4F7DC6BE384C}"/>
                </a:ext>
              </a:extLst>
            </p:cNvPr>
            <p:cNvPicPr>
              <a:picLocks noChangeAspect="1"/>
            </p:cNvPicPr>
            <p:nvPr/>
          </p:nvPicPr>
          <p:blipFill rotWithShape="1">
            <a:blip r:embed="rId3"/>
            <a:srcRect l="74164" r="-158"/>
            <a:stretch/>
          </p:blipFill>
          <p:spPr>
            <a:xfrm>
              <a:off x="3690559" y="7435418"/>
              <a:ext cx="3624759" cy="3584924"/>
            </a:xfrm>
            <a:prstGeom prst="rect">
              <a:avLst/>
            </a:prstGeom>
          </p:spPr>
        </p:pic>
        <p:sp>
          <p:nvSpPr>
            <p:cNvPr id="12" name="TextBox 11">
              <a:extLst>
                <a:ext uri="{FF2B5EF4-FFF2-40B4-BE49-F238E27FC236}">
                  <a16:creationId xmlns:a16="http://schemas.microsoft.com/office/drawing/2014/main" id="{D43E053C-A216-6C34-B943-4BFA11BD5C0B}"/>
                </a:ext>
              </a:extLst>
            </p:cNvPr>
            <p:cNvSpPr txBox="1"/>
            <p:nvPr/>
          </p:nvSpPr>
          <p:spPr>
            <a:xfrm>
              <a:off x="2049138" y="6324079"/>
              <a:ext cx="6907600" cy="93871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srgbClr val="124472"/>
                  </a:solidFill>
                  <a:effectLst/>
                  <a:uLnTx/>
                  <a:uFillTx/>
                  <a:latin typeface="Arial Nova" panose="020B0504020202020204" pitchFamily="34" charset="0"/>
                  <a:ea typeface="+mn-ea"/>
                  <a:cs typeface="+mn-cs"/>
                </a:rPr>
                <a:t>Client Proposal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00" b="1" i="0" u="none" strike="noStrike" kern="1200" cap="none" spc="0" normalizeH="0" baseline="0" noProof="0">
                <a:ln>
                  <a:noFill/>
                </a:ln>
                <a:solidFill>
                  <a:srgbClr val="124472"/>
                </a:solidFill>
                <a:effectLst/>
                <a:uLnTx/>
                <a:uFillTx/>
                <a:latin typeface="Arial Nova" panose="020B050402020202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124472"/>
                  </a:solidFill>
                  <a:effectLst/>
                  <a:uLnTx/>
                  <a:uFillTx/>
                  <a:latin typeface="Arial Nova" panose="020B0504020202020204" pitchFamily="34" charset="0"/>
                  <a:ea typeface="+mn-ea"/>
                  <a:cs typeface="+mn-cs"/>
                </a:rPr>
                <a:t>Managed Account + Annuity</a:t>
              </a:r>
            </a:p>
          </p:txBody>
        </p:sp>
      </p:grpSp>
      <p:sp>
        <p:nvSpPr>
          <p:cNvPr id="13" name="TextBox 12">
            <a:extLst>
              <a:ext uri="{FF2B5EF4-FFF2-40B4-BE49-F238E27FC236}">
                <a16:creationId xmlns:a16="http://schemas.microsoft.com/office/drawing/2014/main" id="{F83462F0-BD2D-BAA1-E436-75D6BA5A66F8}"/>
              </a:ext>
            </a:extLst>
          </p:cNvPr>
          <p:cNvSpPr txBox="1"/>
          <p:nvPr/>
        </p:nvSpPr>
        <p:spPr>
          <a:xfrm>
            <a:off x="381000" y="6160008"/>
            <a:ext cx="6886903" cy="223138"/>
          </a:xfrm>
          <a:prstGeom prst="rect">
            <a:avLst/>
          </a:prstGeom>
          <a:noFill/>
        </p:spPr>
        <p:txBody>
          <a:bodyPr wrap="square" rtlCol="0">
            <a:spAutoFit/>
          </a:bodyPr>
          <a:lstStyle/>
          <a:p>
            <a:r>
              <a:rPr lang="en-US" sz="850" dirty="0">
                <a:solidFill>
                  <a:srgbClr val="939393"/>
                </a:solidFill>
                <a:latin typeface="Arial Nova" panose="020B0504020202020204" pitchFamily="34" charset="0"/>
              </a:rPr>
              <a:t>Insurance services are offered outside of Simplicity Wealth.</a:t>
            </a:r>
          </a:p>
        </p:txBody>
      </p:sp>
      <p:sp>
        <p:nvSpPr>
          <p:cNvPr id="14" name="Slide Number Placeholder 5">
            <a:extLst>
              <a:ext uri="{FF2B5EF4-FFF2-40B4-BE49-F238E27FC236}">
                <a16:creationId xmlns:a16="http://schemas.microsoft.com/office/drawing/2014/main" id="{F3258E7B-4A9D-9352-097D-1A6B56AE115B}"/>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18</a:t>
            </a:fld>
            <a:endParaRPr lang="en-US" dirty="0">
              <a:solidFill>
                <a:schemeClr val="bg1">
                  <a:lumMod val="75000"/>
                </a:schemeClr>
              </a:solidFill>
              <a:latin typeface="Arial Nova" panose="020B0504020202020204" pitchFamily="34" charset="0"/>
            </a:endParaRPr>
          </a:p>
        </p:txBody>
      </p:sp>
      <p:sp>
        <p:nvSpPr>
          <p:cNvPr id="16" name="Footer Placeholder 4">
            <a:extLst>
              <a:ext uri="{FF2B5EF4-FFF2-40B4-BE49-F238E27FC236}">
                <a16:creationId xmlns:a16="http://schemas.microsoft.com/office/drawing/2014/main" id="{93AEAF93-4AE9-0CCE-2B9C-92FB20B39B81}"/>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119751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4"/>
                                        </p:tgtEl>
                                      </p:cBhvr>
                                    </p:animEffect>
                                    <p:set>
                                      <p:cBhvr>
                                        <p:cTn id="17" dur="1" fill="hold">
                                          <p:stCondLst>
                                            <p:cond delay="499"/>
                                          </p:stCondLst>
                                        </p:cTn>
                                        <p:tgtEl>
                                          <p:spTgt spid="4"/>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7E5BA40-61BF-935D-DB81-D7DB2BDCB2DD}"/>
              </a:ext>
            </a:extLst>
          </p:cNvPr>
          <p:cNvSpPr txBox="1">
            <a:spLocks/>
          </p:cNvSpPr>
          <p:nvPr/>
        </p:nvSpPr>
        <p:spPr>
          <a:xfrm>
            <a:off x="334696" y="433020"/>
            <a:ext cx="10405022" cy="577073"/>
          </a:xfrm>
          <a:prstGeom prst="rect">
            <a:avLst/>
          </a:prstGeom>
        </p:spPr>
        <p:txBody>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dirty="0"/>
              <a:t>Apply Discipline: Planning Process</a:t>
            </a:r>
          </a:p>
        </p:txBody>
      </p:sp>
      <p:grpSp>
        <p:nvGrpSpPr>
          <p:cNvPr id="5" name="Group 4">
            <a:extLst>
              <a:ext uri="{FF2B5EF4-FFF2-40B4-BE49-F238E27FC236}">
                <a16:creationId xmlns:a16="http://schemas.microsoft.com/office/drawing/2014/main" id="{10C8CD9D-39CF-AD0B-7DB4-CD453275F582}"/>
              </a:ext>
            </a:extLst>
          </p:cNvPr>
          <p:cNvGrpSpPr/>
          <p:nvPr/>
        </p:nvGrpSpPr>
        <p:grpSpPr>
          <a:xfrm>
            <a:off x="3675698" y="2120164"/>
            <a:ext cx="1064873" cy="3002016"/>
            <a:chOff x="3761423" y="1644304"/>
            <a:chExt cx="1064873" cy="3166275"/>
          </a:xfrm>
        </p:grpSpPr>
        <p:sp>
          <p:nvSpPr>
            <p:cNvPr id="6" name="Google Shape;723;p8">
              <a:extLst>
                <a:ext uri="{FF2B5EF4-FFF2-40B4-BE49-F238E27FC236}">
                  <a16:creationId xmlns:a16="http://schemas.microsoft.com/office/drawing/2014/main" id="{C9A2295A-B4D6-3AAC-78FA-05AD99784FEE}"/>
                </a:ext>
              </a:extLst>
            </p:cNvPr>
            <p:cNvSpPr/>
            <p:nvPr/>
          </p:nvSpPr>
          <p:spPr>
            <a:xfrm>
              <a:off x="4366835" y="1644304"/>
              <a:ext cx="459461" cy="3166275"/>
            </a:xfrm>
            <a:prstGeom prst="rightBrace">
              <a:avLst>
                <a:gd name="adj1" fmla="val 0"/>
                <a:gd name="adj2" fmla="val 50000"/>
              </a:avLst>
            </a:prstGeom>
            <a:noFill/>
            <a:ln w="12700" cap="flat" cmpd="sng">
              <a:solidFill>
                <a:srgbClr val="0F4C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013359"/>
                </a:solidFill>
                <a:latin typeface="Calibri"/>
                <a:ea typeface="Calibri"/>
                <a:cs typeface="Calibri"/>
                <a:sym typeface="Calibri"/>
              </a:endParaRPr>
            </a:p>
          </p:txBody>
        </p:sp>
        <p:cxnSp>
          <p:nvCxnSpPr>
            <p:cNvPr id="7" name="Google Shape;724;p8">
              <a:extLst>
                <a:ext uri="{FF2B5EF4-FFF2-40B4-BE49-F238E27FC236}">
                  <a16:creationId xmlns:a16="http://schemas.microsoft.com/office/drawing/2014/main" id="{00AD04FF-8E8A-FD5F-C665-9903BBF58489}"/>
                </a:ext>
              </a:extLst>
            </p:cNvPr>
            <p:cNvCxnSpPr>
              <a:cxnSpLocks/>
            </p:cNvCxnSpPr>
            <p:nvPr/>
          </p:nvCxnSpPr>
          <p:spPr>
            <a:xfrm>
              <a:off x="3761423" y="1644304"/>
              <a:ext cx="822960" cy="0"/>
            </a:xfrm>
            <a:prstGeom prst="straightConnector1">
              <a:avLst/>
            </a:prstGeom>
            <a:noFill/>
            <a:ln w="12700" cap="flat" cmpd="sng">
              <a:solidFill>
                <a:srgbClr val="0F4C7A"/>
              </a:solidFill>
              <a:prstDash val="solid"/>
              <a:miter lim="800000"/>
              <a:headEnd type="none" w="sm" len="sm"/>
              <a:tailEnd type="none" w="sm" len="sm"/>
            </a:ln>
          </p:spPr>
        </p:cxnSp>
        <p:cxnSp>
          <p:nvCxnSpPr>
            <p:cNvPr id="8" name="Google Shape;725;p8">
              <a:extLst>
                <a:ext uri="{FF2B5EF4-FFF2-40B4-BE49-F238E27FC236}">
                  <a16:creationId xmlns:a16="http://schemas.microsoft.com/office/drawing/2014/main" id="{31D8555E-F698-49CF-ED0A-53A2C653513C}"/>
                </a:ext>
              </a:extLst>
            </p:cNvPr>
            <p:cNvCxnSpPr>
              <a:cxnSpLocks/>
            </p:cNvCxnSpPr>
            <p:nvPr/>
          </p:nvCxnSpPr>
          <p:spPr>
            <a:xfrm>
              <a:off x="3761423" y="4810579"/>
              <a:ext cx="822960" cy="0"/>
            </a:xfrm>
            <a:prstGeom prst="straightConnector1">
              <a:avLst/>
            </a:prstGeom>
            <a:noFill/>
            <a:ln w="12700" cap="flat" cmpd="sng">
              <a:solidFill>
                <a:srgbClr val="0F4C7A"/>
              </a:solidFill>
              <a:prstDash val="solid"/>
              <a:miter lim="800000"/>
              <a:headEnd type="none" w="sm" len="sm"/>
              <a:tailEnd type="none" w="sm" len="sm"/>
            </a:ln>
          </p:spPr>
        </p:cxnSp>
        <p:cxnSp>
          <p:nvCxnSpPr>
            <p:cNvPr id="9" name="Google Shape;726;p8">
              <a:extLst>
                <a:ext uri="{FF2B5EF4-FFF2-40B4-BE49-F238E27FC236}">
                  <a16:creationId xmlns:a16="http://schemas.microsoft.com/office/drawing/2014/main" id="{686E909A-77A1-971E-B194-69E6EEF15C63}"/>
                </a:ext>
              </a:extLst>
            </p:cNvPr>
            <p:cNvCxnSpPr>
              <a:cxnSpLocks/>
            </p:cNvCxnSpPr>
            <p:nvPr/>
          </p:nvCxnSpPr>
          <p:spPr>
            <a:xfrm>
              <a:off x="3761423" y="3225666"/>
              <a:ext cx="822960" cy="0"/>
            </a:xfrm>
            <a:prstGeom prst="straightConnector1">
              <a:avLst/>
            </a:prstGeom>
            <a:noFill/>
            <a:ln w="12700" cap="flat" cmpd="sng">
              <a:solidFill>
                <a:srgbClr val="0F4C7A"/>
              </a:solidFill>
              <a:prstDash val="solid"/>
              <a:miter lim="800000"/>
              <a:headEnd type="none" w="sm" len="sm"/>
              <a:tailEnd type="none" w="sm" len="sm"/>
            </a:ln>
          </p:spPr>
        </p:cxnSp>
      </p:grpSp>
      <p:grpSp>
        <p:nvGrpSpPr>
          <p:cNvPr id="61" name="Group 60">
            <a:extLst>
              <a:ext uri="{FF2B5EF4-FFF2-40B4-BE49-F238E27FC236}">
                <a16:creationId xmlns:a16="http://schemas.microsoft.com/office/drawing/2014/main" id="{2F902405-E112-5508-C10F-D833B8A9E431}"/>
              </a:ext>
            </a:extLst>
          </p:cNvPr>
          <p:cNvGrpSpPr/>
          <p:nvPr/>
        </p:nvGrpSpPr>
        <p:grpSpPr>
          <a:xfrm>
            <a:off x="10126718" y="1826024"/>
            <a:ext cx="1554480" cy="2933822"/>
            <a:chOff x="10126718" y="1826024"/>
            <a:chExt cx="1554480" cy="2933822"/>
          </a:xfrm>
        </p:grpSpPr>
        <p:grpSp>
          <p:nvGrpSpPr>
            <p:cNvPr id="14" name="Group 13">
              <a:extLst>
                <a:ext uri="{FF2B5EF4-FFF2-40B4-BE49-F238E27FC236}">
                  <a16:creationId xmlns:a16="http://schemas.microsoft.com/office/drawing/2014/main" id="{127449D1-A98C-D590-036F-CCEFF185A0A1}"/>
                </a:ext>
              </a:extLst>
            </p:cNvPr>
            <p:cNvGrpSpPr/>
            <p:nvPr/>
          </p:nvGrpSpPr>
          <p:grpSpPr>
            <a:xfrm>
              <a:off x="10126718" y="1826024"/>
              <a:ext cx="1554480" cy="548640"/>
              <a:chOff x="10198196" y="1690203"/>
              <a:chExt cx="1554480" cy="548640"/>
            </a:xfrm>
          </p:grpSpPr>
          <p:sp>
            <p:nvSpPr>
              <p:cNvPr id="15" name="Google Shape;734;p8">
                <a:extLst>
                  <a:ext uri="{FF2B5EF4-FFF2-40B4-BE49-F238E27FC236}">
                    <a16:creationId xmlns:a16="http://schemas.microsoft.com/office/drawing/2014/main" id="{8DD55847-77EB-CCAE-7EBA-0253644B458F}"/>
                  </a:ext>
                </a:extLst>
              </p:cNvPr>
              <p:cNvSpPr txBox="1"/>
              <p:nvPr/>
            </p:nvSpPr>
            <p:spPr>
              <a:xfrm>
                <a:off x="10198196" y="1690203"/>
                <a:ext cx="1554480" cy="548640"/>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rgbClr val="013359"/>
                  </a:solidFill>
                  <a:latin typeface="Calibri"/>
                  <a:ea typeface="Calibri"/>
                  <a:cs typeface="Calibri"/>
                  <a:sym typeface="Calibri"/>
                </a:endParaRPr>
              </a:p>
            </p:txBody>
          </p:sp>
          <p:sp>
            <p:nvSpPr>
              <p:cNvPr id="16" name="Google Shape;735;p8">
                <a:extLst>
                  <a:ext uri="{FF2B5EF4-FFF2-40B4-BE49-F238E27FC236}">
                    <a16:creationId xmlns:a16="http://schemas.microsoft.com/office/drawing/2014/main" id="{1CA681F4-4F08-633B-1379-51F450D13BCF}"/>
                  </a:ext>
                </a:extLst>
              </p:cNvPr>
              <p:cNvSpPr txBox="1"/>
              <p:nvPr/>
            </p:nvSpPr>
            <p:spPr>
              <a:xfrm>
                <a:off x="10250098" y="1810805"/>
                <a:ext cx="1450676"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276BD"/>
                  </a:buClr>
                  <a:buSzPts val="1400"/>
                  <a:buFont typeface="Calibri"/>
                  <a:buNone/>
                </a:pPr>
                <a:r>
                  <a:rPr lang="en-US" sz="1400" b="1" i="0" u="none" strike="noStrike" cap="none" dirty="0">
                    <a:solidFill>
                      <a:srgbClr val="0276BD"/>
                    </a:solidFill>
                    <a:latin typeface="Arial Nova" panose="020B0504020202020204" pitchFamily="34" charset="0"/>
                    <a:ea typeface="Calibri"/>
                    <a:cs typeface="Calibri"/>
                    <a:sym typeface="Calibri"/>
                  </a:rPr>
                  <a:t>Specialty</a:t>
                </a:r>
                <a:endParaRPr dirty="0">
                  <a:latin typeface="Arial Nova" panose="020B0504020202020204" pitchFamily="34" charset="0"/>
                </a:endParaRPr>
              </a:p>
            </p:txBody>
          </p:sp>
        </p:grpSp>
        <p:sp>
          <p:nvSpPr>
            <p:cNvPr id="20" name="Google Shape;739;p8">
              <a:extLst>
                <a:ext uri="{FF2B5EF4-FFF2-40B4-BE49-F238E27FC236}">
                  <a16:creationId xmlns:a16="http://schemas.microsoft.com/office/drawing/2014/main" id="{9C8E3A95-5BE8-1686-756C-F610983A2FCE}"/>
                </a:ext>
              </a:extLst>
            </p:cNvPr>
            <p:cNvSpPr/>
            <p:nvPr/>
          </p:nvSpPr>
          <p:spPr>
            <a:xfrm>
              <a:off x="10126718" y="2867038"/>
              <a:ext cx="1554480" cy="1892808"/>
            </a:xfrm>
            <a:prstGeom prst="rect">
              <a:avLst/>
            </a:prstGeom>
            <a:solidFill>
              <a:srgbClr val="004472"/>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1" name="Google Shape;740;p8">
              <a:extLst>
                <a:ext uri="{FF2B5EF4-FFF2-40B4-BE49-F238E27FC236}">
                  <a16:creationId xmlns:a16="http://schemas.microsoft.com/office/drawing/2014/main" id="{71A19882-C668-B122-1926-EF8B728F2ADB}"/>
                </a:ext>
              </a:extLst>
            </p:cNvPr>
            <p:cNvSpPr txBox="1"/>
            <p:nvPr/>
          </p:nvSpPr>
          <p:spPr>
            <a:xfrm>
              <a:off x="10126718" y="3012561"/>
              <a:ext cx="1554480" cy="1200288"/>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rgbClr val="FFFFFF"/>
                </a:buClr>
                <a:buSzPts val="1200"/>
                <a:buFont typeface="Arial" panose="020B0604020202020204" pitchFamily="34" charset="0"/>
                <a:buChar char="•"/>
              </a:pPr>
              <a:r>
                <a:rPr lang="en-US" sz="1200" b="0" i="0" u="none" strike="noStrike" cap="none" dirty="0">
                  <a:solidFill>
                    <a:srgbClr val="FFFFFF"/>
                  </a:solidFill>
                  <a:latin typeface="Arial Nova" panose="020B0504020202020204" pitchFamily="34" charset="0"/>
                  <a:ea typeface="Calibri"/>
                  <a:cs typeface="Calibri"/>
                  <a:sym typeface="Calibri"/>
                </a:rPr>
                <a:t>ESG/SRI</a:t>
              </a:r>
              <a:endParaRPr dirty="0">
                <a:latin typeface="Arial Nova" panose="020B0504020202020204" pitchFamily="34" charset="0"/>
              </a:endParaRPr>
            </a:p>
            <a:p>
              <a:pPr marL="171450" marR="0" lvl="0" indent="-171450" algn="l" rtl="0">
                <a:lnSpc>
                  <a:spcPct val="100000"/>
                </a:lnSpc>
                <a:spcBef>
                  <a:spcPts val="0"/>
                </a:spcBef>
                <a:spcAft>
                  <a:spcPts val="0"/>
                </a:spcAft>
                <a:buClr>
                  <a:srgbClr val="FFFFFF"/>
                </a:buClr>
                <a:buSzPts val="1200"/>
                <a:buFont typeface="Arial" panose="020B0604020202020204" pitchFamily="34" charset="0"/>
                <a:buChar char="•"/>
              </a:pPr>
              <a:r>
                <a:rPr lang="en-US" sz="1200" b="0" i="0" u="none" strike="noStrike" cap="none" dirty="0">
                  <a:solidFill>
                    <a:srgbClr val="FFFFFF"/>
                  </a:solidFill>
                  <a:latin typeface="Arial Nova" panose="020B0504020202020204" pitchFamily="34" charset="0"/>
                  <a:ea typeface="Calibri"/>
                  <a:cs typeface="Calibri"/>
                  <a:sym typeface="Calibri"/>
                </a:rPr>
                <a:t>Buffered</a:t>
              </a:r>
              <a:endParaRPr dirty="0">
                <a:latin typeface="Arial Nova" panose="020B0504020202020204" pitchFamily="34" charset="0"/>
              </a:endParaRPr>
            </a:p>
            <a:p>
              <a:pPr marL="171450" marR="0" lvl="0" indent="-171450" algn="l" rtl="0">
                <a:lnSpc>
                  <a:spcPct val="100000"/>
                </a:lnSpc>
                <a:spcBef>
                  <a:spcPts val="0"/>
                </a:spcBef>
                <a:spcAft>
                  <a:spcPts val="0"/>
                </a:spcAft>
                <a:buClr>
                  <a:srgbClr val="FFFFFF"/>
                </a:buClr>
                <a:buSzPts val="1200"/>
                <a:buFont typeface="Arial" panose="020B0604020202020204" pitchFamily="34" charset="0"/>
                <a:buChar char="•"/>
              </a:pPr>
              <a:r>
                <a:rPr lang="en-US" sz="1200" b="0" i="0" u="none" strike="noStrike" cap="none" dirty="0">
                  <a:solidFill>
                    <a:srgbClr val="FFFFFF"/>
                  </a:solidFill>
                  <a:latin typeface="Arial Nova" panose="020B0504020202020204" pitchFamily="34" charset="0"/>
                  <a:ea typeface="Calibri"/>
                  <a:cs typeface="Calibri"/>
                  <a:sym typeface="Calibri"/>
                </a:rPr>
                <a:t>Direct Indexing</a:t>
              </a:r>
              <a:endParaRPr dirty="0">
                <a:latin typeface="Arial Nova" panose="020B0504020202020204" pitchFamily="34" charset="0"/>
              </a:endParaRPr>
            </a:p>
            <a:p>
              <a:pPr marL="171450" marR="0" lvl="0" indent="-171450" algn="l" rtl="0">
                <a:lnSpc>
                  <a:spcPct val="100000"/>
                </a:lnSpc>
                <a:spcBef>
                  <a:spcPts val="0"/>
                </a:spcBef>
                <a:spcAft>
                  <a:spcPts val="0"/>
                </a:spcAft>
                <a:buClr>
                  <a:srgbClr val="FFFFFF"/>
                </a:buClr>
                <a:buSzPts val="1200"/>
                <a:buFont typeface="Arial" panose="020B0604020202020204" pitchFamily="34" charset="0"/>
                <a:buChar char="•"/>
              </a:pPr>
              <a:r>
                <a:rPr lang="en-US" sz="1200" b="0" i="0" u="none" strike="noStrike" cap="none" dirty="0">
                  <a:solidFill>
                    <a:srgbClr val="FFFFFF"/>
                  </a:solidFill>
                  <a:latin typeface="Arial Nova" panose="020B0504020202020204" pitchFamily="34" charset="0"/>
                  <a:ea typeface="Calibri"/>
                  <a:cs typeface="Calibri"/>
                  <a:sym typeface="Calibri"/>
                </a:rPr>
                <a:t>Individual Bonds</a:t>
              </a:r>
              <a:endParaRPr dirty="0">
                <a:latin typeface="Arial Nova" panose="020B0504020202020204" pitchFamily="34" charset="0"/>
              </a:endParaRPr>
            </a:p>
            <a:p>
              <a:pPr marL="171450" marR="0" lvl="0" indent="-171450" algn="l" rtl="0">
                <a:lnSpc>
                  <a:spcPct val="100000"/>
                </a:lnSpc>
                <a:spcBef>
                  <a:spcPts val="0"/>
                </a:spcBef>
                <a:spcAft>
                  <a:spcPts val="0"/>
                </a:spcAft>
                <a:buClr>
                  <a:srgbClr val="FFFFFF"/>
                </a:buClr>
                <a:buSzPts val="1200"/>
                <a:buFont typeface="Arial" panose="020B0604020202020204" pitchFamily="34" charset="0"/>
                <a:buChar char="•"/>
              </a:pPr>
              <a:r>
                <a:rPr lang="en-US" sz="1200" dirty="0">
                  <a:solidFill>
                    <a:srgbClr val="FFFFFF"/>
                  </a:solidFill>
                  <a:latin typeface="Arial Nova" panose="020B0504020202020204" pitchFamily="34" charset="0"/>
                  <a:ea typeface="Calibri"/>
                  <a:cs typeface="Calibri"/>
                  <a:sym typeface="Calibri"/>
                </a:rPr>
                <a:t>SMA</a:t>
              </a:r>
              <a:endParaRPr sz="1200" b="0" i="0" u="none" strike="noStrike" cap="none" dirty="0">
                <a:solidFill>
                  <a:srgbClr val="FFFFFF"/>
                </a:solidFill>
                <a:latin typeface="Arial Nova" panose="020B0504020202020204" pitchFamily="34" charset="0"/>
                <a:ea typeface="Calibri"/>
                <a:cs typeface="Calibri"/>
                <a:sym typeface="Calibri"/>
              </a:endParaRPr>
            </a:p>
          </p:txBody>
        </p:sp>
        <p:cxnSp>
          <p:nvCxnSpPr>
            <p:cNvPr id="25" name="Google Shape;750;p8">
              <a:extLst>
                <a:ext uri="{FF2B5EF4-FFF2-40B4-BE49-F238E27FC236}">
                  <a16:creationId xmlns:a16="http://schemas.microsoft.com/office/drawing/2014/main" id="{9836B75F-9B94-EC64-E303-540D37D743E8}"/>
                </a:ext>
              </a:extLst>
            </p:cNvPr>
            <p:cNvCxnSpPr>
              <a:cxnSpLocks/>
            </p:cNvCxnSpPr>
            <p:nvPr/>
          </p:nvCxnSpPr>
          <p:spPr>
            <a:xfrm>
              <a:off x="10903958" y="2387087"/>
              <a:ext cx="0" cy="454406"/>
            </a:xfrm>
            <a:prstGeom prst="straightConnector1">
              <a:avLst/>
            </a:prstGeom>
            <a:noFill/>
            <a:ln w="9525" cap="flat" cmpd="sng">
              <a:solidFill>
                <a:schemeClr val="accent1"/>
              </a:solidFill>
              <a:prstDash val="solid"/>
              <a:miter lim="800000"/>
              <a:headEnd type="none" w="sm" len="sm"/>
              <a:tailEnd type="none" w="sm" len="sm"/>
            </a:ln>
          </p:spPr>
        </p:cxnSp>
      </p:grpSp>
      <p:grpSp>
        <p:nvGrpSpPr>
          <p:cNvPr id="59" name="Group 58">
            <a:extLst>
              <a:ext uri="{FF2B5EF4-FFF2-40B4-BE49-F238E27FC236}">
                <a16:creationId xmlns:a16="http://schemas.microsoft.com/office/drawing/2014/main" id="{4D28C570-BB6E-54D2-8906-1E7365111D04}"/>
              </a:ext>
            </a:extLst>
          </p:cNvPr>
          <p:cNvGrpSpPr/>
          <p:nvPr/>
        </p:nvGrpSpPr>
        <p:grpSpPr>
          <a:xfrm>
            <a:off x="6665527" y="1826024"/>
            <a:ext cx="1554480" cy="2937712"/>
            <a:chOff x="6665527" y="1826024"/>
            <a:chExt cx="1554480" cy="2937712"/>
          </a:xfrm>
        </p:grpSpPr>
        <p:sp>
          <p:nvSpPr>
            <p:cNvPr id="18" name="Google Shape;737;p8">
              <a:extLst>
                <a:ext uri="{FF2B5EF4-FFF2-40B4-BE49-F238E27FC236}">
                  <a16:creationId xmlns:a16="http://schemas.microsoft.com/office/drawing/2014/main" id="{7C9FCD09-FD3A-0024-8D97-B3EEDF2489BD}"/>
                </a:ext>
              </a:extLst>
            </p:cNvPr>
            <p:cNvSpPr/>
            <p:nvPr/>
          </p:nvSpPr>
          <p:spPr>
            <a:xfrm>
              <a:off x="6665527" y="2870928"/>
              <a:ext cx="1554480" cy="1892808"/>
            </a:xfrm>
            <a:prstGeom prst="rect">
              <a:avLst/>
            </a:prstGeom>
            <a:solidFill>
              <a:srgbClr val="004472"/>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2" name="Google Shape;741;p8">
              <a:extLst>
                <a:ext uri="{FF2B5EF4-FFF2-40B4-BE49-F238E27FC236}">
                  <a16:creationId xmlns:a16="http://schemas.microsoft.com/office/drawing/2014/main" id="{59A648EA-1FA7-BB36-D7D6-FD0B78DE0EE1}"/>
                </a:ext>
              </a:extLst>
            </p:cNvPr>
            <p:cNvSpPr txBox="1"/>
            <p:nvPr/>
          </p:nvSpPr>
          <p:spPr>
            <a:xfrm>
              <a:off x="6665527" y="3012561"/>
              <a:ext cx="1554480" cy="1384995"/>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rgbClr val="FFFFFF"/>
                </a:buClr>
                <a:buSzPts val="1200"/>
                <a:buFont typeface="Arial" panose="020B0604020202020204" pitchFamily="34" charset="0"/>
                <a:buChar char="•"/>
              </a:pPr>
              <a:r>
                <a:rPr lang="en-US" sz="1200" b="0" i="0" u="none" strike="noStrike" cap="none" dirty="0">
                  <a:solidFill>
                    <a:srgbClr val="FFFFFF"/>
                  </a:solidFill>
                  <a:latin typeface="Arial Nova" panose="020B0504020202020204" pitchFamily="34" charset="0"/>
                  <a:ea typeface="Calibri"/>
                  <a:cs typeface="Calibri"/>
                  <a:sym typeface="Calibri"/>
                </a:rPr>
                <a:t>Tax Concerns</a:t>
              </a:r>
              <a:endParaRPr dirty="0">
                <a:latin typeface="Arial Nova" panose="020B0504020202020204" pitchFamily="34" charset="0"/>
              </a:endParaRPr>
            </a:p>
            <a:p>
              <a:pPr marL="171450" marR="0" lvl="0" indent="-171450" algn="l" rtl="0">
                <a:lnSpc>
                  <a:spcPct val="100000"/>
                </a:lnSpc>
                <a:spcBef>
                  <a:spcPts val="0"/>
                </a:spcBef>
                <a:spcAft>
                  <a:spcPts val="0"/>
                </a:spcAft>
                <a:buClr>
                  <a:srgbClr val="FFFFFF"/>
                </a:buClr>
                <a:buSzPts val="1200"/>
                <a:buFont typeface="Arial" panose="020B0604020202020204" pitchFamily="34" charset="0"/>
                <a:buChar char="•"/>
              </a:pPr>
              <a:r>
                <a:rPr lang="en-US" sz="1200" b="0" i="0" u="none" strike="noStrike" cap="none" dirty="0">
                  <a:solidFill>
                    <a:srgbClr val="FFFFFF"/>
                  </a:solidFill>
                  <a:latin typeface="Arial Nova" panose="020B0504020202020204" pitchFamily="34" charset="0"/>
                  <a:ea typeface="Calibri"/>
                  <a:cs typeface="Calibri"/>
                  <a:sym typeface="Calibri"/>
                </a:rPr>
                <a:t>Income </a:t>
              </a:r>
              <a:endParaRPr dirty="0">
                <a:latin typeface="Arial Nova" panose="020B0504020202020204" pitchFamily="34" charset="0"/>
              </a:endParaRPr>
            </a:p>
            <a:p>
              <a:pPr marL="171450" marR="0" lvl="0" indent="-171450" algn="l" rtl="0">
                <a:lnSpc>
                  <a:spcPct val="100000"/>
                </a:lnSpc>
                <a:spcBef>
                  <a:spcPts val="0"/>
                </a:spcBef>
                <a:spcAft>
                  <a:spcPts val="0"/>
                </a:spcAft>
                <a:buClr>
                  <a:srgbClr val="FFFFFF"/>
                </a:buClr>
                <a:buSzPts val="1200"/>
                <a:buFont typeface="Arial" panose="020B0604020202020204" pitchFamily="34" charset="0"/>
                <a:buChar char="•"/>
              </a:pPr>
              <a:r>
                <a:rPr lang="en-US" sz="1200" b="0" i="0" u="none" strike="noStrike" cap="none" dirty="0">
                  <a:solidFill>
                    <a:srgbClr val="FFFFFF"/>
                  </a:solidFill>
                  <a:latin typeface="Arial Nova" panose="020B0504020202020204" pitchFamily="34" charset="0"/>
                  <a:ea typeface="Calibri"/>
                  <a:cs typeface="Calibri"/>
                  <a:sym typeface="Calibri"/>
                </a:rPr>
                <a:t>Growth</a:t>
              </a:r>
              <a:endParaRPr dirty="0">
                <a:latin typeface="Arial Nova" panose="020B0504020202020204" pitchFamily="34" charset="0"/>
              </a:endParaRPr>
            </a:p>
            <a:p>
              <a:pPr marL="171450" marR="0" lvl="0" indent="-171450" algn="l" rtl="0">
                <a:lnSpc>
                  <a:spcPct val="100000"/>
                </a:lnSpc>
                <a:spcBef>
                  <a:spcPts val="0"/>
                </a:spcBef>
                <a:spcAft>
                  <a:spcPts val="0"/>
                </a:spcAft>
                <a:buClr>
                  <a:srgbClr val="FFFFFF"/>
                </a:buClr>
                <a:buSzPts val="1200"/>
                <a:buFont typeface="Arial" panose="020B0604020202020204" pitchFamily="34" charset="0"/>
                <a:buChar char="•"/>
              </a:pPr>
              <a:r>
                <a:rPr lang="en-US" sz="1200" b="0" i="0" u="none" strike="noStrike" cap="none" dirty="0">
                  <a:solidFill>
                    <a:srgbClr val="FFFFFF"/>
                  </a:solidFill>
                  <a:latin typeface="Arial Nova" panose="020B0504020202020204" pitchFamily="34" charset="0"/>
                  <a:ea typeface="Calibri"/>
                  <a:cs typeface="Calibri"/>
                  <a:sym typeface="Calibri"/>
                </a:rPr>
                <a:t>Risk </a:t>
              </a:r>
              <a:endParaRPr dirty="0">
                <a:latin typeface="Arial Nova" panose="020B0504020202020204" pitchFamily="34" charset="0"/>
              </a:endParaRPr>
            </a:p>
            <a:p>
              <a:pPr marL="171450" marR="0" lvl="0" indent="-171450" algn="l" rtl="0">
                <a:lnSpc>
                  <a:spcPct val="100000"/>
                </a:lnSpc>
                <a:spcBef>
                  <a:spcPts val="0"/>
                </a:spcBef>
                <a:spcAft>
                  <a:spcPts val="0"/>
                </a:spcAft>
                <a:buClr>
                  <a:srgbClr val="FFFFFF"/>
                </a:buClr>
                <a:buSzPts val="1200"/>
                <a:buFont typeface="Arial" panose="020B0604020202020204" pitchFamily="34" charset="0"/>
                <a:buChar char="•"/>
              </a:pPr>
              <a:r>
                <a:rPr lang="en-US" sz="1200" dirty="0">
                  <a:solidFill>
                    <a:srgbClr val="FFFFFF"/>
                  </a:solidFill>
                  <a:latin typeface="Arial Nova" panose="020B0504020202020204" pitchFamily="34" charset="0"/>
                  <a:ea typeface="Calibri"/>
                  <a:cs typeface="Calibri"/>
                  <a:sym typeface="Calibri"/>
                </a:rPr>
                <a:t>Total Return</a:t>
              </a:r>
              <a:endParaRPr dirty="0">
                <a:latin typeface="Arial Nova" panose="020B0504020202020204" pitchFamily="34" charset="0"/>
              </a:endParaRPr>
            </a:p>
            <a:p>
              <a:pPr marL="171450" marR="0" lvl="0" indent="-171450" algn="l" rtl="0">
                <a:lnSpc>
                  <a:spcPct val="100000"/>
                </a:lnSpc>
                <a:spcBef>
                  <a:spcPts val="0"/>
                </a:spcBef>
                <a:spcAft>
                  <a:spcPts val="0"/>
                </a:spcAft>
                <a:buClr>
                  <a:srgbClr val="FFFFFF"/>
                </a:buClr>
                <a:buSzPts val="1200"/>
                <a:buFont typeface="Arial" panose="020B0604020202020204" pitchFamily="34" charset="0"/>
                <a:buChar char="•"/>
              </a:pPr>
              <a:r>
                <a:rPr lang="en-US" sz="1200" b="0" i="0" u="none" strike="noStrike" cap="none" dirty="0">
                  <a:solidFill>
                    <a:srgbClr val="FFFFFF"/>
                  </a:solidFill>
                  <a:latin typeface="Arial Nova" panose="020B0504020202020204" pitchFamily="34" charset="0"/>
                  <a:ea typeface="Calibri"/>
                  <a:cs typeface="Calibri"/>
                  <a:sym typeface="Calibri"/>
                </a:rPr>
                <a:t>Time Horizon</a:t>
              </a:r>
              <a:endParaRPr dirty="0">
                <a:latin typeface="Arial Nova" panose="020B0504020202020204" pitchFamily="34" charset="0"/>
              </a:endParaRPr>
            </a:p>
            <a:p>
              <a:pPr marL="171450" marR="0" lvl="0" indent="-171450" algn="l" rtl="0">
                <a:lnSpc>
                  <a:spcPct val="100000"/>
                </a:lnSpc>
                <a:spcBef>
                  <a:spcPts val="0"/>
                </a:spcBef>
                <a:spcAft>
                  <a:spcPts val="0"/>
                </a:spcAft>
                <a:buClr>
                  <a:srgbClr val="FFFFFF"/>
                </a:buClr>
                <a:buSzPts val="1200"/>
                <a:buFont typeface="Arial" panose="020B0604020202020204" pitchFamily="34" charset="0"/>
                <a:buChar char="•"/>
              </a:pPr>
              <a:r>
                <a:rPr lang="en-US" sz="1200" dirty="0">
                  <a:solidFill>
                    <a:srgbClr val="FFFFFF"/>
                  </a:solidFill>
                  <a:latin typeface="Arial Nova" panose="020B0504020202020204" pitchFamily="34" charset="0"/>
                  <a:ea typeface="Calibri"/>
                  <a:cs typeface="Calibri"/>
                  <a:sym typeface="Calibri"/>
                </a:rPr>
                <a:t>Annuity Inclusion</a:t>
              </a:r>
              <a:r>
                <a:rPr lang="en-US" sz="1200" b="0" i="0" u="none" strike="noStrike" cap="none" dirty="0">
                  <a:solidFill>
                    <a:srgbClr val="FFFFFF"/>
                  </a:solidFill>
                  <a:latin typeface="Arial Nova" panose="020B0504020202020204" pitchFamily="34" charset="0"/>
                  <a:ea typeface="Calibri"/>
                  <a:cs typeface="Calibri"/>
                  <a:sym typeface="Calibri"/>
                </a:rPr>
                <a:t> </a:t>
              </a:r>
              <a:endParaRPr dirty="0">
                <a:latin typeface="Arial Nova" panose="020B0504020202020204" pitchFamily="34" charset="0"/>
              </a:endParaRPr>
            </a:p>
          </p:txBody>
        </p:sp>
        <p:grpSp>
          <p:nvGrpSpPr>
            <p:cNvPr id="26" name="Group 25">
              <a:extLst>
                <a:ext uri="{FF2B5EF4-FFF2-40B4-BE49-F238E27FC236}">
                  <a16:creationId xmlns:a16="http://schemas.microsoft.com/office/drawing/2014/main" id="{A159E38E-D794-235B-6A76-EA0E01301D4B}"/>
                </a:ext>
              </a:extLst>
            </p:cNvPr>
            <p:cNvGrpSpPr/>
            <p:nvPr/>
          </p:nvGrpSpPr>
          <p:grpSpPr>
            <a:xfrm>
              <a:off x="6665527" y="1826024"/>
              <a:ext cx="1554480" cy="548640"/>
              <a:chOff x="6746166" y="1695757"/>
              <a:chExt cx="1554480" cy="548640"/>
            </a:xfrm>
          </p:grpSpPr>
          <p:sp>
            <p:nvSpPr>
              <p:cNvPr id="27" name="Google Shape;733;p8">
                <a:extLst>
                  <a:ext uri="{FF2B5EF4-FFF2-40B4-BE49-F238E27FC236}">
                    <a16:creationId xmlns:a16="http://schemas.microsoft.com/office/drawing/2014/main" id="{C2215472-6713-F08F-343B-51B9B80140DF}"/>
                  </a:ext>
                </a:extLst>
              </p:cNvPr>
              <p:cNvSpPr txBox="1"/>
              <p:nvPr/>
            </p:nvSpPr>
            <p:spPr>
              <a:xfrm>
                <a:off x="6760171" y="1715417"/>
                <a:ext cx="150782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276BD"/>
                  </a:buClr>
                  <a:buSzPts val="1400"/>
                  <a:buFont typeface="Calibri"/>
                  <a:buNone/>
                </a:pPr>
                <a:r>
                  <a:rPr lang="en-US" sz="1400" b="1" i="0" u="none" strike="noStrike" cap="none" dirty="0">
                    <a:solidFill>
                      <a:srgbClr val="0276BD"/>
                    </a:solidFill>
                    <a:latin typeface="Arial Nova" panose="020B0504020202020204" pitchFamily="34" charset="0"/>
                    <a:ea typeface="Calibri"/>
                    <a:cs typeface="Calibri"/>
                    <a:sym typeface="Calibri"/>
                  </a:rPr>
                  <a:t>Portfolio </a:t>
                </a:r>
              </a:p>
              <a:p>
                <a:pPr marL="0" marR="0" lvl="0" indent="0" algn="ctr" rtl="0">
                  <a:lnSpc>
                    <a:spcPct val="100000"/>
                  </a:lnSpc>
                  <a:spcBef>
                    <a:spcPts val="0"/>
                  </a:spcBef>
                  <a:spcAft>
                    <a:spcPts val="0"/>
                  </a:spcAft>
                  <a:buClr>
                    <a:srgbClr val="0276BD"/>
                  </a:buClr>
                  <a:buSzPts val="1400"/>
                  <a:buFont typeface="Calibri"/>
                  <a:buNone/>
                </a:pPr>
                <a:r>
                  <a:rPr lang="en-US" sz="1400" b="1" i="0" u="none" strike="noStrike" cap="none" dirty="0">
                    <a:solidFill>
                      <a:srgbClr val="0276BD"/>
                    </a:solidFill>
                    <a:latin typeface="Arial Nova" panose="020B0504020202020204" pitchFamily="34" charset="0"/>
                    <a:ea typeface="Calibri"/>
                    <a:cs typeface="Calibri"/>
                    <a:sym typeface="Calibri"/>
                  </a:rPr>
                  <a:t>Focus</a:t>
                </a:r>
                <a:endParaRPr dirty="0">
                  <a:latin typeface="Arial Nova" panose="020B0504020202020204" pitchFamily="34" charset="0"/>
                </a:endParaRPr>
              </a:p>
            </p:txBody>
          </p:sp>
          <p:sp>
            <p:nvSpPr>
              <p:cNvPr id="28" name="Google Shape;729;p8">
                <a:extLst>
                  <a:ext uri="{FF2B5EF4-FFF2-40B4-BE49-F238E27FC236}">
                    <a16:creationId xmlns:a16="http://schemas.microsoft.com/office/drawing/2014/main" id="{7AABD99B-006D-976F-41AB-1DB3647D2EBE}"/>
                  </a:ext>
                </a:extLst>
              </p:cNvPr>
              <p:cNvSpPr txBox="1"/>
              <p:nvPr/>
            </p:nvSpPr>
            <p:spPr>
              <a:xfrm>
                <a:off x="6746166" y="1695757"/>
                <a:ext cx="1554480" cy="548640"/>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13359"/>
                  </a:solidFill>
                  <a:latin typeface="Calibri"/>
                  <a:ea typeface="Calibri"/>
                  <a:cs typeface="Calibri"/>
                  <a:sym typeface="Calibri"/>
                </a:endParaRPr>
              </a:p>
            </p:txBody>
          </p:sp>
        </p:grpSp>
        <p:cxnSp>
          <p:nvCxnSpPr>
            <p:cNvPr id="29" name="Google Shape;751;p8">
              <a:extLst>
                <a:ext uri="{FF2B5EF4-FFF2-40B4-BE49-F238E27FC236}">
                  <a16:creationId xmlns:a16="http://schemas.microsoft.com/office/drawing/2014/main" id="{E587DCD9-25C8-3478-7E82-CBD7A3C19CD3}"/>
                </a:ext>
              </a:extLst>
            </p:cNvPr>
            <p:cNvCxnSpPr>
              <a:cxnSpLocks/>
            </p:cNvCxnSpPr>
            <p:nvPr/>
          </p:nvCxnSpPr>
          <p:spPr>
            <a:xfrm>
              <a:off x="7442767" y="2387087"/>
              <a:ext cx="0" cy="454406"/>
            </a:xfrm>
            <a:prstGeom prst="straightConnector1">
              <a:avLst/>
            </a:prstGeom>
            <a:noFill/>
            <a:ln w="9525" cap="flat" cmpd="sng">
              <a:solidFill>
                <a:schemeClr val="accent1"/>
              </a:solidFill>
              <a:prstDash val="solid"/>
              <a:miter lim="800000"/>
              <a:headEnd type="none" w="sm" len="sm"/>
              <a:tailEnd type="none" w="sm" len="sm"/>
            </a:ln>
          </p:spPr>
        </p:cxnSp>
      </p:grpSp>
      <p:grpSp>
        <p:nvGrpSpPr>
          <p:cNvPr id="60" name="Group 59">
            <a:extLst>
              <a:ext uri="{FF2B5EF4-FFF2-40B4-BE49-F238E27FC236}">
                <a16:creationId xmlns:a16="http://schemas.microsoft.com/office/drawing/2014/main" id="{779CCA6B-9B0B-068E-48AC-00BF3BEB06BA}"/>
              </a:ext>
            </a:extLst>
          </p:cNvPr>
          <p:cNvGrpSpPr/>
          <p:nvPr/>
        </p:nvGrpSpPr>
        <p:grpSpPr>
          <a:xfrm>
            <a:off x="8413559" y="1826024"/>
            <a:ext cx="1556424" cy="2933822"/>
            <a:chOff x="8413559" y="1826024"/>
            <a:chExt cx="1556424" cy="2933822"/>
          </a:xfrm>
        </p:grpSpPr>
        <p:grpSp>
          <p:nvGrpSpPr>
            <p:cNvPr id="11" name="Group 10">
              <a:extLst>
                <a:ext uri="{FF2B5EF4-FFF2-40B4-BE49-F238E27FC236}">
                  <a16:creationId xmlns:a16="http://schemas.microsoft.com/office/drawing/2014/main" id="{57739D0E-9225-C051-FB71-99CE58DA17CC}"/>
                </a:ext>
              </a:extLst>
            </p:cNvPr>
            <p:cNvGrpSpPr/>
            <p:nvPr/>
          </p:nvGrpSpPr>
          <p:grpSpPr>
            <a:xfrm>
              <a:off x="8413559" y="1826024"/>
              <a:ext cx="1556424" cy="548640"/>
              <a:chOff x="8482436" y="1697797"/>
              <a:chExt cx="1556424" cy="548640"/>
            </a:xfrm>
          </p:grpSpPr>
          <p:sp>
            <p:nvSpPr>
              <p:cNvPr id="12" name="Google Shape;728;p8">
                <a:extLst>
                  <a:ext uri="{FF2B5EF4-FFF2-40B4-BE49-F238E27FC236}">
                    <a16:creationId xmlns:a16="http://schemas.microsoft.com/office/drawing/2014/main" id="{E31F8395-D4A3-F1E3-ED0A-3AC5520B64CA}"/>
                  </a:ext>
                </a:extLst>
              </p:cNvPr>
              <p:cNvSpPr txBox="1"/>
              <p:nvPr/>
            </p:nvSpPr>
            <p:spPr>
              <a:xfrm>
                <a:off x="8484379" y="1697797"/>
                <a:ext cx="1554480" cy="548640"/>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13359"/>
                  </a:solidFill>
                  <a:latin typeface="Calibri"/>
                  <a:ea typeface="Calibri"/>
                  <a:cs typeface="Calibri"/>
                  <a:sym typeface="Calibri"/>
                </a:endParaRPr>
              </a:p>
            </p:txBody>
          </p:sp>
          <p:sp>
            <p:nvSpPr>
              <p:cNvPr id="13" name="Google Shape;732;p8">
                <a:extLst>
                  <a:ext uri="{FF2B5EF4-FFF2-40B4-BE49-F238E27FC236}">
                    <a16:creationId xmlns:a16="http://schemas.microsoft.com/office/drawing/2014/main" id="{EBEA164B-2740-8025-9FF8-E5D7359F8666}"/>
                  </a:ext>
                </a:extLst>
              </p:cNvPr>
              <p:cNvSpPr txBox="1"/>
              <p:nvPr/>
            </p:nvSpPr>
            <p:spPr>
              <a:xfrm>
                <a:off x="8482436" y="1707620"/>
                <a:ext cx="1556424"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276BD"/>
                  </a:buClr>
                  <a:buSzPts val="1400"/>
                  <a:buFont typeface="Calibri"/>
                  <a:buNone/>
                </a:pPr>
                <a:r>
                  <a:rPr lang="en-US" sz="1400" b="1" i="0" u="none" strike="noStrike" cap="none" dirty="0">
                    <a:solidFill>
                      <a:srgbClr val="0276BD"/>
                    </a:solidFill>
                    <a:latin typeface="Arial Nova" panose="020B0504020202020204" pitchFamily="34" charset="0"/>
                    <a:ea typeface="Calibri"/>
                    <a:cs typeface="Calibri"/>
                    <a:sym typeface="Calibri"/>
                  </a:rPr>
                  <a:t>Management Style</a:t>
                </a:r>
                <a:endParaRPr dirty="0">
                  <a:latin typeface="Arial Nova" panose="020B0504020202020204" pitchFamily="34" charset="0"/>
                </a:endParaRPr>
              </a:p>
            </p:txBody>
          </p:sp>
        </p:grpSp>
        <p:sp>
          <p:nvSpPr>
            <p:cNvPr id="19" name="Google Shape;738;p8">
              <a:extLst>
                <a:ext uri="{FF2B5EF4-FFF2-40B4-BE49-F238E27FC236}">
                  <a16:creationId xmlns:a16="http://schemas.microsoft.com/office/drawing/2014/main" id="{6F110449-6B86-844A-4E15-14A75EC3DDDB}"/>
                </a:ext>
              </a:extLst>
            </p:cNvPr>
            <p:cNvSpPr/>
            <p:nvPr/>
          </p:nvSpPr>
          <p:spPr>
            <a:xfrm>
              <a:off x="8414531" y="2867038"/>
              <a:ext cx="1554480" cy="1892808"/>
            </a:xfrm>
            <a:prstGeom prst="rect">
              <a:avLst/>
            </a:prstGeom>
            <a:solidFill>
              <a:srgbClr val="004472"/>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4" name="Google Shape;743;p8">
              <a:extLst>
                <a:ext uri="{FF2B5EF4-FFF2-40B4-BE49-F238E27FC236}">
                  <a16:creationId xmlns:a16="http://schemas.microsoft.com/office/drawing/2014/main" id="{D6020C55-E71C-FED5-0BC0-BAA6225277B5}"/>
                </a:ext>
              </a:extLst>
            </p:cNvPr>
            <p:cNvSpPr txBox="1"/>
            <p:nvPr/>
          </p:nvSpPr>
          <p:spPr>
            <a:xfrm>
              <a:off x="8414531" y="3012561"/>
              <a:ext cx="1554480" cy="1200288"/>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rgbClr val="FFFFFF"/>
                </a:buClr>
                <a:buSzPts val="1200"/>
                <a:buFont typeface="Arial" panose="020B0604020202020204" pitchFamily="34" charset="0"/>
                <a:buChar char="•"/>
              </a:pPr>
              <a:r>
                <a:rPr lang="en-US" sz="1200" b="0" i="0" u="none" strike="noStrike" cap="none" dirty="0">
                  <a:solidFill>
                    <a:srgbClr val="FFFFFF"/>
                  </a:solidFill>
                  <a:latin typeface="Arial Nova" panose="020B0504020202020204" pitchFamily="34" charset="0"/>
                  <a:ea typeface="Calibri"/>
                  <a:cs typeface="Calibri"/>
                  <a:sym typeface="Calibri"/>
                </a:rPr>
                <a:t>Active vs Passive</a:t>
              </a:r>
              <a:endParaRPr dirty="0">
                <a:latin typeface="Arial Nova" panose="020B0504020202020204" pitchFamily="34" charset="0"/>
              </a:endParaRPr>
            </a:p>
            <a:p>
              <a:pPr marL="171450" marR="0" lvl="0" indent="-171450" algn="l" rtl="0">
                <a:lnSpc>
                  <a:spcPct val="100000"/>
                </a:lnSpc>
                <a:spcBef>
                  <a:spcPts val="0"/>
                </a:spcBef>
                <a:spcAft>
                  <a:spcPts val="0"/>
                </a:spcAft>
                <a:buClr>
                  <a:srgbClr val="FFFFFF"/>
                </a:buClr>
                <a:buSzPts val="1200"/>
                <a:buFont typeface="Arial" panose="020B0604020202020204" pitchFamily="34" charset="0"/>
                <a:buChar char="•"/>
              </a:pPr>
              <a:r>
                <a:rPr lang="en-US" sz="1200" b="0" i="0" u="none" strike="noStrike" cap="none" dirty="0">
                  <a:solidFill>
                    <a:srgbClr val="FFFFFF"/>
                  </a:solidFill>
                  <a:latin typeface="Arial Nova" panose="020B0504020202020204" pitchFamily="34" charset="0"/>
                  <a:ea typeface="Calibri"/>
                  <a:cs typeface="Calibri"/>
                  <a:sym typeface="Calibri"/>
                </a:rPr>
                <a:t>Market Cycle</a:t>
              </a:r>
              <a:endParaRPr dirty="0">
                <a:latin typeface="Arial Nova" panose="020B0504020202020204" pitchFamily="34" charset="0"/>
              </a:endParaRPr>
            </a:p>
            <a:p>
              <a:pPr marL="171450" marR="0" lvl="0" indent="-171450" algn="l" rtl="0">
                <a:lnSpc>
                  <a:spcPct val="100000"/>
                </a:lnSpc>
                <a:spcBef>
                  <a:spcPts val="0"/>
                </a:spcBef>
                <a:spcAft>
                  <a:spcPts val="0"/>
                </a:spcAft>
                <a:buClr>
                  <a:srgbClr val="FFFFFF"/>
                </a:buClr>
                <a:buSzPts val="1200"/>
                <a:buFont typeface="Arial" panose="020B0604020202020204" pitchFamily="34" charset="0"/>
                <a:buChar char="•"/>
              </a:pPr>
              <a:r>
                <a:rPr lang="en-US" sz="1200" b="0" i="0" u="none" strike="noStrike" cap="none" dirty="0">
                  <a:solidFill>
                    <a:srgbClr val="FFFFFF"/>
                  </a:solidFill>
                  <a:latin typeface="Arial Nova" panose="020B0504020202020204" pitchFamily="34" charset="0"/>
                  <a:ea typeface="Calibri"/>
                  <a:cs typeface="Calibri"/>
                  <a:sym typeface="Calibri"/>
                </a:rPr>
                <a:t>Multi-Manager</a:t>
              </a:r>
              <a:endParaRPr dirty="0">
                <a:latin typeface="Arial Nova" panose="020B0504020202020204" pitchFamily="34" charset="0"/>
              </a:endParaRPr>
            </a:p>
            <a:p>
              <a:pPr marL="171450" marR="0" lvl="0" indent="-171450" algn="l" rtl="0">
                <a:lnSpc>
                  <a:spcPct val="100000"/>
                </a:lnSpc>
                <a:spcBef>
                  <a:spcPts val="0"/>
                </a:spcBef>
                <a:spcAft>
                  <a:spcPts val="0"/>
                </a:spcAft>
                <a:buClr>
                  <a:srgbClr val="FFFFFF"/>
                </a:buClr>
                <a:buSzPts val="1200"/>
                <a:buFont typeface="Arial" panose="020B0604020202020204" pitchFamily="34" charset="0"/>
                <a:buChar char="•"/>
              </a:pPr>
              <a:r>
                <a:rPr lang="en-US" sz="1200" b="0" i="0" u="none" strike="noStrike" cap="none" dirty="0">
                  <a:solidFill>
                    <a:srgbClr val="FFFFFF"/>
                  </a:solidFill>
                  <a:latin typeface="Arial Nova" panose="020B0504020202020204" pitchFamily="34" charset="0"/>
                  <a:ea typeface="Calibri"/>
                  <a:cs typeface="Calibri"/>
                  <a:sym typeface="Calibri"/>
                </a:rPr>
                <a:t>Cost Conscious</a:t>
              </a:r>
              <a:endParaRPr dirty="0">
                <a:latin typeface="Arial Nova" panose="020B0504020202020204" pitchFamily="34" charset="0"/>
              </a:endParaRPr>
            </a:p>
            <a:p>
              <a:pPr marL="171450" marR="0" lvl="0" indent="-171450" algn="l" rtl="0">
                <a:lnSpc>
                  <a:spcPct val="100000"/>
                </a:lnSpc>
                <a:spcBef>
                  <a:spcPts val="0"/>
                </a:spcBef>
                <a:spcAft>
                  <a:spcPts val="0"/>
                </a:spcAft>
                <a:buClr>
                  <a:srgbClr val="FFFFFF"/>
                </a:buClr>
                <a:buSzPts val="1200"/>
                <a:buFont typeface="Arial" panose="020B0604020202020204" pitchFamily="34" charset="0"/>
                <a:buChar char="•"/>
              </a:pPr>
              <a:r>
                <a:rPr lang="en-US" sz="1200" dirty="0">
                  <a:solidFill>
                    <a:srgbClr val="FFFFFF"/>
                  </a:solidFill>
                  <a:latin typeface="Arial Nova" panose="020B0504020202020204" pitchFamily="34" charset="0"/>
                  <a:ea typeface="Calibri"/>
                  <a:cs typeface="Calibri"/>
                  <a:sym typeface="Calibri"/>
                </a:rPr>
                <a:t>Strategic</a:t>
              </a:r>
              <a:endParaRPr dirty="0">
                <a:latin typeface="Arial Nova" panose="020B0504020202020204" pitchFamily="34" charset="0"/>
              </a:endParaRPr>
            </a:p>
            <a:p>
              <a:pPr marL="171450" marR="0" lvl="0" indent="-171450" algn="l" rtl="0">
                <a:lnSpc>
                  <a:spcPct val="100000"/>
                </a:lnSpc>
                <a:spcBef>
                  <a:spcPts val="0"/>
                </a:spcBef>
                <a:spcAft>
                  <a:spcPts val="0"/>
                </a:spcAft>
                <a:buClr>
                  <a:srgbClr val="FFFFFF"/>
                </a:buClr>
                <a:buSzPts val="1200"/>
                <a:buFont typeface="Arial" panose="020B0604020202020204" pitchFamily="34" charset="0"/>
                <a:buChar char="•"/>
              </a:pPr>
              <a:r>
                <a:rPr lang="en-US" sz="1200" dirty="0">
                  <a:solidFill>
                    <a:srgbClr val="FFFFFF"/>
                  </a:solidFill>
                  <a:latin typeface="Arial Nova" panose="020B0504020202020204" pitchFamily="34" charset="0"/>
                  <a:ea typeface="Calibri"/>
                  <a:cs typeface="Calibri"/>
                  <a:sym typeface="Calibri"/>
                </a:rPr>
                <a:t>Tactical</a:t>
              </a:r>
              <a:endParaRPr sz="1200" b="0" i="0" u="none" strike="noStrike" cap="none" dirty="0">
                <a:solidFill>
                  <a:srgbClr val="FFFFFF"/>
                </a:solidFill>
                <a:latin typeface="Arial Nova" panose="020B0504020202020204" pitchFamily="34" charset="0"/>
                <a:ea typeface="Calibri"/>
                <a:cs typeface="Calibri"/>
                <a:sym typeface="Calibri"/>
              </a:endParaRPr>
            </a:p>
          </p:txBody>
        </p:sp>
        <p:cxnSp>
          <p:nvCxnSpPr>
            <p:cNvPr id="30" name="Google Shape;752;p8">
              <a:extLst>
                <a:ext uri="{FF2B5EF4-FFF2-40B4-BE49-F238E27FC236}">
                  <a16:creationId xmlns:a16="http://schemas.microsoft.com/office/drawing/2014/main" id="{86BCDD86-F23C-A24C-09C1-8FB4E12A886A}"/>
                </a:ext>
              </a:extLst>
            </p:cNvPr>
            <p:cNvCxnSpPr>
              <a:cxnSpLocks/>
            </p:cNvCxnSpPr>
            <p:nvPr/>
          </p:nvCxnSpPr>
          <p:spPr>
            <a:xfrm>
              <a:off x="9191771" y="2387087"/>
              <a:ext cx="0" cy="454406"/>
            </a:xfrm>
            <a:prstGeom prst="straightConnector1">
              <a:avLst/>
            </a:prstGeom>
            <a:noFill/>
            <a:ln w="9525" cap="flat" cmpd="sng">
              <a:solidFill>
                <a:schemeClr val="accent1"/>
              </a:solidFill>
              <a:prstDash val="solid"/>
              <a:miter lim="800000"/>
              <a:headEnd type="none" w="sm" len="sm"/>
              <a:tailEnd type="none" w="sm" len="sm"/>
            </a:ln>
          </p:spPr>
        </p:cxnSp>
      </p:grpSp>
      <p:grpSp>
        <p:nvGrpSpPr>
          <p:cNvPr id="58" name="Group 57">
            <a:extLst>
              <a:ext uri="{FF2B5EF4-FFF2-40B4-BE49-F238E27FC236}">
                <a16:creationId xmlns:a16="http://schemas.microsoft.com/office/drawing/2014/main" id="{187DC3DE-BDD8-C30B-761E-EF46DDFBAB3E}"/>
              </a:ext>
            </a:extLst>
          </p:cNvPr>
          <p:cNvGrpSpPr/>
          <p:nvPr/>
        </p:nvGrpSpPr>
        <p:grpSpPr>
          <a:xfrm>
            <a:off x="4782801" y="1826024"/>
            <a:ext cx="1554480" cy="2938162"/>
            <a:chOff x="4782801" y="1826024"/>
            <a:chExt cx="1554480" cy="2938162"/>
          </a:xfrm>
        </p:grpSpPr>
        <p:sp>
          <p:nvSpPr>
            <p:cNvPr id="17" name="Google Shape;736;p8">
              <a:extLst>
                <a:ext uri="{FF2B5EF4-FFF2-40B4-BE49-F238E27FC236}">
                  <a16:creationId xmlns:a16="http://schemas.microsoft.com/office/drawing/2014/main" id="{34F13D40-ACA4-2D22-2BC6-C1B85E5F20FB}"/>
                </a:ext>
              </a:extLst>
            </p:cNvPr>
            <p:cNvSpPr/>
            <p:nvPr/>
          </p:nvSpPr>
          <p:spPr>
            <a:xfrm>
              <a:off x="4782801" y="2871378"/>
              <a:ext cx="1554480" cy="1892808"/>
            </a:xfrm>
            <a:prstGeom prst="rect">
              <a:avLst/>
            </a:prstGeom>
            <a:solidFill>
              <a:srgbClr val="004472"/>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3" name="Google Shape;742;p8">
              <a:extLst>
                <a:ext uri="{FF2B5EF4-FFF2-40B4-BE49-F238E27FC236}">
                  <a16:creationId xmlns:a16="http://schemas.microsoft.com/office/drawing/2014/main" id="{E7091E97-6E28-047A-54DB-7EB4E5C5C810}"/>
                </a:ext>
              </a:extLst>
            </p:cNvPr>
            <p:cNvSpPr txBox="1"/>
            <p:nvPr/>
          </p:nvSpPr>
          <p:spPr>
            <a:xfrm>
              <a:off x="4782801" y="3012561"/>
              <a:ext cx="1554480" cy="1384954"/>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rgbClr val="FFFFFF"/>
                </a:buClr>
                <a:buSzPts val="1200"/>
                <a:buFont typeface="Arial" panose="020B0604020202020204" pitchFamily="34" charset="0"/>
                <a:buChar char="•"/>
              </a:pPr>
              <a:r>
                <a:rPr lang="en-US" sz="1200" b="0" i="0" u="none" strike="noStrike" cap="none" dirty="0">
                  <a:solidFill>
                    <a:srgbClr val="FFFFFF"/>
                  </a:solidFill>
                  <a:latin typeface="Arial Nova" panose="020B0504020202020204" pitchFamily="34" charset="0"/>
                  <a:ea typeface="Calibri"/>
                  <a:cs typeface="Calibri"/>
                  <a:sym typeface="Calibri"/>
                </a:rPr>
                <a:t>Qualified</a:t>
              </a:r>
              <a:endParaRPr dirty="0">
                <a:latin typeface="Arial Nova" panose="020B0504020202020204" pitchFamily="34" charset="0"/>
              </a:endParaRPr>
            </a:p>
            <a:p>
              <a:pPr marL="171450" marR="0" lvl="0" indent="-171450" algn="l" rtl="0">
                <a:lnSpc>
                  <a:spcPct val="100000"/>
                </a:lnSpc>
                <a:spcBef>
                  <a:spcPts val="0"/>
                </a:spcBef>
                <a:spcAft>
                  <a:spcPts val="0"/>
                </a:spcAft>
                <a:buClr>
                  <a:srgbClr val="FFFFFF"/>
                </a:buClr>
                <a:buSzPts val="1200"/>
                <a:buFont typeface="Arial" panose="020B0604020202020204" pitchFamily="34" charset="0"/>
                <a:buChar char="•"/>
              </a:pPr>
              <a:r>
                <a:rPr lang="en-US" sz="1200" b="0" i="0" u="none" strike="noStrike" cap="none" dirty="0">
                  <a:solidFill>
                    <a:srgbClr val="FFFFFF"/>
                  </a:solidFill>
                  <a:latin typeface="Arial Nova" panose="020B0504020202020204" pitchFamily="34" charset="0"/>
                  <a:ea typeface="Calibri"/>
                  <a:cs typeface="Calibri"/>
                  <a:sym typeface="Calibri"/>
                </a:rPr>
                <a:t>Tax Sensitivity</a:t>
              </a:r>
              <a:endParaRPr dirty="0">
                <a:latin typeface="Arial Nova" panose="020B0504020202020204" pitchFamily="34" charset="0"/>
              </a:endParaRPr>
            </a:p>
            <a:p>
              <a:pPr marL="171450" marR="0" lvl="0" indent="-171450" algn="l" rtl="0">
                <a:lnSpc>
                  <a:spcPct val="100000"/>
                </a:lnSpc>
                <a:spcBef>
                  <a:spcPts val="0"/>
                </a:spcBef>
                <a:spcAft>
                  <a:spcPts val="0"/>
                </a:spcAft>
                <a:buClr>
                  <a:srgbClr val="FFFFFF"/>
                </a:buClr>
                <a:buSzPts val="1200"/>
                <a:buFont typeface="Arial" panose="020B0604020202020204" pitchFamily="34" charset="0"/>
                <a:buChar char="•"/>
              </a:pPr>
              <a:r>
                <a:rPr lang="en-US" sz="1200" b="0" i="0" u="none" strike="noStrike" cap="none" dirty="0">
                  <a:solidFill>
                    <a:srgbClr val="FFFFFF"/>
                  </a:solidFill>
                  <a:latin typeface="Arial Nova" panose="020B0504020202020204" pitchFamily="34" charset="0"/>
                  <a:ea typeface="Calibri"/>
                  <a:cs typeface="Calibri"/>
                  <a:sym typeface="Calibri"/>
                </a:rPr>
                <a:t>Asset Location</a:t>
              </a:r>
              <a:endParaRPr dirty="0">
                <a:latin typeface="Arial Nova" panose="020B0504020202020204" pitchFamily="34" charset="0"/>
              </a:endParaRPr>
            </a:p>
            <a:p>
              <a:pPr marL="171450" marR="0" lvl="0" indent="-171450" algn="l" rtl="0">
                <a:spcBef>
                  <a:spcPts val="0"/>
                </a:spcBef>
                <a:spcAft>
                  <a:spcPts val="0"/>
                </a:spcAft>
                <a:buClr>
                  <a:srgbClr val="FFFFFF"/>
                </a:buClr>
                <a:buSzPts val="1200"/>
                <a:buFont typeface="Arial" panose="020B0604020202020204" pitchFamily="34" charset="0"/>
                <a:buChar char="•"/>
              </a:pPr>
              <a:r>
                <a:rPr lang="en-US" sz="1200" b="0" i="0" u="none" strike="noStrike" cap="none" dirty="0">
                  <a:solidFill>
                    <a:srgbClr val="FFFFFF"/>
                  </a:solidFill>
                  <a:latin typeface="Arial Nova" panose="020B0504020202020204" pitchFamily="34" charset="0"/>
                  <a:ea typeface="Calibri"/>
                  <a:cs typeface="Calibri"/>
                  <a:sym typeface="Calibri"/>
                </a:rPr>
                <a:t>Tax Loss Harvesting</a:t>
              </a:r>
              <a:endParaRPr dirty="0">
                <a:latin typeface="Arial Nova" panose="020B0504020202020204" pitchFamily="34" charset="0"/>
              </a:endParaRPr>
            </a:p>
            <a:p>
              <a:pPr marL="171450" marR="0" lvl="0" indent="-171450" algn="l" rtl="0">
                <a:spcBef>
                  <a:spcPts val="0"/>
                </a:spcBef>
                <a:spcAft>
                  <a:spcPts val="0"/>
                </a:spcAft>
                <a:buClr>
                  <a:srgbClr val="FFFFFF"/>
                </a:buClr>
                <a:buSzPts val="1200"/>
                <a:buFont typeface="Arial" panose="020B0604020202020204" pitchFamily="34" charset="0"/>
                <a:buChar char="•"/>
              </a:pPr>
              <a:r>
                <a:rPr lang="en-US" sz="1200" dirty="0">
                  <a:solidFill>
                    <a:srgbClr val="FFFFFF"/>
                  </a:solidFill>
                  <a:latin typeface="Arial Nova" panose="020B0504020202020204" pitchFamily="34" charset="0"/>
                  <a:ea typeface="Calibri"/>
                  <a:cs typeface="Calibri"/>
                  <a:sym typeface="Calibri"/>
                </a:rPr>
                <a:t>Tax Transition</a:t>
              </a:r>
              <a:endParaRPr dirty="0">
                <a:latin typeface="Arial Nova" panose="020B0504020202020204" pitchFamily="34" charset="0"/>
              </a:endParaRPr>
            </a:p>
            <a:p>
              <a:pPr marL="171450" marR="0" lvl="0" indent="-171450" algn="l" rtl="0">
                <a:spcBef>
                  <a:spcPts val="0"/>
                </a:spcBef>
                <a:spcAft>
                  <a:spcPts val="0"/>
                </a:spcAft>
                <a:buClr>
                  <a:srgbClr val="FFFFFF"/>
                </a:buClr>
                <a:buSzPts val="1200"/>
                <a:buFont typeface="Arial" panose="020B0604020202020204" pitchFamily="34" charset="0"/>
                <a:buChar char="•"/>
              </a:pPr>
              <a:r>
                <a:rPr lang="en-US" sz="1200" dirty="0">
                  <a:solidFill>
                    <a:srgbClr val="FFFFFF"/>
                  </a:solidFill>
                  <a:latin typeface="Arial Nova" panose="020B0504020202020204" pitchFamily="34" charset="0"/>
                  <a:ea typeface="Calibri"/>
                  <a:cs typeface="Calibri"/>
                  <a:sym typeface="Calibri"/>
                </a:rPr>
                <a:t>Muni-Bonds</a:t>
              </a:r>
              <a:endParaRPr dirty="0">
                <a:latin typeface="Arial Nova" panose="020B0504020202020204" pitchFamily="34" charset="0"/>
              </a:endParaRPr>
            </a:p>
          </p:txBody>
        </p:sp>
        <p:grpSp>
          <p:nvGrpSpPr>
            <p:cNvPr id="31" name="Group 30">
              <a:extLst>
                <a:ext uri="{FF2B5EF4-FFF2-40B4-BE49-F238E27FC236}">
                  <a16:creationId xmlns:a16="http://schemas.microsoft.com/office/drawing/2014/main" id="{B47FC732-74F8-5B17-46FB-E031E932106E}"/>
                </a:ext>
              </a:extLst>
            </p:cNvPr>
            <p:cNvGrpSpPr/>
            <p:nvPr/>
          </p:nvGrpSpPr>
          <p:grpSpPr>
            <a:xfrm>
              <a:off x="4782801" y="1826024"/>
              <a:ext cx="1554480" cy="548640"/>
              <a:chOff x="4855280" y="1704516"/>
              <a:chExt cx="1554480" cy="548640"/>
            </a:xfrm>
          </p:grpSpPr>
          <p:sp>
            <p:nvSpPr>
              <p:cNvPr id="32" name="Google Shape;731;p8">
                <a:extLst>
                  <a:ext uri="{FF2B5EF4-FFF2-40B4-BE49-F238E27FC236}">
                    <a16:creationId xmlns:a16="http://schemas.microsoft.com/office/drawing/2014/main" id="{0A8F6CC1-7F02-3031-4C98-E48C68DD58A7}"/>
                  </a:ext>
                </a:extLst>
              </p:cNvPr>
              <p:cNvSpPr txBox="1"/>
              <p:nvPr/>
            </p:nvSpPr>
            <p:spPr>
              <a:xfrm>
                <a:off x="4884206" y="1705885"/>
                <a:ext cx="1496627"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276BD"/>
                  </a:buClr>
                  <a:buSzPts val="1400"/>
                  <a:buFont typeface="Calibri"/>
                  <a:buNone/>
                </a:pPr>
                <a:r>
                  <a:rPr lang="en-US" sz="1400" b="1" i="0" u="none" strike="noStrike" cap="none" dirty="0">
                    <a:solidFill>
                      <a:srgbClr val="0276BD"/>
                    </a:solidFill>
                    <a:latin typeface="Arial Nova" panose="020B0504020202020204" pitchFamily="34" charset="0"/>
                    <a:ea typeface="Calibri"/>
                    <a:cs typeface="Calibri"/>
                    <a:sym typeface="Calibri"/>
                  </a:rPr>
                  <a:t>Tax </a:t>
                </a:r>
                <a:endParaRPr dirty="0">
                  <a:latin typeface="Arial Nova" panose="020B0504020202020204" pitchFamily="34" charset="0"/>
                </a:endParaRPr>
              </a:p>
              <a:p>
                <a:pPr marL="0" marR="0" lvl="0" indent="0" algn="ctr" rtl="0">
                  <a:lnSpc>
                    <a:spcPct val="100000"/>
                  </a:lnSpc>
                  <a:spcBef>
                    <a:spcPts val="0"/>
                  </a:spcBef>
                  <a:spcAft>
                    <a:spcPts val="0"/>
                  </a:spcAft>
                  <a:buClr>
                    <a:srgbClr val="0276BD"/>
                  </a:buClr>
                  <a:buSzPts val="1400"/>
                  <a:buFont typeface="Calibri"/>
                  <a:buNone/>
                </a:pPr>
                <a:r>
                  <a:rPr lang="en-US" sz="1400" b="1" i="0" u="none" strike="noStrike" cap="none" dirty="0">
                    <a:solidFill>
                      <a:srgbClr val="0276BD"/>
                    </a:solidFill>
                    <a:latin typeface="Arial Nova" panose="020B0504020202020204" pitchFamily="34" charset="0"/>
                    <a:ea typeface="Calibri"/>
                    <a:cs typeface="Calibri"/>
                    <a:sym typeface="Calibri"/>
                  </a:rPr>
                  <a:t>Management</a:t>
                </a:r>
                <a:endParaRPr dirty="0">
                  <a:latin typeface="Arial Nova" panose="020B0504020202020204" pitchFamily="34" charset="0"/>
                </a:endParaRPr>
              </a:p>
            </p:txBody>
          </p:sp>
          <p:sp>
            <p:nvSpPr>
              <p:cNvPr id="33" name="Google Shape;730;p8">
                <a:extLst>
                  <a:ext uri="{FF2B5EF4-FFF2-40B4-BE49-F238E27FC236}">
                    <a16:creationId xmlns:a16="http://schemas.microsoft.com/office/drawing/2014/main" id="{5167E345-8A77-6D20-9AAC-77EA167A4547}"/>
                  </a:ext>
                </a:extLst>
              </p:cNvPr>
              <p:cNvSpPr txBox="1"/>
              <p:nvPr/>
            </p:nvSpPr>
            <p:spPr>
              <a:xfrm>
                <a:off x="4855280" y="1704516"/>
                <a:ext cx="1554480" cy="548640"/>
              </a:xfrm>
              <a:prstGeom prst="rect">
                <a:avLst/>
              </a:prstGeom>
              <a:noFill/>
              <a:ln w="9525" cap="flat" cmpd="sng">
                <a:solidFill>
                  <a:srgbClr val="0070C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13359"/>
                  </a:solidFill>
                  <a:latin typeface="Calibri"/>
                  <a:ea typeface="Calibri"/>
                  <a:cs typeface="Calibri"/>
                  <a:sym typeface="Calibri"/>
                </a:endParaRPr>
              </a:p>
            </p:txBody>
          </p:sp>
        </p:grpSp>
        <p:cxnSp>
          <p:nvCxnSpPr>
            <p:cNvPr id="34" name="Google Shape;753;p8">
              <a:extLst>
                <a:ext uri="{FF2B5EF4-FFF2-40B4-BE49-F238E27FC236}">
                  <a16:creationId xmlns:a16="http://schemas.microsoft.com/office/drawing/2014/main" id="{1EC2A1A7-767B-F163-1F9D-B9B56A9006A4}"/>
                </a:ext>
              </a:extLst>
            </p:cNvPr>
            <p:cNvCxnSpPr>
              <a:cxnSpLocks/>
            </p:cNvCxnSpPr>
            <p:nvPr/>
          </p:nvCxnSpPr>
          <p:spPr>
            <a:xfrm>
              <a:off x="5560041" y="2387087"/>
              <a:ext cx="0" cy="454406"/>
            </a:xfrm>
            <a:prstGeom prst="straightConnector1">
              <a:avLst/>
            </a:prstGeom>
            <a:noFill/>
            <a:ln w="9525" cap="flat" cmpd="sng">
              <a:solidFill>
                <a:schemeClr val="accent1"/>
              </a:solidFill>
              <a:prstDash val="solid"/>
              <a:miter lim="800000"/>
              <a:headEnd type="none" w="sm" len="sm"/>
              <a:tailEnd type="none" w="sm" len="sm"/>
            </a:ln>
          </p:spPr>
        </p:cxnSp>
      </p:grpSp>
      <p:grpSp>
        <p:nvGrpSpPr>
          <p:cNvPr id="36" name="Group 35">
            <a:extLst>
              <a:ext uri="{FF2B5EF4-FFF2-40B4-BE49-F238E27FC236}">
                <a16:creationId xmlns:a16="http://schemas.microsoft.com/office/drawing/2014/main" id="{CF735DD1-B1F0-08A7-CDF5-4B55E565C6C0}"/>
              </a:ext>
            </a:extLst>
          </p:cNvPr>
          <p:cNvGrpSpPr/>
          <p:nvPr/>
        </p:nvGrpSpPr>
        <p:grpSpPr>
          <a:xfrm>
            <a:off x="461602" y="2751946"/>
            <a:ext cx="3200400" cy="1554480"/>
            <a:chOff x="268414" y="2446328"/>
            <a:chExt cx="3200400" cy="1554480"/>
          </a:xfrm>
        </p:grpSpPr>
        <p:sp>
          <p:nvSpPr>
            <p:cNvPr id="37" name="Google Shape;747;p8">
              <a:extLst>
                <a:ext uri="{FF2B5EF4-FFF2-40B4-BE49-F238E27FC236}">
                  <a16:creationId xmlns:a16="http://schemas.microsoft.com/office/drawing/2014/main" id="{FC364EA0-3408-C60E-04AE-4BB1DDC8C8BE}"/>
                </a:ext>
              </a:extLst>
            </p:cNvPr>
            <p:cNvSpPr/>
            <p:nvPr/>
          </p:nvSpPr>
          <p:spPr>
            <a:xfrm>
              <a:off x="268414" y="2446328"/>
              <a:ext cx="3200400" cy="155448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dirty="0">
                <a:solidFill>
                  <a:srgbClr val="013359"/>
                </a:solidFill>
                <a:latin typeface="Calibri"/>
                <a:ea typeface="Calibri"/>
                <a:cs typeface="Calibri"/>
                <a:sym typeface="Calibri"/>
              </a:endParaRPr>
            </a:p>
          </p:txBody>
        </p:sp>
        <p:sp>
          <p:nvSpPr>
            <p:cNvPr id="38" name="Google Shape;748;p8">
              <a:extLst>
                <a:ext uri="{FF2B5EF4-FFF2-40B4-BE49-F238E27FC236}">
                  <a16:creationId xmlns:a16="http://schemas.microsoft.com/office/drawing/2014/main" id="{98EC25D9-0D03-1698-2D6B-66A9A04AD45D}"/>
                </a:ext>
              </a:extLst>
            </p:cNvPr>
            <p:cNvSpPr txBox="1"/>
            <p:nvPr/>
          </p:nvSpPr>
          <p:spPr>
            <a:xfrm>
              <a:off x="1000453" y="2540589"/>
              <a:ext cx="2357518" cy="12926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4472C4"/>
                </a:buClr>
                <a:buSzPts val="1400"/>
                <a:buFont typeface="Calibri"/>
                <a:buNone/>
              </a:pPr>
              <a:r>
                <a:rPr lang="en-US" sz="1500" b="1" i="0" u="none" strike="noStrike" cap="none" dirty="0">
                  <a:solidFill>
                    <a:srgbClr val="0276BD"/>
                  </a:solidFill>
                  <a:latin typeface="Arial Nova" panose="020B0504020202020204" pitchFamily="34" charset="0"/>
                  <a:ea typeface="Calibri"/>
                  <a:cs typeface="Calibri"/>
                  <a:sym typeface="Calibri"/>
                </a:rPr>
                <a:t>Financial Planning Considerations</a:t>
              </a:r>
              <a:endParaRPr sz="1500" dirty="0">
                <a:solidFill>
                  <a:srgbClr val="0276BD"/>
                </a:solidFill>
                <a:latin typeface="Arial Nova" panose="020B0504020202020204" pitchFamily="34" charset="0"/>
              </a:endParaRPr>
            </a:p>
            <a:p>
              <a:pPr marL="171450" marR="0" lvl="0" indent="-171450" algn="l" rtl="0">
                <a:lnSpc>
                  <a:spcPct val="100000"/>
                </a:lnSpc>
                <a:spcBef>
                  <a:spcPts val="0"/>
                </a:spcBef>
                <a:spcAft>
                  <a:spcPts val="0"/>
                </a:spcAft>
                <a:buClr>
                  <a:srgbClr val="000000"/>
                </a:buClr>
                <a:buSzPts val="1200"/>
                <a:buFont typeface="Arial" panose="020B0604020202020204" pitchFamily="34" charset="0"/>
                <a:buChar char="•"/>
              </a:pPr>
              <a:r>
                <a:rPr lang="en-US" sz="1200" b="0" i="0" u="none" strike="noStrike" cap="none" dirty="0">
                  <a:solidFill>
                    <a:srgbClr val="000000"/>
                  </a:solidFill>
                  <a:latin typeface="Arial Nova" panose="020B0504020202020204" pitchFamily="34" charset="0"/>
                  <a:ea typeface="Calibri"/>
                  <a:cs typeface="Calibri"/>
                  <a:sym typeface="Calibri"/>
                </a:rPr>
                <a:t>Holistic Approach</a:t>
              </a:r>
              <a:endParaRPr dirty="0">
                <a:latin typeface="Arial Nova" panose="020B0504020202020204" pitchFamily="34" charset="0"/>
              </a:endParaRPr>
            </a:p>
            <a:p>
              <a:pPr marL="171450" marR="0" lvl="0" indent="-171450" algn="l" rtl="0">
                <a:lnSpc>
                  <a:spcPct val="100000"/>
                </a:lnSpc>
                <a:spcBef>
                  <a:spcPts val="0"/>
                </a:spcBef>
                <a:spcAft>
                  <a:spcPts val="0"/>
                </a:spcAft>
                <a:buClr>
                  <a:srgbClr val="000000"/>
                </a:buClr>
                <a:buSzPts val="1200"/>
                <a:buFont typeface="Arial" panose="020B0604020202020204" pitchFamily="34" charset="0"/>
                <a:buChar char="•"/>
              </a:pPr>
              <a:r>
                <a:rPr lang="en-US" sz="1200" dirty="0">
                  <a:solidFill>
                    <a:srgbClr val="000000"/>
                  </a:solidFill>
                  <a:latin typeface="Arial Nova" panose="020B0504020202020204" pitchFamily="34" charset="0"/>
                  <a:ea typeface="Calibri"/>
                  <a:cs typeface="Calibri"/>
                  <a:sym typeface="Calibri"/>
                </a:rPr>
                <a:t>Income Sources &amp; Expenses</a:t>
              </a:r>
              <a:endParaRPr dirty="0">
                <a:latin typeface="Arial Nova" panose="020B0504020202020204" pitchFamily="34" charset="0"/>
              </a:endParaRPr>
            </a:p>
            <a:p>
              <a:pPr marL="171450" marR="0" lvl="0" indent="-171450" algn="l" rtl="0">
                <a:lnSpc>
                  <a:spcPct val="100000"/>
                </a:lnSpc>
                <a:spcBef>
                  <a:spcPts val="0"/>
                </a:spcBef>
                <a:spcAft>
                  <a:spcPts val="0"/>
                </a:spcAft>
                <a:buClr>
                  <a:srgbClr val="000000"/>
                </a:buClr>
                <a:buSzPts val="1200"/>
                <a:buFont typeface="Arial" panose="020B0604020202020204" pitchFamily="34" charset="0"/>
                <a:buChar char="•"/>
              </a:pPr>
              <a:r>
                <a:rPr lang="en-US" sz="1200" b="0" i="0" u="none" strike="noStrike" cap="none" dirty="0">
                  <a:solidFill>
                    <a:srgbClr val="000000"/>
                  </a:solidFill>
                  <a:latin typeface="Arial Nova" panose="020B0504020202020204" pitchFamily="34" charset="0"/>
                  <a:ea typeface="Calibri"/>
                  <a:cs typeface="Calibri"/>
                  <a:sym typeface="Calibri"/>
                </a:rPr>
                <a:t>L.LI.M.M.T.</a:t>
              </a:r>
              <a:endParaRPr dirty="0">
                <a:latin typeface="Arial Nova" panose="020B0504020202020204" pitchFamily="34" charset="0"/>
              </a:endParaRPr>
            </a:p>
            <a:p>
              <a:pPr marL="171450" marR="0" lvl="0" indent="-171450" algn="l" rtl="0">
                <a:lnSpc>
                  <a:spcPct val="100000"/>
                </a:lnSpc>
                <a:spcBef>
                  <a:spcPts val="0"/>
                </a:spcBef>
                <a:spcAft>
                  <a:spcPts val="0"/>
                </a:spcAft>
                <a:buClr>
                  <a:srgbClr val="000000"/>
                </a:buClr>
                <a:buSzPts val="1200"/>
                <a:buFont typeface="Arial" panose="020B0604020202020204" pitchFamily="34" charset="0"/>
                <a:buChar char="•"/>
              </a:pPr>
              <a:r>
                <a:rPr lang="en-US" sz="1200" b="0" i="0" u="none" strike="noStrike" cap="none" dirty="0">
                  <a:solidFill>
                    <a:srgbClr val="000000"/>
                  </a:solidFill>
                  <a:latin typeface="Arial Nova" panose="020B0504020202020204" pitchFamily="34" charset="0"/>
                  <a:ea typeface="Calibri"/>
                  <a:cs typeface="Calibri"/>
                  <a:sym typeface="Calibri"/>
                </a:rPr>
                <a:t>Time Horizon</a:t>
              </a:r>
              <a:endParaRPr dirty="0">
                <a:latin typeface="Arial Nova" panose="020B0504020202020204" pitchFamily="34" charset="0"/>
              </a:endParaRPr>
            </a:p>
          </p:txBody>
        </p:sp>
        <p:sp>
          <p:nvSpPr>
            <p:cNvPr id="39" name="Freeform 83">
              <a:extLst>
                <a:ext uri="{FF2B5EF4-FFF2-40B4-BE49-F238E27FC236}">
                  <a16:creationId xmlns:a16="http://schemas.microsoft.com/office/drawing/2014/main" id="{4D25EEC6-C909-DAAD-D549-6F5F756B2608}"/>
                </a:ext>
              </a:extLst>
            </p:cNvPr>
            <p:cNvSpPr>
              <a:spLocks noChangeAspect="1" noEditPoints="1"/>
            </p:cNvSpPr>
            <p:nvPr/>
          </p:nvSpPr>
          <p:spPr bwMode="auto">
            <a:xfrm>
              <a:off x="450960" y="2623759"/>
              <a:ext cx="365760" cy="418468"/>
            </a:xfrm>
            <a:custGeom>
              <a:avLst/>
              <a:gdLst>
                <a:gd name="T0" fmla="*/ 344062 w 224"/>
                <a:gd name="T1" fmla="*/ 214461 h 256"/>
                <a:gd name="T2" fmla="*/ 305111 w 224"/>
                <a:gd name="T3" fmla="*/ 214461 h 256"/>
                <a:gd name="T4" fmla="*/ 285636 w 224"/>
                <a:gd name="T5" fmla="*/ 194965 h 256"/>
                <a:gd name="T6" fmla="*/ 285636 w 224"/>
                <a:gd name="T7" fmla="*/ 116979 h 256"/>
                <a:gd name="T8" fmla="*/ 305111 w 224"/>
                <a:gd name="T9" fmla="*/ 97482 h 256"/>
                <a:gd name="T10" fmla="*/ 344062 w 224"/>
                <a:gd name="T11" fmla="*/ 97482 h 256"/>
                <a:gd name="T12" fmla="*/ 363537 w 224"/>
                <a:gd name="T13" fmla="*/ 116979 h 256"/>
                <a:gd name="T14" fmla="*/ 363537 w 224"/>
                <a:gd name="T15" fmla="*/ 194965 h 256"/>
                <a:gd name="T16" fmla="*/ 344062 w 224"/>
                <a:gd name="T17" fmla="*/ 214461 h 256"/>
                <a:gd name="T18" fmla="*/ 305111 w 224"/>
                <a:gd name="T19" fmla="*/ 19496 h 256"/>
                <a:gd name="T20" fmla="*/ 324587 w 224"/>
                <a:gd name="T21" fmla="*/ 0 h 256"/>
                <a:gd name="T22" fmla="*/ 344062 w 224"/>
                <a:gd name="T23" fmla="*/ 19496 h 256"/>
                <a:gd name="T24" fmla="*/ 344062 w 224"/>
                <a:gd name="T25" fmla="*/ 77986 h 256"/>
                <a:gd name="T26" fmla="*/ 305111 w 224"/>
                <a:gd name="T27" fmla="*/ 77986 h 256"/>
                <a:gd name="T28" fmla="*/ 305111 w 224"/>
                <a:gd name="T29" fmla="*/ 19496 h 256"/>
                <a:gd name="T30" fmla="*/ 201244 w 224"/>
                <a:gd name="T31" fmla="*/ 318443 h 256"/>
                <a:gd name="T32" fmla="*/ 162293 w 224"/>
                <a:gd name="T33" fmla="*/ 318443 h 256"/>
                <a:gd name="T34" fmla="*/ 142818 w 224"/>
                <a:gd name="T35" fmla="*/ 298946 h 256"/>
                <a:gd name="T36" fmla="*/ 142818 w 224"/>
                <a:gd name="T37" fmla="*/ 220960 h 256"/>
                <a:gd name="T38" fmla="*/ 162293 w 224"/>
                <a:gd name="T39" fmla="*/ 201464 h 256"/>
                <a:gd name="T40" fmla="*/ 201244 w 224"/>
                <a:gd name="T41" fmla="*/ 201464 h 256"/>
                <a:gd name="T42" fmla="*/ 220719 w 224"/>
                <a:gd name="T43" fmla="*/ 220960 h 256"/>
                <a:gd name="T44" fmla="*/ 220719 w 224"/>
                <a:gd name="T45" fmla="*/ 298946 h 256"/>
                <a:gd name="T46" fmla="*/ 201244 w 224"/>
                <a:gd name="T47" fmla="*/ 318443 h 256"/>
                <a:gd name="T48" fmla="*/ 162293 w 224"/>
                <a:gd name="T49" fmla="*/ 19496 h 256"/>
                <a:gd name="T50" fmla="*/ 181769 w 224"/>
                <a:gd name="T51" fmla="*/ 0 h 256"/>
                <a:gd name="T52" fmla="*/ 201244 w 224"/>
                <a:gd name="T53" fmla="*/ 19496 h 256"/>
                <a:gd name="T54" fmla="*/ 201244 w 224"/>
                <a:gd name="T55" fmla="*/ 181967 h 256"/>
                <a:gd name="T56" fmla="*/ 162293 w 224"/>
                <a:gd name="T57" fmla="*/ 181967 h 256"/>
                <a:gd name="T58" fmla="*/ 162293 w 224"/>
                <a:gd name="T59" fmla="*/ 19496 h 256"/>
                <a:gd name="T60" fmla="*/ 58426 w 224"/>
                <a:gd name="T61" fmla="*/ 266452 h 256"/>
                <a:gd name="T62" fmla="*/ 19475 w 224"/>
                <a:gd name="T63" fmla="*/ 266452 h 256"/>
                <a:gd name="T64" fmla="*/ 0 w 224"/>
                <a:gd name="T65" fmla="*/ 246955 h 256"/>
                <a:gd name="T66" fmla="*/ 0 w 224"/>
                <a:gd name="T67" fmla="*/ 168970 h 256"/>
                <a:gd name="T68" fmla="*/ 19475 w 224"/>
                <a:gd name="T69" fmla="*/ 149473 h 256"/>
                <a:gd name="T70" fmla="*/ 58426 w 224"/>
                <a:gd name="T71" fmla="*/ 149473 h 256"/>
                <a:gd name="T72" fmla="*/ 77901 w 224"/>
                <a:gd name="T73" fmla="*/ 168970 h 256"/>
                <a:gd name="T74" fmla="*/ 77901 w 224"/>
                <a:gd name="T75" fmla="*/ 246955 h 256"/>
                <a:gd name="T76" fmla="*/ 58426 w 224"/>
                <a:gd name="T77" fmla="*/ 266452 h 256"/>
                <a:gd name="T78" fmla="*/ 19475 w 224"/>
                <a:gd name="T79" fmla="*/ 19496 h 256"/>
                <a:gd name="T80" fmla="*/ 38950 w 224"/>
                <a:gd name="T81" fmla="*/ 0 h 256"/>
                <a:gd name="T82" fmla="*/ 58426 w 224"/>
                <a:gd name="T83" fmla="*/ 19496 h 256"/>
                <a:gd name="T84" fmla="*/ 58426 w 224"/>
                <a:gd name="T85" fmla="*/ 129977 h 256"/>
                <a:gd name="T86" fmla="*/ 19475 w 224"/>
                <a:gd name="T87" fmla="*/ 129977 h 256"/>
                <a:gd name="T88" fmla="*/ 19475 w 224"/>
                <a:gd name="T89" fmla="*/ 19496 h 256"/>
                <a:gd name="T90" fmla="*/ 58426 w 224"/>
                <a:gd name="T91" fmla="*/ 396429 h 256"/>
                <a:gd name="T92" fmla="*/ 38950 w 224"/>
                <a:gd name="T93" fmla="*/ 415925 h 256"/>
                <a:gd name="T94" fmla="*/ 19475 w 224"/>
                <a:gd name="T95" fmla="*/ 396429 h 256"/>
                <a:gd name="T96" fmla="*/ 19475 w 224"/>
                <a:gd name="T97" fmla="*/ 285948 h 256"/>
                <a:gd name="T98" fmla="*/ 58426 w 224"/>
                <a:gd name="T99" fmla="*/ 285948 h 256"/>
                <a:gd name="T100" fmla="*/ 58426 w 224"/>
                <a:gd name="T101" fmla="*/ 396429 h 256"/>
                <a:gd name="T102" fmla="*/ 201244 w 224"/>
                <a:gd name="T103" fmla="*/ 396429 h 256"/>
                <a:gd name="T104" fmla="*/ 181769 w 224"/>
                <a:gd name="T105" fmla="*/ 415925 h 256"/>
                <a:gd name="T106" fmla="*/ 162293 w 224"/>
                <a:gd name="T107" fmla="*/ 396429 h 256"/>
                <a:gd name="T108" fmla="*/ 162293 w 224"/>
                <a:gd name="T109" fmla="*/ 337939 h 256"/>
                <a:gd name="T110" fmla="*/ 201244 w 224"/>
                <a:gd name="T111" fmla="*/ 337939 h 256"/>
                <a:gd name="T112" fmla="*/ 201244 w 224"/>
                <a:gd name="T113" fmla="*/ 396429 h 256"/>
                <a:gd name="T114" fmla="*/ 344062 w 224"/>
                <a:gd name="T115" fmla="*/ 396429 h 256"/>
                <a:gd name="T116" fmla="*/ 324587 w 224"/>
                <a:gd name="T117" fmla="*/ 415925 h 256"/>
                <a:gd name="T118" fmla="*/ 305111 w 224"/>
                <a:gd name="T119" fmla="*/ 396429 h 256"/>
                <a:gd name="T120" fmla="*/ 305111 w 224"/>
                <a:gd name="T121" fmla="*/ 233958 h 256"/>
                <a:gd name="T122" fmla="*/ 344062 w 224"/>
                <a:gd name="T123" fmla="*/ 233958 h 256"/>
                <a:gd name="T124" fmla="*/ 344062 w 224"/>
                <a:gd name="T125" fmla="*/ 396429 h 25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4" h="256">
                  <a:moveTo>
                    <a:pt x="212" y="132"/>
                  </a:moveTo>
                  <a:cubicBezTo>
                    <a:pt x="188" y="132"/>
                    <a:pt x="188" y="132"/>
                    <a:pt x="188" y="132"/>
                  </a:cubicBezTo>
                  <a:cubicBezTo>
                    <a:pt x="181" y="132"/>
                    <a:pt x="176" y="127"/>
                    <a:pt x="176" y="120"/>
                  </a:cubicBezTo>
                  <a:cubicBezTo>
                    <a:pt x="176" y="72"/>
                    <a:pt x="176" y="72"/>
                    <a:pt x="176" y="72"/>
                  </a:cubicBezTo>
                  <a:cubicBezTo>
                    <a:pt x="176" y="65"/>
                    <a:pt x="181" y="60"/>
                    <a:pt x="188" y="60"/>
                  </a:cubicBezTo>
                  <a:cubicBezTo>
                    <a:pt x="212" y="60"/>
                    <a:pt x="212" y="60"/>
                    <a:pt x="212" y="60"/>
                  </a:cubicBezTo>
                  <a:cubicBezTo>
                    <a:pt x="219" y="60"/>
                    <a:pt x="224" y="65"/>
                    <a:pt x="224" y="72"/>
                  </a:cubicBezTo>
                  <a:cubicBezTo>
                    <a:pt x="224" y="120"/>
                    <a:pt x="224" y="120"/>
                    <a:pt x="224" y="120"/>
                  </a:cubicBezTo>
                  <a:cubicBezTo>
                    <a:pt x="224" y="127"/>
                    <a:pt x="219" y="132"/>
                    <a:pt x="212" y="132"/>
                  </a:cubicBezTo>
                  <a:moveTo>
                    <a:pt x="188" y="12"/>
                  </a:moveTo>
                  <a:cubicBezTo>
                    <a:pt x="188" y="5"/>
                    <a:pt x="193" y="0"/>
                    <a:pt x="200" y="0"/>
                  </a:cubicBezTo>
                  <a:cubicBezTo>
                    <a:pt x="207" y="0"/>
                    <a:pt x="212" y="5"/>
                    <a:pt x="212" y="12"/>
                  </a:cubicBezTo>
                  <a:cubicBezTo>
                    <a:pt x="212" y="48"/>
                    <a:pt x="212" y="48"/>
                    <a:pt x="212" y="48"/>
                  </a:cubicBezTo>
                  <a:cubicBezTo>
                    <a:pt x="188" y="48"/>
                    <a:pt x="188" y="48"/>
                    <a:pt x="188" y="48"/>
                  </a:cubicBezTo>
                  <a:lnTo>
                    <a:pt x="188" y="12"/>
                  </a:lnTo>
                  <a:close/>
                  <a:moveTo>
                    <a:pt x="124" y="196"/>
                  </a:moveTo>
                  <a:cubicBezTo>
                    <a:pt x="100" y="196"/>
                    <a:pt x="100" y="196"/>
                    <a:pt x="100" y="196"/>
                  </a:cubicBezTo>
                  <a:cubicBezTo>
                    <a:pt x="93" y="196"/>
                    <a:pt x="88" y="191"/>
                    <a:pt x="88" y="184"/>
                  </a:cubicBezTo>
                  <a:cubicBezTo>
                    <a:pt x="88" y="136"/>
                    <a:pt x="88" y="136"/>
                    <a:pt x="88" y="136"/>
                  </a:cubicBezTo>
                  <a:cubicBezTo>
                    <a:pt x="88" y="129"/>
                    <a:pt x="93" y="124"/>
                    <a:pt x="100" y="124"/>
                  </a:cubicBezTo>
                  <a:cubicBezTo>
                    <a:pt x="124" y="124"/>
                    <a:pt x="124" y="124"/>
                    <a:pt x="124" y="124"/>
                  </a:cubicBezTo>
                  <a:cubicBezTo>
                    <a:pt x="131" y="124"/>
                    <a:pt x="136" y="129"/>
                    <a:pt x="136" y="136"/>
                  </a:cubicBezTo>
                  <a:cubicBezTo>
                    <a:pt x="136" y="184"/>
                    <a:pt x="136" y="184"/>
                    <a:pt x="136" y="184"/>
                  </a:cubicBezTo>
                  <a:cubicBezTo>
                    <a:pt x="136" y="191"/>
                    <a:pt x="131" y="196"/>
                    <a:pt x="124" y="196"/>
                  </a:cubicBezTo>
                  <a:moveTo>
                    <a:pt x="100" y="12"/>
                  </a:moveTo>
                  <a:cubicBezTo>
                    <a:pt x="100" y="5"/>
                    <a:pt x="105" y="0"/>
                    <a:pt x="112" y="0"/>
                  </a:cubicBezTo>
                  <a:cubicBezTo>
                    <a:pt x="119" y="0"/>
                    <a:pt x="124" y="5"/>
                    <a:pt x="124" y="12"/>
                  </a:cubicBezTo>
                  <a:cubicBezTo>
                    <a:pt x="124" y="112"/>
                    <a:pt x="124" y="112"/>
                    <a:pt x="124" y="112"/>
                  </a:cubicBezTo>
                  <a:cubicBezTo>
                    <a:pt x="100" y="112"/>
                    <a:pt x="100" y="112"/>
                    <a:pt x="100" y="112"/>
                  </a:cubicBezTo>
                  <a:lnTo>
                    <a:pt x="100" y="12"/>
                  </a:lnTo>
                  <a:close/>
                  <a:moveTo>
                    <a:pt x="36" y="164"/>
                  </a:moveTo>
                  <a:cubicBezTo>
                    <a:pt x="12" y="164"/>
                    <a:pt x="12" y="164"/>
                    <a:pt x="12" y="164"/>
                  </a:cubicBezTo>
                  <a:cubicBezTo>
                    <a:pt x="5" y="164"/>
                    <a:pt x="0" y="159"/>
                    <a:pt x="0" y="152"/>
                  </a:cubicBezTo>
                  <a:cubicBezTo>
                    <a:pt x="0" y="104"/>
                    <a:pt x="0" y="104"/>
                    <a:pt x="0" y="104"/>
                  </a:cubicBezTo>
                  <a:cubicBezTo>
                    <a:pt x="0" y="97"/>
                    <a:pt x="5" y="92"/>
                    <a:pt x="12" y="92"/>
                  </a:cubicBezTo>
                  <a:cubicBezTo>
                    <a:pt x="36" y="92"/>
                    <a:pt x="36" y="92"/>
                    <a:pt x="36" y="92"/>
                  </a:cubicBezTo>
                  <a:cubicBezTo>
                    <a:pt x="43" y="92"/>
                    <a:pt x="48" y="97"/>
                    <a:pt x="48" y="104"/>
                  </a:cubicBezTo>
                  <a:cubicBezTo>
                    <a:pt x="48" y="152"/>
                    <a:pt x="48" y="152"/>
                    <a:pt x="48" y="152"/>
                  </a:cubicBezTo>
                  <a:cubicBezTo>
                    <a:pt x="48" y="159"/>
                    <a:pt x="43" y="164"/>
                    <a:pt x="36" y="164"/>
                  </a:cubicBezTo>
                  <a:moveTo>
                    <a:pt x="12" y="12"/>
                  </a:moveTo>
                  <a:cubicBezTo>
                    <a:pt x="12" y="5"/>
                    <a:pt x="17" y="0"/>
                    <a:pt x="24" y="0"/>
                  </a:cubicBezTo>
                  <a:cubicBezTo>
                    <a:pt x="31" y="0"/>
                    <a:pt x="36" y="5"/>
                    <a:pt x="36" y="12"/>
                  </a:cubicBezTo>
                  <a:cubicBezTo>
                    <a:pt x="36" y="80"/>
                    <a:pt x="36" y="80"/>
                    <a:pt x="36" y="80"/>
                  </a:cubicBezTo>
                  <a:cubicBezTo>
                    <a:pt x="12" y="80"/>
                    <a:pt x="12" y="80"/>
                    <a:pt x="12" y="80"/>
                  </a:cubicBezTo>
                  <a:lnTo>
                    <a:pt x="12" y="12"/>
                  </a:lnTo>
                  <a:close/>
                  <a:moveTo>
                    <a:pt x="36" y="244"/>
                  </a:moveTo>
                  <a:cubicBezTo>
                    <a:pt x="36" y="251"/>
                    <a:pt x="31" y="256"/>
                    <a:pt x="24" y="256"/>
                  </a:cubicBezTo>
                  <a:cubicBezTo>
                    <a:pt x="17" y="256"/>
                    <a:pt x="12" y="251"/>
                    <a:pt x="12" y="244"/>
                  </a:cubicBezTo>
                  <a:cubicBezTo>
                    <a:pt x="12" y="176"/>
                    <a:pt x="12" y="176"/>
                    <a:pt x="12" y="176"/>
                  </a:cubicBezTo>
                  <a:cubicBezTo>
                    <a:pt x="36" y="176"/>
                    <a:pt x="36" y="176"/>
                    <a:pt x="36" y="176"/>
                  </a:cubicBezTo>
                  <a:lnTo>
                    <a:pt x="36" y="244"/>
                  </a:lnTo>
                  <a:close/>
                  <a:moveTo>
                    <a:pt x="124" y="244"/>
                  </a:moveTo>
                  <a:cubicBezTo>
                    <a:pt x="124" y="251"/>
                    <a:pt x="119" y="256"/>
                    <a:pt x="112" y="256"/>
                  </a:cubicBezTo>
                  <a:cubicBezTo>
                    <a:pt x="105" y="256"/>
                    <a:pt x="100" y="251"/>
                    <a:pt x="100" y="244"/>
                  </a:cubicBezTo>
                  <a:cubicBezTo>
                    <a:pt x="100" y="208"/>
                    <a:pt x="100" y="208"/>
                    <a:pt x="100" y="208"/>
                  </a:cubicBezTo>
                  <a:cubicBezTo>
                    <a:pt x="124" y="208"/>
                    <a:pt x="124" y="208"/>
                    <a:pt x="124" y="208"/>
                  </a:cubicBezTo>
                  <a:lnTo>
                    <a:pt x="124" y="244"/>
                  </a:lnTo>
                  <a:close/>
                  <a:moveTo>
                    <a:pt x="212" y="244"/>
                  </a:moveTo>
                  <a:cubicBezTo>
                    <a:pt x="212" y="251"/>
                    <a:pt x="207" y="256"/>
                    <a:pt x="200" y="256"/>
                  </a:cubicBezTo>
                  <a:cubicBezTo>
                    <a:pt x="193" y="256"/>
                    <a:pt x="188" y="251"/>
                    <a:pt x="188" y="244"/>
                  </a:cubicBezTo>
                  <a:cubicBezTo>
                    <a:pt x="188" y="144"/>
                    <a:pt x="188" y="144"/>
                    <a:pt x="188" y="144"/>
                  </a:cubicBezTo>
                  <a:cubicBezTo>
                    <a:pt x="212" y="144"/>
                    <a:pt x="212" y="144"/>
                    <a:pt x="212" y="144"/>
                  </a:cubicBezTo>
                  <a:lnTo>
                    <a:pt x="212" y="244"/>
                  </a:lnTo>
                  <a:close/>
                </a:path>
              </a:pathLst>
            </a:custGeom>
            <a:solidFill>
              <a:srgbClr val="004472"/>
            </a:solidFill>
            <a:ln>
              <a:noFill/>
            </a:ln>
          </p:spPr>
          <p:txBody>
            <a:bodyPr/>
            <a:lstStyle/>
            <a:p>
              <a:endParaRPr lang="en-US" dirty="0">
                <a:latin typeface="Arial Nova" panose="020B0504020202020204" pitchFamily="34" charset="0"/>
              </a:endParaRPr>
            </a:p>
          </p:txBody>
        </p:sp>
      </p:grpSp>
      <p:grpSp>
        <p:nvGrpSpPr>
          <p:cNvPr id="40" name="Group 39">
            <a:extLst>
              <a:ext uri="{FF2B5EF4-FFF2-40B4-BE49-F238E27FC236}">
                <a16:creationId xmlns:a16="http://schemas.microsoft.com/office/drawing/2014/main" id="{D4962107-CFB3-87B3-BF26-DF88BB204824}"/>
              </a:ext>
            </a:extLst>
          </p:cNvPr>
          <p:cNvGrpSpPr/>
          <p:nvPr/>
        </p:nvGrpSpPr>
        <p:grpSpPr>
          <a:xfrm>
            <a:off x="461602" y="1651780"/>
            <a:ext cx="3200400" cy="914400"/>
            <a:chOff x="290152" y="1187779"/>
            <a:chExt cx="3200400" cy="914400"/>
          </a:xfrm>
        </p:grpSpPr>
        <p:sp>
          <p:nvSpPr>
            <p:cNvPr id="41" name="Google Shape;744;p8">
              <a:extLst>
                <a:ext uri="{FF2B5EF4-FFF2-40B4-BE49-F238E27FC236}">
                  <a16:creationId xmlns:a16="http://schemas.microsoft.com/office/drawing/2014/main" id="{D412EBA0-8DE1-5BED-B979-00F639B28558}"/>
                </a:ext>
              </a:extLst>
            </p:cNvPr>
            <p:cNvSpPr/>
            <p:nvPr/>
          </p:nvSpPr>
          <p:spPr>
            <a:xfrm>
              <a:off x="290152" y="1187779"/>
              <a:ext cx="3200400" cy="91440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013359"/>
                </a:solidFill>
                <a:latin typeface="Calibri"/>
                <a:ea typeface="Calibri"/>
                <a:cs typeface="Calibri"/>
                <a:sym typeface="Calibri"/>
              </a:endParaRPr>
            </a:p>
          </p:txBody>
        </p:sp>
        <p:sp>
          <p:nvSpPr>
            <p:cNvPr id="42" name="Google Shape;745;p8">
              <a:extLst>
                <a:ext uri="{FF2B5EF4-FFF2-40B4-BE49-F238E27FC236}">
                  <a16:creationId xmlns:a16="http://schemas.microsoft.com/office/drawing/2014/main" id="{781FD089-D6B1-2345-A212-E4803A34803B}"/>
                </a:ext>
              </a:extLst>
            </p:cNvPr>
            <p:cNvSpPr txBox="1"/>
            <p:nvPr/>
          </p:nvSpPr>
          <p:spPr>
            <a:xfrm>
              <a:off x="1000453" y="1257678"/>
              <a:ext cx="1910090" cy="69245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4472C4"/>
                </a:buClr>
                <a:buSzPts val="1400"/>
                <a:buFont typeface="Calibri"/>
                <a:buNone/>
              </a:pPr>
              <a:r>
                <a:rPr lang="en-US" sz="1500" b="1" i="0" u="none" strike="noStrike" cap="none" dirty="0">
                  <a:solidFill>
                    <a:srgbClr val="0276BD"/>
                  </a:solidFill>
                  <a:latin typeface="Arial Nova" panose="020B0504020202020204" pitchFamily="34" charset="0"/>
                  <a:ea typeface="Calibri"/>
                  <a:cs typeface="Calibri"/>
                  <a:sym typeface="Calibri"/>
                </a:rPr>
                <a:t>Obtain Risk Score</a:t>
              </a:r>
            </a:p>
            <a:p>
              <a:pPr marL="171450" marR="0" lvl="0" indent="-171450" algn="l" rtl="0">
                <a:lnSpc>
                  <a:spcPct val="100000"/>
                </a:lnSpc>
                <a:spcBef>
                  <a:spcPts val="0"/>
                </a:spcBef>
                <a:spcAft>
                  <a:spcPts val="0"/>
                </a:spcAft>
                <a:buClr>
                  <a:srgbClr val="000000"/>
                </a:buClr>
                <a:buSzPts val="1200"/>
                <a:buFont typeface="Arial" panose="020B0604020202020204" pitchFamily="34" charset="0"/>
                <a:buChar char="•"/>
              </a:pPr>
              <a:r>
                <a:rPr lang="en-US" sz="1200" b="0" i="0" u="none" strike="noStrike" cap="none" dirty="0">
                  <a:solidFill>
                    <a:srgbClr val="000000"/>
                  </a:solidFill>
                  <a:latin typeface="Arial Nova" panose="020B0504020202020204" pitchFamily="34" charset="0"/>
                  <a:ea typeface="Calibri"/>
                  <a:cs typeface="Calibri"/>
                  <a:sym typeface="Calibri"/>
                </a:rPr>
                <a:t>Qualitative</a:t>
              </a:r>
              <a:endParaRPr lang="en-US" dirty="0">
                <a:latin typeface="Arial Nova" panose="020B0504020202020204" pitchFamily="34" charset="0"/>
              </a:endParaRPr>
            </a:p>
            <a:p>
              <a:pPr marL="171450" marR="0" lvl="0" indent="-171450" algn="l" rtl="0">
                <a:lnSpc>
                  <a:spcPct val="100000"/>
                </a:lnSpc>
                <a:spcBef>
                  <a:spcPts val="0"/>
                </a:spcBef>
                <a:spcAft>
                  <a:spcPts val="0"/>
                </a:spcAft>
                <a:buClr>
                  <a:srgbClr val="000000"/>
                </a:buClr>
                <a:buSzPts val="1200"/>
                <a:buFont typeface="Arial" panose="020B0604020202020204" pitchFamily="34" charset="0"/>
                <a:buChar char="•"/>
              </a:pPr>
              <a:r>
                <a:rPr lang="en-US" sz="1200" b="0" i="0" u="none" strike="noStrike" cap="none" dirty="0">
                  <a:solidFill>
                    <a:srgbClr val="000000"/>
                  </a:solidFill>
                  <a:latin typeface="Arial Nova" panose="020B0504020202020204" pitchFamily="34" charset="0"/>
                  <a:ea typeface="Calibri"/>
                  <a:cs typeface="Calibri"/>
                  <a:sym typeface="Calibri"/>
                </a:rPr>
                <a:t>Quantitative</a:t>
              </a:r>
              <a:endParaRPr lang="en-US" dirty="0">
                <a:latin typeface="Arial Nova" panose="020B0504020202020204" pitchFamily="34" charset="0"/>
              </a:endParaRPr>
            </a:p>
          </p:txBody>
        </p:sp>
        <p:sp>
          <p:nvSpPr>
            <p:cNvPr id="43" name="Freeform 104">
              <a:extLst>
                <a:ext uri="{FF2B5EF4-FFF2-40B4-BE49-F238E27FC236}">
                  <a16:creationId xmlns:a16="http://schemas.microsoft.com/office/drawing/2014/main" id="{C033CEED-A67E-0FBA-55B6-6B722923598C}"/>
                </a:ext>
              </a:extLst>
            </p:cNvPr>
            <p:cNvSpPr>
              <a:spLocks noChangeAspect="1" noChangeArrowheads="1"/>
            </p:cNvSpPr>
            <p:nvPr/>
          </p:nvSpPr>
          <p:spPr bwMode="auto">
            <a:xfrm>
              <a:off x="393643" y="1351364"/>
              <a:ext cx="457200" cy="304799"/>
            </a:xfrm>
            <a:custGeom>
              <a:avLst/>
              <a:gdLst>
                <a:gd name="T0" fmla="*/ 91317 w 497"/>
                <a:gd name="T1" fmla="*/ 114640 h 337"/>
                <a:gd name="T2" fmla="*/ 91317 w 497"/>
                <a:gd name="T3" fmla="*/ 114640 h 337"/>
                <a:gd name="T4" fmla="*/ 99414 w 497"/>
                <a:gd name="T5" fmla="*/ 145865 h 337"/>
                <a:gd name="T6" fmla="*/ 127304 w 497"/>
                <a:gd name="T7" fmla="*/ 138282 h 337"/>
                <a:gd name="T8" fmla="*/ 179036 w 497"/>
                <a:gd name="T9" fmla="*/ 4015 h 337"/>
                <a:gd name="T10" fmla="*/ 91317 w 497"/>
                <a:gd name="T11" fmla="*/ 114640 h 337"/>
                <a:gd name="T12" fmla="*/ 111560 w 497"/>
                <a:gd name="T13" fmla="*/ 31671 h 337"/>
                <a:gd name="T14" fmla="*/ 111560 w 497"/>
                <a:gd name="T15" fmla="*/ 31671 h 337"/>
                <a:gd name="T16" fmla="*/ 123256 w 497"/>
                <a:gd name="T17" fmla="*/ 31671 h 337"/>
                <a:gd name="T18" fmla="*/ 139450 w 497"/>
                <a:gd name="T19" fmla="*/ 11598 h 337"/>
                <a:gd name="T20" fmla="*/ 111560 w 497"/>
                <a:gd name="T21" fmla="*/ 7583 h 337"/>
                <a:gd name="T22" fmla="*/ 0 w 497"/>
                <a:gd name="T23" fmla="*/ 126238 h 337"/>
                <a:gd name="T24" fmla="*/ 0 w 497"/>
                <a:gd name="T25" fmla="*/ 138282 h 337"/>
                <a:gd name="T26" fmla="*/ 11696 w 497"/>
                <a:gd name="T27" fmla="*/ 149880 h 337"/>
                <a:gd name="T28" fmla="*/ 23841 w 497"/>
                <a:gd name="T29" fmla="*/ 138282 h 337"/>
                <a:gd name="T30" fmla="*/ 23841 w 497"/>
                <a:gd name="T31" fmla="*/ 126238 h 337"/>
                <a:gd name="T32" fmla="*/ 111560 w 497"/>
                <a:gd name="T33" fmla="*/ 31671 h 337"/>
                <a:gd name="T34" fmla="*/ 191182 w 497"/>
                <a:gd name="T35" fmla="*/ 43715 h 337"/>
                <a:gd name="T36" fmla="*/ 191182 w 497"/>
                <a:gd name="T37" fmla="*/ 43715 h 337"/>
                <a:gd name="T38" fmla="*/ 183084 w 497"/>
                <a:gd name="T39" fmla="*/ 67357 h 337"/>
                <a:gd name="T40" fmla="*/ 198829 w 497"/>
                <a:gd name="T41" fmla="*/ 126238 h 337"/>
                <a:gd name="T42" fmla="*/ 198829 w 497"/>
                <a:gd name="T43" fmla="*/ 138282 h 337"/>
                <a:gd name="T44" fmla="*/ 210975 w 497"/>
                <a:gd name="T45" fmla="*/ 149880 h 337"/>
                <a:gd name="T46" fmla="*/ 210975 w 497"/>
                <a:gd name="T47" fmla="*/ 149880 h 337"/>
                <a:gd name="T48" fmla="*/ 223120 w 497"/>
                <a:gd name="T49" fmla="*/ 138282 h 337"/>
                <a:gd name="T50" fmla="*/ 223120 w 497"/>
                <a:gd name="T51" fmla="*/ 126238 h 337"/>
                <a:gd name="T52" fmla="*/ 191182 w 497"/>
                <a:gd name="T53" fmla="*/ 43715 h 33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497" h="337">
                  <a:moveTo>
                    <a:pt x="203" y="257"/>
                  </a:moveTo>
                  <a:lnTo>
                    <a:pt x="203" y="257"/>
                  </a:lnTo>
                  <a:cubicBezTo>
                    <a:pt x="186" y="283"/>
                    <a:pt x="194" y="310"/>
                    <a:pt x="221" y="327"/>
                  </a:cubicBezTo>
                  <a:cubicBezTo>
                    <a:pt x="239" y="336"/>
                    <a:pt x="266" y="336"/>
                    <a:pt x="283" y="310"/>
                  </a:cubicBezTo>
                  <a:cubicBezTo>
                    <a:pt x="301" y="274"/>
                    <a:pt x="407" y="9"/>
                    <a:pt x="398" y="9"/>
                  </a:cubicBezTo>
                  <a:cubicBezTo>
                    <a:pt x="389" y="0"/>
                    <a:pt x="221" y="230"/>
                    <a:pt x="203" y="257"/>
                  </a:cubicBezTo>
                  <a:close/>
                  <a:moveTo>
                    <a:pt x="248" y="71"/>
                  </a:moveTo>
                  <a:lnTo>
                    <a:pt x="248" y="71"/>
                  </a:lnTo>
                  <a:cubicBezTo>
                    <a:pt x="257" y="71"/>
                    <a:pt x="266" y="71"/>
                    <a:pt x="274" y="71"/>
                  </a:cubicBezTo>
                  <a:cubicBezTo>
                    <a:pt x="292" y="53"/>
                    <a:pt x="301" y="44"/>
                    <a:pt x="310" y="26"/>
                  </a:cubicBezTo>
                  <a:cubicBezTo>
                    <a:pt x="292" y="17"/>
                    <a:pt x="274" y="17"/>
                    <a:pt x="248" y="17"/>
                  </a:cubicBezTo>
                  <a:cubicBezTo>
                    <a:pt x="106" y="17"/>
                    <a:pt x="0" y="133"/>
                    <a:pt x="0" y="283"/>
                  </a:cubicBezTo>
                  <a:cubicBezTo>
                    <a:pt x="0" y="292"/>
                    <a:pt x="0" y="301"/>
                    <a:pt x="0" y="310"/>
                  </a:cubicBezTo>
                  <a:cubicBezTo>
                    <a:pt x="0" y="327"/>
                    <a:pt x="17" y="336"/>
                    <a:pt x="26" y="336"/>
                  </a:cubicBezTo>
                  <a:cubicBezTo>
                    <a:pt x="44" y="336"/>
                    <a:pt x="53" y="319"/>
                    <a:pt x="53" y="310"/>
                  </a:cubicBezTo>
                  <a:cubicBezTo>
                    <a:pt x="53" y="301"/>
                    <a:pt x="53" y="292"/>
                    <a:pt x="53" y="283"/>
                  </a:cubicBezTo>
                  <a:cubicBezTo>
                    <a:pt x="53" y="160"/>
                    <a:pt x="132" y="71"/>
                    <a:pt x="248" y="71"/>
                  </a:cubicBezTo>
                  <a:close/>
                  <a:moveTo>
                    <a:pt x="425" y="98"/>
                  </a:moveTo>
                  <a:lnTo>
                    <a:pt x="425" y="98"/>
                  </a:lnTo>
                  <a:cubicBezTo>
                    <a:pt x="416" y="115"/>
                    <a:pt x="416" y="133"/>
                    <a:pt x="407" y="151"/>
                  </a:cubicBezTo>
                  <a:cubicBezTo>
                    <a:pt x="433" y="186"/>
                    <a:pt x="442" y="239"/>
                    <a:pt x="442" y="283"/>
                  </a:cubicBezTo>
                  <a:cubicBezTo>
                    <a:pt x="442" y="292"/>
                    <a:pt x="442" y="301"/>
                    <a:pt x="442" y="310"/>
                  </a:cubicBezTo>
                  <a:cubicBezTo>
                    <a:pt x="442" y="319"/>
                    <a:pt x="451" y="336"/>
                    <a:pt x="469" y="336"/>
                  </a:cubicBezTo>
                  <a:cubicBezTo>
                    <a:pt x="478" y="336"/>
                    <a:pt x="496" y="327"/>
                    <a:pt x="496" y="310"/>
                  </a:cubicBezTo>
                  <a:cubicBezTo>
                    <a:pt x="496" y="301"/>
                    <a:pt x="496" y="292"/>
                    <a:pt x="496" y="283"/>
                  </a:cubicBezTo>
                  <a:cubicBezTo>
                    <a:pt x="496" y="213"/>
                    <a:pt x="469" y="151"/>
                    <a:pt x="425" y="98"/>
                  </a:cubicBezTo>
                  <a:close/>
                </a:path>
              </a:pathLst>
            </a:custGeom>
            <a:solidFill>
              <a:srgbClr val="004472"/>
            </a:solidFill>
            <a:ln>
              <a:noFill/>
            </a:ln>
            <a:effectLst/>
          </p:spPr>
          <p:txBody>
            <a:bodyPr wrap="none" lIns="34290" tIns="17145" rIns="34290" bIns="17145" anchor="ctr"/>
            <a:lstStyle/>
            <a:p>
              <a:pPr eaLnBrk="1" hangingPunct="1">
                <a:defRPr/>
              </a:pPr>
              <a:endParaRPr lang="en-US" dirty="0">
                <a:latin typeface="Arial Nova" panose="020B0504020202020204" pitchFamily="34" charset="0"/>
              </a:endParaRPr>
            </a:p>
          </p:txBody>
        </p:sp>
      </p:grpSp>
      <p:grpSp>
        <p:nvGrpSpPr>
          <p:cNvPr id="62" name="Group 61">
            <a:extLst>
              <a:ext uri="{FF2B5EF4-FFF2-40B4-BE49-F238E27FC236}">
                <a16:creationId xmlns:a16="http://schemas.microsoft.com/office/drawing/2014/main" id="{2CD4F34C-410D-0862-EC11-DFD7013A8C68}"/>
              </a:ext>
            </a:extLst>
          </p:cNvPr>
          <p:cNvGrpSpPr/>
          <p:nvPr/>
        </p:nvGrpSpPr>
        <p:grpSpPr>
          <a:xfrm>
            <a:off x="5556320" y="4797520"/>
            <a:ext cx="5342916" cy="1546705"/>
            <a:chOff x="5556320" y="4797520"/>
            <a:chExt cx="5342916" cy="1546705"/>
          </a:xfrm>
        </p:grpSpPr>
        <p:sp>
          <p:nvSpPr>
            <p:cNvPr id="10" name="Google Shape;727;p8">
              <a:extLst>
                <a:ext uri="{FF2B5EF4-FFF2-40B4-BE49-F238E27FC236}">
                  <a16:creationId xmlns:a16="http://schemas.microsoft.com/office/drawing/2014/main" id="{6B47C963-7C47-CB4C-25AB-893BEE24C25F}"/>
                </a:ext>
              </a:extLst>
            </p:cNvPr>
            <p:cNvSpPr/>
            <p:nvPr/>
          </p:nvSpPr>
          <p:spPr>
            <a:xfrm rot="5400000">
              <a:off x="7943522" y="2410318"/>
              <a:ext cx="568511" cy="5342916"/>
            </a:xfrm>
            <a:prstGeom prst="rightBrace">
              <a:avLst>
                <a:gd name="adj1" fmla="val 0"/>
                <a:gd name="adj2" fmla="val 50000"/>
              </a:avLst>
            </a:prstGeom>
            <a:noFill/>
            <a:ln w="12700" cap="flat" cmpd="sng">
              <a:solidFill>
                <a:srgbClr val="0F4C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013359"/>
                </a:solidFill>
                <a:latin typeface="Calibri"/>
                <a:ea typeface="Calibri"/>
                <a:cs typeface="Calibri"/>
                <a:sym typeface="Calibri"/>
              </a:endParaRPr>
            </a:p>
          </p:txBody>
        </p:sp>
        <p:grpSp>
          <p:nvGrpSpPr>
            <p:cNvPr id="44" name="Group 43">
              <a:extLst>
                <a:ext uri="{FF2B5EF4-FFF2-40B4-BE49-F238E27FC236}">
                  <a16:creationId xmlns:a16="http://schemas.microsoft.com/office/drawing/2014/main" id="{866CF736-20EC-1317-1F4D-094468CA0A33}"/>
                </a:ext>
              </a:extLst>
            </p:cNvPr>
            <p:cNvGrpSpPr/>
            <p:nvPr/>
          </p:nvGrpSpPr>
          <p:grpSpPr>
            <a:xfrm>
              <a:off x="6952177" y="5389324"/>
              <a:ext cx="2551200" cy="954901"/>
              <a:chOff x="6952177" y="5220598"/>
              <a:chExt cx="2551200" cy="954901"/>
            </a:xfrm>
          </p:grpSpPr>
          <p:sp>
            <p:nvSpPr>
              <p:cNvPr id="45" name="Google Shape;758;p8">
                <a:extLst>
                  <a:ext uri="{FF2B5EF4-FFF2-40B4-BE49-F238E27FC236}">
                    <a16:creationId xmlns:a16="http://schemas.microsoft.com/office/drawing/2014/main" id="{3E0D99B3-C711-C544-8123-800EA62ED7A3}"/>
                  </a:ext>
                </a:extLst>
              </p:cNvPr>
              <p:cNvSpPr/>
              <p:nvPr/>
            </p:nvSpPr>
            <p:spPr>
              <a:xfrm>
                <a:off x="6952177" y="5220598"/>
                <a:ext cx="2551200" cy="954901"/>
              </a:xfrm>
              <a:prstGeom prst="rect">
                <a:avLst/>
              </a:prstGeom>
              <a:noFill/>
              <a:ln w="12700" cap="flat" cmpd="sng">
                <a:solidFill>
                  <a:srgbClr val="00447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67" dirty="0">
                  <a:solidFill>
                    <a:srgbClr val="013359"/>
                  </a:solidFill>
                  <a:latin typeface="Arial Nova" panose="020B0504020202020204" pitchFamily="34" charset="0"/>
                  <a:sym typeface="Arial"/>
                </a:endParaRPr>
              </a:p>
            </p:txBody>
          </p:sp>
          <p:sp>
            <p:nvSpPr>
              <p:cNvPr id="50" name="Google Shape;756;p8">
                <a:extLst>
                  <a:ext uri="{FF2B5EF4-FFF2-40B4-BE49-F238E27FC236}">
                    <a16:creationId xmlns:a16="http://schemas.microsoft.com/office/drawing/2014/main" id="{D84B2626-FA11-71DC-328A-FD7861463A47}"/>
                  </a:ext>
                </a:extLst>
              </p:cNvPr>
              <p:cNvSpPr txBox="1"/>
              <p:nvPr/>
            </p:nvSpPr>
            <p:spPr>
              <a:xfrm>
                <a:off x="7751469" y="5322147"/>
                <a:ext cx="1751907" cy="76940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dirty="0">
                    <a:solidFill>
                      <a:srgbClr val="0276BD"/>
                    </a:solidFill>
                    <a:latin typeface="Arial Nova" panose="020B0504020202020204" pitchFamily="34" charset="0"/>
                    <a:sym typeface="Arial"/>
                  </a:rPr>
                  <a:t>Investment Proposal</a:t>
                </a:r>
                <a:endParaRPr sz="2200" dirty="0">
                  <a:solidFill>
                    <a:srgbClr val="0276BD"/>
                  </a:solidFill>
                  <a:latin typeface="Arial Nova" panose="020B0504020202020204" pitchFamily="34" charset="0"/>
                  <a:sym typeface="Arial"/>
                </a:endParaRPr>
              </a:p>
            </p:txBody>
          </p:sp>
          <p:grpSp>
            <p:nvGrpSpPr>
              <p:cNvPr id="47" name="Group 46">
                <a:extLst>
                  <a:ext uri="{FF2B5EF4-FFF2-40B4-BE49-F238E27FC236}">
                    <a16:creationId xmlns:a16="http://schemas.microsoft.com/office/drawing/2014/main" id="{5DB67925-23DC-8E08-8347-75F9959668FF}"/>
                  </a:ext>
                </a:extLst>
              </p:cNvPr>
              <p:cNvGrpSpPr/>
              <p:nvPr/>
            </p:nvGrpSpPr>
            <p:grpSpPr>
              <a:xfrm>
                <a:off x="7129367" y="5388287"/>
                <a:ext cx="552994" cy="640080"/>
                <a:chOff x="7024592" y="5388287"/>
                <a:chExt cx="552994" cy="640080"/>
              </a:xfrm>
            </p:grpSpPr>
            <p:sp>
              <p:nvSpPr>
                <p:cNvPr id="48" name="Pie chart">
                  <a:extLst>
                    <a:ext uri="{FF2B5EF4-FFF2-40B4-BE49-F238E27FC236}">
                      <a16:creationId xmlns:a16="http://schemas.microsoft.com/office/drawing/2014/main" id="{4C061379-8110-9861-B785-33604344635D}"/>
                    </a:ext>
                  </a:extLst>
                </p:cNvPr>
                <p:cNvSpPr>
                  <a:spLocks noChangeAspect="1" noEditPoints="1"/>
                </p:cNvSpPr>
                <p:nvPr/>
              </p:nvSpPr>
              <p:spPr bwMode="auto">
                <a:xfrm>
                  <a:off x="7133356" y="5594181"/>
                  <a:ext cx="332005" cy="316299"/>
                </a:xfrm>
                <a:custGeom>
                  <a:avLst/>
                  <a:gdLst>
                    <a:gd name="T0" fmla="*/ 116 w 256"/>
                    <a:gd name="T1" fmla="*/ 131 h 244"/>
                    <a:gd name="T2" fmla="*/ 116 w 256"/>
                    <a:gd name="T3" fmla="*/ 24 h 244"/>
                    <a:gd name="T4" fmla="*/ 112 w 256"/>
                    <a:gd name="T5" fmla="*/ 20 h 244"/>
                    <a:gd name="T6" fmla="*/ 0 w 256"/>
                    <a:gd name="T7" fmla="*/ 132 h 244"/>
                    <a:gd name="T8" fmla="*/ 112 w 256"/>
                    <a:gd name="T9" fmla="*/ 244 h 244"/>
                    <a:gd name="T10" fmla="*/ 191 w 256"/>
                    <a:gd name="T11" fmla="*/ 211 h 244"/>
                    <a:gd name="T12" fmla="*/ 191 w 256"/>
                    <a:gd name="T13" fmla="*/ 206 h 244"/>
                    <a:gd name="T14" fmla="*/ 116 w 256"/>
                    <a:gd name="T15" fmla="*/ 131 h 244"/>
                    <a:gd name="T16" fmla="*/ 112 w 256"/>
                    <a:gd name="T17" fmla="*/ 236 h 244"/>
                    <a:gd name="T18" fmla="*/ 8 w 256"/>
                    <a:gd name="T19" fmla="*/ 132 h 244"/>
                    <a:gd name="T20" fmla="*/ 108 w 256"/>
                    <a:gd name="T21" fmla="*/ 28 h 244"/>
                    <a:gd name="T22" fmla="*/ 108 w 256"/>
                    <a:gd name="T23" fmla="*/ 132 h 244"/>
                    <a:gd name="T24" fmla="*/ 109 w 256"/>
                    <a:gd name="T25" fmla="*/ 135 h 244"/>
                    <a:gd name="T26" fmla="*/ 182 w 256"/>
                    <a:gd name="T27" fmla="*/ 208 h 244"/>
                    <a:gd name="T28" fmla="*/ 112 w 256"/>
                    <a:gd name="T29" fmla="*/ 236 h 244"/>
                    <a:gd name="T30" fmla="*/ 252 w 256"/>
                    <a:gd name="T31" fmla="*/ 128 h 244"/>
                    <a:gd name="T32" fmla="*/ 143 w 256"/>
                    <a:gd name="T33" fmla="*/ 128 h 244"/>
                    <a:gd name="T34" fmla="*/ 140 w 256"/>
                    <a:gd name="T35" fmla="*/ 130 h 244"/>
                    <a:gd name="T36" fmla="*/ 141 w 256"/>
                    <a:gd name="T37" fmla="*/ 135 h 244"/>
                    <a:gd name="T38" fmla="*/ 217 w 256"/>
                    <a:gd name="T39" fmla="*/ 212 h 244"/>
                    <a:gd name="T40" fmla="*/ 220 w 256"/>
                    <a:gd name="T41" fmla="*/ 213 h 244"/>
                    <a:gd name="T42" fmla="*/ 223 w 256"/>
                    <a:gd name="T43" fmla="*/ 212 h 244"/>
                    <a:gd name="T44" fmla="*/ 256 w 256"/>
                    <a:gd name="T45" fmla="*/ 132 h 244"/>
                    <a:gd name="T46" fmla="*/ 252 w 256"/>
                    <a:gd name="T47" fmla="*/ 128 h 244"/>
                    <a:gd name="T48" fmla="*/ 220 w 256"/>
                    <a:gd name="T49" fmla="*/ 203 h 244"/>
                    <a:gd name="T50" fmla="*/ 153 w 256"/>
                    <a:gd name="T51" fmla="*/ 136 h 244"/>
                    <a:gd name="T52" fmla="*/ 248 w 256"/>
                    <a:gd name="T53" fmla="*/ 136 h 244"/>
                    <a:gd name="T54" fmla="*/ 220 w 256"/>
                    <a:gd name="T55" fmla="*/ 203 h 244"/>
                    <a:gd name="T56" fmla="*/ 134 w 256"/>
                    <a:gd name="T57" fmla="*/ 116 h 244"/>
                    <a:gd name="T58" fmla="*/ 136 w 256"/>
                    <a:gd name="T59" fmla="*/ 116 h 244"/>
                    <a:gd name="T60" fmla="*/ 244 w 256"/>
                    <a:gd name="T61" fmla="*/ 116 h 244"/>
                    <a:gd name="T62" fmla="*/ 248 w 256"/>
                    <a:gd name="T63" fmla="*/ 112 h 244"/>
                    <a:gd name="T64" fmla="*/ 236 w 256"/>
                    <a:gd name="T65" fmla="*/ 62 h 244"/>
                    <a:gd name="T66" fmla="*/ 236 w 256"/>
                    <a:gd name="T67" fmla="*/ 61 h 244"/>
                    <a:gd name="T68" fmla="*/ 215 w 256"/>
                    <a:gd name="T69" fmla="*/ 33 h 244"/>
                    <a:gd name="T70" fmla="*/ 215 w 256"/>
                    <a:gd name="T71" fmla="*/ 33 h 244"/>
                    <a:gd name="T72" fmla="*/ 215 w 256"/>
                    <a:gd name="T73" fmla="*/ 33 h 244"/>
                    <a:gd name="T74" fmla="*/ 187 w 256"/>
                    <a:gd name="T75" fmla="*/ 12 h 244"/>
                    <a:gd name="T76" fmla="*/ 186 w 256"/>
                    <a:gd name="T77" fmla="*/ 12 h 244"/>
                    <a:gd name="T78" fmla="*/ 136 w 256"/>
                    <a:gd name="T79" fmla="*/ 0 h 244"/>
                    <a:gd name="T80" fmla="*/ 132 w 256"/>
                    <a:gd name="T81" fmla="*/ 4 h 244"/>
                    <a:gd name="T82" fmla="*/ 132 w 256"/>
                    <a:gd name="T83" fmla="*/ 112 h 244"/>
                    <a:gd name="T84" fmla="*/ 132 w 256"/>
                    <a:gd name="T85" fmla="*/ 114 h 244"/>
                    <a:gd name="T86" fmla="*/ 134 w 256"/>
                    <a:gd name="T87" fmla="*/ 116 h 244"/>
                    <a:gd name="T88" fmla="*/ 240 w 256"/>
                    <a:gd name="T89" fmla="*/ 108 h 244"/>
                    <a:gd name="T90" fmla="*/ 193 w 256"/>
                    <a:gd name="T91" fmla="*/ 108 h 244"/>
                    <a:gd name="T92" fmla="*/ 231 w 256"/>
                    <a:gd name="T93" fmla="*/ 70 h 244"/>
                    <a:gd name="T94" fmla="*/ 240 w 256"/>
                    <a:gd name="T95" fmla="*/ 108 h 244"/>
                    <a:gd name="T96" fmla="*/ 227 w 256"/>
                    <a:gd name="T97" fmla="*/ 62 h 244"/>
                    <a:gd name="T98" fmla="*/ 182 w 256"/>
                    <a:gd name="T99" fmla="*/ 108 h 244"/>
                    <a:gd name="T100" fmla="*/ 146 w 256"/>
                    <a:gd name="T101" fmla="*/ 108 h 244"/>
                    <a:gd name="T102" fmla="*/ 212 w 256"/>
                    <a:gd name="T103" fmla="*/ 41 h 244"/>
                    <a:gd name="T104" fmla="*/ 227 w 256"/>
                    <a:gd name="T105" fmla="*/ 62 h 244"/>
                    <a:gd name="T106" fmla="*/ 140 w 256"/>
                    <a:gd name="T107" fmla="*/ 8 h 244"/>
                    <a:gd name="T108" fmla="*/ 178 w 256"/>
                    <a:gd name="T109" fmla="*/ 17 h 244"/>
                    <a:gd name="T110" fmla="*/ 140 w 256"/>
                    <a:gd name="T111" fmla="*/ 55 h 244"/>
                    <a:gd name="T112" fmla="*/ 140 w 256"/>
                    <a:gd name="T113" fmla="*/ 8 h 244"/>
                    <a:gd name="T114" fmla="*/ 140 w 256"/>
                    <a:gd name="T115" fmla="*/ 66 h 244"/>
                    <a:gd name="T116" fmla="*/ 186 w 256"/>
                    <a:gd name="T117" fmla="*/ 21 h 244"/>
                    <a:gd name="T118" fmla="*/ 207 w 256"/>
                    <a:gd name="T119" fmla="*/ 36 h 244"/>
                    <a:gd name="T120" fmla="*/ 140 w 256"/>
                    <a:gd name="T121" fmla="*/ 102 h 244"/>
                    <a:gd name="T122" fmla="*/ 140 w 256"/>
                    <a:gd name="T123" fmla="*/ 66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6" h="244">
                      <a:moveTo>
                        <a:pt x="116" y="131"/>
                      </a:moveTo>
                      <a:cubicBezTo>
                        <a:pt x="116" y="24"/>
                        <a:pt x="116" y="24"/>
                        <a:pt x="116" y="24"/>
                      </a:cubicBezTo>
                      <a:cubicBezTo>
                        <a:pt x="116" y="22"/>
                        <a:pt x="114" y="20"/>
                        <a:pt x="112" y="20"/>
                      </a:cubicBezTo>
                      <a:cubicBezTo>
                        <a:pt x="50" y="20"/>
                        <a:pt x="0" y="70"/>
                        <a:pt x="0" y="132"/>
                      </a:cubicBezTo>
                      <a:cubicBezTo>
                        <a:pt x="0" y="194"/>
                        <a:pt x="50" y="244"/>
                        <a:pt x="112" y="244"/>
                      </a:cubicBezTo>
                      <a:cubicBezTo>
                        <a:pt x="142" y="244"/>
                        <a:pt x="170" y="232"/>
                        <a:pt x="191" y="211"/>
                      </a:cubicBezTo>
                      <a:cubicBezTo>
                        <a:pt x="192" y="210"/>
                        <a:pt x="192" y="207"/>
                        <a:pt x="191" y="206"/>
                      </a:cubicBezTo>
                      <a:lnTo>
                        <a:pt x="116" y="131"/>
                      </a:lnTo>
                      <a:close/>
                      <a:moveTo>
                        <a:pt x="112" y="236"/>
                      </a:moveTo>
                      <a:cubicBezTo>
                        <a:pt x="55" y="236"/>
                        <a:pt x="8" y="189"/>
                        <a:pt x="8" y="132"/>
                      </a:cubicBezTo>
                      <a:cubicBezTo>
                        <a:pt x="8" y="76"/>
                        <a:pt x="53" y="30"/>
                        <a:pt x="108" y="28"/>
                      </a:cubicBezTo>
                      <a:cubicBezTo>
                        <a:pt x="108" y="132"/>
                        <a:pt x="108" y="132"/>
                        <a:pt x="108" y="132"/>
                      </a:cubicBezTo>
                      <a:cubicBezTo>
                        <a:pt x="108" y="133"/>
                        <a:pt x="108" y="134"/>
                        <a:pt x="109" y="135"/>
                      </a:cubicBezTo>
                      <a:cubicBezTo>
                        <a:pt x="182" y="208"/>
                        <a:pt x="182" y="208"/>
                        <a:pt x="182" y="208"/>
                      </a:cubicBezTo>
                      <a:cubicBezTo>
                        <a:pt x="163" y="226"/>
                        <a:pt x="138" y="236"/>
                        <a:pt x="112" y="236"/>
                      </a:cubicBezTo>
                      <a:close/>
                      <a:moveTo>
                        <a:pt x="252" y="128"/>
                      </a:moveTo>
                      <a:cubicBezTo>
                        <a:pt x="143" y="128"/>
                        <a:pt x="143" y="128"/>
                        <a:pt x="143" y="128"/>
                      </a:cubicBezTo>
                      <a:cubicBezTo>
                        <a:pt x="142" y="128"/>
                        <a:pt x="140" y="129"/>
                        <a:pt x="140" y="130"/>
                      </a:cubicBezTo>
                      <a:cubicBezTo>
                        <a:pt x="139" y="132"/>
                        <a:pt x="139" y="134"/>
                        <a:pt x="141" y="135"/>
                      </a:cubicBezTo>
                      <a:cubicBezTo>
                        <a:pt x="217" y="212"/>
                        <a:pt x="217" y="212"/>
                        <a:pt x="217" y="212"/>
                      </a:cubicBezTo>
                      <a:cubicBezTo>
                        <a:pt x="218" y="212"/>
                        <a:pt x="219" y="213"/>
                        <a:pt x="220" y="213"/>
                      </a:cubicBezTo>
                      <a:cubicBezTo>
                        <a:pt x="221" y="213"/>
                        <a:pt x="222" y="212"/>
                        <a:pt x="223" y="212"/>
                      </a:cubicBezTo>
                      <a:cubicBezTo>
                        <a:pt x="244" y="190"/>
                        <a:pt x="256" y="162"/>
                        <a:pt x="256" y="132"/>
                      </a:cubicBezTo>
                      <a:cubicBezTo>
                        <a:pt x="256" y="130"/>
                        <a:pt x="254" y="128"/>
                        <a:pt x="252" y="128"/>
                      </a:cubicBezTo>
                      <a:close/>
                      <a:moveTo>
                        <a:pt x="220" y="203"/>
                      </a:moveTo>
                      <a:cubicBezTo>
                        <a:pt x="153" y="136"/>
                        <a:pt x="153" y="136"/>
                        <a:pt x="153" y="136"/>
                      </a:cubicBezTo>
                      <a:cubicBezTo>
                        <a:pt x="248" y="136"/>
                        <a:pt x="248" y="136"/>
                        <a:pt x="248" y="136"/>
                      </a:cubicBezTo>
                      <a:cubicBezTo>
                        <a:pt x="247" y="161"/>
                        <a:pt x="237" y="185"/>
                        <a:pt x="220" y="203"/>
                      </a:cubicBezTo>
                      <a:close/>
                      <a:moveTo>
                        <a:pt x="134" y="116"/>
                      </a:moveTo>
                      <a:cubicBezTo>
                        <a:pt x="135" y="116"/>
                        <a:pt x="135" y="116"/>
                        <a:pt x="136" y="116"/>
                      </a:cubicBezTo>
                      <a:cubicBezTo>
                        <a:pt x="244" y="116"/>
                        <a:pt x="244" y="116"/>
                        <a:pt x="244" y="116"/>
                      </a:cubicBezTo>
                      <a:cubicBezTo>
                        <a:pt x="246" y="116"/>
                        <a:pt x="248" y="114"/>
                        <a:pt x="248" y="112"/>
                      </a:cubicBezTo>
                      <a:cubicBezTo>
                        <a:pt x="248" y="94"/>
                        <a:pt x="244" y="77"/>
                        <a:pt x="236" y="62"/>
                      </a:cubicBezTo>
                      <a:cubicBezTo>
                        <a:pt x="236" y="61"/>
                        <a:pt x="236" y="61"/>
                        <a:pt x="236" y="61"/>
                      </a:cubicBezTo>
                      <a:cubicBezTo>
                        <a:pt x="230" y="51"/>
                        <a:pt x="224" y="41"/>
                        <a:pt x="215" y="33"/>
                      </a:cubicBezTo>
                      <a:cubicBezTo>
                        <a:pt x="215" y="33"/>
                        <a:pt x="215" y="33"/>
                        <a:pt x="215" y="33"/>
                      </a:cubicBezTo>
                      <a:cubicBezTo>
                        <a:pt x="215" y="33"/>
                        <a:pt x="215" y="33"/>
                        <a:pt x="215" y="33"/>
                      </a:cubicBezTo>
                      <a:cubicBezTo>
                        <a:pt x="207" y="24"/>
                        <a:pt x="197" y="18"/>
                        <a:pt x="187" y="12"/>
                      </a:cubicBezTo>
                      <a:cubicBezTo>
                        <a:pt x="187" y="12"/>
                        <a:pt x="187" y="12"/>
                        <a:pt x="186" y="12"/>
                      </a:cubicBezTo>
                      <a:cubicBezTo>
                        <a:pt x="171" y="4"/>
                        <a:pt x="154" y="0"/>
                        <a:pt x="136" y="0"/>
                      </a:cubicBezTo>
                      <a:cubicBezTo>
                        <a:pt x="134" y="0"/>
                        <a:pt x="132" y="2"/>
                        <a:pt x="132" y="4"/>
                      </a:cubicBezTo>
                      <a:cubicBezTo>
                        <a:pt x="132" y="112"/>
                        <a:pt x="132" y="112"/>
                        <a:pt x="132" y="112"/>
                      </a:cubicBezTo>
                      <a:cubicBezTo>
                        <a:pt x="132" y="113"/>
                        <a:pt x="132" y="113"/>
                        <a:pt x="132" y="114"/>
                      </a:cubicBezTo>
                      <a:cubicBezTo>
                        <a:pt x="133" y="115"/>
                        <a:pt x="133" y="115"/>
                        <a:pt x="134" y="116"/>
                      </a:cubicBezTo>
                      <a:close/>
                      <a:moveTo>
                        <a:pt x="240" y="108"/>
                      </a:moveTo>
                      <a:cubicBezTo>
                        <a:pt x="193" y="108"/>
                        <a:pt x="193" y="108"/>
                        <a:pt x="193" y="108"/>
                      </a:cubicBezTo>
                      <a:cubicBezTo>
                        <a:pt x="231" y="70"/>
                        <a:pt x="231" y="70"/>
                        <a:pt x="231" y="70"/>
                      </a:cubicBezTo>
                      <a:cubicBezTo>
                        <a:pt x="236" y="82"/>
                        <a:pt x="239" y="94"/>
                        <a:pt x="240" y="108"/>
                      </a:cubicBezTo>
                      <a:close/>
                      <a:moveTo>
                        <a:pt x="227" y="62"/>
                      </a:moveTo>
                      <a:cubicBezTo>
                        <a:pt x="182" y="108"/>
                        <a:pt x="182" y="108"/>
                        <a:pt x="182" y="108"/>
                      </a:cubicBezTo>
                      <a:cubicBezTo>
                        <a:pt x="146" y="108"/>
                        <a:pt x="146" y="108"/>
                        <a:pt x="146" y="108"/>
                      </a:cubicBezTo>
                      <a:cubicBezTo>
                        <a:pt x="212" y="41"/>
                        <a:pt x="212" y="41"/>
                        <a:pt x="212" y="41"/>
                      </a:cubicBezTo>
                      <a:cubicBezTo>
                        <a:pt x="218" y="48"/>
                        <a:pt x="223" y="55"/>
                        <a:pt x="227" y="62"/>
                      </a:cubicBezTo>
                      <a:close/>
                      <a:moveTo>
                        <a:pt x="140" y="8"/>
                      </a:moveTo>
                      <a:cubicBezTo>
                        <a:pt x="154" y="9"/>
                        <a:pt x="166" y="12"/>
                        <a:pt x="178" y="17"/>
                      </a:cubicBezTo>
                      <a:cubicBezTo>
                        <a:pt x="140" y="55"/>
                        <a:pt x="140" y="55"/>
                        <a:pt x="140" y="55"/>
                      </a:cubicBezTo>
                      <a:lnTo>
                        <a:pt x="140" y="8"/>
                      </a:lnTo>
                      <a:close/>
                      <a:moveTo>
                        <a:pt x="140" y="66"/>
                      </a:moveTo>
                      <a:cubicBezTo>
                        <a:pt x="186" y="21"/>
                        <a:pt x="186" y="21"/>
                        <a:pt x="186" y="21"/>
                      </a:cubicBezTo>
                      <a:cubicBezTo>
                        <a:pt x="193" y="25"/>
                        <a:pt x="200" y="30"/>
                        <a:pt x="207" y="36"/>
                      </a:cubicBezTo>
                      <a:cubicBezTo>
                        <a:pt x="140" y="102"/>
                        <a:pt x="140" y="102"/>
                        <a:pt x="140" y="102"/>
                      </a:cubicBezTo>
                      <a:lnTo>
                        <a:pt x="140" y="66"/>
                      </a:lnTo>
                      <a:close/>
                    </a:path>
                  </a:pathLst>
                </a:custGeom>
                <a:solidFill>
                  <a:srgbClr val="0276BD"/>
                </a:solidFill>
                <a:ln>
                  <a:noFill/>
                </a:ln>
              </p:spPr>
              <p:txBody>
                <a:bodyPr vert="horz" wrap="square" lIns="91440" tIns="45720" rIns="91440" bIns="45720" numCol="1" anchor="t" anchorCtr="0" compatLnSpc="1">
                  <a:prstTxWarp prst="textNoShape">
                    <a:avLst/>
                  </a:prstTxWarp>
                </a:bodyPr>
                <a:lstStyle/>
                <a:p>
                  <a:endParaRPr lang="ru-RU" dirty="0">
                    <a:latin typeface="Arial Nova" panose="020B0504020202020204" pitchFamily="34" charset="0"/>
                  </a:endParaRPr>
                </a:p>
              </p:txBody>
            </p:sp>
            <p:sp>
              <p:nvSpPr>
                <p:cNvPr id="49" name="Freeform 53">
                  <a:extLst>
                    <a:ext uri="{FF2B5EF4-FFF2-40B4-BE49-F238E27FC236}">
                      <a16:creationId xmlns:a16="http://schemas.microsoft.com/office/drawing/2014/main" id="{F18C9BC5-F83A-6BA8-57A7-71796AD164BB}"/>
                    </a:ext>
                  </a:extLst>
                </p:cNvPr>
                <p:cNvSpPr>
                  <a:spLocks noChangeAspect="1" noEditPoints="1"/>
                </p:cNvSpPr>
                <p:nvPr/>
              </p:nvSpPr>
              <p:spPr bwMode="auto">
                <a:xfrm>
                  <a:off x="7024592" y="5388287"/>
                  <a:ext cx="552994" cy="640080"/>
                </a:xfrm>
                <a:custGeom>
                  <a:avLst/>
                  <a:gdLst>
                    <a:gd name="T0" fmla="*/ 201613 w 59"/>
                    <a:gd name="T1" fmla="*/ 68636 h 68"/>
                    <a:gd name="T2" fmla="*/ 201613 w 59"/>
                    <a:gd name="T3" fmla="*/ 219636 h 68"/>
                    <a:gd name="T4" fmla="*/ 187944 w 59"/>
                    <a:gd name="T5" fmla="*/ 233363 h 68"/>
                    <a:gd name="T6" fmla="*/ 13669 w 59"/>
                    <a:gd name="T7" fmla="*/ 233363 h 68"/>
                    <a:gd name="T8" fmla="*/ 0 w 59"/>
                    <a:gd name="T9" fmla="*/ 219636 h 68"/>
                    <a:gd name="T10" fmla="*/ 0 w 59"/>
                    <a:gd name="T11" fmla="*/ 10295 h 68"/>
                    <a:gd name="T12" fmla="*/ 13669 w 59"/>
                    <a:gd name="T13" fmla="*/ 0 h 68"/>
                    <a:gd name="T14" fmla="*/ 129852 w 59"/>
                    <a:gd name="T15" fmla="*/ 0 h 68"/>
                    <a:gd name="T16" fmla="*/ 150355 w 59"/>
                    <a:gd name="T17" fmla="*/ 6864 h 68"/>
                    <a:gd name="T18" fmla="*/ 191361 w 59"/>
                    <a:gd name="T19" fmla="*/ 48045 h 68"/>
                    <a:gd name="T20" fmla="*/ 201613 w 59"/>
                    <a:gd name="T21" fmla="*/ 68636 h 68"/>
                    <a:gd name="T22" fmla="*/ 184527 w 59"/>
                    <a:gd name="T23" fmla="*/ 82363 h 68"/>
                    <a:gd name="T24" fmla="*/ 129852 w 59"/>
                    <a:gd name="T25" fmla="*/ 82363 h 68"/>
                    <a:gd name="T26" fmla="*/ 116184 w 59"/>
                    <a:gd name="T27" fmla="*/ 68636 h 68"/>
                    <a:gd name="T28" fmla="*/ 116184 w 59"/>
                    <a:gd name="T29" fmla="*/ 17159 h 68"/>
                    <a:gd name="T30" fmla="*/ 17086 w 59"/>
                    <a:gd name="T31" fmla="*/ 17159 h 68"/>
                    <a:gd name="T32" fmla="*/ 17086 w 59"/>
                    <a:gd name="T33" fmla="*/ 216204 h 68"/>
                    <a:gd name="T34" fmla="*/ 184527 w 59"/>
                    <a:gd name="T35" fmla="*/ 216204 h 68"/>
                    <a:gd name="T36" fmla="*/ 184527 w 59"/>
                    <a:gd name="T37" fmla="*/ 82363 h 68"/>
                    <a:gd name="T38" fmla="*/ 133270 w 59"/>
                    <a:gd name="T39" fmla="*/ 65204 h 68"/>
                    <a:gd name="T40" fmla="*/ 184527 w 59"/>
                    <a:gd name="T41" fmla="*/ 65204 h 68"/>
                    <a:gd name="T42" fmla="*/ 181110 w 59"/>
                    <a:gd name="T43" fmla="*/ 61773 h 68"/>
                    <a:gd name="T44" fmla="*/ 140104 w 59"/>
                    <a:gd name="T45" fmla="*/ 20591 h 68"/>
                    <a:gd name="T46" fmla="*/ 133270 w 59"/>
                    <a:gd name="T47" fmla="*/ 17159 h 68"/>
                    <a:gd name="T48" fmla="*/ 133270 w 59"/>
                    <a:gd name="T49" fmla="*/ 65204 h 6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9" h="68">
                      <a:moveTo>
                        <a:pt x="59" y="20"/>
                      </a:moveTo>
                      <a:cubicBezTo>
                        <a:pt x="59" y="64"/>
                        <a:pt x="59" y="64"/>
                        <a:pt x="59" y="64"/>
                      </a:cubicBezTo>
                      <a:cubicBezTo>
                        <a:pt x="59" y="66"/>
                        <a:pt x="57" y="68"/>
                        <a:pt x="55" y="68"/>
                      </a:cubicBezTo>
                      <a:cubicBezTo>
                        <a:pt x="4" y="68"/>
                        <a:pt x="4" y="68"/>
                        <a:pt x="4" y="68"/>
                      </a:cubicBezTo>
                      <a:cubicBezTo>
                        <a:pt x="2" y="68"/>
                        <a:pt x="0" y="66"/>
                        <a:pt x="0" y="64"/>
                      </a:cubicBezTo>
                      <a:cubicBezTo>
                        <a:pt x="0" y="3"/>
                        <a:pt x="0" y="3"/>
                        <a:pt x="0" y="3"/>
                      </a:cubicBezTo>
                      <a:cubicBezTo>
                        <a:pt x="0" y="1"/>
                        <a:pt x="2" y="0"/>
                        <a:pt x="4" y="0"/>
                      </a:cubicBezTo>
                      <a:cubicBezTo>
                        <a:pt x="38" y="0"/>
                        <a:pt x="38" y="0"/>
                        <a:pt x="38" y="0"/>
                      </a:cubicBezTo>
                      <a:cubicBezTo>
                        <a:pt x="40" y="0"/>
                        <a:pt x="43" y="1"/>
                        <a:pt x="44" y="2"/>
                      </a:cubicBezTo>
                      <a:cubicBezTo>
                        <a:pt x="56" y="14"/>
                        <a:pt x="56" y="14"/>
                        <a:pt x="56" y="14"/>
                      </a:cubicBezTo>
                      <a:cubicBezTo>
                        <a:pt x="58" y="16"/>
                        <a:pt x="59" y="18"/>
                        <a:pt x="59" y="20"/>
                      </a:cubicBezTo>
                      <a:close/>
                      <a:moveTo>
                        <a:pt x="54" y="24"/>
                      </a:moveTo>
                      <a:cubicBezTo>
                        <a:pt x="38" y="24"/>
                        <a:pt x="38" y="24"/>
                        <a:pt x="38" y="24"/>
                      </a:cubicBezTo>
                      <a:cubicBezTo>
                        <a:pt x="36" y="24"/>
                        <a:pt x="34" y="22"/>
                        <a:pt x="34" y="20"/>
                      </a:cubicBezTo>
                      <a:cubicBezTo>
                        <a:pt x="34" y="5"/>
                        <a:pt x="34" y="5"/>
                        <a:pt x="34" y="5"/>
                      </a:cubicBezTo>
                      <a:cubicBezTo>
                        <a:pt x="5" y="5"/>
                        <a:pt x="5" y="5"/>
                        <a:pt x="5" y="5"/>
                      </a:cubicBezTo>
                      <a:cubicBezTo>
                        <a:pt x="5" y="63"/>
                        <a:pt x="5" y="63"/>
                        <a:pt x="5" y="63"/>
                      </a:cubicBezTo>
                      <a:cubicBezTo>
                        <a:pt x="54" y="63"/>
                        <a:pt x="54" y="63"/>
                        <a:pt x="54" y="63"/>
                      </a:cubicBezTo>
                      <a:lnTo>
                        <a:pt x="54" y="24"/>
                      </a:lnTo>
                      <a:close/>
                      <a:moveTo>
                        <a:pt x="39" y="19"/>
                      </a:moveTo>
                      <a:cubicBezTo>
                        <a:pt x="54" y="19"/>
                        <a:pt x="54" y="19"/>
                        <a:pt x="54" y="19"/>
                      </a:cubicBezTo>
                      <a:cubicBezTo>
                        <a:pt x="53" y="18"/>
                        <a:pt x="53" y="18"/>
                        <a:pt x="53" y="18"/>
                      </a:cubicBezTo>
                      <a:cubicBezTo>
                        <a:pt x="41" y="6"/>
                        <a:pt x="41" y="6"/>
                        <a:pt x="41" y="6"/>
                      </a:cubicBezTo>
                      <a:cubicBezTo>
                        <a:pt x="41" y="5"/>
                        <a:pt x="40" y="5"/>
                        <a:pt x="39" y="5"/>
                      </a:cubicBezTo>
                      <a:lnTo>
                        <a:pt x="39" y="19"/>
                      </a:lnTo>
                      <a:close/>
                    </a:path>
                  </a:pathLst>
                </a:custGeom>
                <a:solidFill>
                  <a:srgbClr val="004472"/>
                </a:solidFill>
                <a:ln>
                  <a:noFill/>
                </a:ln>
              </p:spPr>
              <p:txBody>
                <a:bodyPr/>
                <a:lstStyle/>
                <a:p>
                  <a:pPr defTabSz="457200" eaLnBrk="0" fontAlgn="base" hangingPunct="0">
                    <a:spcBef>
                      <a:spcPct val="0"/>
                    </a:spcBef>
                    <a:spcAft>
                      <a:spcPct val="0"/>
                    </a:spcAft>
                    <a:buClrTx/>
                    <a:buFontTx/>
                    <a:buNone/>
                  </a:pPr>
                  <a:endParaRPr lang="en-US" sz="1800" kern="1200">
                    <a:solidFill>
                      <a:prstClr val="black"/>
                    </a:solidFill>
                    <a:latin typeface="Calibri" panose="020F0502020204030204" pitchFamily="34" charset="0"/>
                    <a:ea typeface="MS PGothic" panose="020B0600070205080204" pitchFamily="34" charset="-128"/>
                    <a:cs typeface="+mn-cs"/>
                  </a:endParaRPr>
                </a:p>
              </p:txBody>
            </p:sp>
          </p:grpSp>
        </p:grpSp>
      </p:grpSp>
      <p:grpSp>
        <p:nvGrpSpPr>
          <p:cNvPr id="52" name="Group 51">
            <a:extLst>
              <a:ext uri="{FF2B5EF4-FFF2-40B4-BE49-F238E27FC236}">
                <a16:creationId xmlns:a16="http://schemas.microsoft.com/office/drawing/2014/main" id="{BED1CBD8-1661-01C1-A259-28CCE198A56C}"/>
              </a:ext>
            </a:extLst>
          </p:cNvPr>
          <p:cNvGrpSpPr/>
          <p:nvPr/>
        </p:nvGrpSpPr>
        <p:grpSpPr>
          <a:xfrm>
            <a:off x="461602" y="4492193"/>
            <a:ext cx="3200400" cy="1280160"/>
            <a:chOff x="255199" y="4180592"/>
            <a:chExt cx="3200400" cy="1280160"/>
          </a:xfrm>
        </p:grpSpPr>
        <p:sp>
          <p:nvSpPr>
            <p:cNvPr id="53" name="Google Shape;760;p8">
              <a:extLst>
                <a:ext uri="{FF2B5EF4-FFF2-40B4-BE49-F238E27FC236}">
                  <a16:creationId xmlns:a16="http://schemas.microsoft.com/office/drawing/2014/main" id="{A6EC0753-9EEC-17C0-9440-E10AFA299CE9}"/>
                </a:ext>
              </a:extLst>
            </p:cNvPr>
            <p:cNvSpPr/>
            <p:nvPr/>
          </p:nvSpPr>
          <p:spPr>
            <a:xfrm>
              <a:off x="255199" y="4180592"/>
              <a:ext cx="3200400" cy="1280160"/>
            </a:xfrm>
            <a:prstGeom prst="rect">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013359"/>
                </a:solidFill>
                <a:latin typeface="Calibri"/>
                <a:ea typeface="Calibri"/>
                <a:cs typeface="Calibri"/>
                <a:sym typeface="Calibri"/>
              </a:endParaRPr>
            </a:p>
          </p:txBody>
        </p:sp>
        <p:sp>
          <p:nvSpPr>
            <p:cNvPr id="54" name="Google Shape;761;p8">
              <a:extLst>
                <a:ext uri="{FF2B5EF4-FFF2-40B4-BE49-F238E27FC236}">
                  <a16:creationId xmlns:a16="http://schemas.microsoft.com/office/drawing/2014/main" id="{86DA3E19-A30A-8C02-2FD9-751005334B76}"/>
                </a:ext>
              </a:extLst>
            </p:cNvPr>
            <p:cNvSpPr txBox="1"/>
            <p:nvPr/>
          </p:nvSpPr>
          <p:spPr>
            <a:xfrm>
              <a:off x="1000453" y="4279405"/>
              <a:ext cx="2369936" cy="106178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4472C4"/>
                </a:buClr>
                <a:buSzPts val="1400"/>
                <a:buFont typeface="Calibri"/>
                <a:buNone/>
              </a:pPr>
              <a:r>
                <a:rPr lang="en-US" sz="1500" b="1" i="0" u="none" strike="noStrike" cap="none" dirty="0">
                  <a:solidFill>
                    <a:srgbClr val="0276BD"/>
                  </a:solidFill>
                  <a:latin typeface="Arial Nova" panose="020B0504020202020204" pitchFamily="34" charset="0"/>
                  <a:ea typeface="Calibri"/>
                  <a:cs typeface="Calibri"/>
                  <a:sym typeface="Calibri"/>
                </a:rPr>
                <a:t>Portfolio Analysis</a:t>
              </a:r>
              <a:endParaRPr sz="1500" dirty="0">
                <a:solidFill>
                  <a:srgbClr val="0276BD"/>
                </a:solidFill>
                <a:latin typeface="Arial Nova" panose="020B0504020202020204" pitchFamily="34" charset="0"/>
              </a:endParaRPr>
            </a:p>
            <a:p>
              <a:pPr marL="171450" marR="0" lvl="0" indent="-171450" algn="l" rtl="0">
                <a:lnSpc>
                  <a:spcPct val="100000"/>
                </a:lnSpc>
                <a:spcBef>
                  <a:spcPts val="0"/>
                </a:spcBef>
                <a:spcAft>
                  <a:spcPts val="0"/>
                </a:spcAft>
                <a:buClr>
                  <a:srgbClr val="000000"/>
                </a:buClr>
                <a:buSzPts val="1200"/>
                <a:buFont typeface="Arial" panose="020B0604020202020204" pitchFamily="34" charset="0"/>
                <a:buChar char="•"/>
              </a:pPr>
              <a:r>
                <a:rPr lang="en-US" sz="1200" b="0" i="0" u="none" strike="noStrike" cap="none" dirty="0">
                  <a:solidFill>
                    <a:srgbClr val="000000"/>
                  </a:solidFill>
                  <a:latin typeface="Arial Nova" panose="020B0504020202020204" pitchFamily="34" charset="0"/>
                  <a:ea typeface="Calibri"/>
                  <a:cs typeface="Calibri"/>
                  <a:sym typeface="Calibri"/>
                </a:rPr>
                <a:t>Account  Objectives</a:t>
              </a:r>
              <a:endParaRPr dirty="0">
                <a:latin typeface="Arial Nova" panose="020B0504020202020204" pitchFamily="34" charset="0"/>
              </a:endParaRPr>
            </a:p>
            <a:p>
              <a:pPr marL="171450" marR="0" lvl="0" indent="-171450" algn="l" rtl="0">
                <a:lnSpc>
                  <a:spcPct val="100000"/>
                </a:lnSpc>
                <a:spcBef>
                  <a:spcPts val="0"/>
                </a:spcBef>
                <a:spcAft>
                  <a:spcPts val="0"/>
                </a:spcAft>
                <a:buClr>
                  <a:srgbClr val="000000"/>
                </a:buClr>
                <a:buSzPts val="1200"/>
                <a:buFont typeface="Arial" panose="020B0604020202020204" pitchFamily="34" charset="0"/>
                <a:buChar char="•"/>
              </a:pPr>
              <a:r>
                <a:rPr lang="en-US" sz="1200" b="0" i="0" u="none" strike="noStrike" cap="none" dirty="0">
                  <a:solidFill>
                    <a:srgbClr val="000000"/>
                  </a:solidFill>
                  <a:latin typeface="Arial Nova" panose="020B0504020202020204" pitchFamily="34" charset="0"/>
                  <a:ea typeface="Calibri"/>
                  <a:cs typeface="Calibri"/>
                  <a:sym typeface="Calibri"/>
                </a:rPr>
                <a:t>Investment Characteristics</a:t>
              </a:r>
              <a:endParaRPr dirty="0">
                <a:latin typeface="Arial Nova" panose="020B0504020202020204" pitchFamily="34" charset="0"/>
              </a:endParaRPr>
            </a:p>
            <a:p>
              <a:pPr marL="171450" marR="0" lvl="0" indent="-171450" algn="l" rtl="0">
                <a:lnSpc>
                  <a:spcPct val="100000"/>
                </a:lnSpc>
                <a:spcBef>
                  <a:spcPts val="0"/>
                </a:spcBef>
                <a:spcAft>
                  <a:spcPts val="0"/>
                </a:spcAft>
                <a:buClr>
                  <a:srgbClr val="000000"/>
                </a:buClr>
                <a:buSzPts val="1200"/>
                <a:buFont typeface="Arial" panose="020B0604020202020204" pitchFamily="34" charset="0"/>
                <a:buChar char="•"/>
              </a:pPr>
              <a:r>
                <a:rPr lang="en-US" sz="1200" b="0" i="0" u="none" strike="noStrike" cap="none" dirty="0">
                  <a:solidFill>
                    <a:srgbClr val="000000"/>
                  </a:solidFill>
                  <a:latin typeface="Arial Nova" panose="020B0504020202020204" pitchFamily="34" charset="0"/>
                  <a:ea typeface="Calibri"/>
                  <a:cs typeface="Calibri"/>
                  <a:sym typeface="Calibri"/>
                </a:rPr>
                <a:t>Investable Assets</a:t>
              </a:r>
              <a:endParaRPr dirty="0">
                <a:latin typeface="Arial Nova" panose="020B0504020202020204" pitchFamily="34" charset="0"/>
              </a:endParaRPr>
            </a:p>
            <a:p>
              <a:pPr marL="171450" marR="0" lvl="0" indent="-171450" algn="l" rtl="0">
                <a:lnSpc>
                  <a:spcPct val="100000"/>
                </a:lnSpc>
                <a:spcBef>
                  <a:spcPts val="0"/>
                </a:spcBef>
                <a:spcAft>
                  <a:spcPts val="0"/>
                </a:spcAft>
                <a:buClr>
                  <a:srgbClr val="000000"/>
                </a:buClr>
                <a:buSzPts val="1200"/>
                <a:buFont typeface="Arial" panose="020B0604020202020204" pitchFamily="34" charset="0"/>
                <a:buChar char="•"/>
              </a:pPr>
              <a:r>
                <a:rPr lang="en-US" sz="1200" dirty="0">
                  <a:solidFill>
                    <a:srgbClr val="000000"/>
                  </a:solidFill>
                  <a:latin typeface="Arial Nova" panose="020B0504020202020204" pitchFamily="34" charset="0"/>
                  <a:ea typeface="Calibri"/>
                  <a:cs typeface="Calibri"/>
                  <a:sym typeface="Calibri"/>
                </a:rPr>
                <a:t>Portfolio Focus &amp; Style</a:t>
              </a:r>
              <a:endParaRPr sz="1200" b="0" i="0" u="none" strike="noStrike" cap="none" dirty="0">
                <a:solidFill>
                  <a:srgbClr val="000000"/>
                </a:solidFill>
                <a:latin typeface="Arial Nova" panose="020B0504020202020204" pitchFamily="34" charset="0"/>
                <a:ea typeface="Calibri"/>
                <a:cs typeface="Calibri"/>
                <a:sym typeface="Calibri"/>
              </a:endParaRPr>
            </a:p>
          </p:txBody>
        </p:sp>
        <p:sp>
          <p:nvSpPr>
            <p:cNvPr id="55" name="Freeform 118">
              <a:extLst>
                <a:ext uri="{FF2B5EF4-FFF2-40B4-BE49-F238E27FC236}">
                  <a16:creationId xmlns:a16="http://schemas.microsoft.com/office/drawing/2014/main" id="{CF11DBE3-7C95-A966-BC1E-1DB055F23F1D}"/>
                </a:ext>
              </a:extLst>
            </p:cNvPr>
            <p:cNvSpPr>
              <a:spLocks noChangeAspect="1" noEditPoints="1"/>
            </p:cNvSpPr>
            <p:nvPr/>
          </p:nvSpPr>
          <p:spPr bwMode="auto">
            <a:xfrm>
              <a:off x="401352" y="4344957"/>
              <a:ext cx="457200" cy="444924"/>
            </a:xfrm>
            <a:custGeom>
              <a:avLst/>
              <a:gdLst>
                <a:gd name="T0" fmla="*/ 181689 w 69"/>
                <a:gd name="T1" fmla="*/ 199266 h 67"/>
                <a:gd name="T2" fmla="*/ 106271 w 69"/>
                <a:gd name="T3" fmla="*/ 230187 h 67"/>
                <a:gd name="T4" fmla="*/ 0 w 69"/>
                <a:gd name="T5" fmla="*/ 123683 h 67"/>
                <a:gd name="T6" fmla="*/ 106271 w 69"/>
                <a:gd name="T7" fmla="*/ 17178 h 67"/>
                <a:gd name="T8" fmla="*/ 106271 w 69"/>
                <a:gd name="T9" fmla="*/ 123683 h 67"/>
                <a:gd name="T10" fmla="*/ 181689 w 69"/>
                <a:gd name="T11" fmla="*/ 199266 h 67"/>
                <a:gd name="T12" fmla="*/ 123411 w 69"/>
                <a:gd name="T13" fmla="*/ 106504 h 67"/>
                <a:gd name="T14" fmla="*/ 123411 w 69"/>
                <a:gd name="T15" fmla="*/ 0 h 67"/>
                <a:gd name="T16" fmla="*/ 229682 w 69"/>
                <a:gd name="T17" fmla="*/ 106504 h 67"/>
                <a:gd name="T18" fmla="*/ 123411 w 69"/>
                <a:gd name="T19" fmla="*/ 106504 h 67"/>
                <a:gd name="T20" fmla="*/ 236538 w 69"/>
                <a:gd name="T21" fmla="*/ 123683 h 67"/>
                <a:gd name="T22" fmla="*/ 205685 w 69"/>
                <a:gd name="T23" fmla="*/ 199266 h 67"/>
                <a:gd name="T24" fmla="*/ 130267 w 69"/>
                <a:gd name="T25" fmla="*/ 123683 h 67"/>
                <a:gd name="T26" fmla="*/ 236538 w 69"/>
                <a:gd name="T27" fmla="*/ 123683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9" h="67">
                  <a:moveTo>
                    <a:pt x="53" y="58"/>
                  </a:moveTo>
                  <a:cubicBezTo>
                    <a:pt x="47" y="64"/>
                    <a:pt x="39" y="67"/>
                    <a:pt x="31" y="67"/>
                  </a:cubicBezTo>
                  <a:cubicBezTo>
                    <a:pt x="14" y="67"/>
                    <a:pt x="0" y="53"/>
                    <a:pt x="0" y="36"/>
                  </a:cubicBezTo>
                  <a:cubicBezTo>
                    <a:pt x="0" y="19"/>
                    <a:pt x="14" y="5"/>
                    <a:pt x="31" y="5"/>
                  </a:cubicBezTo>
                  <a:cubicBezTo>
                    <a:pt x="31" y="36"/>
                    <a:pt x="31" y="36"/>
                    <a:pt x="31" y="36"/>
                  </a:cubicBezTo>
                  <a:lnTo>
                    <a:pt x="53" y="58"/>
                  </a:lnTo>
                  <a:close/>
                  <a:moveTo>
                    <a:pt x="36" y="31"/>
                  </a:moveTo>
                  <a:cubicBezTo>
                    <a:pt x="36" y="0"/>
                    <a:pt x="36" y="0"/>
                    <a:pt x="36" y="0"/>
                  </a:cubicBezTo>
                  <a:cubicBezTo>
                    <a:pt x="53" y="0"/>
                    <a:pt x="67" y="14"/>
                    <a:pt x="67" y="31"/>
                  </a:cubicBezTo>
                  <a:lnTo>
                    <a:pt x="36" y="31"/>
                  </a:lnTo>
                  <a:close/>
                  <a:moveTo>
                    <a:pt x="69" y="36"/>
                  </a:moveTo>
                  <a:cubicBezTo>
                    <a:pt x="69" y="45"/>
                    <a:pt x="66" y="53"/>
                    <a:pt x="60" y="58"/>
                  </a:cubicBezTo>
                  <a:cubicBezTo>
                    <a:pt x="38" y="36"/>
                    <a:pt x="38" y="36"/>
                    <a:pt x="38" y="36"/>
                  </a:cubicBezTo>
                  <a:lnTo>
                    <a:pt x="69" y="36"/>
                  </a:lnTo>
                  <a:close/>
                </a:path>
              </a:pathLst>
            </a:custGeom>
            <a:solidFill>
              <a:srgbClr val="004472"/>
            </a:solidFill>
            <a:ln>
              <a:noFill/>
            </a:ln>
          </p:spPr>
          <p:txBody>
            <a:bodyPr/>
            <a:lstStyle/>
            <a:p>
              <a:endParaRPr lang="en-US" dirty="0">
                <a:latin typeface="Arial Nova" panose="020B0504020202020204" pitchFamily="34" charset="0"/>
              </a:endParaRPr>
            </a:p>
          </p:txBody>
        </p:sp>
      </p:grpSp>
      <p:sp>
        <p:nvSpPr>
          <p:cNvPr id="63" name="Slide Number Placeholder 5">
            <a:extLst>
              <a:ext uri="{FF2B5EF4-FFF2-40B4-BE49-F238E27FC236}">
                <a16:creationId xmlns:a16="http://schemas.microsoft.com/office/drawing/2014/main" id="{270A162C-D458-05E2-C7AC-C4507565231E}"/>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19</a:t>
            </a:fld>
            <a:endParaRPr lang="en-US" dirty="0">
              <a:solidFill>
                <a:schemeClr val="bg1">
                  <a:lumMod val="75000"/>
                </a:schemeClr>
              </a:solidFill>
              <a:latin typeface="Arial Nova" panose="020B0504020202020204" pitchFamily="34" charset="0"/>
            </a:endParaRPr>
          </a:p>
        </p:txBody>
      </p:sp>
      <p:sp>
        <p:nvSpPr>
          <p:cNvPr id="64" name="Footer Placeholder 4">
            <a:extLst>
              <a:ext uri="{FF2B5EF4-FFF2-40B4-BE49-F238E27FC236}">
                <a16:creationId xmlns:a16="http://schemas.microsoft.com/office/drawing/2014/main" id="{23FCA1B0-CFBD-97A5-9FBA-E9D32910762B}"/>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1209009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fade">
                                      <p:cBhvr>
                                        <p:cTn id="17" dur="500"/>
                                        <p:tgtEl>
                                          <p:spTgt spid="5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fade">
                                      <p:cBhvr>
                                        <p:cTn id="27" dur="500"/>
                                        <p:tgtEl>
                                          <p:spTgt spid="5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9"/>
                                        </p:tgtEl>
                                        <p:attrNameLst>
                                          <p:attrName>style.visibility</p:attrName>
                                        </p:attrNameLst>
                                      </p:cBhvr>
                                      <p:to>
                                        <p:strVal val="visible"/>
                                      </p:to>
                                    </p:set>
                                    <p:animEffect transition="in" filter="fade">
                                      <p:cBhvr>
                                        <p:cTn id="32" dur="500"/>
                                        <p:tgtEl>
                                          <p:spTgt spid="5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0"/>
                                        </p:tgtEl>
                                        <p:attrNameLst>
                                          <p:attrName>style.visibility</p:attrName>
                                        </p:attrNameLst>
                                      </p:cBhvr>
                                      <p:to>
                                        <p:strVal val="visible"/>
                                      </p:to>
                                    </p:set>
                                    <p:animEffect transition="in" filter="fade">
                                      <p:cBhvr>
                                        <p:cTn id="37" dur="500"/>
                                        <p:tgtEl>
                                          <p:spTgt spid="6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1"/>
                                        </p:tgtEl>
                                        <p:attrNameLst>
                                          <p:attrName>style.visibility</p:attrName>
                                        </p:attrNameLst>
                                      </p:cBhvr>
                                      <p:to>
                                        <p:strVal val="visible"/>
                                      </p:to>
                                    </p:set>
                                    <p:animEffect transition="in" filter="fade">
                                      <p:cBhvr>
                                        <p:cTn id="42" dur="500"/>
                                        <p:tgtEl>
                                          <p:spTgt spid="6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2"/>
                                        </p:tgtEl>
                                        <p:attrNameLst>
                                          <p:attrName>style.visibility</p:attrName>
                                        </p:attrNameLst>
                                      </p:cBhvr>
                                      <p:to>
                                        <p:strVal val="visible"/>
                                      </p:to>
                                    </p:set>
                                    <p:animEffect transition="in" filter="fade">
                                      <p:cBhvr>
                                        <p:cTn id="47"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F1FE5F-F629-53E8-ADD8-7BD44E7908EF}"/>
              </a:ext>
            </a:extLst>
          </p:cNvPr>
          <p:cNvSpPr/>
          <p:nvPr/>
        </p:nvSpPr>
        <p:spPr>
          <a:xfrm>
            <a:off x="0" y="0"/>
            <a:ext cx="12192000" cy="6857999"/>
          </a:xfrm>
          <a:prstGeom prst="rect">
            <a:avLst/>
          </a:prstGeom>
          <a:solidFill>
            <a:srgbClr val="02437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D56A5A5B-BBD6-9856-0FDE-71F3BA17F89B}"/>
              </a:ext>
            </a:extLst>
          </p:cNvPr>
          <p:cNvCxnSpPr>
            <a:cxnSpLocks/>
          </p:cNvCxnSpPr>
          <p:nvPr/>
        </p:nvCxnSpPr>
        <p:spPr>
          <a:xfrm>
            <a:off x="-176349" y="2495890"/>
            <a:ext cx="13075920" cy="0"/>
          </a:xfrm>
          <a:prstGeom prst="line">
            <a:avLst/>
          </a:prstGeom>
          <a:ln>
            <a:solidFill>
              <a:srgbClr val="0076B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D709ED0-478E-BB4D-A785-67292D453136}"/>
              </a:ext>
            </a:extLst>
          </p:cNvPr>
          <p:cNvSpPr txBox="1"/>
          <p:nvPr/>
        </p:nvSpPr>
        <p:spPr>
          <a:xfrm>
            <a:off x="2581832" y="1572712"/>
            <a:ext cx="8416091" cy="784830"/>
          </a:xfrm>
          <a:prstGeom prst="rect">
            <a:avLst/>
          </a:prstGeom>
          <a:noFill/>
        </p:spPr>
        <p:txBody>
          <a:bodyPr wrap="square" rtlCol="0">
            <a:spAutoFit/>
          </a:bodyPr>
          <a:lstStyle/>
          <a:p>
            <a:r>
              <a:rPr lang="en-US" sz="4500">
                <a:solidFill>
                  <a:schemeClr val="bg1"/>
                </a:solidFill>
                <a:latin typeface="Arial Nova" panose="020B0504020202020204" pitchFamily="34" charset="0"/>
              </a:rPr>
              <a:t>Communicate Progress</a:t>
            </a:r>
          </a:p>
        </p:txBody>
      </p:sp>
      <p:grpSp>
        <p:nvGrpSpPr>
          <p:cNvPr id="2" name="Group 1">
            <a:extLst>
              <a:ext uri="{FF2B5EF4-FFF2-40B4-BE49-F238E27FC236}">
                <a16:creationId xmlns:a16="http://schemas.microsoft.com/office/drawing/2014/main" id="{A59169B0-3CD4-CF0E-B056-AB05A798768E}"/>
              </a:ext>
            </a:extLst>
          </p:cNvPr>
          <p:cNvGrpSpPr/>
          <p:nvPr/>
        </p:nvGrpSpPr>
        <p:grpSpPr>
          <a:xfrm>
            <a:off x="857540" y="1301725"/>
            <a:ext cx="1488163" cy="1451609"/>
            <a:chOff x="8551989" y="1428207"/>
            <a:chExt cx="1488163" cy="1451609"/>
          </a:xfrm>
        </p:grpSpPr>
        <p:sp>
          <p:nvSpPr>
            <p:cNvPr id="4" name="Oval 3">
              <a:extLst>
                <a:ext uri="{FF2B5EF4-FFF2-40B4-BE49-F238E27FC236}">
                  <a16:creationId xmlns:a16="http://schemas.microsoft.com/office/drawing/2014/main" id="{1AB8358C-77B8-6BA6-11B2-B667908EE0EB}"/>
                </a:ext>
              </a:extLst>
            </p:cNvPr>
            <p:cNvSpPr>
              <a:spLocks noChangeAspect="1"/>
            </p:cNvSpPr>
            <p:nvPr/>
          </p:nvSpPr>
          <p:spPr>
            <a:xfrm>
              <a:off x="8551989" y="1428207"/>
              <a:ext cx="1488163" cy="1451609"/>
            </a:xfrm>
            <a:prstGeom prst="ellipse">
              <a:avLst/>
            </a:prstGeom>
            <a:solidFill>
              <a:schemeClr val="bg1"/>
            </a:solidFill>
            <a:ln w="12700" cap="flat" cmpd="sng" algn="ctr">
              <a:solidFill>
                <a:srgbClr val="1D71BD"/>
              </a:solidFill>
              <a:prstDash val="solid"/>
              <a:miter lim="800000"/>
            </a:ln>
            <a:effectLst/>
          </p:spPr>
          <p:txBody>
            <a:bodyPr rtlCol="0" anchor="ctr"/>
            <a:lstStyle/>
            <a:p>
              <a:pPr marL="0" marR="0" lvl="0" indent="0" algn="ctr" defTabSz="1828434" eaLnBrk="1" fontAlgn="auto" latinLnBrk="0" hangingPunct="1">
                <a:lnSpc>
                  <a:spcPct val="100000"/>
                </a:lnSpc>
                <a:spcBef>
                  <a:spcPts val="0"/>
                </a:spcBef>
                <a:spcAft>
                  <a:spcPts val="0"/>
                </a:spcAft>
                <a:buClrTx/>
                <a:buSzTx/>
                <a:buFontTx/>
                <a:buNone/>
                <a:tabLst/>
                <a:defRPr/>
              </a:pPr>
              <a:endParaRPr kumimoji="0" lang="en-US" sz="6398" b="0" i="0" u="none" strike="noStrike" kern="0" cap="none" spc="0" normalizeH="0" baseline="0" noProof="0">
                <a:ln>
                  <a:noFill/>
                </a:ln>
                <a:solidFill>
                  <a:srgbClr val="FFFFFF"/>
                </a:solidFill>
                <a:effectLst/>
                <a:uLnTx/>
                <a:uFillTx/>
                <a:latin typeface="Noto Sans ExtraLight" panose="020B0302040504020204" pitchFamily="34" charset="0"/>
                <a:ea typeface="+mn-ea"/>
                <a:cs typeface="+mn-cs"/>
              </a:endParaRPr>
            </a:p>
          </p:txBody>
        </p:sp>
        <p:pic>
          <p:nvPicPr>
            <p:cNvPr id="7" name="Picture 6" descr="Icon&#10;&#10;Description automatically generated">
              <a:extLst>
                <a:ext uri="{FF2B5EF4-FFF2-40B4-BE49-F238E27FC236}">
                  <a16:creationId xmlns:a16="http://schemas.microsoft.com/office/drawing/2014/main" id="{B9A80D19-E39C-0894-8990-53E3A13E89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38870" y="1762449"/>
              <a:ext cx="914400" cy="783125"/>
            </a:xfrm>
            <a:prstGeom prst="rect">
              <a:avLst/>
            </a:prstGeom>
          </p:spPr>
        </p:pic>
      </p:grpSp>
      <p:sp>
        <p:nvSpPr>
          <p:cNvPr id="5" name="Slide Number Placeholder 5">
            <a:extLst>
              <a:ext uri="{FF2B5EF4-FFF2-40B4-BE49-F238E27FC236}">
                <a16:creationId xmlns:a16="http://schemas.microsoft.com/office/drawing/2014/main" id="{91C0F57E-E96B-AFF6-7D84-93484BD74917}"/>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solidFill>
                <a:latin typeface="Arial Nova" panose="020B0504020202020204" pitchFamily="34" charset="0"/>
              </a:rPr>
              <a:t>20</a:t>
            </a:fld>
            <a:endParaRPr lang="en-US" dirty="0">
              <a:solidFill>
                <a:schemeClr val="bg1"/>
              </a:solidFill>
              <a:latin typeface="Arial Nova" panose="020B0504020202020204" pitchFamily="34" charset="0"/>
            </a:endParaRPr>
          </a:p>
        </p:txBody>
      </p:sp>
      <p:sp>
        <p:nvSpPr>
          <p:cNvPr id="6" name="Footer Placeholder 4">
            <a:extLst>
              <a:ext uri="{FF2B5EF4-FFF2-40B4-BE49-F238E27FC236}">
                <a16:creationId xmlns:a16="http://schemas.microsoft.com/office/drawing/2014/main" id="{952E4006-078F-11CA-684B-557CD2A32A38}"/>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3338514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B8AA8F0-A1F6-3DAB-62A6-2DE8D3E94F0C}"/>
              </a:ext>
            </a:extLst>
          </p:cNvPr>
          <p:cNvSpPr txBox="1">
            <a:spLocks/>
          </p:cNvSpPr>
          <p:nvPr/>
        </p:nvSpPr>
        <p:spPr>
          <a:xfrm>
            <a:off x="381000" y="320676"/>
            <a:ext cx="10972800" cy="805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a:t>Communicate Progress: A.C.T.</a:t>
            </a:r>
          </a:p>
        </p:txBody>
      </p:sp>
      <p:sp>
        <p:nvSpPr>
          <p:cNvPr id="8" name="Content Placeholder 2">
            <a:extLst>
              <a:ext uri="{FF2B5EF4-FFF2-40B4-BE49-F238E27FC236}">
                <a16:creationId xmlns:a16="http://schemas.microsoft.com/office/drawing/2014/main" id="{DECEEE90-F733-FD70-64C3-80F36648A13A}"/>
              </a:ext>
            </a:extLst>
          </p:cNvPr>
          <p:cNvSpPr txBox="1">
            <a:spLocks noGrp="1"/>
          </p:cNvSpPr>
          <p:nvPr>
            <p:ph idx="1"/>
          </p:nvPr>
        </p:nvSpPr>
        <p:spPr>
          <a:xfrm>
            <a:off x="520700" y="1819468"/>
            <a:ext cx="11430000" cy="492443"/>
          </a:xfrm>
          <a:prstGeom prst="rect">
            <a:avLst/>
          </a:prstGeom>
          <a:noFill/>
        </p:spPr>
        <p:txBody>
          <a:bodyPr wrap="square" rtlCol="0">
            <a:spAutoFit/>
          </a:bodyPr>
          <a:lstStyle/>
          <a:p>
            <a:pPr marL="0" indent="0">
              <a:lnSpc>
                <a:spcPct val="100000"/>
              </a:lnSpc>
              <a:spcBef>
                <a:spcPts val="630"/>
              </a:spcBef>
              <a:buNone/>
            </a:pPr>
            <a:r>
              <a:rPr lang="en-US" b="1" spc="200">
                <a:solidFill>
                  <a:srgbClr val="0076BD"/>
                </a:solidFill>
                <a:cs typeface="Arial Narrow"/>
              </a:rPr>
              <a:t>We</a:t>
            </a:r>
            <a:r>
              <a:rPr lang="en-US" b="1" spc="-30">
                <a:solidFill>
                  <a:srgbClr val="0076BD"/>
                </a:solidFill>
                <a:cs typeface="Arial Narrow"/>
              </a:rPr>
              <a:t> </a:t>
            </a:r>
            <a:r>
              <a:rPr lang="en-US" b="1" spc="60">
                <a:solidFill>
                  <a:srgbClr val="0076BD"/>
                </a:solidFill>
                <a:cs typeface="Arial Narrow"/>
              </a:rPr>
              <a:t>A.C.T.</a:t>
            </a:r>
            <a:r>
              <a:rPr lang="en-US" b="1" spc="-25">
                <a:solidFill>
                  <a:srgbClr val="0076BD"/>
                </a:solidFill>
                <a:cs typeface="Arial Narrow"/>
              </a:rPr>
              <a:t> </a:t>
            </a:r>
            <a:r>
              <a:rPr lang="en-US" b="1" spc="140">
                <a:solidFill>
                  <a:srgbClr val="0076BD"/>
                </a:solidFill>
                <a:cs typeface="Arial Narrow"/>
              </a:rPr>
              <a:t>on</a:t>
            </a:r>
            <a:r>
              <a:rPr lang="en-US" b="1" spc="-30">
                <a:solidFill>
                  <a:srgbClr val="0076BD"/>
                </a:solidFill>
                <a:cs typeface="Arial Narrow"/>
              </a:rPr>
              <a:t> </a:t>
            </a:r>
            <a:r>
              <a:rPr lang="en-US" b="1" spc="145">
                <a:solidFill>
                  <a:srgbClr val="0076BD"/>
                </a:solidFill>
                <a:cs typeface="Arial Narrow"/>
              </a:rPr>
              <a:t>each</a:t>
            </a:r>
            <a:r>
              <a:rPr lang="en-US" b="1" spc="-25">
                <a:solidFill>
                  <a:srgbClr val="0076BD"/>
                </a:solidFill>
                <a:cs typeface="Arial Narrow"/>
              </a:rPr>
              <a:t> </a:t>
            </a:r>
            <a:r>
              <a:rPr lang="en-US" b="1" spc="90">
                <a:solidFill>
                  <a:srgbClr val="0076BD"/>
                </a:solidFill>
                <a:cs typeface="Arial Narrow"/>
              </a:rPr>
              <a:t>investor’s</a:t>
            </a:r>
            <a:r>
              <a:rPr lang="en-US" b="1" spc="-25">
                <a:solidFill>
                  <a:srgbClr val="0076BD"/>
                </a:solidFill>
                <a:cs typeface="Arial Narrow"/>
              </a:rPr>
              <a:t> </a:t>
            </a:r>
            <a:r>
              <a:rPr lang="en-US" b="1" spc="80">
                <a:solidFill>
                  <a:srgbClr val="0076BD"/>
                </a:solidFill>
                <a:cs typeface="Arial Narrow"/>
              </a:rPr>
              <a:t>behalf...</a:t>
            </a:r>
          </a:p>
        </p:txBody>
      </p:sp>
      <p:cxnSp>
        <p:nvCxnSpPr>
          <p:cNvPr id="28" name="Straight Connector 27">
            <a:extLst>
              <a:ext uri="{FF2B5EF4-FFF2-40B4-BE49-F238E27FC236}">
                <a16:creationId xmlns:a16="http://schemas.microsoft.com/office/drawing/2014/main" id="{75330D75-640C-124F-1267-0DF82B9FA24B}"/>
              </a:ext>
            </a:extLst>
          </p:cNvPr>
          <p:cNvCxnSpPr>
            <a:cxnSpLocks/>
          </p:cNvCxnSpPr>
          <p:nvPr/>
        </p:nvCxnSpPr>
        <p:spPr>
          <a:xfrm>
            <a:off x="4615911" y="2933493"/>
            <a:ext cx="0" cy="2103120"/>
          </a:xfrm>
          <a:prstGeom prst="line">
            <a:avLst/>
          </a:prstGeom>
          <a:ln>
            <a:solidFill>
              <a:srgbClr val="00437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8B7F564-DA08-0B3B-E861-DF542D53148C}"/>
              </a:ext>
            </a:extLst>
          </p:cNvPr>
          <p:cNvCxnSpPr>
            <a:cxnSpLocks/>
          </p:cNvCxnSpPr>
          <p:nvPr/>
        </p:nvCxnSpPr>
        <p:spPr>
          <a:xfrm>
            <a:off x="7672895" y="2933493"/>
            <a:ext cx="0" cy="2103120"/>
          </a:xfrm>
          <a:prstGeom prst="line">
            <a:avLst/>
          </a:prstGeom>
          <a:ln>
            <a:solidFill>
              <a:srgbClr val="004371"/>
            </a:solidFill>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6604C321-B8B6-C9D8-09F5-E7BCE90ED548}"/>
              </a:ext>
            </a:extLst>
          </p:cNvPr>
          <p:cNvGrpSpPr/>
          <p:nvPr/>
        </p:nvGrpSpPr>
        <p:grpSpPr>
          <a:xfrm>
            <a:off x="1948136" y="3003206"/>
            <a:ext cx="2278566" cy="1963694"/>
            <a:chOff x="1797824" y="2777315"/>
            <a:chExt cx="2278566" cy="1963694"/>
          </a:xfrm>
        </p:grpSpPr>
        <p:sp>
          <p:nvSpPr>
            <p:cNvPr id="20" name="TextBox 19">
              <a:extLst>
                <a:ext uri="{FF2B5EF4-FFF2-40B4-BE49-F238E27FC236}">
                  <a16:creationId xmlns:a16="http://schemas.microsoft.com/office/drawing/2014/main" id="{066BFBB4-656D-1505-6EC0-A74335FE8BCA}"/>
                </a:ext>
              </a:extLst>
            </p:cNvPr>
            <p:cNvSpPr txBox="1"/>
            <p:nvPr/>
          </p:nvSpPr>
          <p:spPr>
            <a:xfrm>
              <a:off x="1797824" y="4279344"/>
              <a:ext cx="2278566" cy="461665"/>
            </a:xfrm>
            <a:prstGeom prst="rect">
              <a:avLst/>
            </a:prstGeom>
            <a:noFill/>
          </p:spPr>
          <p:txBody>
            <a:bodyPr wrap="square" rtlCol="0">
              <a:spAutoFit/>
            </a:bodyPr>
            <a:lstStyle/>
            <a:p>
              <a:pPr algn="ctr"/>
              <a:r>
                <a:rPr lang="en-US" sz="2400" b="1">
                  <a:solidFill>
                    <a:srgbClr val="0076BC"/>
                  </a:solidFill>
                  <a:latin typeface="Arial Nova" panose="020B0504020202020204" pitchFamily="34" charset="0"/>
                </a:rPr>
                <a:t>Accessible</a:t>
              </a:r>
            </a:p>
          </p:txBody>
        </p:sp>
        <p:grpSp>
          <p:nvGrpSpPr>
            <p:cNvPr id="36" name="Group 35">
              <a:extLst>
                <a:ext uri="{FF2B5EF4-FFF2-40B4-BE49-F238E27FC236}">
                  <a16:creationId xmlns:a16="http://schemas.microsoft.com/office/drawing/2014/main" id="{C84D74F6-8C89-6AC5-4913-4FA5190EB4E6}"/>
                </a:ext>
              </a:extLst>
            </p:cNvPr>
            <p:cNvGrpSpPr/>
            <p:nvPr/>
          </p:nvGrpSpPr>
          <p:grpSpPr>
            <a:xfrm>
              <a:off x="2251307" y="2777315"/>
              <a:ext cx="1371600" cy="1371600"/>
              <a:chOff x="1884888" y="2687804"/>
              <a:chExt cx="1371600" cy="1371600"/>
            </a:xfrm>
          </p:grpSpPr>
          <p:sp>
            <p:nvSpPr>
              <p:cNvPr id="30" name="Oval 29">
                <a:extLst>
                  <a:ext uri="{FF2B5EF4-FFF2-40B4-BE49-F238E27FC236}">
                    <a16:creationId xmlns:a16="http://schemas.microsoft.com/office/drawing/2014/main" id="{4C2640AE-CAA8-D9F4-F268-0A05D7D63031}"/>
                  </a:ext>
                </a:extLst>
              </p:cNvPr>
              <p:cNvSpPr/>
              <p:nvPr/>
            </p:nvSpPr>
            <p:spPr>
              <a:xfrm>
                <a:off x="1884888" y="2687804"/>
                <a:ext cx="1371600" cy="1371600"/>
              </a:xfrm>
              <a:prstGeom prst="ellipse">
                <a:avLst/>
              </a:prstGeom>
              <a:solidFill>
                <a:srgbClr val="004371"/>
              </a:solidFill>
              <a:ln>
                <a:solidFill>
                  <a:srgbClr val="00437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descr="Chat outline">
                <a:extLst>
                  <a:ext uri="{FF2B5EF4-FFF2-40B4-BE49-F238E27FC236}">
                    <a16:creationId xmlns:a16="http://schemas.microsoft.com/office/drawing/2014/main" id="{A28D572B-A503-0DBD-C5C0-5F7EC0C800C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22048" y="2824964"/>
                <a:ext cx="1097280" cy="1097280"/>
              </a:xfrm>
              <a:prstGeom prst="rect">
                <a:avLst/>
              </a:prstGeom>
            </p:spPr>
          </p:pic>
        </p:grpSp>
      </p:grpSp>
      <p:grpSp>
        <p:nvGrpSpPr>
          <p:cNvPr id="38" name="Group 37">
            <a:extLst>
              <a:ext uri="{FF2B5EF4-FFF2-40B4-BE49-F238E27FC236}">
                <a16:creationId xmlns:a16="http://schemas.microsoft.com/office/drawing/2014/main" id="{76FC5AD6-1BC7-C52A-1CC6-1F400F1F1805}"/>
              </a:ext>
            </a:extLst>
          </p:cNvPr>
          <p:cNvGrpSpPr/>
          <p:nvPr/>
        </p:nvGrpSpPr>
        <p:grpSpPr>
          <a:xfrm>
            <a:off x="5005120" y="3003206"/>
            <a:ext cx="2278566" cy="1963694"/>
            <a:chOff x="4854808" y="2777315"/>
            <a:chExt cx="2278566" cy="1963694"/>
          </a:xfrm>
        </p:grpSpPr>
        <p:sp>
          <p:nvSpPr>
            <p:cNvPr id="21" name="TextBox 20">
              <a:extLst>
                <a:ext uri="{FF2B5EF4-FFF2-40B4-BE49-F238E27FC236}">
                  <a16:creationId xmlns:a16="http://schemas.microsoft.com/office/drawing/2014/main" id="{BFC16C21-E0F0-FFF3-DAB0-092CFE8C456B}"/>
                </a:ext>
              </a:extLst>
            </p:cNvPr>
            <p:cNvSpPr txBox="1"/>
            <p:nvPr/>
          </p:nvSpPr>
          <p:spPr>
            <a:xfrm>
              <a:off x="4854808" y="4279344"/>
              <a:ext cx="2278566" cy="461665"/>
            </a:xfrm>
            <a:prstGeom prst="rect">
              <a:avLst/>
            </a:prstGeom>
            <a:noFill/>
          </p:spPr>
          <p:txBody>
            <a:bodyPr wrap="square" rtlCol="0">
              <a:spAutoFit/>
            </a:bodyPr>
            <a:lstStyle/>
            <a:p>
              <a:pPr algn="ctr"/>
              <a:r>
                <a:rPr lang="en-US" sz="2400" b="1">
                  <a:solidFill>
                    <a:srgbClr val="0076BC"/>
                  </a:solidFill>
                  <a:latin typeface="Arial Nova" panose="020B0504020202020204" pitchFamily="34" charset="0"/>
                </a:rPr>
                <a:t>Consistent</a:t>
              </a:r>
            </a:p>
          </p:txBody>
        </p:sp>
        <p:grpSp>
          <p:nvGrpSpPr>
            <p:cNvPr id="35" name="Group 34">
              <a:extLst>
                <a:ext uri="{FF2B5EF4-FFF2-40B4-BE49-F238E27FC236}">
                  <a16:creationId xmlns:a16="http://schemas.microsoft.com/office/drawing/2014/main" id="{A9956B34-7D37-1729-B772-85EB01DC0B2B}"/>
                </a:ext>
              </a:extLst>
            </p:cNvPr>
            <p:cNvGrpSpPr/>
            <p:nvPr/>
          </p:nvGrpSpPr>
          <p:grpSpPr>
            <a:xfrm>
              <a:off x="5308291" y="2777315"/>
              <a:ext cx="1371600" cy="1371600"/>
              <a:chOff x="5079691" y="2777315"/>
              <a:chExt cx="1371600" cy="1371600"/>
            </a:xfrm>
          </p:grpSpPr>
          <p:sp>
            <p:nvSpPr>
              <p:cNvPr id="31" name="Oval 30">
                <a:extLst>
                  <a:ext uri="{FF2B5EF4-FFF2-40B4-BE49-F238E27FC236}">
                    <a16:creationId xmlns:a16="http://schemas.microsoft.com/office/drawing/2014/main" id="{6757BC1F-9106-07AD-5E95-CF66C60005B3}"/>
                  </a:ext>
                </a:extLst>
              </p:cNvPr>
              <p:cNvSpPr/>
              <p:nvPr/>
            </p:nvSpPr>
            <p:spPr>
              <a:xfrm>
                <a:off x="5079691" y="2777315"/>
                <a:ext cx="1371600" cy="1371600"/>
              </a:xfrm>
              <a:prstGeom prst="ellipse">
                <a:avLst/>
              </a:prstGeom>
              <a:solidFill>
                <a:srgbClr val="004371"/>
              </a:solidFill>
              <a:ln>
                <a:solidFill>
                  <a:srgbClr val="00437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Gears outline">
                <a:extLst>
                  <a:ext uri="{FF2B5EF4-FFF2-40B4-BE49-F238E27FC236}">
                    <a16:creationId xmlns:a16="http://schemas.microsoft.com/office/drawing/2014/main" id="{3A1EF47F-96EF-B06C-CE53-138508A3123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16851" y="2940205"/>
                <a:ext cx="1097280" cy="1097280"/>
              </a:xfrm>
              <a:prstGeom prst="rect">
                <a:avLst/>
              </a:prstGeom>
            </p:spPr>
          </p:pic>
        </p:grpSp>
      </p:grpSp>
      <p:grpSp>
        <p:nvGrpSpPr>
          <p:cNvPr id="37" name="Group 36">
            <a:extLst>
              <a:ext uri="{FF2B5EF4-FFF2-40B4-BE49-F238E27FC236}">
                <a16:creationId xmlns:a16="http://schemas.microsoft.com/office/drawing/2014/main" id="{3BCCFD3F-83E2-E175-CA35-3036297C3E37}"/>
              </a:ext>
            </a:extLst>
          </p:cNvPr>
          <p:cNvGrpSpPr/>
          <p:nvPr/>
        </p:nvGrpSpPr>
        <p:grpSpPr>
          <a:xfrm>
            <a:off x="8062103" y="3003206"/>
            <a:ext cx="2278566" cy="1963694"/>
            <a:chOff x="7911791" y="2777315"/>
            <a:chExt cx="2278566" cy="1963694"/>
          </a:xfrm>
        </p:grpSpPr>
        <p:sp>
          <p:nvSpPr>
            <p:cNvPr id="22" name="TextBox 21">
              <a:extLst>
                <a:ext uri="{FF2B5EF4-FFF2-40B4-BE49-F238E27FC236}">
                  <a16:creationId xmlns:a16="http://schemas.microsoft.com/office/drawing/2014/main" id="{C12FC8B7-DF8D-9DC8-2C9E-14D6931A5549}"/>
                </a:ext>
              </a:extLst>
            </p:cNvPr>
            <p:cNvSpPr txBox="1"/>
            <p:nvPr/>
          </p:nvSpPr>
          <p:spPr>
            <a:xfrm>
              <a:off x="7911791" y="4279344"/>
              <a:ext cx="2278566" cy="461665"/>
            </a:xfrm>
            <a:prstGeom prst="rect">
              <a:avLst/>
            </a:prstGeom>
            <a:noFill/>
          </p:spPr>
          <p:txBody>
            <a:bodyPr wrap="square" rtlCol="0">
              <a:spAutoFit/>
            </a:bodyPr>
            <a:lstStyle/>
            <a:p>
              <a:pPr algn="ctr"/>
              <a:r>
                <a:rPr lang="en-US" sz="2400" b="1">
                  <a:solidFill>
                    <a:srgbClr val="0076BC"/>
                  </a:solidFill>
                  <a:latin typeface="Arial Nova" panose="020B0504020202020204" pitchFamily="34" charset="0"/>
                </a:rPr>
                <a:t>Transparent</a:t>
              </a:r>
            </a:p>
          </p:txBody>
        </p:sp>
        <p:grpSp>
          <p:nvGrpSpPr>
            <p:cNvPr id="34" name="Group 33">
              <a:extLst>
                <a:ext uri="{FF2B5EF4-FFF2-40B4-BE49-F238E27FC236}">
                  <a16:creationId xmlns:a16="http://schemas.microsoft.com/office/drawing/2014/main" id="{92DA350A-3553-EFDD-4476-58E47C946503}"/>
                </a:ext>
              </a:extLst>
            </p:cNvPr>
            <p:cNvGrpSpPr/>
            <p:nvPr/>
          </p:nvGrpSpPr>
          <p:grpSpPr>
            <a:xfrm>
              <a:off x="8365274" y="2777315"/>
              <a:ext cx="1371600" cy="1371600"/>
              <a:chOff x="8410994" y="2907744"/>
              <a:chExt cx="1371600" cy="1371600"/>
            </a:xfrm>
          </p:grpSpPr>
          <p:sp>
            <p:nvSpPr>
              <p:cNvPr id="32" name="Oval 31">
                <a:extLst>
                  <a:ext uri="{FF2B5EF4-FFF2-40B4-BE49-F238E27FC236}">
                    <a16:creationId xmlns:a16="http://schemas.microsoft.com/office/drawing/2014/main" id="{87D16B5E-183D-2B7E-091E-1BB33282B5D4}"/>
                  </a:ext>
                </a:extLst>
              </p:cNvPr>
              <p:cNvSpPr/>
              <p:nvPr/>
            </p:nvSpPr>
            <p:spPr>
              <a:xfrm>
                <a:off x="8410994" y="2907744"/>
                <a:ext cx="1371600" cy="1371600"/>
              </a:xfrm>
              <a:prstGeom prst="ellipse">
                <a:avLst/>
              </a:prstGeom>
              <a:solidFill>
                <a:srgbClr val="004371"/>
              </a:solidFill>
              <a:ln>
                <a:solidFill>
                  <a:srgbClr val="00437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descr="Magnifying glass outline">
                <a:extLst>
                  <a:ext uri="{FF2B5EF4-FFF2-40B4-BE49-F238E27FC236}">
                    <a16:creationId xmlns:a16="http://schemas.microsoft.com/office/drawing/2014/main" id="{B70E86AB-173E-4001-F5C2-383D86FA7D8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39594" y="3136344"/>
                <a:ext cx="914400" cy="914400"/>
              </a:xfrm>
              <a:prstGeom prst="rect">
                <a:avLst/>
              </a:prstGeom>
            </p:spPr>
          </p:pic>
        </p:grpSp>
      </p:grpSp>
      <p:sp>
        <p:nvSpPr>
          <p:cNvPr id="5" name="Slide Number Placeholder 5">
            <a:extLst>
              <a:ext uri="{FF2B5EF4-FFF2-40B4-BE49-F238E27FC236}">
                <a16:creationId xmlns:a16="http://schemas.microsoft.com/office/drawing/2014/main" id="{27299AB7-C360-EA3B-7A45-2FC93F2BF3FA}"/>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21</a:t>
            </a:fld>
            <a:endParaRPr lang="en-US" dirty="0">
              <a:solidFill>
                <a:schemeClr val="bg1">
                  <a:lumMod val="75000"/>
                </a:schemeClr>
              </a:solidFill>
              <a:latin typeface="Arial Nova" panose="020B0504020202020204" pitchFamily="34" charset="0"/>
            </a:endParaRPr>
          </a:p>
        </p:txBody>
      </p:sp>
      <p:sp>
        <p:nvSpPr>
          <p:cNvPr id="6" name="Footer Placeholder 4">
            <a:extLst>
              <a:ext uri="{FF2B5EF4-FFF2-40B4-BE49-F238E27FC236}">
                <a16:creationId xmlns:a16="http://schemas.microsoft.com/office/drawing/2014/main" id="{14583D87-CC5F-907B-111D-9B83029CD3CA}"/>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3886412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par>
                                <p:cTn id="13" presetID="10" presetClass="entr" presetSubtype="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fade">
                                      <p:cBhvr>
                                        <p:cTn id="15" dur="500"/>
                                        <p:tgtEl>
                                          <p:spTgt spid="3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500"/>
                                        <p:tgtEl>
                                          <p:spTgt spid="29"/>
                                        </p:tgtEl>
                                      </p:cBhvr>
                                    </p:animEffect>
                                  </p:childTnLst>
                                </p:cTn>
                              </p:par>
                              <p:par>
                                <p:cTn id="21" presetID="10" presetClass="entr" presetSubtype="0"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567CE379-E734-941E-4797-8A22E3D2E985}"/>
              </a:ext>
            </a:extLst>
          </p:cNvPr>
          <p:cNvSpPr txBox="1">
            <a:spLocks/>
          </p:cNvSpPr>
          <p:nvPr/>
        </p:nvSpPr>
        <p:spPr>
          <a:xfrm>
            <a:off x="381000" y="320676"/>
            <a:ext cx="10972800" cy="805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dirty="0"/>
              <a:t>Communicate Progress: Engaged Partnership</a:t>
            </a:r>
          </a:p>
        </p:txBody>
      </p:sp>
      <p:sp>
        <p:nvSpPr>
          <p:cNvPr id="2" name="Content Placeholder 2">
            <a:extLst>
              <a:ext uri="{FF2B5EF4-FFF2-40B4-BE49-F238E27FC236}">
                <a16:creationId xmlns:a16="http://schemas.microsoft.com/office/drawing/2014/main" id="{305D57B5-B61D-FBF4-2D2C-7EE1B75A9AE6}"/>
              </a:ext>
            </a:extLst>
          </p:cNvPr>
          <p:cNvSpPr txBox="1">
            <a:spLocks/>
          </p:cNvSpPr>
          <p:nvPr/>
        </p:nvSpPr>
        <p:spPr>
          <a:xfrm>
            <a:off x="6388800" y="1987455"/>
            <a:ext cx="5402793" cy="3830347"/>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l" rtl="0" eaLnBrk="1" hangingPunct="1">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Nova" panose="020B0504020202020204" pitchFamily="34" charset="0"/>
                <a:ea typeface="Arial"/>
                <a:cs typeface="Arial"/>
                <a:sym typeface="Arial"/>
              </a:defRPr>
            </a:lvl1pPr>
            <a:lvl2pPr marL="914400" marR="0" lvl="1" indent="-381000" algn="l" rtl="0" eaLnBrk="1" hangingPunct="1">
              <a:lnSpc>
                <a:spcPct val="90000"/>
              </a:lnSpc>
              <a:spcBef>
                <a:spcPts val="500"/>
              </a:spcBef>
              <a:spcAft>
                <a:spcPts val="0"/>
              </a:spcAft>
              <a:buClr>
                <a:schemeClr val="dk1"/>
              </a:buClr>
              <a:buSzPct val="75000"/>
              <a:buFont typeface="Courier New" panose="02070309020205020404" pitchFamily="49" charset="0"/>
              <a:buChar char="o"/>
              <a:defRPr sz="2400" b="0" i="0" u="none" strike="noStrike" cap="none">
                <a:solidFill>
                  <a:schemeClr val="dk1"/>
                </a:solidFill>
                <a:latin typeface="Arial Nova" panose="020B0504020202020204" pitchFamily="34" charset="0"/>
                <a:ea typeface="Arial"/>
                <a:cs typeface="Arial"/>
                <a:sym typeface="Arial"/>
              </a:defRPr>
            </a:lvl2pPr>
            <a:lvl3pPr marL="1371600" marR="0" lvl="2" indent="-355600" algn="l" rtl="0" eaLnBrk="1" hangingPunct="1">
              <a:lnSpc>
                <a:spcPct val="90000"/>
              </a:lnSpc>
              <a:spcBef>
                <a:spcPts val="500"/>
              </a:spcBef>
              <a:spcAft>
                <a:spcPts val="0"/>
              </a:spcAft>
              <a:buClr>
                <a:schemeClr val="dk1"/>
              </a:buClr>
              <a:buSzPts val="2000"/>
              <a:buFont typeface="Wingdings" panose="05000000000000000000" pitchFamily="2" charset="2"/>
              <a:buChar char="§"/>
              <a:defRPr sz="2000" b="0" i="0" u="none" strike="noStrike" cap="none">
                <a:solidFill>
                  <a:schemeClr val="dk1"/>
                </a:solidFill>
                <a:latin typeface="Arial Nova" panose="020B0504020202020204" pitchFamily="34" charset="0"/>
                <a:ea typeface="Arial"/>
                <a:cs typeface="Arial"/>
                <a:sym typeface="Arial"/>
              </a:defRPr>
            </a:lvl3pPr>
            <a:lvl4pPr marL="1828800" marR="0" lvl="3"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Nova" panose="020B0504020202020204" pitchFamily="34" charset="0"/>
                <a:ea typeface="Arial"/>
                <a:cs typeface="Arial"/>
                <a:sym typeface="Arial"/>
              </a:defRPr>
            </a:lvl4pPr>
            <a:lvl5pPr marL="2286000" marR="0" lvl="4" indent="-342900" algn="l" rtl="0" eaLnBrk="1" hangingPunct="1">
              <a:lnSpc>
                <a:spcPct val="90000"/>
              </a:lnSpc>
              <a:spcBef>
                <a:spcPts val="500"/>
              </a:spcBef>
              <a:spcAft>
                <a:spcPts val="0"/>
              </a:spcAft>
              <a:buClr>
                <a:schemeClr val="dk1"/>
              </a:buClr>
              <a:buSzPts val="1800"/>
              <a:buFont typeface="Courier New" panose="02070309020205020404" pitchFamily="49" charset="0"/>
              <a:buChar char="o"/>
              <a:defRPr sz="1800" b="0" i="0" u="none" strike="noStrike" cap="none">
                <a:solidFill>
                  <a:schemeClr val="dk1"/>
                </a:solidFill>
                <a:latin typeface="Arial Nova" panose="020B0504020202020204" pitchFamily="34" charset="0"/>
                <a:ea typeface="Arial"/>
                <a:cs typeface="Arial"/>
                <a:sym typeface="Arial"/>
              </a:defRPr>
            </a:lvl5pPr>
            <a:lvl6pPr marL="2743200" marR="0" lvl="5"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eaLnBrk="1" hangingPunct="1">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a:lnSpc>
                <a:spcPct val="150000"/>
              </a:lnSpc>
              <a:buClrTx/>
              <a:defRPr/>
            </a:pPr>
            <a:r>
              <a:rPr kumimoji="0" lang="en-US" sz="2200" b="0" i="0" u="none" strike="noStrike" kern="0" cap="none" spc="0" normalizeH="0" baseline="0" noProof="0" dirty="0">
                <a:ln>
                  <a:noFill/>
                </a:ln>
                <a:solidFill>
                  <a:srgbClr val="000000"/>
                </a:solidFill>
                <a:effectLst/>
                <a:uLnTx/>
                <a:uFillTx/>
                <a:sym typeface="Arial"/>
              </a:rPr>
              <a:t>Quarterly client account reports</a:t>
            </a:r>
          </a:p>
          <a:p>
            <a:pPr marL="457200" marR="0" lvl="0" indent="-406400" algn="l" defTabSz="914400" rtl="0" eaLnBrk="1" fontAlgn="auto" latinLnBrk="0" hangingPunct="1">
              <a:lnSpc>
                <a:spcPct val="150000"/>
              </a:lnSpc>
              <a:spcBef>
                <a:spcPts val="1000"/>
              </a:spcBef>
              <a:spcAft>
                <a:spcPts val="0"/>
              </a:spcAft>
              <a:buClrTx/>
              <a:buSzPts val="2800"/>
              <a:buFont typeface="Arial"/>
              <a:buChar char="•"/>
              <a:tabLst/>
              <a:defRPr/>
            </a:pPr>
            <a:r>
              <a:rPr kumimoji="0" lang="en-US" sz="2200" b="0" i="0" u="none" strike="noStrike" kern="0" cap="none" spc="0" normalizeH="0" dirty="0">
                <a:ln>
                  <a:noFill/>
                </a:ln>
                <a:solidFill>
                  <a:srgbClr val="000000"/>
                </a:solidFill>
                <a:effectLst/>
                <a:uLnTx/>
                <a:uFillTx/>
                <a:sym typeface="Arial"/>
              </a:rPr>
              <a:t>Timely updates, as needed</a:t>
            </a:r>
          </a:p>
          <a:p>
            <a:pPr>
              <a:lnSpc>
                <a:spcPct val="150000"/>
              </a:lnSpc>
              <a:buClrTx/>
              <a:defRPr/>
            </a:pPr>
            <a:r>
              <a:rPr lang="en-US" sz="2200" kern="0" dirty="0">
                <a:solidFill>
                  <a:srgbClr val="000000"/>
                </a:solidFill>
              </a:rPr>
              <a:t>24/7 accessible online client portal</a:t>
            </a:r>
          </a:p>
          <a:p>
            <a:pPr>
              <a:lnSpc>
                <a:spcPct val="150000"/>
              </a:lnSpc>
              <a:buClrTx/>
              <a:defRPr/>
            </a:pPr>
            <a:r>
              <a:rPr lang="en-US" sz="2200" kern="0" dirty="0">
                <a:solidFill>
                  <a:srgbClr val="000000"/>
                </a:solidFill>
              </a:rPr>
              <a:t>Automated portfolio communications</a:t>
            </a:r>
            <a:endParaRPr lang="en-US" sz="2200" kern="0" baseline="30000" dirty="0">
              <a:solidFill>
                <a:srgbClr val="000000"/>
              </a:solidFill>
            </a:endParaRPr>
          </a:p>
        </p:txBody>
      </p:sp>
      <p:grpSp>
        <p:nvGrpSpPr>
          <p:cNvPr id="7" name="Group 6">
            <a:extLst>
              <a:ext uri="{FF2B5EF4-FFF2-40B4-BE49-F238E27FC236}">
                <a16:creationId xmlns:a16="http://schemas.microsoft.com/office/drawing/2014/main" id="{6057376E-B85F-8093-A50F-70136DBC41BF}"/>
              </a:ext>
            </a:extLst>
          </p:cNvPr>
          <p:cNvGrpSpPr>
            <a:grpSpLocks noChangeAspect="1"/>
          </p:cNvGrpSpPr>
          <p:nvPr/>
        </p:nvGrpSpPr>
        <p:grpSpPr>
          <a:xfrm>
            <a:off x="383974" y="1903078"/>
            <a:ext cx="5733290" cy="2405535"/>
            <a:chOff x="600970" y="1285021"/>
            <a:chExt cx="10990057" cy="4611133"/>
          </a:xfrm>
        </p:grpSpPr>
        <p:grpSp>
          <p:nvGrpSpPr>
            <p:cNvPr id="8" name="Group 7">
              <a:extLst>
                <a:ext uri="{FF2B5EF4-FFF2-40B4-BE49-F238E27FC236}">
                  <a16:creationId xmlns:a16="http://schemas.microsoft.com/office/drawing/2014/main" id="{097492C4-8DB3-17AB-0602-59A059703D16}"/>
                </a:ext>
              </a:extLst>
            </p:cNvPr>
            <p:cNvGrpSpPr/>
            <p:nvPr/>
          </p:nvGrpSpPr>
          <p:grpSpPr>
            <a:xfrm>
              <a:off x="600970" y="1285021"/>
              <a:ext cx="10990057" cy="4611133"/>
              <a:chOff x="600970" y="1285021"/>
              <a:chExt cx="10990057" cy="4611133"/>
            </a:xfrm>
          </p:grpSpPr>
          <p:pic>
            <p:nvPicPr>
              <p:cNvPr id="10" name="Picture 9" descr="Graphical user interface, application&#10;&#10;Description automatically generated">
                <a:extLst>
                  <a:ext uri="{FF2B5EF4-FFF2-40B4-BE49-F238E27FC236}">
                    <a16:creationId xmlns:a16="http://schemas.microsoft.com/office/drawing/2014/main" id="{9A889A66-BE55-AB12-9C91-73781B5799A9}"/>
                  </a:ext>
                </a:extLst>
              </p:cNvPr>
              <p:cNvPicPr>
                <a:picLocks noChangeAspect="1"/>
              </p:cNvPicPr>
              <p:nvPr/>
            </p:nvPicPr>
            <p:blipFill>
              <a:blip r:embed="rId3"/>
              <a:stretch>
                <a:fillRect/>
              </a:stretch>
            </p:blipFill>
            <p:spPr>
              <a:xfrm>
                <a:off x="600970" y="1285021"/>
                <a:ext cx="10990057" cy="4611133"/>
              </a:xfrm>
              <a:prstGeom prst="rect">
                <a:avLst/>
              </a:prstGeom>
              <a:ln>
                <a:solidFill>
                  <a:sysClr val="window" lastClr="FFFFFF">
                    <a:lumMod val="95000"/>
                  </a:sysClr>
                </a:solidFill>
              </a:ln>
              <a:effectLst>
                <a:outerShdw blurRad="50800" dist="38100" dir="2700000" algn="tl" rotWithShape="0">
                  <a:prstClr val="black">
                    <a:alpha val="40000"/>
                  </a:prstClr>
                </a:outerShdw>
              </a:effectLst>
            </p:spPr>
          </p:pic>
          <p:sp>
            <p:nvSpPr>
              <p:cNvPr id="11" name="Rectangle 10">
                <a:extLst>
                  <a:ext uri="{FF2B5EF4-FFF2-40B4-BE49-F238E27FC236}">
                    <a16:creationId xmlns:a16="http://schemas.microsoft.com/office/drawing/2014/main" id="{E9A36A00-8F42-4121-C9A4-F14C9133BE8C}"/>
                  </a:ext>
                </a:extLst>
              </p:cNvPr>
              <p:cNvSpPr/>
              <p:nvPr/>
            </p:nvSpPr>
            <p:spPr>
              <a:xfrm>
                <a:off x="727025" y="1344284"/>
                <a:ext cx="1970053" cy="448296"/>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prstClr val="white"/>
                  </a:solidFill>
                  <a:effectLst/>
                  <a:uLnTx/>
                  <a:uFillTx/>
                  <a:latin typeface="Calibri" panose="020F0502020204030204"/>
                  <a:ea typeface="+mn-ea"/>
                  <a:cs typeface="+mn-cs"/>
                  <a:sym typeface="Arial"/>
                </a:endParaRPr>
              </a:p>
            </p:txBody>
          </p:sp>
        </p:grpSp>
        <p:pic>
          <p:nvPicPr>
            <p:cNvPr id="9" name="Picture 8" descr="Logo, company name&#10;&#10;Description automatically generated">
              <a:extLst>
                <a:ext uri="{FF2B5EF4-FFF2-40B4-BE49-F238E27FC236}">
                  <a16:creationId xmlns:a16="http://schemas.microsoft.com/office/drawing/2014/main" id="{03062B20-BCAC-1672-4C5F-9A0CE082E50F}"/>
                </a:ext>
              </a:extLst>
            </p:cNvPr>
            <p:cNvPicPr>
              <a:picLocks noChangeAspect="1"/>
            </p:cNvPicPr>
            <p:nvPr/>
          </p:nvPicPr>
          <p:blipFill>
            <a:blip r:embed="rId4"/>
            <a:stretch>
              <a:fillRect/>
            </a:stretch>
          </p:blipFill>
          <p:spPr>
            <a:xfrm>
              <a:off x="632470" y="1309273"/>
              <a:ext cx="1566067" cy="522022"/>
            </a:xfrm>
            <a:prstGeom prst="rect">
              <a:avLst/>
            </a:prstGeom>
            <a:solidFill>
              <a:sysClr val="window" lastClr="FFFFFF"/>
            </a:solidFill>
          </p:spPr>
        </p:pic>
      </p:grpSp>
      <p:pic>
        <p:nvPicPr>
          <p:cNvPr id="14" name="Picture 13">
            <a:extLst>
              <a:ext uri="{FF2B5EF4-FFF2-40B4-BE49-F238E27FC236}">
                <a16:creationId xmlns:a16="http://schemas.microsoft.com/office/drawing/2014/main" id="{39EF89E7-0480-5754-4B31-114429EC9028}"/>
              </a:ext>
            </a:extLst>
          </p:cNvPr>
          <p:cNvPicPr>
            <a:picLocks noChangeAspect="1"/>
          </p:cNvPicPr>
          <p:nvPr/>
        </p:nvPicPr>
        <p:blipFill>
          <a:blip r:embed="rId5"/>
          <a:stretch>
            <a:fillRect/>
          </a:stretch>
        </p:blipFill>
        <p:spPr>
          <a:xfrm>
            <a:off x="1707786" y="1586039"/>
            <a:ext cx="3279090" cy="4231763"/>
          </a:xfrm>
          <a:prstGeom prst="rect">
            <a:avLst/>
          </a:prstGeom>
          <a:ln>
            <a:solidFill>
              <a:schemeClr val="bg1">
                <a:lumMod val="95000"/>
              </a:schemeClr>
            </a:solidFill>
          </a:ln>
          <a:effectLst>
            <a:outerShdw blurRad="50800" dist="38100" dir="2700000" algn="tl" rotWithShape="0">
              <a:prstClr val="black">
                <a:alpha val="40000"/>
              </a:prstClr>
            </a:outerShdw>
          </a:effectLst>
        </p:spPr>
      </p:pic>
      <p:pic>
        <p:nvPicPr>
          <p:cNvPr id="15" name="Picture 14">
            <a:extLst>
              <a:ext uri="{FF2B5EF4-FFF2-40B4-BE49-F238E27FC236}">
                <a16:creationId xmlns:a16="http://schemas.microsoft.com/office/drawing/2014/main" id="{B0A981B8-F9F0-8EDB-A30D-AC75CDFB6799}"/>
              </a:ext>
            </a:extLst>
          </p:cNvPr>
          <p:cNvPicPr>
            <a:picLocks noChangeAspect="1"/>
          </p:cNvPicPr>
          <p:nvPr/>
        </p:nvPicPr>
        <p:blipFill>
          <a:blip r:embed="rId6"/>
          <a:stretch>
            <a:fillRect/>
          </a:stretch>
        </p:blipFill>
        <p:spPr>
          <a:xfrm>
            <a:off x="1012626" y="1991466"/>
            <a:ext cx="4808564" cy="3719332"/>
          </a:xfrm>
          <a:prstGeom prst="rect">
            <a:avLst/>
          </a:prstGeom>
          <a:ln>
            <a:solidFill>
              <a:schemeClr val="bg1">
                <a:lumMod val="95000"/>
              </a:schemeClr>
            </a:solidFill>
          </a:ln>
          <a:effectLst>
            <a:outerShdw blurRad="50800" dist="38100" dir="2700000" algn="tl" rotWithShape="0">
              <a:prstClr val="black">
                <a:alpha val="40000"/>
              </a:prstClr>
            </a:outerShdw>
          </a:effectLst>
        </p:spPr>
      </p:pic>
      <p:pic>
        <p:nvPicPr>
          <p:cNvPr id="64" name="Picture 63" descr="A logo for a company&#10;&#10;Description automatically generated">
            <a:extLst>
              <a:ext uri="{FF2B5EF4-FFF2-40B4-BE49-F238E27FC236}">
                <a16:creationId xmlns:a16="http://schemas.microsoft.com/office/drawing/2014/main" id="{7D071F76-655E-43D8-64D7-8796DE36F9A9}"/>
              </a:ext>
            </a:extLst>
          </p:cNvPr>
          <p:cNvPicPr>
            <a:picLocks noChangeAspect="1"/>
          </p:cNvPicPr>
          <p:nvPr/>
        </p:nvPicPr>
        <p:blipFill rotWithShape="1">
          <a:blip r:embed="rId7">
            <a:extLst>
              <a:ext uri="{28A0092B-C50C-407E-A947-70E740481C1C}">
                <a14:useLocalDpi xmlns:a14="http://schemas.microsoft.com/office/drawing/2010/main" val="0"/>
              </a:ext>
            </a:extLst>
          </a:blip>
          <a:srcRect t="7272" b="21901"/>
          <a:stretch/>
        </p:blipFill>
        <p:spPr>
          <a:xfrm>
            <a:off x="730904" y="1897890"/>
            <a:ext cx="5402793" cy="2829578"/>
          </a:xfrm>
          <a:prstGeom prst="rect">
            <a:avLst/>
          </a:prstGeom>
        </p:spPr>
      </p:pic>
      <p:sp>
        <p:nvSpPr>
          <p:cNvPr id="6" name="TextBox 5">
            <a:extLst>
              <a:ext uri="{FF2B5EF4-FFF2-40B4-BE49-F238E27FC236}">
                <a16:creationId xmlns:a16="http://schemas.microsoft.com/office/drawing/2014/main" id="{099E3E0F-4C16-8897-4DF5-5C55A7939B05}"/>
              </a:ext>
            </a:extLst>
          </p:cNvPr>
          <p:cNvSpPr txBox="1"/>
          <p:nvPr/>
        </p:nvSpPr>
        <p:spPr>
          <a:xfrm>
            <a:off x="381000" y="6024195"/>
            <a:ext cx="11569262" cy="353943"/>
          </a:xfrm>
          <a:prstGeom prst="rect">
            <a:avLst/>
          </a:prstGeom>
          <a:noFill/>
        </p:spPr>
        <p:txBody>
          <a:bodyPr wrap="square" rtlCol="0">
            <a:spAutoFit/>
          </a:bodyPr>
          <a:lstStyle/>
          <a:p>
            <a:r>
              <a:rPr lang="en-US" sz="850" dirty="0">
                <a:solidFill>
                  <a:srgbClr val="939393"/>
                </a:solidFill>
                <a:latin typeface="Arial Nova" panose="020B0504020202020204" pitchFamily="34" charset="0"/>
              </a:rPr>
              <a:t>AssetLock</a:t>
            </a:r>
            <a:r>
              <a:rPr lang="en-US" sz="850" baseline="30000" dirty="0">
                <a:solidFill>
                  <a:srgbClr val="939393"/>
                </a:solidFill>
                <a:latin typeface="Arial Nova" panose="020B0504020202020204" pitchFamily="34" charset="0"/>
              </a:rPr>
              <a:t>®</a:t>
            </a:r>
            <a:r>
              <a:rPr lang="en-US" sz="850" dirty="0">
                <a:solidFill>
                  <a:srgbClr val="939393"/>
                </a:solidFill>
                <a:latin typeface="Arial Nova" panose="020B0504020202020204" pitchFamily="34" charset="0"/>
              </a:rPr>
              <a:t> is tracking software used to monitor performance of a client’s portfolio, and to predetermine the amount of downside the client is willing to tolerate. It is NOT an actual stop order and will NOT automatically sell the individual securities in the portfolio. The AssetLock</a:t>
            </a:r>
            <a:r>
              <a:rPr lang="en-US" sz="850" baseline="30000" dirty="0">
                <a:solidFill>
                  <a:srgbClr val="939393"/>
                </a:solidFill>
                <a:latin typeface="Arial Nova" panose="020B0504020202020204" pitchFamily="34" charset="0"/>
              </a:rPr>
              <a:t>®</a:t>
            </a:r>
            <a:r>
              <a:rPr lang="en-US" sz="850" dirty="0">
                <a:solidFill>
                  <a:srgbClr val="939393"/>
                </a:solidFill>
                <a:latin typeface="Arial Nova" panose="020B0504020202020204" pitchFamily="34" charset="0"/>
              </a:rPr>
              <a:t> Value is a reference point to encourage a conversation between the client and the advisor/firm.</a:t>
            </a:r>
          </a:p>
        </p:txBody>
      </p:sp>
      <p:sp>
        <p:nvSpPr>
          <p:cNvPr id="12" name="Slide Number Placeholder 5">
            <a:extLst>
              <a:ext uri="{FF2B5EF4-FFF2-40B4-BE49-F238E27FC236}">
                <a16:creationId xmlns:a16="http://schemas.microsoft.com/office/drawing/2014/main" id="{3AFA52F7-4404-C8B3-46B0-AC3F6D9DF24D}"/>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22</a:t>
            </a:fld>
            <a:endParaRPr lang="en-US" dirty="0">
              <a:solidFill>
                <a:schemeClr val="bg1">
                  <a:lumMod val="75000"/>
                </a:schemeClr>
              </a:solidFill>
              <a:latin typeface="Arial Nova" panose="020B0504020202020204" pitchFamily="34" charset="0"/>
            </a:endParaRPr>
          </a:p>
        </p:txBody>
      </p:sp>
      <p:sp>
        <p:nvSpPr>
          <p:cNvPr id="13" name="Footer Placeholder 4">
            <a:extLst>
              <a:ext uri="{FF2B5EF4-FFF2-40B4-BE49-F238E27FC236}">
                <a16:creationId xmlns:a16="http://schemas.microsoft.com/office/drawing/2014/main" id="{158BD5BE-5825-F650-1A1C-DA011D8ABF10}"/>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2340534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fade">
                                      <p:cBhvr>
                                        <p:cTn id="15" dur="500"/>
                                        <p:tgtEl>
                                          <p:spTgt spid="2">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Effect transition="in" filter="fade">
                                      <p:cBhvr>
                                        <p:cTn id="23" dur="500"/>
                                        <p:tgtEl>
                                          <p:spTgt spid="2">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animEffect transition="in" filter="fade">
                                      <p:cBhvr>
                                        <p:cTn id="31" dur="500"/>
                                        <p:tgtEl>
                                          <p:spTgt spid="2">
                                            <p:txEl>
                                              <p:pRg st="3" end="3"/>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64"/>
                                        </p:tgtEl>
                                        <p:attrNameLst>
                                          <p:attrName>style.visibility</p:attrName>
                                        </p:attrNameLst>
                                      </p:cBhvr>
                                      <p:to>
                                        <p:strVal val="visible"/>
                                      </p:to>
                                    </p:set>
                                    <p:animEffect transition="in" filter="fade">
                                      <p:cBhvr>
                                        <p:cTn id="34"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D14F31C4-3DA6-4FA1-07F5-3ED4CE6775A0}"/>
              </a:ext>
            </a:extLst>
          </p:cNvPr>
          <p:cNvSpPr txBox="1">
            <a:spLocks/>
          </p:cNvSpPr>
          <p:nvPr/>
        </p:nvSpPr>
        <p:spPr>
          <a:xfrm>
            <a:off x="381000" y="320676"/>
            <a:ext cx="10972800" cy="805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dirty="0"/>
              <a:t>Communicate Progress: AssetLock</a:t>
            </a:r>
            <a:r>
              <a:rPr lang="en-US" baseline="30000" dirty="0"/>
              <a:t>®</a:t>
            </a:r>
          </a:p>
        </p:txBody>
      </p:sp>
      <p:sp>
        <p:nvSpPr>
          <p:cNvPr id="4" name="TextBox 3">
            <a:extLst>
              <a:ext uri="{FF2B5EF4-FFF2-40B4-BE49-F238E27FC236}">
                <a16:creationId xmlns:a16="http://schemas.microsoft.com/office/drawing/2014/main" id="{A4583570-9755-A0C9-FC43-641811CA768D}"/>
              </a:ext>
            </a:extLst>
          </p:cNvPr>
          <p:cNvSpPr txBox="1"/>
          <p:nvPr/>
        </p:nvSpPr>
        <p:spPr>
          <a:xfrm>
            <a:off x="5325769" y="1957707"/>
            <a:ext cx="6455852" cy="30469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4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AssetLock is </a:t>
            </a:r>
            <a:r>
              <a:rPr lang="en-US" sz="2400" b="1" dirty="0">
                <a:solidFill>
                  <a:srgbClr val="0276BD"/>
                </a:solidFill>
                <a:latin typeface="Arial Nova" panose="020B0504020202020204" pitchFamily="34" charset="0"/>
              </a:rPr>
              <a:t>a</a:t>
            </a:r>
            <a:r>
              <a:rPr kumimoji="0" lang="en-US" sz="2400" b="1" i="0" u="none" strike="noStrike" kern="1200" cap="none" spc="0" normalizeH="0" baseline="0" noProof="0" dirty="0">
                <a:ln>
                  <a:noFill/>
                </a:ln>
                <a:solidFill>
                  <a:srgbClr val="0276BD"/>
                </a:solidFill>
                <a:effectLst/>
                <a:uLnTx/>
                <a:uFillTx/>
                <a:latin typeface="Arial Nova" panose="020B0504020202020204" pitchFamily="34" charset="0"/>
                <a:ea typeface="+mn-ea"/>
                <a:cs typeface="+mn-cs"/>
              </a:rPr>
              <a:t> proprietary, investment portfolio monitoring service </a:t>
            </a:r>
            <a:r>
              <a:rPr kumimoji="0" lang="en-US" sz="24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that delivers personalized email and text communications to investors in a secure environment.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rPr>
              <a:t>This technology keeps investors informed about the </a:t>
            </a:r>
            <a:r>
              <a:rPr kumimoji="0" lang="en-US" sz="2400" b="1" i="0" u="none" strike="noStrike" kern="1200" cap="none" spc="0" normalizeH="0" baseline="0" noProof="0" dirty="0">
                <a:ln>
                  <a:noFill/>
                </a:ln>
                <a:solidFill>
                  <a:srgbClr val="0276BD"/>
                </a:solidFill>
                <a:effectLst/>
                <a:uLnTx/>
                <a:uFillTx/>
                <a:latin typeface="Arial Nova" panose="020B0504020202020204" pitchFamily="34" charset="0"/>
                <a:ea typeface="+mn-ea"/>
                <a:cs typeface="+mn-cs"/>
              </a:rPr>
              <a:t>progression of their portfolio in accordance with their risk tolerance.</a:t>
            </a:r>
          </a:p>
        </p:txBody>
      </p:sp>
      <p:cxnSp>
        <p:nvCxnSpPr>
          <p:cNvPr id="5" name="Straight Connector 4">
            <a:extLst>
              <a:ext uri="{FF2B5EF4-FFF2-40B4-BE49-F238E27FC236}">
                <a16:creationId xmlns:a16="http://schemas.microsoft.com/office/drawing/2014/main" id="{D8C31583-9137-4A14-8EA4-C61428AEF8E6}"/>
              </a:ext>
            </a:extLst>
          </p:cNvPr>
          <p:cNvCxnSpPr>
            <a:cxnSpLocks/>
          </p:cNvCxnSpPr>
          <p:nvPr/>
        </p:nvCxnSpPr>
        <p:spPr>
          <a:xfrm>
            <a:off x="4931820" y="1799358"/>
            <a:ext cx="0" cy="384048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C971CA0-4516-5A10-2FBA-107667A577D5}"/>
              </a:ext>
            </a:extLst>
          </p:cNvPr>
          <p:cNvSpPr txBox="1"/>
          <p:nvPr/>
        </p:nvSpPr>
        <p:spPr>
          <a:xfrm>
            <a:off x="394598" y="5893818"/>
            <a:ext cx="11267660" cy="353943"/>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prstClr val="white">
                    <a:lumMod val="75000"/>
                  </a:prstClr>
                </a:solidFill>
                <a:effectLst/>
                <a:uLnTx/>
                <a:uFillTx/>
                <a:latin typeface="Arial Nova" panose="020B0504020202020204" pitchFamily="34" charset="0"/>
                <a:ea typeface="+mn-ea"/>
                <a:cs typeface="+mn-cs"/>
              </a:rPr>
              <a:t>AssetLock</a:t>
            </a:r>
            <a:r>
              <a:rPr kumimoji="0" lang="en-US" sz="850" b="0" i="0" u="none" strike="noStrike" kern="1200" cap="none" spc="0" normalizeH="0" baseline="30000" noProof="0" dirty="0">
                <a:ln>
                  <a:noFill/>
                </a:ln>
                <a:solidFill>
                  <a:prstClr val="white">
                    <a:lumMod val="75000"/>
                  </a:prstClr>
                </a:solidFill>
                <a:effectLst/>
                <a:uLnTx/>
                <a:uFillTx/>
                <a:latin typeface="Arial Nova" panose="020B0504020202020204" pitchFamily="34" charset="0"/>
                <a:ea typeface="+mn-ea"/>
                <a:cs typeface="+mn-cs"/>
              </a:rPr>
              <a:t>®</a:t>
            </a:r>
            <a:r>
              <a:rPr kumimoji="0" lang="en-US" sz="850" b="0" i="0" u="none" strike="noStrike" kern="1200" cap="none" spc="0" normalizeH="0" baseline="0" noProof="0" dirty="0">
                <a:ln>
                  <a:noFill/>
                </a:ln>
                <a:solidFill>
                  <a:prstClr val="white">
                    <a:lumMod val="75000"/>
                  </a:prstClr>
                </a:solidFill>
                <a:effectLst/>
                <a:uLnTx/>
                <a:uFillTx/>
                <a:latin typeface="Arial Nova" panose="020B0504020202020204" pitchFamily="34" charset="0"/>
                <a:ea typeface="+mn-ea"/>
                <a:cs typeface="+mn-cs"/>
              </a:rPr>
              <a:t> is tracking software used to monitor performance of a client’s portfolio, and to predetermine the amount of downside the client is willing to tolerate. It is NOT an actual stop order and will NOT automatically sell the individual securities in the portfolio. The AssetLock</a:t>
            </a:r>
            <a:r>
              <a:rPr kumimoji="0" lang="en-US" sz="850" b="0" i="0" u="none" strike="noStrike" kern="1200" cap="none" spc="0" normalizeH="0" baseline="30000" noProof="0" dirty="0">
                <a:ln>
                  <a:noFill/>
                </a:ln>
                <a:solidFill>
                  <a:prstClr val="white">
                    <a:lumMod val="75000"/>
                  </a:prstClr>
                </a:solidFill>
                <a:effectLst/>
                <a:uLnTx/>
                <a:uFillTx/>
                <a:latin typeface="Arial Nova" panose="020B0504020202020204" pitchFamily="34" charset="0"/>
                <a:ea typeface="+mn-ea"/>
                <a:cs typeface="+mn-cs"/>
              </a:rPr>
              <a:t>®</a:t>
            </a:r>
            <a:r>
              <a:rPr kumimoji="0" lang="en-US" sz="850" b="0" i="0" u="none" strike="noStrike" kern="1200" cap="none" spc="0" normalizeH="0" baseline="0" noProof="0" dirty="0">
                <a:ln>
                  <a:noFill/>
                </a:ln>
                <a:solidFill>
                  <a:prstClr val="white">
                    <a:lumMod val="75000"/>
                  </a:prstClr>
                </a:solidFill>
                <a:effectLst/>
                <a:uLnTx/>
                <a:uFillTx/>
                <a:latin typeface="Arial Nova" panose="020B0504020202020204" pitchFamily="34" charset="0"/>
                <a:ea typeface="+mn-ea"/>
                <a:cs typeface="+mn-cs"/>
              </a:rPr>
              <a:t> Value is a reference point to encourage a conversation between the client and the advisor/firm.</a:t>
            </a:r>
          </a:p>
        </p:txBody>
      </p:sp>
      <p:pic>
        <p:nvPicPr>
          <p:cNvPr id="7" name="Picture 6" descr="A logo with a blue and black background&#10;&#10;Description automatically generated">
            <a:extLst>
              <a:ext uri="{FF2B5EF4-FFF2-40B4-BE49-F238E27FC236}">
                <a16:creationId xmlns:a16="http://schemas.microsoft.com/office/drawing/2014/main" id="{9DFF39AA-7541-482E-9EB1-C63185013D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690" y="2090819"/>
            <a:ext cx="4368392" cy="2628316"/>
          </a:xfrm>
          <a:prstGeom prst="rect">
            <a:avLst/>
          </a:prstGeom>
        </p:spPr>
      </p:pic>
      <p:sp>
        <p:nvSpPr>
          <p:cNvPr id="2" name="Slide Number Placeholder 5">
            <a:extLst>
              <a:ext uri="{FF2B5EF4-FFF2-40B4-BE49-F238E27FC236}">
                <a16:creationId xmlns:a16="http://schemas.microsoft.com/office/drawing/2014/main" id="{DF026DAE-CD88-C4B9-8A84-46603F9AC694}"/>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23</a:t>
            </a:fld>
            <a:endParaRPr lang="en-US" dirty="0">
              <a:solidFill>
                <a:schemeClr val="bg1">
                  <a:lumMod val="75000"/>
                </a:schemeClr>
              </a:solidFill>
              <a:latin typeface="Arial Nova" panose="020B0504020202020204" pitchFamily="34" charset="0"/>
            </a:endParaRPr>
          </a:p>
        </p:txBody>
      </p:sp>
      <p:sp>
        <p:nvSpPr>
          <p:cNvPr id="10" name="Footer Placeholder 4">
            <a:extLst>
              <a:ext uri="{FF2B5EF4-FFF2-40B4-BE49-F238E27FC236}">
                <a16:creationId xmlns:a16="http://schemas.microsoft.com/office/drawing/2014/main" id="{9236ECA7-781B-637E-DEE8-0B125F761FA1}"/>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8010022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6C6AAC15-7060-8E2B-D7FC-B3FACE44792B}"/>
              </a:ext>
            </a:extLst>
          </p:cNvPr>
          <p:cNvGrpSpPr/>
          <p:nvPr/>
        </p:nvGrpSpPr>
        <p:grpSpPr>
          <a:xfrm>
            <a:off x="214547" y="1691191"/>
            <a:ext cx="8893196" cy="3462459"/>
            <a:chOff x="-126198" y="1755896"/>
            <a:chExt cx="8893196" cy="3462459"/>
          </a:xfrm>
        </p:grpSpPr>
        <p:pic>
          <p:nvPicPr>
            <p:cNvPr id="26" name="Picture 25" descr="A white line on a black background&#10;&#10;Description automatically generated">
              <a:extLst>
                <a:ext uri="{FF2B5EF4-FFF2-40B4-BE49-F238E27FC236}">
                  <a16:creationId xmlns:a16="http://schemas.microsoft.com/office/drawing/2014/main" id="{6EA97FC4-9B9B-EC5F-9591-9EFC087524F8}"/>
                </a:ext>
              </a:extLst>
            </p:cNvPr>
            <p:cNvPicPr>
              <a:picLocks noChangeAspect="1"/>
            </p:cNvPicPr>
            <p:nvPr/>
          </p:nvPicPr>
          <p:blipFill rotWithShape="1">
            <a:blip r:embed="rId3">
              <a:extLst>
                <a:ext uri="{28A0092B-C50C-407E-A947-70E740481C1C}">
                  <a14:useLocalDpi xmlns:a14="http://schemas.microsoft.com/office/drawing/2010/main" val="0"/>
                </a:ext>
              </a:extLst>
            </a:blip>
            <a:srcRect t="664" r="12833"/>
            <a:stretch/>
          </p:blipFill>
          <p:spPr>
            <a:xfrm>
              <a:off x="2415383" y="1755896"/>
              <a:ext cx="6351615" cy="3462459"/>
            </a:xfrm>
            <a:prstGeom prst="rect">
              <a:avLst/>
            </a:prstGeom>
          </p:spPr>
        </p:pic>
        <p:sp>
          <p:nvSpPr>
            <p:cNvPr id="27" name="TextBox 26">
              <a:extLst>
                <a:ext uri="{FF2B5EF4-FFF2-40B4-BE49-F238E27FC236}">
                  <a16:creationId xmlns:a16="http://schemas.microsoft.com/office/drawing/2014/main" id="{18643D49-3D6F-2F83-D5DA-65FDDAD7F7FC}"/>
                </a:ext>
              </a:extLst>
            </p:cNvPr>
            <p:cNvSpPr txBox="1"/>
            <p:nvPr/>
          </p:nvSpPr>
          <p:spPr>
            <a:xfrm>
              <a:off x="-126198" y="4346736"/>
              <a:ext cx="2266896" cy="830997"/>
            </a:xfrm>
            <a:prstGeom prst="rect">
              <a:avLst/>
            </a:prstGeom>
            <a:noFill/>
          </p:spPr>
          <p:txBody>
            <a:bodyPr wrap="square" rtlCol="0">
              <a:spAutoFit/>
            </a:bodyPr>
            <a:lstStyle/>
            <a:p>
              <a:pPr algn="r"/>
              <a:r>
                <a:rPr lang="en-US" sz="1600" b="1" dirty="0">
                  <a:solidFill>
                    <a:schemeClr val="bg1">
                      <a:lumMod val="65000"/>
                    </a:schemeClr>
                  </a:solidFill>
                  <a:latin typeface="Arial Nova" panose="020B0504020202020204" pitchFamily="34" charset="0"/>
                </a:rPr>
                <a:t>AssetLock </a:t>
              </a:r>
            </a:p>
            <a:p>
              <a:pPr algn="r"/>
              <a:r>
                <a:rPr lang="en-US" sz="1600" b="1" dirty="0">
                  <a:solidFill>
                    <a:schemeClr val="bg1">
                      <a:lumMod val="65000"/>
                    </a:schemeClr>
                  </a:solidFill>
                  <a:latin typeface="Arial Nova" panose="020B0504020202020204" pitchFamily="34" charset="0"/>
                </a:rPr>
                <a:t>Threshold</a:t>
              </a:r>
            </a:p>
            <a:p>
              <a:pPr algn="r"/>
              <a:r>
                <a:rPr lang="en-US" sz="1600" b="1" dirty="0">
                  <a:solidFill>
                    <a:schemeClr val="bg1">
                      <a:lumMod val="65000"/>
                    </a:schemeClr>
                  </a:solidFill>
                  <a:latin typeface="Arial Nova" panose="020B0504020202020204" pitchFamily="34" charset="0"/>
                </a:rPr>
                <a:t>-10%</a:t>
              </a:r>
            </a:p>
          </p:txBody>
        </p:sp>
      </p:grpSp>
      <p:sp>
        <p:nvSpPr>
          <p:cNvPr id="28" name="TextBox 27">
            <a:extLst>
              <a:ext uri="{FF2B5EF4-FFF2-40B4-BE49-F238E27FC236}">
                <a16:creationId xmlns:a16="http://schemas.microsoft.com/office/drawing/2014/main" id="{B1B7070C-70BA-58D3-0274-24FECAA5C337}"/>
              </a:ext>
            </a:extLst>
          </p:cNvPr>
          <p:cNvSpPr txBox="1"/>
          <p:nvPr/>
        </p:nvSpPr>
        <p:spPr>
          <a:xfrm>
            <a:off x="361077" y="1375018"/>
            <a:ext cx="7072057" cy="646331"/>
          </a:xfrm>
          <a:prstGeom prst="rect">
            <a:avLst/>
          </a:prstGeom>
          <a:solidFill>
            <a:schemeClr val="bg1"/>
          </a:solidFill>
        </p:spPr>
        <p:txBody>
          <a:bodyPr wrap="square">
            <a:spAutoFit/>
          </a:bodyPr>
          <a:lstStyle/>
          <a:p>
            <a:pPr algn="l"/>
            <a:r>
              <a:rPr lang="en-US" b="1" dirty="0">
                <a:latin typeface="Arial Nova" panose="020B0504020202020204" pitchFamily="34" charset="0"/>
              </a:rPr>
              <a:t>Portfolio Value: </a:t>
            </a:r>
            <a:r>
              <a:rPr lang="en-US" b="0" i="0" u="none" strike="noStrike" baseline="0" dirty="0">
                <a:latin typeface="Arial Nova" panose="020B0504020202020204" pitchFamily="34" charset="0"/>
              </a:rPr>
              <a:t>Daily portfolio value based on data at the close of the Stock Market the previous business day. </a:t>
            </a:r>
            <a:endParaRPr lang="en-US" dirty="0">
              <a:latin typeface="Arial Nova" panose="020B0504020202020204" pitchFamily="34" charset="0"/>
            </a:endParaRPr>
          </a:p>
        </p:txBody>
      </p:sp>
      <p:sp>
        <p:nvSpPr>
          <p:cNvPr id="29" name="TextBox 28">
            <a:extLst>
              <a:ext uri="{FF2B5EF4-FFF2-40B4-BE49-F238E27FC236}">
                <a16:creationId xmlns:a16="http://schemas.microsoft.com/office/drawing/2014/main" id="{74F78849-B181-D1ED-3F28-28CCDC19B9C6}"/>
              </a:ext>
            </a:extLst>
          </p:cNvPr>
          <p:cNvSpPr txBox="1"/>
          <p:nvPr/>
        </p:nvSpPr>
        <p:spPr>
          <a:xfrm>
            <a:off x="361077" y="1375018"/>
            <a:ext cx="7072057" cy="923330"/>
          </a:xfrm>
          <a:prstGeom prst="rect">
            <a:avLst/>
          </a:prstGeom>
          <a:solidFill>
            <a:schemeClr val="bg1"/>
          </a:solidFill>
        </p:spPr>
        <p:txBody>
          <a:bodyPr wrap="square">
            <a:spAutoFit/>
          </a:bodyPr>
          <a:lstStyle/>
          <a:p>
            <a:r>
              <a:rPr lang="en-US" b="1" dirty="0">
                <a:solidFill>
                  <a:srgbClr val="7EB8DC"/>
                </a:solidFill>
                <a:latin typeface="Arial Nova" panose="020B0504020202020204" pitchFamily="34" charset="0"/>
              </a:rPr>
              <a:t>High-Water Value: </a:t>
            </a:r>
            <a:r>
              <a:rPr lang="en-US" dirty="0">
                <a:latin typeface="Arial Nova" panose="020B0504020202020204" pitchFamily="34" charset="0"/>
              </a:rPr>
              <a:t>Highest value the account has reached. This value increases as an account grows and will not decrease with market loss.</a:t>
            </a:r>
          </a:p>
        </p:txBody>
      </p:sp>
      <p:sp>
        <p:nvSpPr>
          <p:cNvPr id="30" name="TextBox 29">
            <a:extLst>
              <a:ext uri="{FF2B5EF4-FFF2-40B4-BE49-F238E27FC236}">
                <a16:creationId xmlns:a16="http://schemas.microsoft.com/office/drawing/2014/main" id="{DD4E3D19-91CB-F858-7B84-DB5E765C952F}"/>
              </a:ext>
            </a:extLst>
          </p:cNvPr>
          <p:cNvSpPr txBox="1"/>
          <p:nvPr/>
        </p:nvSpPr>
        <p:spPr>
          <a:xfrm>
            <a:off x="361077" y="1375018"/>
            <a:ext cx="7072057" cy="923330"/>
          </a:xfrm>
          <a:prstGeom prst="rect">
            <a:avLst/>
          </a:prstGeom>
          <a:solidFill>
            <a:schemeClr val="bg1"/>
          </a:solidFill>
        </p:spPr>
        <p:txBody>
          <a:bodyPr wrap="square">
            <a:spAutoFit/>
          </a:bodyPr>
          <a:lstStyle/>
          <a:p>
            <a:pPr algn="l"/>
            <a:r>
              <a:rPr lang="en-US" b="1" dirty="0">
                <a:solidFill>
                  <a:schemeClr val="bg1">
                    <a:lumMod val="65000"/>
                  </a:schemeClr>
                </a:solidFill>
                <a:latin typeface="Arial Nova" panose="020B0504020202020204" pitchFamily="34" charset="0"/>
              </a:rPr>
              <a:t>AssetLock Threshold: </a:t>
            </a:r>
            <a:r>
              <a:rPr lang="en-US" b="0" i="0" u="none" strike="noStrike" baseline="0" dirty="0">
                <a:latin typeface="Arial Nova" panose="020B0504020202020204" pitchFamily="34" charset="0"/>
              </a:rPr>
              <a:t>The maximum percentage of downside the investor is willing to accept inside the portfolio as determined by the household and portfolio Value at Risk Scores.</a:t>
            </a:r>
            <a:endParaRPr lang="en-US" dirty="0">
              <a:latin typeface="Arial Nova" panose="020B0504020202020204" pitchFamily="34" charset="0"/>
            </a:endParaRPr>
          </a:p>
        </p:txBody>
      </p:sp>
      <p:sp>
        <p:nvSpPr>
          <p:cNvPr id="31" name="TextBox 30">
            <a:extLst>
              <a:ext uri="{FF2B5EF4-FFF2-40B4-BE49-F238E27FC236}">
                <a16:creationId xmlns:a16="http://schemas.microsoft.com/office/drawing/2014/main" id="{25CAA6D2-4E50-552A-541B-C6D33F2999C7}"/>
              </a:ext>
            </a:extLst>
          </p:cNvPr>
          <p:cNvSpPr txBox="1"/>
          <p:nvPr/>
        </p:nvSpPr>
        <p:spPr>
          <a:xfrm>
            <a:off x="361077" y="1375018"/>
            <a:ext cx="7072057" cy="923330"/>
          </a:xfrm>
          <a:prstGeom prst="rect">
            <a:avLst/>
          </a:prstGeom>
          <a:solidFill>
            <a:schemeClr val="bg1"/>
          </a:solidFill>
        </p:spPr>
        <p:txBody>
          <a:bodyPr wrap="square">
            <a:spAutoFit/>
          </a:bodyPr>
          <a:lstStyle/>
          <a:p>
            <a:pPr algn="l"/>
            <a:r>
              <a:rPr lang="en-US" b="1" dirty="0">
                <a:solidFill>
                  <a:srgbClr val="0276BD"/>
                </a:solidFill>
                <a:latin typeface="Arial Nova" panose="020B0504020202020204" pitchFamily="34" charset="0"/>
              </a:rPr>
              <a:t>AssetLock Value: </a:t>
            </a:r>
            <a:r>
              <a:rPr lang="en-US" b="0" i="0" u="none" strike="noStrike" baseline="0" dirty="0">
                <a:latin typeface="Arial Nova" panose="020B0504020202020204" pitchFamily="34" charset="0"/>
              </a:rPr>
              <a:t>Portfolio value at which AssetLock will alert the investor and advisor. This value is based off the High-Water Value less the AssetLock Percentage.</a:t>
            </a:r>
          </a:p>
        </p:txBody>
      </p:sp>
      <p:sp>
        <p:nvSpPr>
          <p:cNvPr id="32" name="TextBox 31">
            <a:extLst>
              <a:ext uri="{FF2B5EF4-FFF2-40B4-BE49-F238E27FC236}">
                <a16:creationId xmlns:a16="http://schemas.microsoft.com/office/drawing/2014/main" id="{FC68E019-50E8-4CFD-9CED-DACC0ACE3695}"/>
              </a:ext>
            </a:extLst>
          </p:cNvPr>
          <p:cNvSpPr txBox="1"/>
          <p:nvPr/>
        </p:nvSpPr>
        <p:spPr>
          <a:xfrm>
            <a:off x="82504" y="5944704"/>
            <a:ext cx="11893596" cy="50013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chemeClr val="bg1">
                    <a:lumMod val="75000"/>
                  </a:schemeClr>
                </a:solidFill>
                <a:effectLst/>
                <a:uLnTx/>
                <a:uFillTx/>
                <a:latin typeface="Arial Nova" panose="020B0504020202020204" pitchFamily="34" charset="0"/>
                <a:ea typeface="+mn-ea"/>
                <a:cs typeface="+mn-cs"/>
              </a:rPr>
              <a:t>Unless otherwise specified, all return figures above are for illustrative purposes only and are not actual customer or model returns. Actual returns will vary greatly and depend on personal allocation and market circumstances. Your advisor will determine the best time for you to re-enter the market. </a:t>
            </a:r>
            <a:r>
              <a:rPr kumimoji="0" lang="en-US" sz="900" b="0" i="0" u="none" strike="noStrike" kern="1200" cap="none" spc="0" normalizeH="0" baseline="0" noProof="0" dirty="0">
                <a:ln>
                  <a:noFill/>
                </a:ln>
                <a:solidFill>
                  <a:schemeClr val="bg1">
                    <a:lumMod val="75000"/>
                  </a:schemeClr>
                </a:solidFill>
                <a:effectLst/>
                <a:uLnTx/>
                <a:uFillTx/>
                <a:latin typeface="Arial Nova" panose="020B0504020202020204" pitchFamily="34" charset="0"/>
                <a:ea typeface="+mn-ea"/>
                <a:cs typeface="+mn-cs"/>
              </a:rPr>
              <a:t>AssetLock</a:t>
            </a:r>
            <a:r>
              <a:rPr kumimoji="0" lang="en-US" sz="900" b="0" i="0" u="none" strike="noStrike" kern="1200" cap="none" spc="0" normalizeH="0" baseline="30000" noProof="0" dirty="0">
                <a:ln>
                  <a:noFill/>
                </a:ln>
                <a:solidFill>
                  <a:schemeClr val="bg1">
                    <a:lumMod val="75000"/>
                  </a:schemeClr>
                </a:solidFill>
                <a:effectLst/>
                <a:uLnTx/>
                <a:uFillTx/>
                <a:latin typeface="Arial Nova" panose="020B0504020202020204" pitchFamily="34" charset="0"/>
                <a:ea typeface="+mn-ea"/>
                <a:cs typeface="+mn-cs"/>
              </a:rPr>
              <a:t>®</a:t>
            </a:r>
            <a:r>
              <a:rPr kumimoji="0" lang="en-US" sz="900" b="0" i="0" u="none" strike="noStrike" kern="1200" cap="none" spc="0" normalizeH="0" baseline="0" noProof="0" dirty="0">
                <a:ln>
                  <a:noFill/>
                </a:ln>
                <a:solidFill>
                  <a:schemeClr val="bg1">
                    <a:lumMod val="75000"/>
                  </a:schemeClr>
                </a:solidFill>
                <a:effectLst/>
                <a:uLnTx/>
                <a:uFillTx/>
                <a:latin typeface="Arial Nova" panose="020B0504020202020204" pitchFamily="34" charset="0"/>
                <a:ea typeface="+mn-ea"/>
                <a:cs typeface="+mn-cs"/>
              </a:rPr>
              <a:t> is tracking software used to monitor performance of a client’s portfolio, and to predetermine the amount of downside the client is willing to tolerate. It is NOT an actual stop order and will NOT automatically sell the individual securities in the portfolio. The AssetLock</a:t>
            </a:r>
            <a:r>
              <a:rPr kumimoji="0" lang="en-US" sz="900" b="0" i="0" u="none" strike="noStrike" kern="1200" cap="none" spc="0" normalizeH="0" baseline="30000" noProof="0" dirty="0">
                <a:ln>
                  <a:noFill/>
                </a:ln>
                <a:solidFill>
                  <a:schemeClr val="bg1">
                    <a:lumMod val="75000"/>
                  </a:schemeClr>
                </a:solidFill>
                <a:effectLst/>
                <a:uLnTx/>
                <a:uFillTx/>
                <a:latin typeface="Arial Nova" panose="020B0504020202020204" pitchFamily="34" charset="0"/>
                <a:ea typeface="+mn-ea"/>
                <a:cs typeface="+mn-cs"/>
              </a:rPr>
              <a:t>®</a:t>
            </a:r>
            <a:r>
              <a:rPr kumimoji="0" lang="en-US" sz="900" b="0" i="0" u="none" strike="noStrike" kern="1200" cap="none" spc="0" normalizeH="0" baseline="0" noProof="0" dirty="0">
                <a:ln>
                  <a:noFill/>
                </a:ln>
                <a:solidFill>
                  <a:schemeClr val="bg1">
                    <a:lumMod val="75000"/>
                  </a:schemeClr>
                </a:solidFill>
                <a:effectLst/>
                <a:uLnTx/>
                <a:uFillTx/>
                <a:latin typeface="Arial Nova" panose="020B0504020202020204" pitchFamily="34" charset="0"/>
                <a:ea typeface="+mn-ea"/>
                <a:cs typeface="+mn-cs"/>
              </a:rPr>
              <a:t> Value is a reference point to encourage a conversation between the client and the advisor/firm.</a:t>
            </a:r>
          </a:p>
        </p:txBody>
      </p:sp>
      <p:pic>
        <p:nvPicPr>
          <p:cNvPr id="33" name="Picture 32">
            <a:extLst>
              <a:ext uri="{FF2B5EF4-FFF2-40B4-BE49-F238E27FC236}">
                <a16:creationId xmlns:a16="http://schemas.microsoft.com/office/drawing/2014/main" id="{91521349-4D19-4387-BAC6-B4C24D07CF0A}"/>
              </a:ext>
            </a:extLst>
          </p:cNvPr>
          <p:cNvPicPr>
            <a:picLocks noChangeAspect="1"/>
          </p:cNvPicPr>
          <p:nvPr/>
        </p:nvPicPr>
        <p:blipFill rotWithShape="1">
          <a:blip r:embed="rId4">
            <a:extLst>
              <a:ext uri="{28A0092B-C50C-407E-A947-70E740481C1C}">
                <a14:useLocalDpi xmlns:a14="http://schemas.microsoft.com/office/drawing/2010/main" val="0"/>
              </a:ext>
            </a:extLst>
          </a:blip>
          <a:srcRect r="23531" b="-34323"/>
          <a:stretch/>
        </p:blipFill>
        <p:spPr>
          <a:xfrm>
            <a:off x="2821087" y="5603227"/>
            <a:ext cx="6492240" cy="260668"/>
          </a:xfrm>
          <a:prstGeom prst="rect">
            <a:avLst/>
          </a:prstGeom>
        </p:spPr>
      </p:pic>
      <p:grpSp>
        <p:nvGrpSpPr>
          <p:cNvPr id="34" name="Group 33">
            <a:extLst>
              <a:ext uri="{FF2B5EF4-FFF2-40B4-BE49-F238E27FC236}">
                <a16:creationId xmlns:a16="http://schemas.microsoft.com/office/drawing/2014/main" id="{DE4B49E5-C2B6-6263-126C-F73E6E972588}"/>
              </a:ext>
            </a:extLst>
          </p:cNvPr>
          <p:cNvGrpSpPr/>
          <p:nvPr/>
        </p:nvGrpSpPr>
        <p:grpSpPr>
          <a:xfrm>
            <a:off x="878345" y="1597133"/>
            <a:ext cx="8229398" cy="3059811"/>
            <a:chOff x="537601" y="1642192"/>
            <a:chExt cx="8229398" cy="3059811"/>
          </a:xfrm>
        </p:grpSpPr>
        <p:pic>
          <p:nvPicPr>
            <p:cNvPr id="35" name="Picture 34" descr="A black background with a black square&#10;&#10;Description automatically generated with medium confidence">
              <a:extLst>
                <a:ext uri="{FF2B5EF4-FFF2-40B4-BE49-F238E27FC236}">
                  <a16:creationId xmlns:a16="http://schemas.microsoft.com/office/drawing/2014/main" id="{CE99B134-ACF3-F6EE-FE3D-1B874AC38E7B}"/>
                </a:ext>
              </a:extLst>
            </p:cNvPr>
            <p:cNvPicPr>
              <a:picLocks noChangeAspect="1"/>
            </p:cNvPicPr>
            <p:nvPr/>
          </p:nvPicPr>
          <p:blipFill rotWithShape="1">
            <a:blip r:embed="rId5">
              <a:extLst>
                <a:ext uri="{28A0092B-C50C-407E-A947-70E740481C1C}">
                  <a14:useLocalDpi xmlns:a14="http://schemas.microsoft.com/office/drawing/2010/main" val="0"/>
                </a:ext>
              </a:extLst>
            </a:blip>
            <a:srcRect r="14216"/>
            <a:stretch/>
          </p:blipFill>
          <p:spPr>
            <a:xfrm>
              <a:off x="2223507" y="1642192"/>
              <a:ext cx="6543492" cy="3059811"/>
            </a:xfrm>
            <a:prstGeom prst="rect">
              <a:avLst/>
            </a:prstGeom>
          </p:spPr>
        </p:pic>
        <p:sp>
          <p:nvSpPr>
            <p:cNvPr id="36" name="TextBox 35">
              <a:extLst>
                <a:ext uri="{FF2B5EF4-FFF2-40B4-BE49-F238E27FC236}">
                  <a16:creationId xmlns:a16="http://schemas.microsoft.com/office/drawing/2014/main" id="{BF991B6A-C2D6-71D8-6F85-17DCCE3AB58E}"/>
                </a:ext>
              </a:extLst>
            </p:cNvPr>
            <p:cNvSpPr txBox="1"/>
            <p:nvPr/>
          </p:nvSpPr>
          <p:spPr>
            <a:xfrm>
              <a:off x="537601" y="3562815"/>
              <a:ext cx="2042535" cy="584775"/>
            </a:xfrm>
            <a:prstGeom prst="rect">
              <a:avLst/>
            </a:prstGeom>
            <a:noFill/>
          </p:spPr>
          <p:txBody>
            <a:bodyPr wrap="square" rtlCol="0">
              <a:spAutoFit/>
            </a:bodyPr>
            <a:lstStyle/>
            <a:p>
              <a:pPr algn="r"/>
              <a:r>
                <a:rPr lang="en-US" sz="1600" b="1" dirty="0">
                  <a:latin typeface="Arial Nova" panose="020B0504020202020204" pitchFamily="34" charset="0"/>
                </a:rPr>
                <a:t>Portfolio Value</a:t>
              </a:r>
            </a:p>
            <a:p>
              <a:pPr algn="r"/>
              <a:r>
                <a:rPr lang="en-US" sz="1600" b="1" dirty="0">
                  <a:latin typeface="Arial Nova" panose="020B0504020202020204" pitchFamily="34" charset="0"/>
                </a:rPr>
                <a:t>$100,000</a:t>
              </a:r>
            </a:p>
          </p:txBody>
        </p:sp>
      </p:grpSp>
      <p:grpSp>
        <p:nvGrpSpPr>
          <p:cNvPr id="37" name="Group 36">
            <a:extLst>
              <a:ext uri="{FF2B5EF4-FFF2-40B4-BE49-F238E27FC236}">
                <a16:creationId xmlns:a16="http://schemas.microsoft.com/office/drawing/2014/main" id="{632C4208-81D6-2BF5-CAB2-BD80886DB3AB}"/>
              </a:ext>
            </a:extLst>
          </p:cNvPr>
          <p:cNvGrpSpPr/>
          <p:nvPr/>
        </p:nvGrpSpPr>
        <p:grpSpPr>
          <a:xfrm>
            <a:off x="3003688" y="1400179"/>
            <a:ext cx="8120556" cy="2969344"/>
            <a:chOff x="1762228" y="1110286"/>
            <a:chExt cx="8120556" cy="2969344"/>
          </a:xfrm>
        </p:grpSpPr>
        <p:pic>
          <p:nvPicPr>
            <p:cNvPr id="38" name="Picture 37" descr="A blue line on a black background&#10;&#10;Description automatically generated">
              <a:extLst>
                <a:ext uri="{FF2B5EF4-FFF2-40B4-BE49-F238E27FC236}">
                  <a16:creationId xmlns:a16="http://schemas.microsoft.com/office/drawing/2014/main" id="{61024108-F6ED-1ABC-79B9-0FE889668D25}"/>
                </a:ext>
              </a:extLst>
            </p:cNvPr>
            <p:cNvPicPr>
              <a:picLocks noChangeAspect="1"/>
            </p:cNvPicPr>
            <p:nvPr/>
          </p:nvPicPr>
          <p:blipFill rotWithShape="1">
            <a:blip r:embed="rId6">
              <a:extLst>
                <a:ext uri="{28A0092B-C50C-407E-A947-70E740481C1C}">
                  <a14:useLocalDpi xmlns:a14="http://schemas.microsoft.com/office/drawing/2010/main" val="0"/>
                </a:ext>
              </a:extLst>
            </a:blip>
            <a:srcRect l="3725" t="-1301" r="13518" b="2294"/>
            <a:stretch/>
          </p:blipFill>
          <p:spPr>
            <a:xfrm>
              <a:off x="1762228" y="1110286"/>
              <a:ext cx="6127039" cy="2969344"/>
            </a:xfrm>
            <a:prstGeom prst="rect">
              <a:avLst/>
            </a:prstGeom>
          </p:spPr>
        </p:pic>
        <p:sp>
          <p:nvSpPr>
            <p:cNvPr id="39" name="TextBox 38">
              <a:extLst>
                <a:ext uri="{FF2B5EF4-FFF2-40B4-BE49-F238E27FC236}">
                  <a16:creationId xmlns:a16="http://schemas.microsoft.com/office/drawing/2014/main" id="{D46454B8-4649-FE92-4E20-C5BB1BD15D42}"/>
                </a:ext>
              </a:extLst>
            </p:cNvPr>
            <p:cNvSpPr txBox="1"/>
            <p:nvPr/>
          </p:nvSpPr>
          <p:spPr>
            <a:xfrm>
              <a:off x="7824248" y="1343456"/>
              <a:ext cx="2058536" cy="584775"/>
            </a:xfrm>
            <a:prstGeom prst="rect">
              <a:avLst/>
            </a:prstGeom>
            <a:noFill/>
          </p:spPr>
          <p:txBody>
            <a:bodyPr wrap="square" rtlCol="0">
              <a:spAutoFit/>
            </a:bodyPr>
            <a:lstStyle/>
            <a:p>
              <a:r>
                <a:rPr lang="en-US" sz="1600" b="1" dirty="0">
                  <a:solidFill>
                    <a:srgbClr val="62A3CD"/>
                  </a:solidFill>
                  <a:latin typeface="Arial Nova" panose="020B0504020202020204" pitchFamily="34" charset="0"/>
                </a:rPr>
                <a:t>High-Water Value</a:t>
              </a:r>
            </a:p>
            <a:p>
              <a:r>
                <a:rPr lang="en-US" sz="1600" b="1" dirty="0">
                  <a:solidFill>
                    <a:srgbClr val="62A3CD"/>
                  </a:solidFill>
                  <a:latin typeface="Arial Nova" panose="020B0504020202020204" pitchFamily="34" charset="0"/>
                </a:rPr>
                <a:t>$146,793</a:t>
              </a:r>
            </a:p>
          </p:txBody>
        </p:sp>
      </p:grpSp>
      <p:grpSp>
        <p:nvGrpSpPr>
          <p:cNvPr id="40" name="Group 39">
            <a:extLst>
              <a:ext uri="{FF2B5EF4-FFF2-40B4-BE49-F238E27FC236}">
                <a16:creationId xmlns:a16="http://schemas.microsoft.com/office/drawing/2014/main" id="{0BD1ABC4-FB03-8008-4C74-27A961C4EB77}"/>
              </a:ext>
            </a:extLst>
          </p:cNvPr>
          <p:cNvGrpSpPr/>
          <p:nvPr/>
        </p:nvGrpSpPr>
        <p:grpSpPr>
          <a:xfrm>
            <a:off x="2564251" y="2279146"/>
            <a:ext cx="9005879" cy="3285517"/>
            <a:chOff x="2646520" y="2693233"/>
            <a:chExt cx="9005879" cy="3285517"/>
          </a:xfrm>
        </p:grpSpPr>
        <p:grpSp>
          <p:nvGrpSpPr>
            <p:cNvPr id="41" name="Group 40">
              <a:extLst>
                <a:ext uri="{FF2B5EF4-FFF2-40B4-BE49-F238E27FC236}">
                  <a16:creationId xmlns:a16="http://schemas.microsoft.com/office/drawing/2014/main" id="{F98FD499-E005-A3CC-FA20-C4909E722946}"/>
                </a:ext>
              </a:extLst>
            </p:cNvPr>
            <p:cNvGrpSpPr/>
            <p:nvPr/>
          </p:nvGrpSpPr>
          <p:grpSpPr>
            <a:xfrm>
              <a:off x="2646520" y="2693233"/>
              <a:ext cx="6543491" cy="3285517"/>
              <a:chOff x="2953148" y="4400638"/>
              <a:chExt cx="6543491" cy="3285517"/>
            </a:xfrm>
          </p:grpSpPr>
          <p:pic>
            <p:nvPicPr>
              <p:cNvPr id="45" name="Picture 44" descr="A blue line on a black background&#10;&#10;Description automatically generated">
                <a:extLst>
                  <a:ext uri="{FF2B5EF4-FFF2-40B4-BE49-F238E27FC236}">
                    <a16:creationId xmlns:a16="http://schemas.microsoft.com/office/drawing/2014/main" id="{8D2A9753-ED55-9352-E2DB-817DE3777E70}"/>
                  </a:ext>
                </a:extLst>
              </p:cNvPr>
              <p:cNvPicPr>
                <a:picLocks noChangeAspect="1"/>
              </p:cNvPicPr>
              <p:nvPr/>
            </p:nvPicPr>
            <p:blipFill rotWithShape="1">
              <a:blip r:embed="rId7">
                <a:extLst>
                  <a:ext uri="{28A0092B-C50C-407E-A947-70E740481C1C}">
                    <a14:useLocalDpi xmlns:a14="http://schemas.microsoft.com/office/drawing/2010/main" val="0"/>
                  </a:ext>
                </a:extLst>
              </a:blip>
              <a:srcRect r="12936"/>
              <a:stretch/>
            </p:blipFill>
            <p:spPr>
              <a:xfrm>
                <a:off x="2953148" y="4400638"/>
                <a:ext cx="6543491" cy="2969344"/>
              </a:xfrm>
              <a:prstGeom prst="rect">
                <a:avLst/>
              </a:prstGeom>
            </p:spPr>
          </p:pic>
          <p:sp>
            <p:nvSpPr>
              <p:cNvPr id="46" name="TextBox 45">
                <a:extLst>
                  <a:ext uri="{FF2B5EF4-FFF2-40B4-BE49-F238E27FC236}">
                    <a16:creationId xmlns:a16="http://schemas.microsoft.com/office/drawing/2014/main" id="{E47BAA43-99AE-3616-081D-A57491FFA3E7}"/>
                  </a:ext>
                </a:extLst>
              </p:cNvPr>
              <p:cNvSpPr txBox="1"/>
              <p:nvPr/>
            </p:nvSpPr>
            <p:spPr>
              <a:xfrm>
                <a:off x="3367025" y="7101380"/>
                <a:ext cx="4384055" cy="584775"/>
              </a:xfrm>
              <a:prstGeom prst="rect">
                <a:avLst/>
              </a:prstGeom>
              <a:noFill/>
            </p:spPr>
            <p:txBody>
              <a:bodyPr wrap="square" rtlCol="0">
                <a:spAutoFit/>
              </a:bodyPr>
              <a:lstStyle/>
              <a:p>
                <a:r>
                  <a:rPr lang="en-US" sz="1600" b="1" dirty="0">
                    <a:solidFill>
                      <a:srgbClr val="0477BD"/>
                    </a:solidFill>
                    <a:latin typeface="Arial Nova" panose="020B0504020202020204" pitchFamily="34" charset="0"/>
                  </a:rPr>
                  <a:t>AssetLock Value</a:t>
                </a:r>
              </a:p>
              <a:p>
                <a:r>
                  <a:rPr lang="en-US" sz="1600" b="1" dirty="0">
                    <a:solidFill>
                      <a:srgbClr val="0477BD"/>
                    </a:solidFill>
                    <a:latin typeface="Arial Nova" panose="020B0504020202020204" pitchFamily="34" charset="0"/>
                  </a:rPr>
                  <a:t>$90,000</a:t>
                </a:r>
              </a:p>
            </p:txBody>
          </p:sp>
        </p:grpSp>
        <p:grpSp>
          <p:nvGrpSpPr>
            <p:cNvPr id="42" name="Group 41">
              <a:extLst>
                <a:ext uri="{FF2B5EF4-FFF2-40B4-BE49-F238E27FC236}">
                  <a16:creationId xmlns:a16="http://schemas.microsoft.com/office/drawing/2014/main" id="{D9F128B5-313B-72B8-6024-465F0FC26A05}"/>
                </a:ext>
              </a:extLst>
            </p:cNvPr>
            <p:cNvGrpSpPr/>
            <p:nvPr/>
          </p:nvGrpSpPr>
          <p:grpSpPr>
            <a:xfrm>
              <a:off x="9190011" y="2890187"/>
              <a:ext cx="2462388" cy="571954"/>
              <a:chOff x="10442621" y="3104591"/>
              <a:chExt cx="2462388" cy="571954"/>
            </a:xfrm>
          </p:grpSpPr>
          <p:pic>
            <p:nvPicPr>
              <p:cNvPr id="43" name="Picture 42" descr="A blue line on a black background&#10;&#10;Description automatically generated">
                <a:extLst>
                  <a:ext uri="{FF2B5EF4-FFF2-40B4-BE49-F238E27FC236}">
                    <a16:creationId xmlns:a16="http://schemas.microsoft.com/office/drawing/2014/main" id="{96D28818-42A7-7631-5744-FDD5583CD378}"/>
                  </a:ext>
                </a:extLst>
              </p:cNvPr>
              <p:cNvPicPr>
                <a:picLocks noChangeAspect="1"/>
              </p:cNvPicPr>
              <p:nvPr/>
            </p:nvPicPr>
            <p:blipFill rotWithShape="1">
              <a:blip r:embed="rId7">
                <a:extLst>
                  <a:ext uri="{28A0092B-C50C-407E-A947-70E740481C1C}">
                    <a14:useLocalDpi xmlns:a14="http://schemas.microsoft.com/office/drawing/2010/main" val="0"/>
                  </a:ext>
                </a:extLst>
              </a:blip>
              <a:srcRect l="94790" r="-407" b="80738"/>
              <a:stretch/>
            </p:blipFill>
            <p:spPr>
              <a:xfrm>
                <a:off x="10442621" y="3104591"/>
                <a:ext cx="422158" cy="571954"/>
              </a:xfrm>
              <a:prstGeom prst="rect">
                <a:avLst/>
              </a:prstGeom>
            </p:spPr>
          </p:pic>
          <p:sp>
            <p:nvSpPr>
              <p:cNvPr id="44" name="TextBox 43">
                <a:extLst>
                  <a:ext uri="{FF2B5EF4-FFF2-40B4-BE49-F238E27FC236}">
                    <a16:creationId xmlns:a16="http://schemas.microsoft.com/office/drawing/2014/main" id="{6F826ECE-3FEE-E605-86D6-2F54F3FB50C5}"/>
                  </a:ext>
                </a:extLst>
              </p:cNvPr>
              <p:cNvSpPr txBox="1"/>
              <p:nvPr/>
            </p:nvSpPr>
            <p:spPr>
              <a:xfrm>
                <a:off x="10846473" y="3200496"/>
                <a:ext cx="2058536" cy="338554"/>
              </a:xfrm>
              <a:prstGeom prst="rect">
                <a:avLst/>
              </a:prstGeom>
              <a:noFill/>
            </p:spPr>
            <p:txBody>
              <a:bodyPr wrap="square" rtlCol="0">
                <a:spAutoFit/>
              </a:bodyPr>
              <a:lstStyle/>
              <a:p>
                <a:r>
                  <a:rPr lang="en-US" sz="1600" b="1" dirty="0">
                    <a:solidFill>
                      <a:srgbClr val="0477BD"/>
                    </a:solidFill>
                    <a:latin typeface="Arial Nova" panose="020B0504020202020204" pitchFamily="34" charset="0"/>
                  </a:rPr>
                  <a:t>$132,114</a:t>
                </a:r>
              </a:p>
            </p:txBody>
          </p:sp>
        </p:grpSp>
      </p:grpSp>
      <p:sp>
        <p:nvSpPr>
          <p:cNvPr id="49" name="Title Placeholder 1">
            <a:extLst>
              <a:ext uri="{FF2B5EF4-FFF2-40B4-BE49-F238E27FC236}">
                <a16:creationId xmlns:a16="http://schemas.microsoft.com/office/drawing/2014/main" id="{DE1BFCBB-B3E8-C951-806B-E5FFB98AEF16}"/>
              </a:ext>
            </a:extLst>
          </p:cNvPr>
          <p:cNvSpPr txBox="1">
            <a:spLocks/>
          </p:cNvSpPr>
          <p:nvPr/>
        </p:nvSpPr>
        <p:spPr>
          <a:xfrm>
            <a:off x="381000" y="320676"/>
            <a:ext cx="10972800" cy="805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dirty="0"/>
              <a:t>AssetLock</a:t>
            </a:r>
            <a:r>
              <a:rPr lang="en-US" baseline="30000" dirty="0"/>
              <a:t>®</a:t>
            </a:r>
            <a:r>
              <a:rPr lang="en-US" dirty="0"/>
              <a:t> Definitions</a:t>
            </a:r>
          </a:p>
        </p:txBody>
      </p:sp>
      <p:sp>
        <p:nvSpPr>
          <p:cNvPr id="2" name="Slide Number Placeholder 5">
            <a:extLst>
              <a:ext uri="{FF2B5EF4-FFF2-40B4-BE49-F238E27FC236}">
                <a16:creationId xmlns:a16="http://schemas.microsoft.com/office/drawing/2014/main" id="{5098567B-4FAD-A58C-4E95-21A2F6BC44D0}"/>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24</a:t>
            </a:fld>
            <a:endParaRPr lang="en-US" dirty="0">
              <a:solidFill>
                <a:schemeClr val="bg1">
                  <a:lumMod val="75000"/>
                </a:schemeClr>
              </a:solidFill>
              <a:latin typeface="Arial Nova" panose="020B0504020202020204" pitchFamily="34" charset="0"/>
            </a:endParaRPr>
          </a:p>
        </p:txBody>
      </p:sp>
      <p:sp>
        <p:nvSpPr>
          <p:cNvPr id="3" name="Footer Placeholder 4">
            <a:extLst>
              <a:ext uri="{FF2B5EF4-FFF2-40B4-BE49-F238E27FC236}">
                <a16:creationId xmlns:a16="http://schemas.microsoft.com/office/drawing/2014/main" id="{2FBEBFD6-F62D-1799-3D30-50300FE44967}"/>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4045786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left)">
                                      <p:cBhvr>
                                        <p:cTn id="7" dur="500"/>
                                        <p:tgtEl>
                                          <p:spTgt spid="3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wipe(left)">
                                      <p:cBhvr>
                                        <p:cTn id="15" dur="500"/>
                                        <p:tgtEl>
                                          <p:spTgt spid="3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500"/>
                                        <p:tgtEl>
                                          <p:spTgt spid="29"/>
                                        </p:tgtEl>
                                      </p:cBhvr>
                                    </p:animEffect>
                                  </p:childTnLst>
                                  <p:subTnLst>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left)">
                                      <p:cBhvr>
                                        <p:cTn id="23" dur="50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500"/>
                                        <p:tgtEl>
                                          <p:spTgt spid="30"/>
                                        </p:tgtEl>
                                      </p:cBhvr>
                                    </p:animEffect>
                                  </p:childTnLst>
                                  <p:subTnLst>
                                    <p:set>
                                      <p:cBhvr override="childStyle">
                                        <p:cTn dur="1" fill="hold" display="0" masterRel="nextClick" afterEffect="1"/>
                                        <p:tgtEl>
                                          <p:spTgt spid="30"/>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wipe(left)">
                                      <p:cBhvr>
                                        <p:cTn id="31" dur="500"/>
                                        <p:tgtEl>
                                          <p:spTgt spid="4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77C74022-C7FC-4544-AB45-EAAAD5007425}"/>
              </a:ext>
            </a:extLst>
          </p:cNvPr>
          <p:cNvSpPr txBox="1"/>
          <p:nvPr/>
        </p:nvSpPr>
        <p:spPr>
          <a:xfrm>
            <a:off x="82504" y="5945421"/>
            <a:ext cx="11991541" cy="500137"/>
          </a:xfrm>
          <a:prstGeom prst="rect">
            <a:avLst/>
          </a:prstGeom>
          <a:noFill/>
        </p:spPr>
        <p:txBody>
          <a:bodyPr wrap="square">
            <a:spAutoFit/>
          </a:bodyPr>
          <a:lstStyle/>
          <a:p>
            <a:pPr>
              <a:defRPr/>
            </a:pPr>
            <a:r>
              <a:rPr kumimoji="0" lang="en-US" sz="850" b="0" i="0" u="none" strike="noStrike" kern="1200" cap="none" spc="0" normalizeH="0" baseline="0" noProof="0" dirty="0">
                <a:ln>
                  <a:noFill/>
                </a:ln>
                <a:solidFill>
                  <a:srgbClr val="939393"/>
                </a:solidFill>
                <a:effectLst/>
                <a:uLnTx/>
                <a:uFillTx/>
                <a:latin typeface="Arial Nova" panose="020B0504020202020204" pitchFamily="34" charset="0"/>
                <a:ea typeface="+mn-ea"/>
                <a:cs typeface="+mn-cs"/>
              </a:rPr>
              <a:t>Unless otherwise specified, all return figures above are for illustrative purposes only and are not actual customer or model returns. Actual returns will vary greatly and depend on personal allocation and market circumstances. Your advisor will determine the best time for you to re-enter the market. </a:t>
            </a:r>
            <a:r>
              <a:rPr lang="en-US" sz="900" dirty="0">
                <a:solidFill>
                  <a:srgbClr val="939393"/>
                </a:solidFill>
                <a:latin typeface="Arial Nova" panose="020B0504020202020204" pitchFamily="34" charset="0"/>
              </a:rPr>
              <a:t>AssetLock</a:t>
            </a:r>
            <a:r>
              <a:rPr lang="en-US" sz="900" baseline="30000" dirty="0">
                <a:solidFill>
                  <a:srgbClr val="939393"/>
                </a:solidFill>
                <a:latin typeface="Arial Nova" panose="020B0504020202020204" pitchFamily="34" charset="0"/>
              </a:rPr>
              <a:t>®</a:t>
            </a:r>
            <a:r>
              <a:rPr lang="en-US" sz="900" dirty="0">
                <a:solidFill>
                  <a:srgbClr val="939393"/>
                </a:solidFill>
                <a:latin typeface="Arial Nova" panose="020B0504020202020204" pitchFamily="34" charset="0"/>
              </a:rPr>
              <a:t> is tracking software used to monitor performance of a client’s portfolio, and to predetermine the amount of downside the client is willing to tolerate. It is NOT an actual stop order and will NOT automatically sell the individual securities in the portfolio. The AssetLock</a:t>
            </a:r>
            <a:r>
              <a:rPr lang="en-US" sz="900" baseline="30000" dirty="0">
                <a:solidFill>
                  <a:srgbClr val="939393"/>
                </a:solidFill>
                <a:latin typeface="Arial Nova" panose="020B0504020202020204" pitchFamily="34" charset="0"/>
              </a:rPr>
              <a:t>®</a:t>
            </a:r>
            <a:r>
              <a:rPr lang="en-US" sz="900" dirty="0">
                <a:solidFill>
                  <a:srgbClr val="939393"/>
                </a:solidFill>
                <a:latin typeface="Arial Nova" panose="020B0504020202020204" pitchFamily="34" charset="0"/>
              </a:rPr>
              <a:t> Value is a reference point to encourage a conversation between the client and the advisor/firm.</a:t>
            </a:r>
          </a:p>
        </p:txBody>
      </p:sp>
      <p:sp>
        <p:nvSpPr>
          <p:cNvPr id="12" name="Title Placeholder 1">
            <a:extLst>
              <a:ext uri="{FF2B5EF4-FFF2-40B4-BE49-F238E27FC236}">
                <a16:creationId xmlns:a16="http://schemas.microsoft.com/office/drawing/2014/main" id="{215F6053-CFA2-CB24-27B3-B61B6EC2D3CF}"/>
              </a:ext>
            </a:extLst>
          </p:cNvPr>
          <p:cNvSpPr txBox="1">
            <a:spLocks/>
          </p:cNvSpPr>
          <p:nvPr/>
        </p:nvSpPr>
        <p:spPr>
          <a:xfrm>
            <a:off x="381000" y="320676"/>
            <a:ext cx="10972800" cy="805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dirty="0"/>
              <a:t>How AssetLock</a:t>
            </a:r>
            <a:r>
              <a:rPr lang="en-US" baseline="30000" dirty="0"/>
              <a:t>®</a:t>
            </a:r>
            <a:r>
              <a:rPr lang="en-US" dirty="0"/>
              <a:t> Works</a:t>
            </a:r>
          </a:p>
        </p:txBody>
      </p:sp>
      <p:sp>
        <p:nvSpPr>
          <p:cNvPr id="2" name="TextBox 1">
            <a:extLst>
              <a:ext uri="{FF2B5EF4-FFF2-40B4-BE49-F238E27FC236}">
                <a16:creationId xmlns:a16="http://schemas.microsoft.com/office/drawing/2014/main" id="{6788805F-31F4-B571-F26B-1479B473B3F7}"/>
              </a:ext>
            </a:extLst>
          </p:cNvPr>
          <p:cNvSpPr txBox="1"/>
          <p:nvPr/>
        </p:nvSpPr>
        <p:spPr>
          <a:xfrm>
            <a:off x="219088" y="7027466"/>
            <a:ext cx="11569262" cy="400110"/>
          </a:xfrm>
          <a:prstGeom prst="rect">
            <a:avLst/>
          </a:prstGeom>
          <a:noFill/>
        </p:spPr>
        <p:txBody>
          <a:bodyPr wrap="square" rtlCol="0">
            <a:spAutoFit/>
          </a:bodyPr>
          <a:lstStyle/>
          <a:p>
            <a:r>
              <a:rPr lang="en-US" sz="1000" dirty="0" err="1">
                <a:solidFill>
                  <a:srgbClr val="939393"/>
                </a:solidFill>
                <a:latin typeface="Arial Nova" panose="020B0504020202020204" pitchFamily="34" charset="0"/>
              </a:rPr>
              <a:t>AssetLock</a:t>
            </a:r>
            <a:r>
              <a:rPr lang="en-US" sz="1000" baseline="30000" dirty="0">
                <a:solidFill>
                  <a:srgbClr val="939393"/>
                </a:solidFill>
                <a:latin typeface="Arial Nova" panose="020B0504020202020204" pitchFamily="34" charset="0"/>
              </a:rPr>
              <a:t>®</a:t>
            </a:r>
            <a:r>
              <a:rPr lang="en-US" sz="1000" dirty="0">
                <a:solidFill>
                  <a:srgbClr val="939393"/>
                </a:solidFill>
                <a:latin typeface="Arial Nova" panose="020B0504020202020204" pitchFamily="34" charset="0"/>
              </a:rPr>
              <a:t> is tracking software used to monitor performance of a client’s portfolio, and to predetermine the amount of downside the client is willing to tolerate. It is NOT an actual stop order and will NOT automatically sell the individual securities in the portfolio. The </a:t>
            </a:r>
            <a:r>
              <a:rPr lang="en-US" sz="1000" dirty="0" err="1">
                <a:solidFill>
                  <a:srgbClr val="939393"/>
                </a:solidFill>
                <a:latin typeface="Arial Nova" panose="020B0504020202020204" pitchFamily="34" charset="0"/>
              </a:rPr>
              <a:t>AssetLock</a:t>
            </a:r>
            <a:r>
              <a:rPr lang="en-US" sz="1000" baseline="30000" dirty="0">
                <a:solidFill>
                  <a:srgbClr val="939393"/>
                </a:solidFill>
                <a:latin typeface="Arial Nova" panose="020B0504020202020204" pitchFamily="34" charset="0"/>
              </a:rPr>
              <a:t>®</a:t>
            </a:r>
            <a:r>
              <a:rPr lang="en-US" sz="1000" dirty="0">
                <a:solidFill>
                  <a:srgbClr val="939393"/>
                </a:solidFill>
                <a:latin typeface="Arial Nova" panose="020B0504020202020204" pitchFamily="34" charset="0"/>
              </a:rPr>
              <a:t> Value is a reference point to encourage a conversation between the client and the advisor/firm.</a:t>
            </a:r>
          </a:p>
        </p:txBody>
      </p:sp>
      <p:pic>
        <p:nvPicPr>
          <p:cNvPr id="11" name="Picture 10" descr="A white line on a black background&#10;&#10;Description automatically generated">
            <a:extLst>
              <a:ext uri="{FF2B5EF4-FFF2-40B4-BE49-F238E27FC236}">
                <a16:creationId xmlns:a16="http://schemas.microsoft.com/office/drawing/2014/main" id="{CD9898A5-BCC0-4A68-9674-BB73045B6D41}"/>
              </a:ext>
            </a:extLst>
          </p:cNvPr>
          <p:cNvPicPr>
            <a:picLocks noChangeAspect="1"/>
          </p:cNvPicPr>
          <p:nvPr/>
        </p:nvPicPr>
        <p:blipFill rotWithShape="1">
          <a:blip r:embed="rId3">
            <a:extLst>
              <a:ext uri="{28A0092B-C50C-407E-A947-70E740481C1C}">
                <a14:useLocalDpi xmlns:a14="http://schemas.microsoft.com/office/drawing/2010/main" val="0"/>
              </a:ext>
            </a:extLst>
          </a:blip>
          <a:srcRect t="664" r="287"/>
          <a:stretch/>
        </p:blipFill>
        <p:spPr>
          <a:xfrm>
            <a:off x="2270419" y="1811651"/>
            <a:ext cx="7265804" cy="3462459"/>
          </a:xfrm>
          <a:prstGeom prst="rect">
            <a:avLst/>
          </a:prstGeom>
        </p:spPr>
      </p:pic>
      <p:pic>
        <p:nvPicPr>
          <p:cNvPr id="13" name="Picture 12">
            <a:extLst>
              <a:ext uri="{FF2B5EF4-FFF2-40B4-BE49-F238E27FC236}">
                <a16:creationId xmlns:a16="http://schemas.microsoft.com/office/drawing/2014/main" id="{A60F3A89-CC5F-6AC2-608D-507602F1BF22}"/>
              </a:ext>
            </a:extLst>
          </p:cNvPr>
          <p:cNvPicPr>
            <a:picLocks noChangeAspect="1"/>
          </p:cNvPicPr>
          <p:nvPr/>
        </p:nvPicPr>
        <p:blipFill rotWithShape="1">
          <a:blip r:embed="rId4">
            <a:extLst>
              <a:ext uri="{28A0092B-C50C-407E-A947-70E740481C1C}">
                <a14:useLocalDpi xmlns:a14="http://schemas.microsoft.com/office/drawing/2010/main" val="0"/>
              </a:ext>
            </a:extLst>
          </a:blip>
          <a:srcRect r="23531" b="-34323"/>
          <a:stretch/>
        </p:blipFill>
        <p:spPr>
          <a:xfrm>
            <a:off x="2270419" y="5549038"/>
            <a:ext cx="7265804" cy="291724"/>
          </a:xfrm>
          <a:prstGeom prst="rect">
            <a:avLst/>
          </a:prstGeom>
        </p:spPr>
      </p:pic>
      <p:pic>
        <p:nvPicPr>
          <p:cNvPr id="16" name="Picture 15" descr="A black background with a black square&#10;&#10;Description automatically generated with medium confidence">
            <a:extLst>
              <a:ext uri="{FF2B5EF4-FFF2-40B4-BE49-F238E27FC236}">
                <a16:creationId xmlns:a16="http://schemas.microsoft.com/office/drawing/2014/main" id="{32DF3B76-C7D7-C4C0-BF15-CCD6E76F74B9}"/>
              </a:ext>
            </a:extLst>
          </p:cNvPr>
          <p:cNvPicPr>
            <a:picLocks noChangeAspect="1"/>
          </p:cNvPicPr>
          <p:nvPr/>
        </p:nvPicPr>
        <p:blipFill rotWithShape="1">
          <a:blip r:embed="rId5">
            <a:extLst>
              <a:ext uri="{28A0092B-C50C-407E-A947-70E740481C1C}">
                <a14:useLocalDpi xmlns:a14="http://schemas.microsoft.com/office/drawing/2010/main" val="0"/>
              </a:ext>
            </a:extLst>
          </a:blip>
          <a:srcRect r="12100"/>
          <a:stretch/>
        </p:blipFill>
        <p:spPr>
          <a:xfrm>
            <a:off x="2023907" y="1720395"/>
            <a:ext cx="6704863" cy="3059811"/>
          </a:xfrm>
          <a:prstGeom prst="rect">
            <a:avLst/>
          </a:prstGeom>
        </p:spPr>
      </p:pic>
      <p:pic>
        <p:nvPicPr>
          <p:cNvPr id="17" name="Picture 16" descr="A blue line on a black background&#10;&#10;Description automatically generated">
            <a:extLst>
              <a:ext uri="{FF2B5EF4-FFF2-40B4-BE49-F238E27FC236}">
                <a16:creationId xmlns:a16="http://schemas.microsoft.com/office/drawing/2014/main" id="{E376E375-F065-37F7-1216-407CCD21A651}"/>
              </a:ext>
            </a:extLst>
          </p:cNvPr>
          <p:cNvPicPr>
            <a:picLocks noChangeAspect="1"/>
          </p:cNvPicPr>
          <p:nvPr/>
        </p:nvPicPr>
        <p:blipFill rotWithShape="1">
          <a:blip r:embed="rId6">
            <a:extLst>
              <a:ext uri="{28A0092B-C50C-407E-A947-70E740481C1C}">
                <a14:useLocalDpi xmlns:a14="http://schemas.microsoft.com/office/drawing/2010/main" val="0"/>
              </a:ext>
            </a:extLst>
          </a:blip>
          <a:srcRect r="5183"/>
          <a:stretch/>
        </p:blipFill>
        <p:spPr>
          <a:xfrm>
            <a:off x="2106234" y="2385776"/>
            <a:ext cx="7126225" cy="2969344"/>
          </a:xfrm>
          <a:prstGeom prst="rect">
            <a:avLst/>
          </a:prstGeom>
        </p:spPr>
      </p:pic>
      <p:sp>
        <p:nvSpPr>
          <p:cNvPr id="18" name="TextBox 17">
            <a:extLst>
              <a:ext uri="{FF2B5EF4-FFF2-40B4-BE49-F238E27FC236}">
                <a16:creationId xmlns:a16="http://schemas.microsoft.com/office/drawing/2014/main" id="{9FEFEFC0-0E63-4C5C-84D6-6AE6A7C3210C}"/>
              </a:ext>
            </a:extLst>
          </p:cNvPr>
          <p:cNvSpPr txBox="1"/>
          <p:nvPr/>
        </p:nvSpPr>
        <p:spPr>
          <a:xfrm>
            <a:off x="9536223" y="1250327"/>
            <a:ext cx="2283538" cy="338554"/>
          </a:xfrm>
          <a:prstGeom prst="rect">
            <a:avLst/>
          </a:prstGeom>
          <a:noFill/>
        </p:spPr>
        <p:txBody>
          <a:bodyPr wrap="square" rtlCol="0">
            <a:spAutoFit/>
          </a:bodyPr>
          <a:lstStyle/>
          <a:p>
            <a:r>
              <a:rPr lang="en-US" sz="1600" b="1" dirty="0">
                <a:solidFill>
                  <a:srgbClr val="62A3CD"/>
                </a:solidFill>
                <a:latin typeface="Arial Nova" panose="020B0504020202020204" pitchFamily="34" charset="0"/>
              </a:rPr>
              <a:t>High-Water Value</a:t>
            </a:r>
          </a:p>
        </p:txBody>
      </p:sp>
      <p:sp>
        <p:nvSpPr>
          <p:cNvPr id="19" name="TextBox 18">
            <a:extLst>
              <a:ext uri="{FF2B5EF4-FFF2-40B4-BE49-F238E27FC236}">
                <a16:creationId xmlns:a16="http://schemas.microsoft.com/office/drawing/2014/main" id="{DA1D9F50-D8E2-7EE4-5005-C70214148520}"/>
              </a:ext>
            </a:extLst>
          </p:cNvPr>
          <p:cNvSpPr txBox="1"/>
          <p:nvPr/>
        </p:nvSpPr>
        <p:spPr>
          <a:xfrm>
            <a:off x="392637" y="3618570"/>
            <a:ext cx="2042535" cy="584775"/>
          </a:xfrm>
          <a:prstGeom prst="rect">
            <a:avLst/>
          </a:prstGeom>
          <a:noFill/>
        </p:spPr>
        <p:txBody>
          <a:bodyPr wrap="square" rtlCol="0">
            <a:spAutoFit/>
          </a:bodyPr>
          <a:lstStyle/>
          <a:p>
            <a:pPr algn="r"/>
            <a:r>
              <a:rPr lang="en-US" sz="1600" b="1" dirty="0">
                <a:latin typeface="Arial Nova" panose="020B0504020202020204" pitchFamily="34" charset="0"/>
              </a:rPr>
              <a:t>Portfolio Value</a:t>
            </a:r>
          </a:p>
          <a:p>
            <a:pPr algn="r"/>
            <a:r>
              <a:rPr lang="en-US" sz="1600" b="1" dirty="0">
                <a:latin typeface="Arial Nova" panose="020B0504020202020204" pitchFamily="34" charset="0"/>
              </a:rPr>
              <a:t>$100,000</a:t>
            </a:r>
          </a:p>
        </p:txBody>
      </p:sp>
      <p:sp>
        <p:nvSpPr>
          <p:cNvPr id="20" name="TextBox 19">
            <a:extLst>
              <a:ext uri="{FF2B5EF4-FFF2-40B4-BE49-F238E27FC236}">
                <a16:creationId xmlns:a16="http://schemas.microsoft.com/office/drawing/2014/main" id="{7D6269E9-5459-A45A-4503-B01D775BE9D8}"/>
              </a:ext>
            </a:extLst>
          </p:cNvPr>
          <p:cNvSpPr txBox="1"/>
          <p:nvPr/>
        </p:nvSpPr>
        <p:spPr>
          <a:xfrm>
            <a:off x="2436867" y="5072978"/>
            <a:ext cx="4384055" cy="584775"/>
          </a:xfrm>
          <a:prstGeom prst="rect">
            <a:avLst/>
          </a:prstGeom>
          <a:noFill/>
        </p:spPr>
        <p:txBody>
          <a:bodyPr wrap="square" rtlCol="0">
            <a:spAutoFit/>
          </a:bodyPr>
          <a:lstStyle/>
          <a:p>
            <a:r>
              <a:rPr lang="en-US" sz="1600" b="1" dirty="0">
                <a:solidFill>
                  <a:srgbClr val="0477BD"/>
                </a:solidFill>
                <a:latin typeface="Arial Nova" panose="020B0504020202020204" pitchFamily="34" charset="0"/>
              </a:rPr>
              <a:t>Starting AssetLock Value</a:t>
            </a:r>
          </a:p>
          <a:p>
            <a:r>
              <a:rPr lang="en-US" sz="1600" b="1" dirty="0">
                <a:solidFill>
                  <a:srgbClr val="0477BD"/>
                </a:solidFill>
                <a:latin typeface="Arial Nova" panose="020B0504020202020204" pitchFamily="34" charset="0"/>
              </a:rPr>
              <a:t>$90,000</a:t>
            </a:r>
          </a:p>
        </p:txBody>
      </p:sp>
      <p:sp>
        <p:nvSpPr>
          <p:cNvPr id="21" name="TextBox 20">
            <a:extLst>
              <a:ext uri="{FF2B5EF4-FFF2-40B4-BE49-F238E27FC236}">
                <a16:creationId xmlns:a16="http://schemas.microsoft.com/office/drawing/2014/main" id="{892F45D0-AFCE-D0BA-1C4A-AA80DEDCEB9A}"/>
              </a:ext>
            </a:extLst>
          </p:cNvPr>
          <p:cNvSpPr txBox="1"/>
          <p:nvPr/>
        </p:nvSpPr>
        <p:spPr>
          <a:xfrm>
            <a:off x="-271162" y="4402491"/>
            <a:ext cx="2266896" cy="830997"/>
          </a:xfrm>
          <a:prstGeom prst="rect">
            <a:avLst/>
          </a:prstGeom>
          <a:noFill/>
        </p:spPr>
        <p:txBody>
          <a:bodyPr wrap="square" rtlCol="0">
            <a:spAutoFit/>
          </a:bodyPr>
          <a:lstStyle/>
          <a:p>
            <a:pPr algn="r"/>
            <a:r>
              <a:rPr lang="en-US" sz="1600" b="1" dirty="0">
                <a:solidFill>
                  <a:schemeClr val="bg1">
                    <a:lumMod val="65000"/>
                  </a:schemeClr>
                </a:solidFill>
                <a:latin typeface="Arial Nova" panose="020B0504020202020204" pitchFamily="34" charset="0"/>
              </a:rPr>
              <a:t>AssetLock </a:t>
            </a:r>
          </a:p>
          <a:p>
            <a:pPr algn="r"/>
            <a:r>
              <a:rPr lang="en-US" sz="1600" b="1" dirty="0">
                <a:solidFill>
                  <a:schemeClr val="bg1">
                    <a:lumMod val="65000"/>
                  </a:schemeClr>
                </a:solidFill>
                <a:latin typeface="Arial Nova" panose="020B0504020202020204" pitchFamily="34" charset="0"/>
              </a:rPr>
              <a:t>Threshold</a:t>
            </a:r>
          </a:p>
          <a:p>
            <a:pPr algn="r"/>
            <a:r>
              <a:rPr lang="en-US" sz="1600" b="1" dirty="0">
                <a:solidFill>
                  <a:schemeClr val="bg1">
                    <a:lumMod val="65000"/>
                  </a:schemeClr>
                </a:solidFill>
                <a:latin typeface="Arial Nova" panose="020B0504020202020204" pitchFamily="34" charset="0"/>
              </a:rPr>
              <a:t>-10%</a:t>
            </a:r>
          </a:p>
        </p:txBody>
      </p:sp>
      <p:pic>
        <p:nvPicPr>
          <p:cNvPr id="22" name="Picture 21" descr="A black background with a black square&#10;&#10;Description automatically generated with medium confidence">
            <a:extLst>
              <a:ext uri="{FF2B5EF4-FFF2-40B4-BE49-F238E27FC236}">
                <a16:creationId xmlns:a16="http://schemas.microsoft.com/office/drawing/2014/main" id="{CBC6CA2A-995C-7621-FF8F-1B12DF35CFA7}"/>
              </a:ext>
            </a:extLst>
          </p:cNvPr>
          <p:cNvPicPr>
            <a:picLocks noChangeAspect="1"/>
          </p:cNvPicPr>
          <p:nvPr/>
        </p:nvPicPr>
        <p:blipFill rotWithShape="1">
          <a:blip r:embed="rId5">
            <a:extLst>
              <a:ext uri="{28A0092B-C50C-407E-A947-70E740481C1C}">
                <a14:useLocalDpi xmlns:a14="http://schemas.microsoft.com/office/drawing/2010/main" val="0"/>
              </a:ext>
            </a:extLst>
          </a:blip>
          <a:srcRect l="88843" t="-1" b="72241"/>
          <a:stretch/>
        </p:blipFill>
        <p:spPr>
          <a:xfrm>
            <a:off x="8727353" y="1824798"/>
            <a:ext cx="851030" cy="849377"/>
          </a:xfrm>
          <a:prstGeom prst="rect">
            <a:avLst/>
          </a:prstGeom>
        </p:spPr>
      </p:pic>
      <p:grpSp>
        <p:nvGrpSpPr>
          <p:cNvPr id="23" name="Group 22">
            <a:extLst>
              <a:ext uri="{FF2B5EF4-FFF2-40B4-BE49-F238E27FC236}">
                <a16:creationId xmlns:a16="http://schemas.microsoft.com/office/drawing/2014/main" id="{A79F1F85-49BA-8F6D-7534-6806242D2F5A}"/>
              </a:ext>
            </a:extLst>
          </p:cNvPr>
          <p:cNvGrpSpPr/>
          <p:nvPr/>
        </p:nvGrpSpPr>
        <p:grpSpPr>
          <a:xfrm>
            <a:off x="9222934" y="2384466"/>
            <a:ext cx="2462388" cy="571954"/>
            <a:chOff x="10442621" y="3104591"/>
            <a:chExt cx="2462388" cy="571954"/>
          </a:xfrm>
        </p:grpSpPr>
        <p:pic>
          <p:nvPicPr>
            <p:cNvPr id="24" name="Picture 23" descr="A blue line on a black background&#10;&#10;Description automatically generated">
              <a:extLst>
                <a:ext uri="{FF2B5EF4-FFF2-40B4-BE49-F238E27FC236}">
                  <a16:creationId xmlns:a16="http://schemas.microsoft.com/office/drawing/2014/main" id="{319A922B-5DE7-DA42-D523-1F601A18CCA1}"/>
                </a:ext>
              </a:extLst>
            </p:cNvPr>
            <p:cNvPicPr>
              <a:picLocks noChangeAspect="1"/>
            </p:cNvPicPr>
            <p:nvPr/>
          </p:nvPicPr>
          <p:blipFill rotWithShape="1">
            <a:blip r:embed="rId6">
              <a:extLst>
                <a:ext uri="{28A0092B-C50C-407E-A947-70E740481C1C}">
                  <a14:useLocalDpi xmlns:a14="http://schemas.microsoft.com/office/drawing/2010/main" val="0"/>
                </a:ext>
              </a:extLst>
            </a:blip>
            <a:srcRect l="94790" r="-407" b="80738"/>
            <a:stretch/>
          </p:blipFill>
          <p:spPr>
            <a:xfrm>
              <a:off x="10442621" y="3104591"/>
              <a:ext cx="422158" cy="571954"/>
            </a:xfrm>
            <a:prstGeom prst="rect">
              <a:avLst/>
            </a:prstGeom>
          </p:spPr>
        </p:pic>
        <p:sp>
          <p:nvSpPr>
            <p:cNvPr id="25" name="TextBox 24">
              <a:extLst>
                <a:ext uri="{FF2B5EF4-FFF2-40B4-BE49-F238E27FC236}">
                  <a16:creationId xmlns:a16="http://schemas.microsoft.com/office/drawing/2014/main" id="{A7C3354A-E3E1-75FE-6655-30DA06198A89}"/>
                </a:ext>
              </a:extLst>
            </p:cNvPr>
            <p:cNvSpPr txBox="1"/>
            <p:nvPr/>
          </p:nvSpPr>
          <p:spPr>
            <a:xfrm>
              <a:off x="10846473" y="3200496"/>
              <a:ext cx="2058536" cy="369332"/>
            </a:xfrm>
            <a:prstGeom prst="rect">
              <a:avLst/>
            </a:prstGeom>
            <a:noFill/>
          </p:spPr>
          <p:txBody>
            <a:bodyPr wrap="square" rtlCol="0">
              <a:spAutoFit/>
            </a:bodyPr>
            <a:lstStyle/>
            <a:p>
              <a:r>
                <a:rPr lang="en-US" b="1" dirty="0">
                  <a:solidFill>
                    <a:srgbClr val="0477BD"/>
                  </a:solidFill>
                  <a:latin typeface="Arial Nova" panose="020B0504020202020204" pitchFamily="34" charset="0"/>
                </a:rPr>
                <a:t>$132,114</a:t>
              </a:r>
            </a:p>
          </p:txBody>
        </p:sp>
      </p:grpSp>
      <p:grpSp>
        <p:nvGrpSpPr>
          <p:cNvPr id="26" name="Group 25">
            <a:extLst>
              <a:ext uri="{FF2B5EF4-FFF2-40B4-BE49-F238E27FC236}">
                <a16:creationId xmlns:a16="http://schemas.microsoft.com/office/drawing/2014/main" id="{D0B9039D-29B0-FD32-6D1C-90E33DEBF747}"/>
              </a:ext>
            </a:extLst>
          </p:cNvPr>
          <p:cNvGrpSpPr/>
          <p:nvPr/>
        </p:nvGrpSpPr>
        <p:grpSpPr>
          <a:xfrm>
            <a:off x="2446902" y="1506796"/>
            <a:ext cx="9134633" cy="3017657"/>
            <a:chOff x="1763703" y="1115661"/>
            <a:chExt cx="9134633" cy="3017657"/>
          </a:xfrm>
        </p:grpSpPr>
        <p:pic>
          <p:nvPicPr>
            <p:cNvPr id="27" name="Picture 26" descr="A blue line on a black background&#10;&#10;Description automatically generated">
              <a:extLst>
                <a:ext uri="{FF2B5EF4-FFF2-40B4-BE49-F238E27FC236}">
                  <a16:creationId xmlns:a16="http://schemas.microsoft.com/office/drawing/2014/main" id="{52D81CEF-FB6A-4236-87A4-0979163EB1A1}"/>
                </a:ext>
              </a:extLst>
            </p:cNvPr>
            <p:cNvPicPr>
              <a:picLocks noChangeAspect="1"/>
            </p:cNvPicPr>
            <p:nvPr/>
          </p:nvPicPr>
          <p:blipFill rotWithShape="1">
            <a:blip r:embed="rId7">
              <a:extLst>
                <a:ext uri="{28A0092B-C50C-407E-A947-70E740481C1C}">
                  <a14:useLocalDpi xmlns:a14="http://schemas.microsoft.com/office/drawing/2010/main" val="0"/>
                </a:ext>
              </a:extLst>
            </a:blip>
            <a:srcRect l="3724" t="-1301" r="216" b="2294"/>
            <a:stretch/>
          </p:blipFill>
          <p:spPr>
            <a:xfrm>
              <a:off x="1763703" y="1163974"/>
              <a:ext cx="7111877" cy="2969344"/>
            </a:xfrm>
            <a:prstGeom prst="rect">
              <a:avLst/>
            </a:prstGeom>
          </p:spPr>
        </p:pic>
        <p:sp>
          <p:nvSpPr>
            <p:cNvPr id="28" name="TextBox 27">
              <a:extLst>
                <a:ext uri="{FF2B5EF4-FFF2-40B4-BE49-F238E27FC236}">
                  <a16:creationId xmlns:a16="http://schemas.microsoft.com/office/drawing/2014/main" id="{053AC137-76A5-CF31-EC9A-2D25FE5EEBCF}"/>
                </a:ext>
              </a:extLst>
            </p:cNvPr>
            <p:cNvSpPr txBox="1"/>
            <p:nvPr/>
          </p:nvSpPr>
          <p:spPr>
            <a:xfrm>
              <a:off x="8839800" y="1115661"/>
              <a:ext cx="2058536" cy="369332"/>
            </a:xfrm>
            <a:prstGeom prst="rect">
              <a:avLst/>
            </a:prstGeom>
            <a:noFill/>
          </p:spPr>
          <p:txBody>
            <a:bodyPr wrap="square" rtlCol="0">
              <a:spAutoFit/>
            </a:bodyPr>
            <a:lstStyle/>
            <a:p>
              <a:r>
                <a:rPr lang="en-US" b="1" dirty="0">
                  <a:solidFill>
                    <a:srgbClr val="62A3CD"/>
                  </a:solidFill>
                  <a:latin typeface="Arial Nova" panose="020B0504020202020204" pitchFamily="34" charset="0"/>
                </a:rPr>
                <a:t>$146,793</a:t>
              </a:r>
            </a:p>
          </p:txBody>
        </p:sp>
        <p:pic>
          <p:nvPicPr>
            <p:cNvPr id="29" name="Picture 28" descr="Icon&#10;&#10;Description automatically generated">
              <a:extLst>
                <a:ext uri="{FF2B5EF4-FFF2-40B4-BE49-F238E27FC236}">
                  <a16:creationId xmlns:a16="http://schemas.microsoft.com/office/drawing/2014/main" id="{5904AA72-FF40-6265-D3A1-7041E3DD33A1}"/>
                </a:ext>
              </a:extLst>
            </p:cNvPr>
            <p:cNvPicPr>
              <a:picLocks noChangeAspect="1"/>
            </p:cNvPicPr>
            <p:nvPr/>
          </p:nvPicPr>
          <p:blipFill rotWithShape="1">
            <a:blip r:embed="rId8">
              <a:extLst>
                <a:ext uri="{28A0092B-C50C-407E-A947-70E740481C1C}">
                  <a14:useLocalDpi xmlns:a14="http://schemas.microsoft.com/office/drawing/2010/main" val="0"/>
                </a:ext>
              </a:extLst>
            </a:blip>
            <a:srcRect l="29686" t="39175" r="30111" b="1"/>
            <a:stretch/>
          </p:blipFill>
          <p:spPr>
            <a:xfrm>
              <a:off x="7861400" y="1118064"/>
              <a:ext cx="518856" cy="488452"/>
            </a:xfrm>
            <a:prstGeom prst="rect">
              <a:avLst/>
            </a:prstGeom>
          </p:spPr>
        </p:pic>
      </p:grpSp>
      <p:pic>
        <p:nvPicPr>
          <p:cNvPr id="30" name="Picture 29">
            <a:extLst>
              <a:ext uri="{FF2B5EF4-FFF2-40B4-BE49-F238E27FC236}">
                <a16:creationId xmlns:a16="http://schemas.microsoft.com/office/drawing/2014/main" id="{AE1BEBD9-7A58-21AB-1686-7451DFD10FD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36525" y="3055756"/>
            <a:ext cx="3262455" cy="2527717"/>
          </a:xfrm>
          <a:prstGeom prst="rect">
            <a:avLst/>
          </a:prstGeom>
        </p:spPr>
      </p:pic>
      <p:sp>
        <p:nvSpPr>
          <p:cNvPr id="31" name="Rectangle 30">
            <a:extLst>
              <a:ext uri="{FF2B5EF4-FFF2-40B4-BE49-F238E27FC236}">
                <a16:creationId xmlns:a16="http://schemas.microsoft.com/office/drawing/2014/main" id="{270C172B-F1AE-ED76-68CE-52D03EAE5562}"/>
              </a:ext>
            </a:extLst>
          </p:cNvPr>
          <p:cNvSpPr/>
          <p:nvPr/>
        </p:nvSpPr>
        <p:spPr>
          <a:xfrm>
            <a:off x="8468316" y="1248109"/>
            <a:ext cx="2885484" cy="1671636"/>
          </a:xfrm>
          <a:prstGeom prst="rect">
            <a:avLst/>
          </a:prstGeom>
          <a:noFill/>
          <a:ln w="762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5">
            <a:extLst>
              <a:ext uri="{FF2B5EF4-FFF2-40B4-BE49-F238E27FC236}">
                <a16:creationId xmlns:a16="http://schemas.microsoft.com/office/drawing/2014/main" id="{91479F74-3BA7-D4EA-20E6-B511541035B9}"/>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25</a:t>
            </a:fld>
            <a:endParaRPr lang="en-US" dirty="0">
              <a:solidFill>
                <a:schemeClr val="bg1">
                  <a:lumMod val="75000"/>
                </a:schemeClr>
              </a:solidFill>
              <a:latin typeface="Arial Nova" panose="020B0504020202020204" pitchFamily="34" charset="0"/>
            </a:endParaRPr>
          </a:p>
        </p:txBody>
      </p:sp>
      <p:sp>
        <p:nvSpPr>
          <p:cNvPr id="4" name="Footer Placeholder 4">
            <a:extLst>
              <a:ext uri="{FF2B5EF4-FFF2-40B4-BE49-F238E27FC236}">
                <a16:creationId xmlns:a16="http://schemas.microsoft.com/office/drawing/2014/main" id="{F3480229-333E-0851-8053-34893EA49954}"/>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249695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20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wipe(left)">
                                      <p:cBhvr>
                                        <p:cTn id="20" dur="2000"/>
                                        <p:tgtEl>
                                          <p:spTgt spid="2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20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left)">
                                      <p:cBhvr>
                                        <p:cTn id="38" dur="20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left)">
                                      <p:cBhvr>
                                        <p:cTn id="43" dur="500"/>
                                        <p:tgtEl>
                                          <p:spTgt spid="2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childTnLst>
                          </p:cTn>
                        </p:par>
                        <p:par>
                          <p:cTn id="49" fill="hold">
                            <p:stCondLst>
                              <p:cond delay="500"/>
                            </p:stCondLst>
                            <p:childTnLst>
                              <p:par>
                                <p:cTn id="50" presetID="10" presetClass="entr" presetSubtype="0" fill="hold" nodeType="after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3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D7FFA81B-EFF3-9B4D-28E8-8F9614D77FE8}"/>
              </a:ext>
            </a:extLst>
          </p:cNvPr>
          <p:cNvSpPr txBox="1">
            <a:spLocks/>
          </p:cNvSpPr>
          <p:nvPr/>
        </p:nvSpPr>
        <p:spPr>
          <a:xfrm>
            <a:off x="381000" y="320676"/>
            <a:ext cx="10972800" cy="805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dirty="0"/>
              <a:t>How AssetLock</a:t>
            </a:r>
            <a:r>
              <a:rPr lang="en-US" baseline="30000" dirty="0"/>
              <a:t>®</a:t>
            </a:r>
            <a:r>
              <a:rPr lang="en-US" dirty="0"/>
              <a:t> Works</a:t>
            </a:r>
          </a:p>
        </p:txBody>
      </p:sp>
      <p:sp>
        <p:nvSpPr>
          <p:cNvPr id="44" name="TextBox 43">
            <a:extLst>
              <a:ext uri="{FF2B5EF4-FFF2-40B4-BE49-F238E27FC236}">
                <a16:creationId xmlns:a16="http://schemas.microsoft.com/office/drawing/2014/main" id="{48A9B4D8-C7D5-729C-EBEB-C718A27FCF1B}"/>
              </a:ext>
            </a:extLst>
          </p:cNvPr>
          <p:cNvSpPr txBox="1"/>
          <p:nvPr/>
        </p:nvSpPr>
        <p:spPr>
          <a:xfrm>
            <a:off x="381000" y="6024195"/>
            <a:ext cx="11569262" cy="353943"/>
          </a:xfrm>
          <a:prstGeom prst="rect">
            <a:avLst/>
          </a:prstGeom>
          <a:noFill/>
        </p:spPr>
        <p:txBody>
          <a:bodyPr wrap="square" rtlCol="0">
            <a:spAutoFit/>
          </a:bodyPr>
          <a:lstStyle/>
          <a:p>
            <a:r>
              <a:rPr lang="en-US" sz="850" dirty="0">
                <a:solidFill>
                  <a:srgbClr val="939393"/>
                </a:solidFill>
                <a:latin typeface="Arial Nova" panose="020B0504020202020204" pitchFamily="34" charset="0"/>
              </a:rPr>
              <a:t>AssetLock</a:t>
            </a:r>
            <a:r>
              <a:rPr lang="en-US" sz="850" baseline="30000" dirty="0">
                <a:solidFill>
                  <a:srgbClr val="939393"/>
                </a:solidFill>
                <a:latin typeface="Arial Nova" panose="020B0504020202020204" pitchFamily="34" charset="0"/>
              </a:rPr>
              <a:t>®</a:t>
            </a:r>
            <a:r>
              <a:rPr lang="en-US" sz="850" dirty="0">
                <a:solidFill>
                  <a:srgbClr val="939393"/>
                </a:solidFill>
                <a:latin typeface="Arial Nova" panose="020B0504020202020204" pitchFamily="34" charset="0"/>
              </a:rPr>
              <a:t> is tracking software used to monitor performance of a client’s portfolio, and to predetermine the amount of downside the client is willing to tolerate. It is NOT an actual stop order and will NOT automatically sell the individual securities in the portfolio. The AssetLock</a:t>
            </a:r>
            <a:r>
              <a:rPr lang="en-US" sz="850" baseline="30000" dirty="0">
                <a:solidFill>
                  <a:srgbClr val="939393"/>
                </a:solidFill>
                <a:latin typeface="Arial Nova" panose="020B0504020202020204" pitchFamily="34" charset="0"/>
              </a:rPr>
              <a:t>®</a:t>
            </a:r>
            <a:r>
              <a:rPr lang="en-US" sz="850" dirty="0">
                <a:solidFill>
                  <a:srgbClr val="939393"/>
                </a:solidFill>
                <a:latin typeface="Arial Nova" panose="020B0504020202020204" pitchFamily="34" charset="0"/>
              </a:rPr>
              <a:t> Value is a reference point to encourage a conversation between the client and the advisor/firm.</a:t>
            </a:r>
          </a:p>
        </p:txBody>
      </p:sp>
      <p:sp>
        <p:nvSpPr>
          <p:cNvPr id="76" name="Freeform: Shape 101">
            <a:extLst>
              <a:ext uri="{FF2B5EF4-FFF2-40B4-BE49-F238E27FC236}">
                <a16:creationId xmlns:a16="http://schemas.microsoft.com/office/drawing/2014/main" id="{BD542350-BF9A-2D9D-AFFD-81CD56D2F90A}"/>
              </a:ext>
            </a:extLst>
          </p:cNvPr>
          <p:cNvSpPr/>
          <p:nvPr/>
        </p:nvSpPr>
        <p:spPr>
          <a:xfrm>
            <a:off x="1502350" y="2345903"/>
            <a:ext cx="3107135" cy="770152"/>
          </a:xfrm>
          <a:custGeom>
            <a:avLst/>
            <a:gdLst>
              <a:gd name="connsiteX0" fmla="*/ 163858 w 742978"/>
              <a:gd name="connsiteY0" fmla="*/ 0 h 276548"/>
              <a:gd name="connsiteX1" fmla="*/ 742978 w 742978"/>
              <a:gd name="connsiteY1" fmla="*/ 0 h 276548"/>
              <a:gd name="connsiteX2" fmla="*/ 0 w 742978"/>
              <a:gd name="connsiteY2" fmla="*/ 276548 h 276548"/>
              <a:gd name="connsiteX3" fmla="*/ 0 w 742978"/>
              <a:gd name="connsiteY3" fmla="*/ 160020 h 276548"/>
              <a:gd name="connsiteX4" fmla="*/ 34318 w 742978"/>
              <a:gd name="connsiteY4" fmla="*/ 160020 h 276548"/>
              <a:gd name="connsiteX0" fmla="*/ 163858 w 742978"/>
              <a:gd name="connsiteY0" fmla="*/ 0 h 276548"/>
              <a:gd name="connsiteX1" fmla="*/ 742978 w 742978"/>
              <a:gd name="connsiteY1" fmla="*/ 0 h 276548"/>
              <a:gd name="connsiteX2" fmla="*/ 371119 w 742978"/>
              <a:gd name="connsiteY2" fmla="*/ 148093 h 276548"/>
              <a:gd name="connsiteX3" fmla="*/ 0 w 742978"/>
              <a:gd name="connsiteY3" fmla="*/ 276548 h 276548"/>
              <a:gd name="connsiteX4" fmla="*/ 0 w 742978"/>
              <a:gd name="connsiteY4" fmla="*/ 160020 h 276548"/>
              <a:gd name="connsiteX5" fmla="*/ 34318 w 742978"/>
              <a:gd name="connsiteY5" fmla="*/ 160020 h 276548"/>
              <a:gd name="connsiteX6" fmla="*/ 163858 w 742978"/>
              <a:gd name="connsiteY6" fmla="*/ 0 h 276548"/>
              <a:gd name="connsiteX0" fmla="*/ 371119 w 742978"/>
              <a:gd name="connsiteY0" fmla="*/ 148093 h 276548"/>
              <a:gd name="connsiteX1" fmla="*/ 0 w 742978"/>
              <a:gd name="connsiteY1" fmla="*/ 276548 h 276548"/>
              <a:gd name="connsiteX2" fmla="*/ 0 w 742978"/>
              <a:gd name="connsiteY2" fmla="*/ 160020 h 276548"/>
              <a:gd name="connsiteX3" fmla="*/ 34318 w 742978"/>
              <a:gd name="connsiteY3" fmla="*/ 160020 h 276548"/>
              <a:gd name="connsiteX4" fmla="*/ 163858 w 742978"/>
              <a:gd name="connsiteY4" fmla="*/ 0 h 276548"/>
              <a:gd name="connsiteX5" fmla="*/ 742978 w 742978"/>
              <a:gd name="connsiteY5" fmla="*/ 0 h 276548"/>
              <a:gd name="connsiteX6" fmla="*/ 462559 w 742978"/>
              <a:gd name="connsiteY6" fmla="*/ 239533 h 276548"/>
              <a:gd name="connsiteX0" fmla="*/ 371119 w 742978"/>
              <a:gd name="connsiteY0" fmla="*/ 148093 h 276548"/>
              <a:gd name="connsiteX1" fmla="*/ 0 w 742978"/>
              <a:gd name="connsiteY1" fmla="*/ 276548 h 276548"/>
              <a:gd name="connsiteX2" fmla="*/ 0 w 742978"/>
              <a:gd name="connsiteY2" fmla="*/ 160020 h 276548"/>
              <a:gd name="connsiteX3" fmla="*/ 34318 w 742978"/>
              <a:gd name="connsiteY3" fmla="*/ 160020 h 276548"/>
              <a:gd name="connsiteX4" fmla="*/ 163858 w 742978"/>
              <a:gd name="connsiteY4" fmla="*/ 0 h 276548"/>
              <a:gd name="connsiteX5" fmla="*/ 742978 w 742978"/>
              <a:gd name="connsiteY5" fmla="*/ 0 h 276548"/>
              <a:gd name="connsiteX0" fmla="*/ 0 w 742978"/>
              <a:gd name="connsiteY0" fmla="*/ 276548 h 276548"/>
              <a:gd name="connsiteX1" fmla="*/ 0 w 742978"/>
              <a:gd name="connsiteY1" fmla="*/ 160020 h 276548"/>
              <a:gd name="connsiteX2" fmla="*/ 34318 w 742978"/>
              <a:gd name="connsiteY2" fmla="*/ 160020 h 276548"/>
              <a:gd name="connsiteX3" fmla="*/ 163858 w 742978"/>
              <a:gd name="connsiteY3" fmla="*/ 0 h 276548"/>
              <a:gd name="connsiteX4" fmla="*/ 742978 w 742978"/>
              <a:gd name="connsiteY4" fmla="*/ 0 h 276548"/>
              <a:gd name="connsiteX0" fmla="*/ 0 w 742978"/>
              <a:gd name="connsiteY0" fmla="*/ 160020 h 160020"/>
              <a:gd name="connsiteX1" fmla="*/ 34318 w 742978"/>
              <a:gd name="connsiteY1" fmla="*/ 160020 h 160020"/>
              <a:gd name="connsiteX2" fmla="*/ 163858 w 742978"/>
              <a:gd name="connsiteY2" fmla="*/ 0 h 160020"/>
              <a:gd name="connsiteX3" fmla="*/ 742978 w 742978"/>
              <a:gd name="connsiteY3" fmla="*/ 0 h 160020"/>
              <a:gd name="connsiteX0" fmla="*/ 0 w 742978"/>
              <a:gd name="connsiteY0" fmla="*/ 213360 h 213360"/>
              <a:gd name="connsiteX1" fmla="*/ 34318 w 742978"/>
              <a:gd name="connsiteY1" fmla="*/ 160020 h 213360"/>
              <a:gd name="connsiteX2" fmla="*/ 163858 w 742978"/>
              <a:gd name="connsiteY2" fmla="*/ 0 h 213360"/>
              <a:gd name="connsiteX3" fmla="*/ 742978 w 742978"/>
              <a:gd name="connsiteY3" fmla="*/ 0 h 213360"/>
              <a:gd name="connsiteX0" fmla="*/ 0 w 708660"/>
              <a:gd name="connsiteY0" fmla="*/ 160020 h 160020"/>
              <a:gd name="connsiteX1" fmla="*/ 129540 w 708660"/>
              <a:gd name="connsiteY1" fmla="*/ 0 h 160020"/>
              <a:gd name="connsiteX2" fmla="*/ 708660 w 708660"/>
              <a:gd name="connsiteY2" fmla="*/ 0 h 160020"/>
              <a:gd name="connsiteX0" fmla="*/ 0 w 735330"/>
              <a:gd name="connsiteY0" fmla="*/ 209550 h 209550"/>
              <a:gd name="connsiteX1" fmla="*/ 156210 w 735330"/>
              <a:gd name="connsiteY1" fmla="*/ 0 h 209550"/>
              <a:gd name="connsiteX2" fmla="*/ 735330 w 735330"/>
              <a:gd name="connsiteY2" fmla="*/ 0 h 209550"/>
              <a:gd name="connsiteX0" fmla="*/ 0 w 692150"/>
              <a:gd name="connsiteY0" fmla="*/ 143510 h 143510"/>
              <a:gd name="connsiteX1" fmla="*/ 113030 w 692150"/>
              <a:gd name="connsiteY1" fmla="*/ 0 h 143510"/>
              <a:gd name="connsiteX2" fmla="*/ 692150 w 692150"/>
              <a:gd name="connsiteY2" fmla="*/ 0 h 143510"/>
              <a:gd name="connsiteX0" fmla="*/ 0 w 707390"/>
              <a:gd name="connsiteY0" fmla="*/ 161290 h 161290"/>
              <a:gd name="connsiteX1" fmla="*/ 128270 w 707390"/>
              <a:gd name="connsiteY1" fmla="*/ 0 h 161290"/>
              <a:gd name="connsiteX2" fmla="*/ 707390 w 707390"/>
              <a:gd name="connsiteY2" fmla="*/ 0 h 161290"/>
            </a:gdLst>
            <a:ahLst/>
            <a:cxnLst>
              <a:cxn ang="0">
                <a:pos x="connsiteX0" y="connsiteY0"/>
              </a:cxn>
              <a:cxn ang="0">
                <a:pos x="connsiteX1" y="connsiteY1"/>
              </a:cxn>
              <a:cxn ang="0">
                <a:pos x="connsiteX2" y="connsiteY2"/>
              </a:cxn>
            </a:cxnLst>
            <a:rect l="l" t="t" r="r" b="b"/>
            <a:pathLst>
              <a:path w="707390" h="161290">
                <a:moveTo>
                  <a:pt x="0" y="161290"/>
                </a:moveTo>
                <a:lnTo>
                  <a:pt x="128270" y="0"/>
                </a:lnTo>
                <a:lnTo>
                  <a:pt x="707390" y="0"/>
                </a:lnTo>
              </a:path>
            </a:pathLst>
          </a:custGeom>
          <a:noFill/>
          <a:ln w="57150" cap="flat" cmpd="sng" algn="ctr">
            <a:solidFill>
              <a:srgbClr val="7EB8DC"/>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Arial Nova" panose="020B0504020202020204" pitchFamily="34" charset="0"/>
              <a:ea typeface="+mn-ea"/>
              <a:cs typeface="+mn-cs"/>
            </a:endParaRPr>
          </a:p>
        </p:txBody>
      </p:sp>
      <p:sp>
        <p:nvSpPr>
          <p:cNvPr id="77" name="Freeform: Shape 102">
            <a:extLst>
              <a:ext uri="{FF2B5EF4-FFF2-40B4-BE49-F238E27FC236}">
                <a16:creationId xmlns:a16="http://schemas.microsoft.com/office/drawing/2014/main" id="{8A82FF5B-62ED-40D5-25C0-9A068506CEF0}"/>
              </a:ext>
            </a:extLst>
          </p:cNvPr>
          <p:cNvSpPr/>
          <p:nvPr/>
        </p:nvSpPr>
        <p:spPr>
          <a:xfrm>
            <a:off x="2298862" y="1539560"/>
            <a:ext cx="3985791" cy="695575"/>
          </a:xfrm>
          <a:custGeom>
            <a:avLst/>
            <a:gdLst>
              <a:gd name="connsiteX0" fmla="*/ 0 w 3665854"/>
              <a:gd name="connsiteY0" fmla="*/ 71956 h 431730"/>
              <a:gd name="connsiteX1" fmla="*/ 71956 w 3665854"/>
              <a:gd name="connsiteY1" fmla="*/ 0 h 431730"/>
              <a:gd name="connsiteX2" fmla="*/ 3593898 w 3665854"/>
              <a:gd name="connsiteY2" fmla="*/ 0 h 431730"/>
              <a:gd name="connsiteX3" fmla="*/ 3665854 w 3665854"/>
              <a:gd name="connsiteY3" fmla="*/ 71956 h 431730"/>
              <a:gd name="connsiteX4" fmla="*/ 3665854 w 3665854"/>
              <a:gd name="connsiteY4" fmla="*/ 359774 h 431730"/>
              <a:gd name="connsiteX5" fmla="*/ 3593898 w 3665854"/>
              <a:gd name="connsiteY5" fmla="*/ 431730 h 431730"/>
              <a:gd name="connsiteX6" fmla="*/ 71956 w 3665854"/>
              <a:gd name="connsiteY6" fmla="*/ 431730 h 431730"/>
              <a:gd name="connsiteX7" fmla="*/ 0 w 3665854"/>
              <a:gd name="connsiteY7" fmla="*/ 359774 h 431730"/>
              <a:gd name="connsiteX8" fmla="*/ 0 w 3665854"/>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5854" h="431730">
                <a:moveTo>
                  <a:pt x="0" y="71956"/>
                </a:moveTo>
                <a:cubicBezTo>
                  <a:pt x="0" y="32216"/>
                  <a:pt x="32216" y="0"/>
                  <a:pt x="71956" y="0"/>
                </a:cubicBezTo>
                <a:lnTo>
                  <a:pt x="3593898" y="0"/>
                </a:lnTo>
                <a:cubicBezTo>
                  <a:pt x="3633638" y="0"/>
                  <a:pt x="3665854" y="32216"/>
                  <a:pt x="3665854" y="71956"/>
                </a:cubicBezTo>
                <a:lnTo>
                  <a:pt x="3665854" y="359774"/>
                </a:lnTo>
                <a:cubicBezTo>
                  <a:pt x="3665854" y="399514"/>
                  <a:pt x="3633638" y="431730"/>
                  <a:pt x="3593898" y="431730"/>
                </a:cubicBezTo>
                <a:lnTo>
                  <a:pt x="71956" y="431730"/>
                </a:lnTo>
                <a:cubicBezTo>
                  <a:pt x="32216" y="431730"/>
                  <a:pt x="0" y="399514"/>
                  <a:pt x="0" y="359774"/>
                </a:cubicBezTo>
                <a:lnTo>
                  <a:pt x="0" y="71956"/>
                </a:lnTo>
                <a:close/>
              </a:path>
            </a:pathLst>
          </a:custGeom>
          <a:ln>
            <a:noFill/>
          </a:ln>
        </p:spPr>
        <p:txBody>
          <a:bodyPr vert="horz" wrap="square" lIns="0" tIns="0" rIns="0" bIns="0" rtlCol="0" anchor="b">
            <a:spAutoFit/>
          </a:bodyPr>
          <a:lstStyle/>
          <a:p>
            <a:pPr marL="0" marR="5080" lvl="0" indent="0" defTabSz="914400" rtl="0" eaLnBrk="1" fontAlgn="auto" latinLnBrk="0" hangingPunct="1">
              <a:lnSpc>
                <a:spcPct val="80000"/>
              </a:lnSpc>
              <a:spcBef>
                <a:spcPts val="1200"/>
              </a:spcBef>
              <a:spcAft>
                <a:spcPts val="0"/>
              </a:spcAft>
              <a:buClr>
                <a:srgbClr val="479BB7"/>
              </a:buClr>
              <a:buSzTx/>
              <a:buFontTx/>
              <a:buNone/>
              <a:tabLst/>
              <a:defRPr/>
            </a:pPr>
            <a:r>
              <a:rPr kumimoji="0" lang="en-IN" sz="2200" b="1" i="0" u="none" strike="noStrike" kern="0" cap="none" spc="-10" normalizeH="0" baseline="0" noProof="0" dirty="0">
                <a:ln>
                  <a:noFill/>
                </a:ln>
                <a:solidFill>
                  <a:srgbClr val="62A3CD"/>
                </a:solidFill>
                <a:effectLst/>
                <a:uLnTx/>
                <a:uFillTx/>
                <a:latin typeface="Arial Nova" panose="020B0504020202020204" pitchFamily="34" charset="0"/>
                <a:ea typeface="+mn-ea"/>
                <a:cs typeface="Arial"/>
              </a:rPr>
              <a:t>$146,793</a:t>
            </a:r>
          </a:p>
          <a:p>
            <a:pPr marL="0" marR="5080" lvl="0" indent="0" defTabSz="914400" rtl="0" eaLnBrk="1" fontAlgn="auto" latinLnBrk="0" hangingPunct="1">
              <a:lnSpc>
                <a:spcPct val="80000"/>
              </a:lnSpc>
              <a:spcBef>
                <a:spcPts val="1200"/>
              </a:spcBef>
              <a:spcAft>
                <a:spcPts val="0"/>
              </a:spcAft>
              <a:buClr>
                <a:srgbClr val="479BB7"/>
              </a:buClr>
              <a:buSzTx/>
              <a:buFontTx/>
              <a:buNone/>
              <a:tabLst/>
              <a:defRPr/>
            </a:pPr>
            <a:r>
              <a:rPr lang="en-IN" sz="2200" b="1" kern="0" spc="-10" dirty="0">
                <a:solidFill>
                  <a:srgbClr val="62A3CD"/>
                </a:solidFill>
                <a:latin typeface="Arial Nova" panose="020B0504020202020204" pitchFamily="34" charset="0"/>
                <a:cs typeface="Arial"/>
              </a:rPr>
              <a:t>High-Water Value</a:t>
            </a:r>
            <a:endParaRPr kumimoji="0" lang="en-IN" sz="2200" b="1" i="0" u="none" strike="noStrike" kern="0" cap="none" spc="-10" normalizeH="0" baseline="0" noProof="0" dirty="0">
              <a:ln>
                <a:noFill/>
              </a:ln>
              <a:solidFill>
                <a:srgbClr val="62A3CD"/>
              </a:solidFill>
              <a:effectLst/>
              <a:uLnTx/>
              <a:uFillTx/>
              <a:latin typeface="Arial Nova" panose="020B0504020202020204" pitchFamily="34" charset="0"/>
              <a:ea typeface="+mn-ea"/>
              <a:cs typeface="Arial"/>
            </a:endParaRPr>
          </a:p>
        </p:txBody>
      </p:sp>
      <p:sp>
        <p:nvSpPr>
          <p:cNvPr id="78" name="Freeform: Shape 103">
            <a:extLst>
              <a:ext uri="{FF2B5EF4-FFF2-40B4-BE49-F238E27FC236}">
                <a16:creationId xmlns:a16="http://schemas.microsoft.com/office/drawing/2014/main" id="{2065996B-90A9-E49A-38F3-5650D79C77CE}"/>
              </a:ext>
            </a:extLst>
          </p:cNvPr>
          <p:cNvSpPr/>
          <p:nvPr/>
        </p:nvSpPr>
        <p:spPr>
          <a:xfrm>
            <a:off x="5376791" y="4708149"/>
            <a:ext cx="5739947" cy="695575"/>
          </a:xfrm>
          <a:custGeom>
            <a:avLst/>
            <a:gdLst>
              <a:gd name="connsiteX0" fmla="*/ 0 w 3665854"/>
              <a:gd name="connsiteY0" fmla="*/ 71956 h 431730"/>
              <a:gd name="connsiteX1" fmla="*/ 71956 w 3665854"/>
              <a:gd name="connsiteY1" fmla="*/ 0 h 431730"/>
              <a:gd name="connsiteX2" fmla="*/ 3593898 w 3665854"/>
              <a:gd name="connsiteY2" fmla="*/ 0 h 431730"/>
              <a:gd name="connsiteX3" fmla="*/ 3665854 w 3665854"/>
              <a:gd name="connsiteY3" fmla="*/ 71956 h 431730"/>
              <a:gd name="connsiteX4" fmla="*/ 3665854 w 3665854"/>
              <a:gd name="connsiteY4" fmla="*/ 359774 h 431730"/>
              <a:gd name="connsiteX5" fmla="*/ 3593898 w 3665854"/>
              <a:gd name="connsiteY5" fmla="*/ 431730 h 431730"/>
              <a:gd name="connsiteX6" fmla="*/ 71956 w 3665854"/>
              <a:gd name="connsiteY6" fmla="*/ 431730 h 431730"/>
              <a:gd name="connsiteX7" fmla="*/ 0 w 3665854"/>
              <a:gd name="connsiteY7" fmla="*/ 359774 h 431730"/>
              <a:gd name="connsiteX8" fmla="*/ 0 w 3665854"/>
              <a:gd name="connsiteY8" fmla="*/ 71956 h 43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5854" h="431730">
                <a:moveTo>
                  <a:pt x="0" y="71956"/>
                </a:moveTo>
                <a:cubicBezTo>
                  <a:pt x="0" y="32216"/>
                  <a:pt x="32216" y="0"/>
                  <a:pt x="71956" y="0"/>
                </a:cubicBezTo>
                <a:lnTo>
                  <a:pt x="3593898" y="0"/>
                </a:lnTo>
                <a:cubicBezTo>
                  <a:pt x="3633638" y="0"/>
                  <a:pt x="3665854" y="32216"/>
                  <a:pt x="3665854" y="71956"/>
                </a:cubicBezTo>
                <a:lnTo>
                  <a:pt x="3665854" y="359774"/>
                </a:lnTo>
                <a:cubicBezTo>
                  <a:pt x="3665854" y="399514"/>
                  <a:pt x="3633638" y="431730"/>
                  <a:pt x="3593898" y="431730"/>
                </a:cubicBezTo>
                <a:lnTo>
                  <a:pt x="71956" y="431730"/>
                </a:lnTo>
                <a:cubicBezTo>
                  <a:pt x="32216" y="431730"/>
                  <a:pt x="0" y="399514"/>
                  <a:pt x="0" y="359774"/>
                </a:cubicBezTo>
                <a:lnTo>
                  <a:pt x="0" y="71956"/>
                </a:lnTo>
                <a:close/>
              </a:path>
            </a:pathLst>
          </a:custGeom>
          <a:ln>
            <a:noFill/>
          </a:ln>
        </p:spPr>
        <p:txBody>
          <a:bodyPr vert="horz" wrap="square" lIns="0" tIns="0" rIns="0" bIns="0" rtlCol="0" anchor="b">
            <a:spAutoFit/>
          </a:bodyPr>
          <a:lstStyle/>
          <a:p>
            <a:pPr marL="0" marR="5080" lvl="0" indent="0" defTabSz="914400" rtl="0" eaLnBrk="1" fontAlgn="auto" latinLnBrk="0" hangingPunct="1">
              <a:lnSpc>
                <a:spcPct val="80000"/>
              </a:lnSpc>
              <a:spcBef>
                <a:spcPts val="1200"/>
              </a:spcBef>
              <a:spcAft>
                <a:spcPts val="0"/>
              </a:spcAft>
              <a:buClr>
                <a:srgbClr val="479BB7"/>
              </a:buClr>
              <a:buSzTx/>
              <a:buFontTx/>
              <a:buNone/>
              <a:tabLst/>
              <a:defRPr/>
            </a:pPr>
            <a:r>
              <a:rPr kumimoji="0" lang="en-IN" sz="2200" b="1" i="0" u="none" strike="noStrike" kern="0" cap="none" spc="-10" normalizeH="0" baseline="0" noProof="0" dirty="0">
                <a:ln>
                  <a:noFill/>
                </a:ln>
                <a:solidFill>
                  <a:srgbClr val="FF0000"/>
                </a:solidFill>
                <a:effectLst/>
                <a:uLnTx/>
                <a:uFillTx/>
                <a:latin typeface="Arial Nova" panose="020B0504020202020204" pitchFamily="34" charset="0"/>
                <a:ea typeface="+mn-ea"/>
                <a:cs typeface="Arial"/>
              </a:rPr>
              <a:t>-10% ($132,114)  </a:t>
            </a:r>
          </a:p>
          <a:p>
            <a:pPr marL="0" marR="5080" lvl="0" indent="0" defTabSz="914400" rtl="0" eaLnBrk="1" fontAlgn="auto" latinLnBrk="0" hangingPunct="1">
              <a:lnSpc>
                <a:spcPct val="80000"/>
              </a:lnSpc>
              <a:spcBef>
                <a:spcPts val="1200"/>
              </a:spcBef>
              <a:spcAft>
                <a:spcPts val="0"/>
              </a:spcAft>
              <a:buClr>
                <a:srgbClr val="479BB7"/>
              </a:buClr>
              <a:buSzTx/>
              <a:buFontTx/>
              <a:buNone/>
              <a:tabLst/>
              <a:defRPr/>
            </a:pPr>
            <a:r>
              <a:rPr kumimoji="0" lang="en-IN" sz="2200" b="1" i="0" u="none" strike="noStrike" kern="0" cap="none" spc="-10" normalizeH="0" baseline="0" noProof="0" dirty="0">
                <a:ln>
                  <a:noFill/>
                </a:ln>
                <a:solidFill>
                  <a:srgbClr val="FF0000"/>
                </a:solidFill>
                <a:effectLst/>
                <a:uLnTx/>
                <a:uFillTx/>
                <a:latin typeface="Arial Nova" panose="020B0504020202020204" pitchFamily="34" charset="0"/>
                <a:ea typeface="+mn-ea"/>
                <a:cs typeface="Arial"/>
              </a:rPr>
              <a:t>Red Status: AssetLock Value Reached</a:t>
            </a:r>
          </a:p>
        </p:txBody>
      </p:sp>
      <p:sp>
        <p:nvSpPr>
          <p:cNvPr id="79" name="Freeform: Shape 105">
            <a:extLst>
              <a:ext uri="{FF2B5EF4-FFF2-40B4-BE49-F238E27FC236}">
                <a16:creationId xmlns:a16="http://schemas.microsoft.com/office/drawing/2014/main" id="{3704DDB2-9673-5A95-0C0A-F45217F24BD1}"/>
              </a:ext>
            </a:extLst>
          </p:cNvPr>
          <p:cNvSpPr/>
          <p:nvPr/>
        </p:nvSpPr>
        <p:spPr>
          <a:xfrm>
            <a:off x="4017848" y="4684350"/>
            <a:ext cx="273910" cy="74002"/>
          </a:xfrm>
          <a:custGeom>
            <a:avLst/>
            <a:gdLst>
              <a:gd name="connsiteX0" fmla="*/ 0 w 321198"/>
              <a:gd name="connsiteY0" fmla="*/ 0 h 254591"/>
              <a:gd name="connsiteX1" fmla="*/ 222935 w 321198"/>
              <a:gd name="connsiteY1" fmla="*/ 0 h 254591"/>
              <a:gd name="connsiteX2" fmla="*/ 321198 w 321198"/>
              <a:gd name="connsiteY2" fmla="*/ 254591 h 254591"/>
              <a:gd name="connsiteX0" fmla="*/ 0 w 321198"/>
              <a:gd name="connsiteY0" fmla="*/ 0 h 254591"/>
              <a:gd name="connsiteX1" fmla="*/ 222935 w 321198"/>
              <a:gd name="connsiteY1" fmla="*/ 0 h 254591"/>
              <a:gd name="connsiteX2" fmla="*/ 321198 w 321198"/>
              <a:gd name="connsiteY2" fmla="*/ 254591 h 254591"/>
              <a:gd name="connsiteX3" fmla="*/ 91440 w 321198"/>
              <a:gd name="connsiteY3" fmla="*/ 91440 h 254591"/>
              <a:gd name="connsiteX0" fmla="*/ 0 w 321198"/>
              <a:gd name="connsiteY0" fmla="*/ 0 h 254591"/>
              <a:gd name="connsiteX1" fmla="*/ 222935 w 321198"/>
              <a:gd name="connsiteY1" fmla="*/ 0 h 254591"/>
              <a:gd name="connsiteX2" fmla="*/ 321198 w 321198"/>
              <a:gd name="connsiteY2" fmla="*/ 254591 h 254591"/>
              <a:gd name="connsiteX0" fmla="*/ 0 w 98263"/>
              <a:gd name="connsiteY0" fmla="*/ 0 h 254591"/>
              <a:gd name="connsiteX1" fmla="*/ 98263 w 98263"/>
              <a:gd name="connsiteY1" fmla="*/ 254591 h 254591"/>
              <a:gd name="connsiteX0" fmla="*/ 0 w 58258"/>
              <a:gd name="connsiteY0" fmla="*/ 0 h 153626"/>
              <a:gd name="connsiteX1" fmla="*/ 58258 w 58258"/>
              <a:gd name="connsiteY1" fmla="*/ 153626 h 153626"/>
            </a:gdLst>
            <a:ahLst/>
            <a:cxnLst>
              <a:cxn ang="0">
                <a:pos x="connsiteX0" y="connsiteY0"/>
              </a:cxn>
              <a:cxn ang="0">
                <a:pos x="connsiteX1" y="connsiteY1"/>
              </a:cxn>
            </a:cxnLst>
            <a:rect l="l" t="t" r="r" b="b"/>
            <a:pathLst>
              <a:path w="58258" h="153626">
                <a:moveTo>
                  <a:pt x="0" y="0"/>
                </a:moveTo>
                <a:lnTo>
                  <a:pt x="58258" y="153626"/>
                </a:lnTo>
              </a:path>
            </a:pathLst>
          </a:custGeom>
          <a:noFill/>
          <a:ln w="57150" cap="flat" cmpd="sng" algn="ctr">
            <a:solidFill>
              <a:srgbClr val="FF0000"/>
            </a:solid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Arial Nova" panose="020B0504020202020204" pitchFamily="34" charset="0"/>
              <a:ea typeface="+mn-ea"/>
              <a:cs typeface="+mn-cs"/>
            </a:endParaRPr>
          </a:p>
        </p:txBody>
      </p:sp>
      <p:sp>
        <p:nvSpPr>
          <p:cNvPr id="80" name="Freeform: Shape 106">
            <a:extLst>
              <a:ext uri="{FF2B5EF4-FFF2-40B4-BE49-F238E27FC236}">
                <a16:creationId xmlns:a16="http://schemas.microsoft.com/office/drawing/2014/main" id="{B0E7E7AD-7C09-2D18-69FD-77E09236DC4A}"/>
              </a:ext>
            </a:extLst>
          </p:cNvPr>
          <p:cNvSpPr/>
          <p:nvPr/>
        </p:nvSpPr>
        <p:spPr>
          <a:xfrm>
            <a:off x="2093984" y="2485824"/>
            <a:ext cx="1923873" cy="2198526"/>
          </a:xfrm>
          <a:custGeom>
            <a:avLst/>
            <a:gdLst>
              <a:gd name="connsiteX0" fmla="*/ 125040 w 563041"/>
              <a:gd name="connsiteY0" fmla="*/ 0 h 487038"/>
              <a:gd name="connsiteX1" fmla="*/ 214417 w 563041"/>
              <a:gd name="connsiteY1" fmla="*/ 151254 h 487038"/>
              <a:gd name="connsiteX2" fmla="*/ 296919 w 563041"/>
              <a:gd name="connsiteY2" fmla="*/ 103128 h 487038"/>
              <a:gd name="connsiteX3" fmla="*/ 413798 w 563041"/>
              <a:gd name="connsiteY3" fmla="*/ 350634 h 487038"/>
              <a:gd name="connsiteX4" fmla="*/ 510050 w 563041"/>
              <a:gd name="connsiteY4" fmla="*/ 323134 h 487038"/>
              <a:gd name="connsiteX5" fmla="*/ 563041 w 563041"/>
              <a:gd name="connsiteY5" fmla="*/ 460429 h 487038"/>
              <a:gd name="connsiteX6" fmla="*/ 373678 w 563041"/>
              <a:gd name="connsiteY6" fmla="*/ 460429 h 487038"/>
              <a:gd name="connsiteX7" fmla="*/ 373678 w 563041"/>
              <a:gd name="connsiteY7" fmla="*/ 487038 h 487038"/>
              <a:gd name="connsiteX8" fmla="*/ 0 w 563041"/>
              <a:gd name="connsiteY8" fmla="*/ 190850 h 487038"/>
              <a:gd name="connsiteX0" fmla="*/ 373678 w 563041"/>
              <a:gd name="connsiteY0" fmla="*/ 487038 h 578478"/>
              <a:gd name="connsiteX1" fmla="*/ 0 w 563041"/>
              <a:gd name="connsiteY1" fmla="*/ 190850 h 578478"/>
              <a:gd name="connsiteX2" fmla="*/ 125040 w 563041"/>
              <a:gd name="connsiteY2" fmla="*/ 0 h 578478"/>
              <a:gd name="connsiteX3" fmla="*/ 214417 w 563041"/>
              <a:gd name="connsiteY3" fmla="*/ 151254 h 578478"/>
              <a:gd name="connsiteX4" fmla="*/ 296919 w 563041"/>
              <a:gd name="connsiteY4" fmla="*/ 103128 h 578478"/>
              <a:gd name="connsiteX5" fmla="*/ 413798 w 563041"/>
              <a:gd name="connsiteY5" fmla="*/ 350634 h 578478"/>
              <a:gd name="connsiteX6" fmla="*/ 510050 w 563041"/>
              <a:gd name="connsiteY6" fmla="*/ 323134 h 578478"/>
              <a:gd name="connsiteX7" fmla="*/ 563041 w 563041"/>
              <a:gd name="connsiteY7" fmla="*/ 460429 h 578478"/>
              <a:gd name="connsiteX8" fmla="*/ 373678 w 563041"/>
              <a:gd name="connsiteY8" fmla="*/ 460429 h 578478"/>
              <a:gd name="connsiteX9" fmla="*/ 465118 w 563041"/>
              <a:gd name="connsiteY9" fmla="*/ 578478 h 578478"/>
              <a:gd name="connsiteX0" fmla="*/ 373678 w 563041"/>
              <a:gd name="connsiteY0" fmla="*/ 487038 h 487038"/>
              <a:gd name="connsiteX1" fmla="*/ 0 w 563041"/>
              <a:gd name="connsiteY1" fmla="*/ 190850 h 487038"/>
              <a:gd name="connsiteX2" fmla="*/ 125040 w 563041"/>
              <a:gd name="connsiteY2" fmla="*/ 0 h 487038"/>
              <a:gd name="connsiteX3" fmla="*/ 214417 w 563041"/>
              <a:gd name="connsiteY3" fmla="*/ 151254 h 487038"/>
              <a:gd name="connsiteX4" fmla="*/ 296919 w 563041"/>
              <a:gd name="connsiteY4" fmla="*/ 103128 h 487038"/>
              <a:gd name="connsiteX5" fmla="*/ 413798 w 563041"/>
              <a:gd name="connsiteY5" fmla="*/ 350634 h 487038"/>
              <a:gd name="connsiteX6" fmla="*/ 510050 w 563041"/>
              <a:gd name="connsiteY6" fmla="*/ 323134 h 487038"/>
              <a:gd name="connsiteX7" fmla="*/ 563041 w 563041"/>
              <a:gd name="connsiteY7" fmla="*/ 460429 h 487038"/>
              <a:gd name="connsiteX8" fmla="*/ 373678 w 563041"/>
              <a:gd name="connsiteY8" fmla="*/ 460429 h 487038"/>
              <a:gd name="connsiteX0" fmla="*/ 373678 w 563041"/>
              <a:gd name="connsiteY0" fmla="*/ 487038 h 487038"/>
              <a:gd name="connsiteX1" fmla="*/ 0 w 563041"/>
              <a:gd name="connsiteY1" fmla="*/ 190850 h 487038"/>
              <a:gd name="connsiteX2" fmla="*/ 125040 w 563041"/>
              <a:gd name="connsiteY2" fmla="*/ 0 h 487038"/>
              <a:gd name="connsiteX3" fmla="*/ 214417 w 563041"/>
              <a:gd name="connsiteY3" fmla="*/ 151254 h 487038"/>
              <a:gd name="connsiteX4" fmla="*/ 296919 w 563041"/>
              <a:gd name="connsiteY4" fmla="*/ 103128 h 487038"/>
              <a:gd name="connsiteX5" fmla="*/ 413798 w 563041"/>
              <a:gd name="connsiteY5" fmla="*/ 350634 h 487038"/>
              <a:gd name="connsiteX6" fmla="*/ 510050 w 563041"/>
              <a:gd name="connsiteY6" fmla="*/ 323134 h 487038"/>
              <a:gd name="connsiteX7" fmla="*/ 563041 w 563041"/>
              <a:gd name="connsiteY7" fmla="*/ 460429 h 487038"/>
              <a:gd name="connsiteX0" fmla="*/ 0 w 563041"/>
              <a:gd name="connsiteY0" fmla="*/ 190850 h 460429"/>
              <a:gd name="connsiteX1" fmla="*/ 125040 w 563041"/>
              <a:gd name="connsiteY1" fmla="*/ 0 h 460429"/>
              <a:gd name="connsiteX2" fmla="*/ 214417 w 563041"/>
              <a:gd name="connsiteY2" fmla="*/ 151254 h 460429"/>
              <a:gd name="connsiteX3" fmla="*/ 296919 w 563041"/>
              <a:gd name="connsiteY3" fmla="*/ 103128 h 460429"/>
              <a:gd name="connsiteX4" fmla="*/ 413798 w 563041"/>
              <a:gd name="connsiteY4" fmla="*/ 350634 h 460429"/>
              <a:gd name="connsiteX5" fmla="*/ 510050 w 563041"/>
              <a:gd name="connsiteY5" fmla="*/ 323134 h 460429"/>
              <a:gd name="connsiteX6" fmla="*/ 563041 w 563041"/>
              <a:gd name="connsiteY6" fmla="*/ 460429 h 460429"/>
              <a:gd name="connsiteX0" fmla="*/ 0 w 438001"/>
              <a:gd name="connsiteY0" fmla="*/ 0 h 460429"/>
              <a:gd name="connsiteX1" fmla="*/ 89377 w 438001"/>
              <a:gd name="connsiteY1" fmla="*/ 151254 h 460429"/>
              <a:gd name="connsiteX2" fmla="*/ 171879 w 438001"/>
              <a:gd name="connsiteY2" fmla="*/ 103128 h 460429"/>
              <a:gd name="connsiteX3" fmla="*/ 288758 w 438001"/>
              <a:gd name="connsiteY3" fmla="*/ 350634 h 460429"/>
              <a:gd name="connsiteX4" fmla="*/ 385010 w 438001"/>
              <a:gd name="connsiteY4" fmla="*/ 323134 h 460429"/>
              <a:gd name="connsiteX5" fmla="*/ 438001 w 438001"/>
              <a:gd name="connsiteY5" fmla="*/ 460429 h 460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001" h="460429">
                <a:moveTo>
                  <a:pt x="0" y="0"/>
                </a:moveTo>
                <a:lnTo>
                  <a:pt x="89377" y="151254"/>
                </a:lnTo>
                <a:lnTo>
                  <a:pt x="171879" y="103128"/>
                </a:lnTo>
                <a:lnTo>
                  <a:pt x="288758" y="350634"/>
                </a:lnTo>
                <a:lnTo>
                  <a:pt x="385010" y="323134"/>
                </a:lnTo>
                <a:lnTo>
                  <a:pt x="438001" y="460429"/>
                </a:lnTo>
              </a:path>
            </a:pathLst>
          </a:custGeom>
          <a:noFill/>
          <a:ln w="57150" cap="flat" cmpd="sng" algn="ctr">
            <a:solidFill>
              <a:srgbClr val="78C114"/>
            </a:solid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Arial Nova" panose="020B0504020202020204" pitchFamily="34" charset="0"/>
              <a:ea typeface="+mn-ea"/>
              <a:cs typeface="+mn-cs"/>
            </a:endParaRPr>
          </a:p>
        </p:txBody>
      </p:sp>
      <p:sp>
        <p:nvSpPr>
          <p:cNvPr id="81" name="Oval 80">
            <a:extLst>
              <a:ext uri="{FF2B5EF4-FFF2-40B4-BE49-F238E27FC236}">
                <a16:creationId xmlns:a16="http://schemas.microsoft.com/office/drawing/2014/main" id="{4992EAF6-F84A-DD4B-BE49-1A59707A3B59}"/>
              </a:ext>
            </a:extLst>
          </p:cNvPr>
          <p:cNvSpPr/>
          <p:nvPr/>
        </p:nvSpPr>
        <p:spPr>
          <a:xfrm>
            <a:off x="1820039" y="2175863"/>
            <a:ext cx="444212" cy="482900"/>
          </a:xfrm>
          <a:prstGeom prst="ellipse">
            <a:avLst/>
          </a:prstGeom>
          <a:solidFill>
            <a:sysClr val="window" lastClr="FFFFFF"/>
          </a:solidFill>
          <a:ln w="5715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Arial Nova" panose="020B0504020202020204" pitchFamily="34" charset="0"/>
              <a:ea typeface="+mn-ea"/>
              <a:cs typeface="+mn-cs"/>
            </a:endParaRPr>
          </a:p>
        </p:txBody>
      </p:sp>
      <p:pic>
        <p:nvPicPr>
          <p:cNvPr id="73" name="Picture 72" descr="A close-up of a logo&#10;&#10;Description automatically generated">
            <a:extLst>
              <a:ext uri="{FF2B5EF4-FFF2-40B4-BE49-F238E27FC236}">
                <a16:creationId xmlns:a16="http://schemas.microsoft.com/office/drawing/2014/main" id="{E1B32088-1019-F540-2375-8EDF16B6AE06}"/>
              </a:ext>
            </a:extLst>
          </p:cNvPr>
          <p:cNvPicPr>
            <a:picLocks noChangeAspect="1"/>
          </p:cNvPicPr>
          <p:nvPr/>
        </p:nvPicPr>
        <p:blipFill rotWithShape="1">
          <a:blip r:embed="rId3">
            <a:extLst>
              <a:ext uri="{28A0092B-C50C-407E-A947-70E740481C1C}">
                <a14:useLocalDpi xmlns:a14="http://schemas.microsoft.com/office/drawing/2010/main" val="0"/>
              </a:ext>
            </a:extLst>
          </a:blip>
          <a:srcRect l="2317" t="4109" r="73615" b="5341"/>
          <a:stretch/>
        </p:blipFill>
        <p:spPr>
          <a:xfrm>
            <a:off x="4114601" y="4308994"/>
            <a:ext cx="1165446" cy="1434123"/>
          </a:xfrm>
          <a:prstGeom prst="rect">
            <a:avLst/>
          </a:prstGeom>
        </p:spPr>
      </p:pic>
      <p:sp>
        <p:nvSpPr>
          <p:cNvPr id="5" name="Text Box 48">
            <a:extLst>
              <a:ext uri="{FF2B5EF4-FFF2-40B4-BE49-F238E27FC236}">
                <a16:creationId xmlns:a16="http://schemas.microsoft.com/office/drawing/2014/main" id="{0272443E-8F32-7736-8A17-C439BB9F4F77}"/>
              </a:ext>
            </a:extLst>
          </p:cNvPr>
          <p:cNvSpPr txBox="1"/>
          <p:nvPr/>
        </p:nvSpPr>
        <p:spPr>
          <a:xfrm>
            <a:off x="3450934" y="3099939"/>
            <a:ext cx="6972616" cy="358690"/>
          </a:xfrm>
          <a:prstGeom prst="rect">
            <a:avLst/>
          </a:prstGeom>
          <a:noFill/>
          <a:ln>
            <a:noFill/>
          </a:ln>
          <a:effectLst/>
          <a:extLst>
            <a:ext uri="{C572A759-6A51-4108-AA02-DFA0A04FC94B}">
              <ma14:wrappingTextBoxFlag xmlns="" xmlns:wpc="http://schemas.microsoft.com/office/word/2010/wordprocessingCanvas" xmlns:mo="http://schemas.microsoft.com/office/mac/office/2008/main" xmlns:mc="http://schemas.openxmlformats.org/markup-compatibility/2006" xmlns:mv="urn:schemas-microsoft-com:mac:vml"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lc="http://schemas.openxmlformats.org/drawingml/2006/lockedCanvas"/>
            </a:ext>
          </a:extLst>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0" normalizeH="0" baseline="0" noProof="0" dirty="0">
                <a:ln>
                  <a:noFill/>
                </a:ln>
                <a:solidFill>
                  <a:srgbClr val="78C114"/>
                </a:solidFill>
                <a:effectLst/>
                <a:uLnTx/>
                <a:uFillTx/>
                <a:latin typeface="Arial Nova" panose="020B0504020202020204" pitchFamily="34" charset="0"/>
                <a:ea typeface="MS Mincho" panose="02020609040205080304" pitchFamily="49" charset="-128"/>
                <a:cs typeface="Times New Roman" panose="02020603050405020304" pitchFamily="18" charset="0"/>
              </a:rPr>
              <a:t>Green Status = Acceptable Market Movement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prstClr val="black"/>
                </a:solidFill>
                <a:effectLst/>
                <a:uLnTx/>
                <a:uFillTx/>
                <a:latin typeface="Arial Nova" panose="020B0504020202020204" pitchFamily="34" charset="0"/>
                <a:ea typeface="MS Mincho" panose="02020609040205080304" pitchFamily="49" charset="-128"/>
                <a:cs typeface="Times New Roman" panose="02020603050405020304" pitchFamily="18" charset="0"/>
              </a:rPr>
              <a:t> </a:t>
            </a:r>
            <a:endParaRPr kumimoji="0" lang="en-US" sz="1200" b="1" i="0" u="none" strike="noStrike" kern="0" cap="none" spc="0" normalizeH="0" baseline="0" noProof="0" dirty="0">
              <a:ln>
                <a:noFill/>
              </a:ln>
              <a:solidFill>
                <a:prstClr val="black"/>
              </a:solidFill>
              <a:effectLst/>
              <a:uLnTx/>
              <a:uFillTx/>
              <a:latin typeface="Arial Nova" panose="020B0504020202020204" pitchFamily="34" charset="0"/>
              <a:ea typeface="MS Mincho" panose="02020609040205080304" pitchFamily="49" charset="-128"/>
              <a:cs typeface="Times New Roman" panose="02020603050405020304" pitchFamily="18" charset="0"/>
            </a:endParaRPr>
          </a:p>
        </p:txBody>
      </p:sp>
      <p:sp>
        <p:nvSpPr>
          <p:cNvPr id="2" name="Slide Number Placeholder 5">
            <a:extLst>
              <a:ext uri="{FF2B5EF4-FFF2-40B4-BE49-F238E27FC236}">
                <a16:creationId xmlns:a16="http://schemas.microsoft.com/office/drawing/2014/main" id="{561EFCBB-2DF2-C161-6461-B6FC5CD8B052}"/>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26</a:t>
            </a:fld>
            <a:endParaRPr lang="en-US" dirty="0">
              <a:solidFill>
                <a:schemeClr val="bg1">
                  <a:lumMod val="75000"/>
                </a:schemeClr>
              </a:solidFill>
              <a:latin typeface="Arial Nova" panose="020B0504020202020204" pitchFamily="34" charset="0"/>
            </a:endParaRPr>
          </a:p>
        </p:txBody>
      </p:sp>
      <p:sp>
        <p:nvSpPr>
          <p:cNvPr id="4" name="Footer Placeholder 4">
            <a:extLst>
              <a:ext uri="{FF2B5EF4-FFF2-40B4-BE49-F238E27FC236}">
                <a16:creationId xmlns:a16="http://schemas.microsoft.com/office/drawing/2014/main" id="{4818761D-6E65-2E65-B08D-C266930D73B5}"/>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566130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wipe(up)">
                                      <p:cBhvr>
                                        <p:cTn id="7" dur="500"/>
                                        <p:tgtEl>
                                          <p:spTgt spid="8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79"/>
                                        </p:tgtEl>
                                        <p:attrNameLst>
                                          <p:attrName>style.visibility</p:attrName>
                                        </p:attrNameLst>
                                      </p:cBhvr>
                                      <p:to>
                                        <p:strVal val="visible"/>
                                      </p:to>
                                    </p:set>
                                    <p:animEffect transition="in" filter="wipe(up)">
                                      <p:cBhvr>
                                        <p:cTn id="16" dur="500"/>
                                        <p:tgtEl>
                                          <p:spTgt spid="79"/>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73"/>
                                        </p:tgtEl>
                                        <p:attrNameLst>
                                          <p:attrName>style.visibility</p:attrName>
                                        </p:attrNameLst>
                                      </p:cBhvr>
                                      <p:to>
                                        <p:strVal val="visible"/>
                                      </p:to>
                                    </p:set>
                                    <p:animEffect transition="in" filter="fade">
                                      <p:cBhvr>
                                        <p:cTn id="20" dur="500"/>
                                        <p:tgtEl>
                                          <p:spTgt spid="7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8"/>
                                        </p:tgtEl>
                                        <p:attrNameLst>
                                          <p:attrName>style.visibility</p:attrName>
                                        </p:attrNameLst>
                                      </p:cBhvr>
                                      <p:to>
                                        <p:strVal val="visible"/>
                                      </p:to>
                                    </p:set>
                                    <p:animEffect transition="in" filter="fade">
                                      <p:cBhvr>
                                        <p:cTn id="23"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79" grpId="0" animBg="1"/>
      <p:bldP spid="80" grpId="0" animBg="1"/>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D7FFA81B-EFF3-9B4D-28E8-8F9614D77FE8}"/>
              </a:ext>
            </a:extLst>
          </p:cNvPr>
          <p:cNvSpPr txBox="1">
            <a:spLocks/>
          </p:cNvSpPr>
          <p:nvPr/>
        </p:nvSpPr>
        <p:spPr>
          <a:xfrm>
            <a:off x="381000" y="320676"/>
            <a:ext cx="10972800" cy="805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dirty="0"/>
              <a:t>AssetLock Portfolio</a:t>
            </a:r>
            <a:r>
              <a:rPr lang="en-US" baseline="30000" dirty="0"/>
              <a:t>®</a:t>
            </a:r>
            <a:r>
              <a:rPr lang="en-US" dirty="0"/>
              <a:t> Communications</a:t>
            </a:r>
          </a:p>
        </p:txBody>
      </p:sp>
      <p:sp>
        <p:nvSpPr>
          <p:cNvPr id="2" name="TextBox 1">
            <a:extLst>
              <a:ext uri="{FF2B5EF4-FFF2-40B4-BE49-F238E27FC236}">
                <a16:creationId xmlns:a16="http://schemas.microsoft.com/office/drawing/2014/main" id="{A83D4318-4CC0-A8E2-5B6C-AB6596D7006E}"/>
              </a:ext>
            </a:extLst>
          </p:cNvPr>
          <p:cNvSpPr txBox="1"/>
          <p:nvPr/>
        </p:nvSpPr>
        <p:spPr>
          <a:xfrm>
            <a:off x="3950221" y="2017509"/>
            <a:ext cx="7682624" cy="3447098"/>
          </a:xfrm>
          <a:prstGeom prst="rect">
            <a:avLst/>
          </a:prstGeom>
          <a:noFill/>
        </p:spPr>
        <p:txBody>
          <a:bodyPr wrap="square" rtlCol="0">
            <a:spAutoFit/>
          </a:bodyPr>
          <a:lstStyle/>
          <a:p>
            <a:r>
              <a:rPr lang="en-US" sz="2600" b="1" dirty="0">
                <a:solidFill>
                  <a:srgbClr val="14407F"/>
                </a:solidFill>
                <a:latin typeface="Arial Nova" panose="020B0504020202020204" pitchFamily="34" charset="0"/>
              </a:rPr>
              <a:t>Email and Text Notifications</a:t>
            </a:r>
          </a:p>
          <a:p>
            <a:r>
              <a:rPr lang="en-US" sz="1600" dirty="0">
                <a:latin typeface="Arial Nova" panose="020B0504020202020204" pitchFamily="34" charset="0"/>
              </a:rPr>
              <a:t>*Investors may opt out or update their communication preferences at any time.</a:t>
            </a:r>
          </a:p>
          <a:p>
            <a:endParaRPr lang="en-US" sz="1000" dirty="0">
              <a:latin typeface="Arial Nova" panose="020B0504020202020204" pitchFamily="34" charset="0"/>
            </a:endParaRPr>
          </a:p>
          <a:p>
            <a:endParaRPr lang="en-US" sz="1000" dirty="0">
              <a:latin typeface="Arial Nova" panose="020B0504020202020204" pitchFamily="34" charset="0"/>
            </a:endParaRPr>
          </a:p>
          <a:p>
            <a:r>
              <a:rPr lang="en-US" sz="2400" b="1" dirty="0">
                <a:solidFill>
                  <a:srgbClr val="0076BD"/>
                </a:solidFill>
                <a:latin typeface="Arial Nova" panose="020B0504020202020204" pitchFamily="34" charset="0"/>
              </a:rPr>
              <a:t>Weekly Portfolio Summary</a:t>
            </a:r>
          </a:p>
          <a:p>
            <a:r>
              <a:rPr lang="en-US" dirty="0">
                <a:latin typeface="Arial Nova" panose="020B0504020202020204" pitchFamily="34" charset="0"/>
              </a:rPr>
              <a:t>Household Portfolio Value, AssetLock Status, AssetLock Value, AssetLock Threshold, New High-Water Value, Active Accounts, Account Value and New Dividends</a:t>
            </a:r>
          </a:p>
          <a:p>
            <a:endParaRPr lang="en-US" sz="900" dirty="0">
              <a:latin typeface="Arial Nova" panose="020B0504020202020204" pitchFamily="34" charset="0"/>
            </a:endParaRPr>
          </a:p>
          <a:p>
            <a:endParaRPr lang="en-US" sz="900" dirty="0">
              <a:latin typeface="Arial Nova" panose="020B0504020202020204" pitchFamily="34" charset="0"/>
            </a:endParaRPr>
          </a:p>
          <a:p>
            <a:r>
              <a:rPr lang="en-US" sz="2400" b="1" dirty="0">
                <a:solidFill>
                  <a:srgbClr val="0076BD"/>
                </a:solidFill>
                <a:latin typeface="Arial Nova" panose="020B0504020202020204" pitchFamily="34" charset="0"/>
              </a:rPr>
              <a:t>Triggered Notifications</a:t>
            </a:r>
          </a:p>
          <a:p>
            <a:r>
              <a:rPr lang="en-US" dirty="0">
                <a:latin typeface="Arial Nova" panose="020B0504020202020204" pitchFamily="34" charset="0"/>
              </a:rPr>
              <a:t>Welcome (Email Only), AssetLock Value Reached (Red Status), Communication Preferences Updated, and AssetLock Discontinuation </a:t>
            </a:r>
          </a:p>
        </p:txBody>
      </p:sp>
      <p:pic>
        <p:nvPicPr>
          <p:cNvPr id="4" name="Picture 3" descr="A screen shot of a tablet&#10;&#10;Description automatically generated">
            <a:extLst>
              <a:ext uri="{FF2B5EF4-FFF2-40B4-BE49-F238E27FC236}">
                <a16:creationId xmlns:a16="http://schemas.microsoft.com/office/drawing/2014/main" id="{CB667D59-8962-311C-93C4-C313B23E25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155" y="1317343"/>
            <a:ext cx="3247531" cy="4713618"/>
          </a:xfrm>
          <a:prstGeom prst="rect">
            <a:avLst/>
          </a:prstGeom>
        </p:spPr>
      </p:pic>
      <p:sp>
        <p:nvSpPr>
          <p:cNvPr id="5" name="TextBox 4">
            <a:extLst>
              <a:ext uri="{FF2B5EF4-FFF2-40B4-BE49-F238E27FC236}">
                <a16:creationId xmlns:a16="http://schemas.microsoft.com/office/drawing/2014/main" id="{D961A22F-EEE6-0D59-BFBC-E25EDA861B77}"/>
              </a:ext>
            </a:extLst>
          </p:cNvPr>
          <p:cNvSpPr txBox="1"/>
          <p:nvPr/>
        </p:nvSpPr>
        <p:spPr>
          <a:xfrm>
            <a:off x="391886" y="6155069"/>
            <a:ext cx="6096000" cy="246221"/>
          </a:xfrm>
          <a:prstGeom prst="rect">
            <a:avLst/>
          </a:prstGeom>
          <a:noFill/>
        </p:spPr>
        <p:txBody>
          <a:bodyPr wrap="square">
            <a:spAutoFit/>
          </a:bodyPr>
          <a:lstStyle/>
          <a:p>
            <a:pPr marL="0" marR="0">
              <a:spcBef>
                <a:spcPts val="0"/>
              </a:spcBef>
              <a:spcAft>
                <a:spcPts val="0"/>
              </a:spcAft>
            </a:pPr>
            <a:r>
              <a:rPr lang="en-US" sz="1000" i="1" dirty="0">
                <a:effectLst/>
                <a:latin typeface="Arial Nova" panose="020B0504020202020204" pitchFamily="34" charset="0"/>
                <a:ea typeface="Calibri" panose="020F0502020204030204" pitchFamily="34" charset="0"/>
                <a:cs typeface="Times New Roman" panose="02020603050405020304" pitchFamily="18" charset="0"/>
              </a:rPr>
              <a:t>*Standard message and data rates may apply.</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C2FC4B2E-CE7B-502A-7646-2249E171DD35}"/>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27</a:t>
            </a:fld>
            <a:endParaRPr lang="en-US" dirty="0">
              <a:solidFill>
                <a:schemeClr val="bg1">
                  <a:lumMod val="75000"/>
                </a:schemeClr>
              </a:solidFill>
              <a:latin typeface="Arial Nova" panose="020B0504020202020204" pitchFamily="34" charset="0"/>
            </a:endParaRPr>
          </a:p>
        </p:txBody>
      </p:sp>
      <p:sp>
        <p:nvSpPr>
          <p:cNvPr id="7" name="Footer Placeholder 4">
            <a:extLst>
              <a:ext uri="{FF2B5EF4-FFF2-40B4-BE49-F238E27FC236}">
                <a16:creationId xmlns:a16="http://schemas.microsoft.com/office/drawing/2014/main" id="{749A3BD5-E562-7904-987E-D1CBCA5450FA}"/>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14556798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F1FE5F-F629-53E8-ADD8-7BD44E7908EF}"/>
              </a:ext>
            </a:extLst>
          </p:cNvPr>
          <p:cNvSpPr/>
          <p:nvPr/>
        </p:nvSpPr>
        <p:spPr>
          <a:xfrm>
            <a:off x="0" y="0"/>
            <a:ext cx="12192000" cy="6857999"/>
          </a:xfrm>
          <a:prstGeom prst="rect">
            <a:avLst/>
          </a:prstGeom>
          <a:solidFill>
            <a:srgbClr val="02437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D56A5A5B-BBD6-9856-0FDE-71F3BA17F89B}"/>
              </a:ext>
            </a:extLst>
          </p:cNvPr>
          <p:cNvCxnSpPr>
            <a:cxnSpLocks/>
          </p:cNvCxnSpPr>
          <p:nvPr/>
        </p:nvCxnSpPr>
        <p:spPr>
          <a:xfrm>
            <a:off x="-176349" y="2495890"/>
            <a:ext cx="12618720" cy="0"/>
          </a:xfrm>
          <a:prstGeom prst="line">
            <a:avLst/>
          </a:prstGeom>
          <a:ln>
            <a:solidFill>
              <a:srgbClr val="0076B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D709ED0-478E-BB4D-A785-67292D453136}"/>
              </a:ext>
            </a:extLst>
          </p:cNvPr>
          <p:cNvSpPr txBox="1"/>
          <p:nvPr/>
        </p:nvSpPr>
        <p:spPr>
          <a:xfrm>
            <a:off x="1311476" y="1547394"/>
            <a:ext cx="8416091" cy="784830"/>
          </a:xfrm>
          <a:prstGeom prst="rect">
            <a:avLst/>
          </a:prstGeom>
          <a:noFill/>
        </p:spPr>
        <p:txBody>
          <a:bodyPr wrap="square" rtlCol="0">
            <a:spAutoFit/>
          </a:bodyPr>
          <a:lstStyle/>
          <a:p>
            <a:r>
              <a:rPr lang="en-US" sz="4500">
                <a:solidFill>
                  <a:schemeClr val="bg1"/>
                </a:solidFill>
                <a:latin typeface="Arial Nova" panose="020B0504020202020204" pitchFamily="34" charset="0"/>
              </a:rPr>
              <a:t>Frequently Asked Questions</a:t>
            </a:r>
          </a:p>
        </p:txBody>
      </p:sp>
      <p:sp>
        <p:nvSpPr>
          <p:cNvPr id="5" name="Slide Number Placeholder 5">
            <a:extLst>
              <a:ext uri="{FF2B5EF4-FFF2-40B4-BE49-F238E27FC236}">
                <a16:creationId xmlns:a16="http://schemas.microsoft.com/office/drawing/2014/main" id="{026FD165-0DAF-CC06-BD86-798F76DEECD1}"/>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solidFill>
                <a:latin typeface="Arial Nova" panose="020B0504020202020204" pitchFamily="34" charset="0"/>
              </a:rPr>
              <a:t>28</a:t>
            </a:fld>
            <a:endParaRPr lang="en-US" dirty="0">
              <a:solidFill>
                <a:schemeClr val="bg1"/>
              </a:solidFill>
              <a:latin typeface="Arial Nova" panose="020B0504020202020204" pitchFamily="34" charset="0"/>
            </a:endParaRPr>
          </a:p>
        </p:txBody>
      </p:sp>
      <p:sp>
        <p:nvSpPr>
          <p:cNvPr id="6" name="Footer Placeholder 4">
            <a:extLst>
              <a:ext uri="{FF2B5EF4-FFF2-40B4-BE49-F238E27FC236}">
                <a16:creationId xmlns:a16="http://schemas.microsoft.com/office/drawing/2014/main" id="{3C5DCB3E-0ADD-23E8-3C0A-AD6A9E0E00DB}"/>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3015038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0E641EDF-7CB6-F74C-872A-F7B02E99153B}"/>
              </a:ext>
            </a:extLst>
          </p:cNvPr>
          <p:cNvSpPr txBox="1">
            <a:spLocks/>
          </p:cNvSpPr>
          <p:nvPr/>
        </p:nvSpPr>
        <p:spPr>
          <a:xfrm>
            <a:off x="381000" y="320676"/>
            <a:ext cx="10972800" cy="805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a:t>Frequently Asked Questions</a:t>
            </a:r>
          </a:p>
        </p:txBody>
      </p:sp>
      <p:sp>
        <p:nvSpPr>
          <p:cNvPr id="4" name="Content Placeholder 2">
            <a:extLst>
              <a:ext uri="{FF2B5EF4-FFF2-40B4-BE49-F238E27FC236}">
                <a16:creationId xmlns:a16="http://schemas.microsoft.com/office/drawing/2014/main" id="{85EFC610-2F82-EDD2-47DB-9D0E21DE4F99}"/>
              </a:ext>
            </a:extLst>
          </p:cNvPr>
          <p:cNvSpPr txBox="1">
            <a:spLocks noGrp="1"/>
          </p:cNvSpPr>
          <p:nvPr>
            <p:ph idx="1"/>
          </p:nvPr>
        </p:nvSpPr>
        <p:spPr>
          <a:xfrm>
            <a:off x="3835667" y="2153425"/>
            <a:ext cx="7975332" cy="3168431"/>
          </a:xfrm>
          <a:prstGeom prst="rect">
            <a:avLst/>
          </a:prstGeom>
          <a:noFill/>
        </p:spPr>
        <p:txBody>
          <a:bodyPr wrap="square" rtlCol="0">
            <a:spAutoFit/>
          </a:bodyPr>
          <a:lstStyle/>
          <a:p>
            <a:pPr marL="342900" marR="0" lvl="0" indent="-342900" algn="l"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b="0" i="0" u="none" strike="noStrike" kern="0" cap="none" spc="0" normalizeH="0" baseline="0" noProof="0">
                <a:ln>
                  <a:noFill/>
                </a:ln>
                <a:effectLst/>
                <a:uLnTx/>
                <a:uFillTx/>
                <a:latin typeface="Arial Nova" panose="020B0504020202020204" pitchFamily="34" charset="0"/>
                <a:ea typeface="+mn-ea"/>
                <a:cs typeface="Arial"/>
                <a:sym typeface="Arial"/>
              </a:rPr>
              <a:t>Do I have to change custodians?</a:t>
            </a:r>
          </a:p>
          <a:p>
            <a:pPr marL="342900" marR="0" lvl="0" indent="-342900" algn="l"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r>
              <a:rPr lang="en-US" kern="0">
                <a:cs typeface="Arial"/>
                <a:sym typeface="Arial"/>
              </a:rPr>
              <a:t>Will my investment fees increase?</a:t>
            </a:r>
          </a:p>
          <a:p>
            <a:pPr marL="342900" marR="0" lvl="0" indent="-342900" algn="l"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r>
              <a:rPr lang="en-US" kern="0">
                <a:cs typeface="Arial"/>
                <a:sym typeface="Arial"/>
              </a:rPr>
              <a:t>How will my service change?</a:t>
            </a:r>
          </a:p>
          <a:p>
            <a:pPr marL="342900" marR="0" lvl="0" indent="-342900" algn="l"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r>
              <a:rPr lang="en-US" kern="0">
                <a:cs typeface="Arial"/>
                <a:sym typeface="Arial"/>
              </a:rPr>
              <a:t>Will I have visibility of my assets?</a:t>
            </a:r>
          </a:p>
        </p:txBody>
      </p:sp>
      <p:pic>
        <p:nvPicPr>
          <p:cNvPr id="9" name="Graphic 8" descr="Question Mark with solid fill">
            <a:extLst>
              <a:ext uri="{FF2B5EF4-FFF2-40B4-BE49-F238E27FC236}">
                <a16:creationId xmlns:a16="http://schemas.microsoft.com/office/drawing/2014/main" id="{3A5E3E19-2993-D2E3-E298-ADFF57D202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7230" y="1833460"/>
            <a:ext cx="3808362" cy="3808362"/>
          </a:xfrm>
          <a:prstGeom prst="rect">
            <a:avLst/>
          </a:prstGeom>
        </p:spPr>
      </p:pic>
      <p:sp>
        <p:nvSpPr>
          <p:cNvPr id="2" name="Slide Number Placeholder 5">
            <a:extLst>
              <a:ext uri="{FF2B5EF4-FFF2-40B4-BE49-F238E27FC236}">
                <a16:creationId xmlns:a16="http://schemas.microsoft.com/office/drawing/2014/main" id="{F2983056-F6CD-E2B3-D46C-9652987BE805}"/>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29</a:t>
            </a:fld>
            <a:endParaRPr lang="en-US" dirty="0">
              <a:solidFill>
                <a:schemeClr val="bg1">
                  <a:lumMod val="75000"/>
                </a:schemeClr>
              </a:solidFill>
              <a:latin typeface="Arial Nova" panose="020B0504020202020204" pitchFamily="34" charset="0"/>
            </a:endParaRPr>
          </a:p>
        </p:txBody>
      </p:sp>
      <p:sp>
        <p:nvSpPr>
          <p:cNvPr id="5" name="Footer Placeholder 4">
            <a:extLst>
              <a:ext uri="{FF2B5EF4-FFF2-40B4-BE49-F238E27FC236}">
                <a16:creationId xmlns:a16="http://schemas.microsoft.com/office/drawing/2014/main" id="{413E57B5-D71C-F5C8-6224-5D742187FAFD}"/>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2221846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F1FE5F-F629-53E8-ADD8-7BD44E7908EF}"/>
              </a:ext>
            </a:extLst>
          </p:cNvPr>
          <p:cNvSpPr/>
          <p:nvPr/>
        </p:nvSpPr>
        <p:spPr>
          <a:xfrm>
            <a:off x="0" y="0"/>
            <a:ext cx="12192000" cy="6857999"/>
          </a:xfrm>
          <a:prstGeom prst="rect">
            <a:avLst/>
          </a:prstGeom>
          <a:solidFill>
            <a:srgbClr val="02437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D56A5A5B-BBD6-9856-0FDE-71F3BA17F89B}"/>
              </a:ext>
            </a:extLst>
          </p:cNvPr>
          <p:cNvCxnSpPr>
            <a:cxnSpLocks/>
          </p:cNvCxnSpPr>
          <p:nvPr/>
        </p:nvCxnSpPr>
        <p:spPr>
          <a:xfrm>
            <a:off x="-176349" y="2495890"/>
            <a:ext cx="13075920" cy="0"/>
          </a:xfrm>
          <a:prstGeom prst="line">
            <a:avLst/>
          </a:prstGeom>
          <a:ln>
            <a:solidFill>
              <a:srgbClr val="0076B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D709ED0-478E-BB4D-A785-67292D453136}"/>
              </a:ext>
            </a:extLst>
          </p:cNvPr>
          <p:cNvSpPr txBox="1"/>
          <p:nvPr/>
        </p:nvSpPr>
        <p:spPr>
          <a:xfrm>
            <a:off x="1311476" y="1547394"/>
            <a:ext cx="8416091" cy="784830"/>
          </a:xfrm>
          <a:prstGeom prst="rect">
            <a:avLst/>
          </a:prstGeom>
          <a:noFill/>
        </p:spPr>
        <p:txBody>
          <a:bodyPr wrap="square" rtlCol="0">
            <a:spAutoFit/>
          </a:bodyPr>
          <a:lstStyle/>
          <a:p>
            <a:r>
              <a:rPr lang="en-US" sz="4500">
                <a:solidFill>
                  <a:schemeClr val="bg1"/>
                </a:solidFill>
                <a:latin typeface="Arial Nova" panose="020B0504020202020204" pitchFamily="34" charset="0"/>
              </a:rPr>
              <a:t>Next Steps</a:t>
            </a:r>
          </a:p>
        </p:txBody>
      </p:sp>
      <p:sp>
        <p:nvSpPr>
          <p:cNvPr id="5" name="Slide Number Placeholder 5">
            <a:extLst>
              <a:ext uri="{FF2B5EF4-FFF2-40B4-BE49-F238E27FC236}">
                <a16:creationId xmlns:a16="http://schemas.microsoft.com/office/drawing/2014/main" id="{C0B169D2-A8A0-9847-FED3-DB2D806A50CB}"/>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solidFill>
                <a:latin typeface="Arial Nova" panose="020B0504020202020204" pitchFamily="34" charset="0"/>
              </a:rPr>
              <a:t>30</a:t>
            </a:fld>
            <a:endParaRPr lang="en-US" dirty="0">
              <a:solidFill>
                <a:schemeClr val="bg1"/>
              </a:solidFill>
              <a:latin typeface="Arial Nova" panose="020B0504020202020204" pitchFamily="34" charset="0"/>
            </a:endParaRPr>
          </a:p>
        </p:txBody>
      </p:sp>
      <p:sp>
        <p:nvSpPr>
          <p:cNvPr id="6" name="Footer Placeholder 4">
            <a:extLst>
              <a:ext uri="{FF2B5EF4-FFF2-40B4-BE49-F238E27FC236}">
                <a16:creationId xmlns:a16="http://schemas.microsoft.com/office/drawing/2014/main" id="{7B087153-4149-BA34-344C-294F2D63E139}"/>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4264783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0E641EDF-7CB6-F74C-872A-F7B02E99153B}"/>
              </a:ext>
            </a:extLst>
          </p:cNvPr>
          <p:cNvSpPr txBox="1">
            <a:spLocks/>
          </p:cNvSpPr>
          <p:nvPr/>
        </p:nvSpPr>
        <p:spPr>
          <a:xfrm>
            <a:off x="381000" y="320676"/>
            <a:ext cx="10972800" cy="805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a:t>Next Steps</a:t>
            </a:r>
          </a:p>
        </p:txBody>
      </p:sp>
      <p:sp>
        <p:nvSpPr>
          <p:cNvPr id="4" name="Content Placeholder 2">
            <a:extLst>
              <a:ext uri="{FF2B5EF4-FFF2-40B4-BE49-F238E27FC236}">
                <a16:creationId xmlns:a16="http://schemas.microsoft.com/office/drawing/2014/main" id="{85EFC610-2F82-EDD2-47DB-9D0E21DE4F99}"/>
              </a:ext>
            </a:extLst>
          </p:cNvPr>
          <p:cNvSpPr txBox="1">
            <a:spLocks noGrp="1"/>
          </p:cNvSpPr>
          <p:nvPr>
            <p:ph idx="1"/>
          </p:nvPr>
        </p:nvSpPr>
        <p:spPr>
          <a:xfrm>
            <a:off x="1013460" y="1811934"/>
            <a:ext cx="10165080" cy="2368212"/>
          </a:xfrm>
          <a:prstGeom prst="rect">
            <a:avLst/>
          </a:prstGeom>
          <a:noFill/>
        </p:spPr>
        <p:txBody>
          <a:bodyPr wrap="square" rtlCol="0">
            <a:spAutoFit/>
          </a:bodyPr>
          <a:lstStyle/>
          <a:p>
            <a:pPr marL="514350" marR="0" lvl="0" indent="-514350" algn="l" defTabSz="914400" rtl="0" eaLnBrk="1" fontAlgn="auto" latinLnBrk="0" hangingPunct="1">
              <a:lnSpc>
                <a:spcPct val="200000"/>
              </a:lnSpc>
              <a:spcBef>
                <a:spcPts val="0"/>
              </a:spcBef>
              <a:spcAft>
                <a:spcPts val="0"/>
              </a:spcAft>
              <a:buClrTx/>
              <a:buSzTx/>
              <a:buFont typeface="+mj-lt"/>
              <a:buAutoNum type="arabicPeriod"/>
              <a:tabLst/>
              <a:defRPr/>
            </a:pPr>
            <a:r>
              <a:rPr kumimoji="0" lang="en-US" b="0" i="0" u="none" strike="noStrike" kern="0" cap="none" spc="0" normalizeH="0" baseline="0" noProof="0" dirty="0">
                <a:ln>
                  <a:noFill/>
                </a:ln>
                <a:effectLst/>
                <a:uLnTx/>
                <a:uFillTx/>
                <a:latin typeface="Arial Nova" panose="020B0504020202020204" pitchFamily="34" charset="0"/>
                <a:ea typeface="+mn-ea"/>
                <a:cs typeface="Arial"/>
                <a:sym typeface="Arial"/>
              </a:rPr>
              <a:t>Complete account paperwork</a:t>
            </a:r>
          </a:p>
          <a:p>
            <a:pPr marL="514350" marR="0" lvl="0" indent="-514350" algn="l" defTabSz="914400" rtl="0" eaLnBrk="1" fontAlgn="auto" latinLnBrk="0" hangingPunct="1">
              <a:lnSpc>
                <a:spcPct val="200000"/>
              </a:lnSpc>
              <a:spcBef>
                <a:spcPts val="0"/>
              </a:spcBef>
              <a:spcAft>
                <a:spcPts val="0"/>
              </a:spcAft>
              <a:buClrTx/>
              <a:buSzTx/>
              <a:buFont typeface="+mj-lt"/>
              <a:buAutoNum type="arabicPeriod"/>
              <a:tabLst/>
              <a:defRPr/>
            </a:pPr>
            <a:r>
              <a:rPr lang="en-US" kern="0" dirty="0">
                <a:cs typeface="Arial"/>
                <a:sym typeface="Arial"/>
              </a:rPr>
              <a:t>Complete the Financial Planning Considerations Questionnaire</a:t>
            </a:r>
          </a:p>
          <a:p>
            <a:pPr marL="514350" marR="0" lvl="0" indent="-514350" algn="l" defTabSz="914400" rtl="0" eaLnBrk="1" fontAlgn="auto" latinLnBrk="0" hangingPunct="1">
              <a:lnSpc>
                <a:spcPct val="200000"/>
              </a:lnSpc>
              <a:spcBef>
                <a:spcPts val="0"/>
              </a:spcBef>
              <a:spcAft>
                <a:spcPts val="0"/>
              </a:spcAft>
              <a:buClrTx/>
              <a:buSzTx/>
              <a:buFont typeface="+mj-lt"/>
              <a:buAutoNum type="arabicPeriod"/>
              <a:tabLst/>
              <a:defRPr/>
            </a:pPr>
            <a:r>
              <a:rPr lang="en-US" kern="0" dirty="0">
                <a:cs typeface="Arial"/>
                <a:sym typeface="Arial"/>
              </a:rPr>
              <a:t>Complete the Risk Tolerance Questionnaire</a:t>
            </a:r>
          </a:p>
        </p:txBody>
      </p:sp>
      <p:sp>
        <p:nvSpPr>
          <p:cNvPr id="2" name="Slide Number Placeholder 5">
            <a:extLst>
              <a:ext uri="{FF2B5EF4-FFF2-40B4-BE49-F238E27FC236}">
                <a16:creationId xmlns:a16="http://schemas.microsoft.com/office/drawing/2014/main" id="{1B736D23-6327-7993-E27F-536F6813202D}"/>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31</a:t>
            </a:fld>
            <a:endParaRPr lang="en-US" dirty="0">
              <a:solidFill>
                <a:schemeClr val="bg1">
                  <a:lumMod val="75000"/>
                </a:schemeClr>
              </a:solidFill>
              <a:latin typeface="Arial Nova" panose="020B0504020202020204" pitchFamily="34" charset="0"/>
            </a:endParaRPr>
          </a:p>
        </p:txBody>
      </p:sp>
      <p:sp>
        <p:nvSpPr>
          <p:cNvPr id="5" name="Footer Placeholder 4">
            <a:extLst>
              <a:ext uri="{FF2B5EF4-FFF2-40B4-BE49-F238E27FC236}">
                <a16:creationId xmlns:a16="http://schemas.microsoft.com/office/drawing/2014/main" id="{72AB00AB-00E8-1C9E-5E90-38E65E6AF621}"/>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902832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7F1FE5F-F629-53E8-ADD8-7BD44E7908EF}"/>
              </a:ext>
            </a:extLst>
          </p:cNvPr>
          <p:cNvSpPr/>
          <p:nvPr/>
        </p:nvSpPr>
        <p:spPr>
          <a:xfrm>
            <a:off x="0" y="0"/>
            <a:ext cx="12192000" cy="6857999"/>
          </a:xfrm>
          <a:prstGeom prst="rect">
            <a:avLst/>
          </a:prstGeom>
          <a:solidFill>
            <a:srgbClr val="02437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D56A5A5B-BBD6-9856-0FDE-71F3BA17F89B}"/>
              </a:ext>
            </a:extLst>
          </p:cNvPr>
          <p:cNvCxnSpPr>
            <a:cxnSpLocks/>
          </p:cNvCxnSpPr>
          <p:nvPr/>
        </p:nvCxnSpPr>
        <p:spPr>
          <a:xfrm>
            <a:off x="-176349" y="2495890"/>
            <a:ext cx="13075920" cy="0"/>
          </a:xfrm>
          <a:prstGeom prst="line">
            <a:avLst/>
          </a:prstGeom>
          <a:ln>
            <a:solidFill>
              <a:srgbClr val="0076BD"/>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D709ED0-478E-BB4D-A785-67292D453136}"/>
              </a:ext>
            </a:extLst>
          </p:cNvPr>
          <p:cNvSpPr txBox="1"/>
          <p:nvPr/>
        </p:nvSpPr>
        <p:spPr>
          <a:xfrm>
            <a:off x="1311476" y="1547394"/>
            <a:ext cx="8416091" cy="784830"/>
          </a:xfrm>
          <a:prstGeom prst="rect">
            <a:avLst/>
          </a:prstGeom>
          <a:noFill/>
        </p:spPr>
        <p:txBody>
          <a:bodyPr wrap="square" rtlCol="0">
            <a:spAutoFit/>
          </a:bodyPr>
          <a:lstStyle/>
          <a:p>
            <a:r>
              <a:rPr lang="en-US" sz="4500">
                <a:solidFill>
                  <a:schemeClr val="bg1"/>
                </a:solidFill>
                <a:latin typeface="Arial Nova" panose="020B0504020202020204" pitchFamily="34" charset="0"/>
              </a:rPr>
              <a:t>Thank You</a:t>
            </a:r>
          </a:p>
        </p:txBody>
      </p:sp>
      <p:sp>
        <p:nvSpPr>
          <p:cNvPr id="5" name="Slide Number Placeholder 5">
            <a:extLst>
              <a:ext uri="{FF2B5EF4-FFF2-40B4-BE49-F238E27FC236}">
                <a16:creationId xmlns:a16="http://schemas.microsoft.com/office/drawing/2014/main" id="{B6DF096F-12FC-C7CF-34E3-5260188A508C}"/>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solidFill>
                <a:latin typeface="Arial Nova" panose="020B0504020202020204" pitchFamily="34" charset="0"/>
              </a:rPr>
              <a:t>32</a:t>
            </a:fld>
            <a:endParaRPr lang="en-US" dirty="0">
              <a:solidFill>
                <a:schemeClr val="bg1"/>
              </a:solidFill>
              <a:latin typeface="Arial Nova" panose="020B0504020202020204" pitchFamily="34" charset="0"/>
            </a:endParaRPr>
          </a:p>
        </p:txBody>
      </p:sp>
      <p:sp>
        <p:nvSpPr>
          <p:cNvPr id="6" name="Footer Placeholder 4">
            <a:extLst>
              <a:ext uri="{FF2B5EF4-FFF2-40B4-BE49-F238E27FC236}">
                <a16:creationId xmlns:a16="http://schemas.microsoft.com/office/drawing/2014/main" id="{43294EC4-DECE-76F8-AE79-83746BB75C1B}"/>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654952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4C6424F-15EA-1F12-D792-43F4F0BA5BC5}"/>
              </a:ext>
            </a:extLst>
          </p:cNvPr>
          <p:cNvSpPr txBox="1"/>
          <p:nvPr/>
        </p:nvSpPr>
        <p:spPr>
          <a:xfrm>
            <a:off x="495300" y="1311835"/>
            <a:ext cx="11201400" cy="4858446"/>
          </a:xfrm>
          <a:prstGeom prst="rect">
            <a:avLst/>
          </a:prstGeom>
          <a:noFill/>
        </p:spPr>
        <p:txBody>
          <a:bodyPr wrap="square">
            <a:spAutoFit/>
          </a:bodyPr>
          <a:lstStyle/>
          <a:p>
            <a:pPr marL="0" marR="0" algn="just">
              <a:spcBef>
                <a:spcPts val="0"/>
              </a:spcBef>
              <a:spcAft>
                <a:spcPts val="0"/>
              </a:spcAft>
              <a:tabLst>
                <a:tab pos="457200" algn="l"/>
              </a:tabLst>
            </a:pPr>
            <a:r>
              <a:rPr lang="en-US" sz="1100">
                <a:solidFill>
                  <a:srgbClr val="000000"/>
                </a:solidFill>
                <a:effectLst/>
                <a:highlight>
                  <a:srgbClr val="FFFF00"/>
                </a:highlight>
                <a:latin typeface="Arial Nova" panose="020B0504020202020204" pitchFamily="34" charset="0"/>
                <a:ea typeface="Times New Roman" panose="02020603050405020304" pitchFamily="18" charset="0"/>
                <a:cs typeface="Arial" panose="020B0604020202020204" pitchFamily="34" charset="0"/>
              </a:rPr>
              <a:t>Investment advisory and financial planning services are offered through Simplicity Wealth, LLC, an SEC-registered investment adviser. SEC registration does not constitute an endorsement of the firm, nor does it indicate that the adviser has attained a particular level of skill or ability. </a:t>
            </a:r>
            <a:r>
              <a:rPr lang="en-US" sz="1100">
                <a:effectLst/>
                <a:highlight>
                  <a:srgbClr val="FFFF00"/>
                </a:highlight>
                <a:latin typeface="Arial Nova" panose="020B0504020202020204" pitchFamily="34" charset="0"/>
                <a:ea typeface="Times New Roman" panose="02020603050405020304" pitchFamily="18" charset="0"/>
                <a:cs typeface="Arial" panose="020B0604020202020204" pitchFamily="34" charset="0"/>
              </a:rPr>
              <a:t>Insurance, Consulting and Education services offered through [DBA]. [DBA] is a separate and unaffiliated entity from Simplicity Wealth.</a:t>
            </a:r>
            <a:endParaRPr lang="en-US" sz="1100">
              <a:effectLst/>
              <a:highlight>
                <a:srgbClr val="FFFF00"/>
              </a:highlight>
              <a:latin typeface="Arial Nova" panose="020B0504020202020204" pitchFamily="34" charset="0"/>
              <a:ea typeface="Calibri" panose="020F0502020204030204" pitchFamily="34" charset="0"/>
              <a:cs typeface="Times New Roman" panose="02020603050405020304" pitchFamily="18" charset="0"/>
            </a:endParaRPr>
          </a:p>
          <a:p>
            <a:pPr marL="12700" marR="43180" algn="just">
              <a:lnSpc>
                <a:spcPct val="104200"/>
              </a:lnSpc>
              <a:spcBef>
                <a:spcPts val="60"/>
              </a:spcBef>
            </a:pPr>
            <a:endParaRPr lang="en-US" sz="1100">
              <a:latin typeface="Arial Nova" panose="020B0504020202020204" pitchFamily="34" charset="0"/>
              <a:cs typeface="Arial Narrow"/>
            </a:endParaRPr>
          </a:p>
          <a:p>
            <a:pPr marL="12700" marR="9525" algn="just">
              <a:lnSpc>
                <a:spcPct val="104200"/>
              </a:lnSpc>
              <a:spcBef>
                <a:spcPts val="450"/>
              </a:spcBef>
            </a:pPr>
            <a:r>
              <a:rPr lang="en-US" sz="1100">
                <a:latin typeface="Arial Nova" panose="020B0504020202020204" pitchFamily="34" charset="0"/>
                <a:cs typeface="Arial"/>
              </a:rPr>
              <a:t>This</a:t>
            </a:r>
            <a:r>
              <a:rPr lang="en-US" sz="1100" spc="-15">
                <a:latin typeface="Arial Nova" panose="020B0504020202020204" pitchFamily="34" charset="0"/>
                <a:cs typeface="Arial"/>
              </a:rPr>
              <a:t> </a:t>
            </a:r>
            <a:r>
              <a:rPr lang="en-US" sz="1100">
                <a:latin typeface="Arial Nova" panose="020B0504020202020204" pitchFamily="34" charset="0"/>
                <a:cs typeface="Arial"/>
              </a:rPr>
              <a:t>content</a:t>
            </a:r>
            <a:r>
              <a:rPr lang="en-US" sz="1100" spc="-10">
                <a:latin typeface="Arial Nova" panose="020B0504020202020204" pitchFamily="34" charset="0"/>
                <a:cs typeface="Arial"/>
              </a:rPr>
              <a:t> </a:t>
            </a:r>
            <a:r>
              <a:rPr lang="en-US" sz="1100">
                <a:latin typeface="Arial Nova" panose="020B0504020202020204" pitchFamily="34" charset="0"/>
                <a:cs typeface="Arial"/>
              </a:rPr>
              <a:t>is</a:t>
            </a:r>
            <a:r>
              <a:rPr lang="en-US" sz="1100" spc="-10">
                <a:latin typeface="Arial Nova" panose="020B0504020202020204" pitchFamily="34" charset="0"/>
                <a:cs typeface="Arial"/>
              </a:rPr>
              <a:t> </a:t>
            </a:r>
            <a:r>
              <a:rPr lang="en-US" sz="1100">
                <a:latin typeface="Arial Nova" panose="020B0504020202020204" pitchFamily="34" charset="0"/>
                <a:cs typeface="Arial"/>
              </a:rPr>
              <a:t>for</a:t>
            </a:r>
            <a:r>
              <a:rPr lang="en-US" sz="1100" spc="-10">
                <a:latin typeface="Arial Nova" panose="020B0504020202020204" pitchFamily="34" charset="0"/>
                <a:cs typeface="Arial"/>
              </a:rPr>
              <a:t> informational </a:t>
            </a:r>
            <a:r>
              <a:rPr lang="en-US" sz="1100">
                <a:latin typeface="Arial Nova" panose="020B0504020202020204" pitchFamily="34" charset="0"/>
                <a:cs typeface="Arial"/>
              </a:rPr>
              <a:t>purposes</a:t>
            </a:r>
            <a:r>
              <a:rPr lang="en-US" sz="1100" spc="-10">
                <a:latin typeface="Arial Nova" panose="020B0504020202020204" pitchFamily="34" charset="0"/>
                <a:cs typeface="Arial"/>
              </a:rPr>
              <a:t> </a:t>
            </a:r>
            <a:r>
              <a:rPr lang="en-US" sz="1100">
                <a:latin typeface="Arial Nova" panose="020B0504020202020204" pitchFamily="34" charset="0"/>
                <a:cs typeface="Arial"/>
              </a:rPr>
              <a:t>only</a:t>
            </a:r>
            <a:r>
              <a:rPr lang="en-US" sz="1100" spc="-10">
                <a:latin typeface="Arial Nova" panose="020B0504020202020204" pitchFamily="34" charset="0"/>
                <a:cs typeface="Arial"/>
              </a:rPr>
              <a:t> </a:t>
            </a:r>
            <a:r>
              <a:rPr lang="en-US" sz="1100">
                <a:latin typeface="Arial Nova" panose="020B0504020202020204" pitchFamily="34" charset="0"/>
                <a:cs typeface="Arial"/>
              </a:rPr>
              <a:t>and</a:t>
            </a:r>
            <a:r>
              <a:rPr lang="en-US" sz="1100" spc="-10">
                <a:latin typeface="Arial Nova" panose="020B0504020202020204" pitchFamily="34" charset="0"/>
                <a:cs typeface="Arial"/>
              </a:rPr>
              <a:t> </a:t>
            </a:r>
            <a:r>
              <a:rPr lang="en-US" sz="1100">
                <a:latin typeface="Arial Nova" panose="020B0504020202020204" pitchFamily="34" charset="0"/>
                <a:cs typeface="Arial"/>
              </a:rPr>
              <a:t>does</a:t>
            </a:r>
            <a:r>
              <a:rPr lang="en-US" sz="1100" spc="-10">
                <a:latin typeface="Arial Nova" panose="020B0504020202020204" pitchFamily="34" charset="0"/>
                <a:cs typeface="Arial"/>
              </a:rPr>
              <a:t> </a:t>
            </a:r>
            <a:r>
              <a:rPr lang="en-US" sz="1100">
                <a:latin typeface="Arial Nova" panose="020B0504020202020204" pitchFamily="34" charset="0"/>
                <a:cs typeface="Arial"/>
              </a:rPr>
              <a:t>not</a:t>
            </a:r>
            <a:r>
              <a:rPr lang="en-US" sz="1100" spc="-10">
                <a:latin typeface="Arial Nova" panose="020B0504020202020204" pitchFamily="34" charset="0"/>
                <a:cs typeface="Arial"/>
              </a:rPr>
              <a:t> </a:t>
            </a:r>
            <a:r>
              <a:rPr lang="en-US" sz="1100">
                <a:latin typeface="Arial Nova" panose="020B0504020202020204" pitchFamily="34" charset="0"/>
                <a:cs typeface="Arial"/>
              </a:rPr>
              <a:t>intend</a:t>
            </a:r>
            <a:r>
              <a:rPr lang="en-US" sz="1100" spc="-10">
                <a:latin typeface="Arial Nova" panose="020B0504020202020204" pitchFamily="34" charset="0"/>
                <a:cs typeface="Arial"/>
              </a:rPr>
              <a:t> </a:t>
            </a:r>
            <a:r>
              <a:rPr lang="en-US" sz="1100">
                <a:latin typeface="Arial Nova" panose="020B0504020202020204" pitchFamily="34" charset="0"/>
                <a:cs typeface="Arial"/>
              </a:rPr>
              <a:t>to</a:t>
            </a:r>
            <a:r>
              <a:rPr lang="en-US" sz="1100" spc="-10">
                <a:latin typeface="Arial Nova" panose="020B0504020202020204" pitchFamily="34" charset="0"/>
                <a:cs typeface="Arial"/>
              </a:rPr>
              <a:t> make </a:t>
            </a:r>
            <a:r>
              <a:rPr lang="en-US" sz="1100">
                <a:latin typeface="Arial Nova" panose="020B0504020202020204" pitchFamily="34" charset="0"/>
                <a:cs typeface="Arial"/>
              </a:rPr>
              <a:t>an</a:t>
            </a:r>
            <a:r>
              <a:rPr lang="en-US" sz="1100" spc="-10">
                <a:latin typeface="Arial Nova" panose="020B0504020202020204" pitchFamily="34" charset="0"/>
                <a:cs typeface="Arial"/>
              </a:rPr>
              <a:t> </a:t>
            </a:r>
            <a:r>
              <a:rPr lang="en-US" sz="1100">
                <a:latin typeface="Arial Nova" panose="020B0504020202020204" pitchFamily="34" charset="0"/>
                <a:cs typeface="Arial"/>
              </a:rPr>
              <a:t>offer</a:t>
            </a:r>
            <a:r>
              <a:rPr lang="en-US" sz="1100" spc="-10">
                <a:latin typeface="Arial Nova" panose="020B0504020202020204" pitchFamily="34" charset="0"/>
                <a:cs typeface="Arial"/>
              </a:rPr>
              <a:t> </a:t>
            </a:r>
            <a:r>
              <a:rPr lang="en-US" sz="1100">
                <a:latin typeface="Arial Nova" panose="020B0504020202020204" pitchFamily="34" charset="0"/>
                <a:cs typeface="Arial"/>
              </a:rPr>
              <a:t>or</a:t>
            </a:r>
            <a:r>
              <a:rPr lang="en-US" sz="1100" spc="-10">
                <a:latin typeface="Arial Nova" panose="020B0504020202020204" pitchFamily="34" charset="0"/>
                <a:cs typeface="Arial"/>
              </a:rPr>
              <a:t> solicitation </a:t>
            </a:r>
            <a:r>
              <a:rPr lang="en-US" sz="1100">
                <a:latin typeface="Arial Nova" panose="020B0504020202020204" pitchFamily="34" charset="0"/>
                <a:cs typeface="Arial"/>
              </a:rPr>
              <a:t>for</a:t>
            </a:r>
            <a:r>
              <a:rPr lang="en-US" sz="1100" spc="-10">
                <a:latin typeface="Arial Nova" panose="020B0504020202020204" pitchFamily="34" charset="0"/>
                <a:cs typeface="Arial"/>
              </a:rPr>
              <a:t> sale </a:t>
            </a:r>
            <a:r>
              <a:rPr lang="en-US" sz="1100">
                <a:latin typeface="Arial Nova" panose="020B0504020202020204" pitchFamily="34" charset="0"/>
                <a:cs typeface="Arial"/>
              </a:rPr>
              <a:t>or</a:t>
            </a:r>
            <a:r>
              <a:rPr lang="en-US" sz="1100" spc="-10">
                <a:latin typeface="Arial Nova" panose="020B0504020202020204" pitchFamily="34" charset="0"/>
                <a:cs typeface="Arial"/>
              </a:rPr>
              <a:t> </a:t>
            </a:r>
            <a:r>
              <a:rPr lang="en-US" sz="1100">
                <a:latin typeface="Arial Nova" panose="020B0504020202020204" pitchFamily="34" charset="0"/>
                <a:cs typeface="Arial"/>
              </a:rPr>
              <a:t>purchase</a:t>
            </a:r>
            <a:r>
              <a:rPr lang="en-US" sz="1100" spc="-10">
                <a:latin typeface="Arial Nova" panose="020B0504020202020204" pitchFamily="34" charset="0"/>
                <a:cs typeface="Arial"/>
              </a:rPr>
              <a:t> </a:t>
            </a:r>
            <a:r>
              <a:rPr lang="en-US" sz="1100">
                <a:latin typeface="Arial Nova" panose="020B0504020202020204" pitchFamily="34" charset="0"/>
                <a:cs typeface="Arial"/>
              </a:rPr>
              <a:t>of</a:t>
            </a:r>
            <a:r>
              <a:rPr lang="en-US" sz="1100" spc="-10">
                <a:latin typeface="Arial Nova" panose="020B0504020202020204" pitchFamily="34" charset="0"/>
                <a:cs typeface="Arial"/>
              </a:rPr>
              <a:t> </a:t>
            </a:r>
            <a:r>
              <a:rPr lang="en-US" sz="1100" spc="-25">
                <a:latin typeface="Arial Nova" panose="020B0504020202020204" pitchFamily="34" charset="0"/>
                <a:cs typeface="Arial"/>
              </a:rPr>
              <a:t>any</a:t>
            </a:r>
            <a:r>
              <a:rPr lang="en-US" sz="1100" spc="-10">
                <a:latin typeface="Arial Nova" panose="020B0504020202020204" pitchFamily="34" charset="0"/>
                <a:cs typeface="Arial"/>
              </a:rPr>
              <a:t> securities.</a:t>
            </a:r>
            <a:r>
              <a:rPr lang="en-US" sz="1100" spc="-20">
                <a:latin typeface="Arial Nova" panose="020B0504020202020204" pitchFamily="34" charset="0"/>
                <a:cs typeface="Arial"/>
              </a:rPr>
              <a:t> </a:t>
            </a:r>
            <a:r>
              <a:rPr lang="en-US" sz="1100" spc="-10">
                <a:latin typeface="Arial Nova" panose="020B0504020202020204" pitchFamily="34" charset="0"/>
                <a:cs typeface="Arial"/>
              </a:rPr>
              <a:t>Investing</a:t>
            </a:r>
            <a:r>
              <a:rPr lang="en-US" sz="1100" spc="-20">
                <a:latin typeface="Arial Nova" panose="020B0504020202020204" pitchFamily="34" charset="0"/>
                <a:cs typeface="Arial"/>
              </a:rPr>
              <a:t> </a:t>
            </a:r>
            <a:r>
              <a:rPr lang="en-US" sz="1100" spc="-10">
                <a:latin typeface="Arial Nova" panose="020B0504020202020204" pitchFamily="34" charset="0"/>
                <a:cs typeface="Arial"/>
              </a:rPr>
              <a:t>involves</a:t>
            </a:r>
            <a:r>
              <a:rPr lang="en-US" sz="1100" spc="-15">
                <a:latin typeface="Arial Nova" panose="020B0504020202020204" pitchFamily="34" charset="0"/>
                <a:cs typeface="Arial"/>
              </a:rPr>
              <a:t> </a:t>
            </a:r>
            <a:r>
              <a:rPr lang="en-US" sz="1100">
                <a:latin typeface="Arial Nova" panose="020B0504020202020204" pitchFamily="34" charset="0"/>
                <a:cs typeface="Arial"/>
              </a:rPr>
              <a:t>risk,</a:t>
            </a:r>
            <a:r>
              <a:rPr lang="en-US" sz="1100" spc="-20">
                <a:latin typeface="Arial Nova" panose="020B0504020202020204" pitchFamily="34" charset="0"/>
                <a:cs typeface="Arial"/>
              </a:rPr>
              <a:t> </a:t>
            </a:r>
            <a:r>
              <a:rPr lang="en-US" sz="1100">
                <a:latin typeface="Arial Nova" panose="020B0504020202020204" pitchFamily="34" charset="0"/>
                <a:cs typeface="Arial"/>
              </a:rPr>
              <a:t>including</a:t>
            </a:r>
            <a:r>
              <a:rPr lang="en-US" sz="1100" spc="-15">
                <a:latin typeface="Arial Nova" panose="020B0504020202020204" pitchFamily="34" charset="0"/>
                <a:cs typeface="Arial"/>
              </a:rPr>
              <a:t> </a:t>
            </a:r>
            <a:r>
              <a:rPr lang="en-US" sz="1100">
                <a:latin typeface="Arial Nova" panose="020B0504020202020204" pitchFamily="34" charset="0"/>
                <a:cs typeface="Arial"/>
              </a:rPr>
              <a:t>the</a:t>
            </a:r>
            <a:r>
              <a:rPr lang="en-US" sz="1100" spc="-20">
                <a:latin typeface="Arial Nova" panose="020B0504020202020204" pitchFamily="34" charset="0"/>
                <a:cs typeface="Arial"/>
              </a:rPr>
              <a:t> </a:t>
            </a:r>
            <a:r>
              <a:rPr lang="en-US" sz="1100">
                <a:latin typeface="Arial Nova" panose="020B0504020202020204" pitchFamily="34" charset="0"/>
                <a:cs typeface="Arial"/>
              </a:rPr>
              <a:t>potential</a:t>
            </a:r>
            <a:r>
              <a:rPr lang="en-US" sz="1100" spc="-15">
                <a:latin typeface="Arial Nova" panose="020B0504020202020204" pitchFamily="34" charset="0"/>
                <a:cs typeface="Arial"/>
              </a:rPr>
              <a:t> </a:t>
            </a:r>
            <a:r>
              <a:rPr lang="en-US" sz="1100">
                <a:latin typeface="Arial Nova" panose="020B0504020202020204" pitchFamily="34" charset="0"/>
                <a:cs typeface="Arial"/>
              </a:rPr>
              <a:t>loss</a:t>
            </a:r>
            <a:r>
              <a:rPr lang="en-US" sz="1100" spc="-20">
                <a:latin typeface="Arial Nova" panose="020B0504020202020204" pitchFamily="34" charset="0"/>
                <a:cs typeface="Arial"/>
              </a:rPr>
              <a:t> </a:t>
            </a:r>
            <a:r>
              <a:rPr lang="en-US" sz="1100">
                <a:latin typeface="Arial Nova" panose="020B0504020202020204" pitchFamily="34" charset="0"/>
                <a:cs typeface="Arial"/>
              </a:rPr>
              <a:t>of</a:t>
            </a:r>
            <a:r>
              <a:rPr lang="en-US" sz="1100" spc="-15">
                <a:latin typeface="Arial Nova" panose="020B0504020202020204" pitchFamily="34" charset="0"/>
                <a:cs typeface="Arial"/>
              </a:rPr>
              <a:t> </a:t>
            </a:r>
            <a:r>
              <a:rPr lang="en-US" sz="1100">
                <a:latin typeface="Arial Nova" panose="020B0504020202020204" pitchFamily="34" charset="0"/>
                <a:cs typeface="Arial"/>
              </a:rPr>
              <a:t>principal.</a:t>
            </a:r>
            <a:r>
              <a:rPr lang="en-US" sz="1100" spc="-20">
                <a:latin typeface="Arial Nova" panose="020B0504020202020204" pitchFamily="34" charset="0"/>
                <a:cs typeface="Arial"/>
              </a:rPr>
              <a:t> </a:t>
            </a:r>
            <a:r>
              <a:rPr lang="en-US" sz="1100">
                <a:latin typeface="Arial Nova" panose="020B0504020202020204" pitchFamily="34" charset="0"/>
                <a:cs typeface="Arial"/>
              </a:rPr>
              <a:t>No</a:t>
            </a:r>
            <a:r>
              <a:rPr lang="en-US" sz="1100" spc="-15">
                <a:latin typeface="Arial Nova" panose="020B0504020202020204" pitchFamily="34" charset="0"/>
                <a:cs typeface="Arial"/>
              </a:rPr>
              <a:t> </a:t>
            </a:r>
            <a:r>
              <a:rPr lang="en-US" sz="1100" spc="-10">
                <a:latin typeface="Arial Nova" panose="020B0504020202020204" pitchFamily="34" charset="0"/>
                <a:cs typeface="Arial"/>
              </a:rPr>
              <a:t>investment</a:t>
            </a:r>
            <a:r>
              <a:rPr lang="en-US" sz="1100" spc="-20">
                <a:latin typeface="Arial Nova" panose="020B0504020202020204" pitchFamily="34" charset="0"/>
                <a:cs typeface="Arial"/>
              </a:rPr>
              <a:t> </a:t>
            </a:r>
            <a:r>
              <a:rPr lang="en-US" sz="1100" spc="-10">
                <a:latin typeface="Arial Nova" panose="020B0504020202020204" pitchFamily="34" charset="0"/>
                <a:cs typeface="Arial"/>
              </a:rPr>
              <a:t>strategy,</a:t>
            </a:r>
            <a:r>
              <a:rPr lang="en-US" sz="1100" spc="-15">
                <a:latin typeface="Arial Nova" panose="020B0504020202020204" pitchFamily="34" charset="0"/>
                <a:cs typeface="Arial"/>
              </a:rPr>
              <a:t> </a:t>
            </a:r>
            <a:r>
              <a:rPr lang="en-US" sz="1100">
                <a:latin typeface="Arial Nova" panose="020B0504020202020204" pitchFamily="34" charset="0"/>
                <a:cs typeface="Arial"/>
              </a:rPr>
              <a:t>such</a:t>
            </a:r>
            <a:r>
              <a:rPr lang="en-US" sz="1100" spc="-20">
                <a:latin typeface="Arial Nova" panose="020B0504020202020204" pitchFamily="34" charset="0"/>
                <a:cs typeface="Arial"/>
              </a:rPr>
              <a:t> </a:t>
            </a:r>
            <a:r>
              <a:rPr lang="en-US" sz="1100" spc="-10">
                <a:latin typeface="Arial Nova" panose="020B0504020202020204" pitchFamily="34" charset="0"/>
                <a:cs typeface="Arial"/>
              </a:rPr>
              <a:t>as</a:t>
            </a:r>
            <a:r>
              <a:rPr lang="en-US" sz="1100" spc="-15">
                <a:latin typeface="Arial Nova" panose="020B0504020202020204" pitchFamily="34" charset="0"/>
                <a:cs typeface="Arial"/>
              </a:rPr>
              <a:t> </a:t>
            </a:r>
            <a:r>
              <a:rPr lang="en-US" sz="1100" spc="-20">
                <a:latin typeface="Arial Nova" panose="020B0504020202020204" pitchFamily="34" charset="0"/>
                <a:cs typeface="Arial"/>
              </a:rPr>
              <a:t>asset </a:t>
            </a:r>
            <a:r>
              <a:rPr lang="en-US" sz="1100">
                <a:latin typeface="Arial Nova" panose="020B0504020202020204" pitchFamily="34" charset="0"/>
                <a:cs typeface="Arial"/>
              </a:rPr>
              <a:t>allocation</a:t>
            </a:r>
            <a:r>
              <a:rPr lang="en-US" sz="1100" spc="-15">
                <a:latin typeface="Arial Nova" panose="020B0504020202020204" pitchFamily="34" charset="0"/>
                <a:cs typeface="Arial"/>
              </a:rPr>
              <a:t> </a:t>
            </a:r>
            <a:r>
              <a:rPr lang="en-US" sz="1100" spc="-25">
                <a:latin typeface="Arial Nova" panose="020B0504020202020204" pitchFamily="34" charset="0"/>
                <a:cs typeface="Arial"/>
              </a:rPr>
              <a:t>or</a:t>
            </a:r>
            <a:r>
              <a:rPr lang="en-US" sz="1100" spc="50">
                <a:latin typeface="Arial Nova" panose="020B0504020202020204" pitchFamily="34" charset="0"/>
                <a:cs typeface="Arial"/>
              </a:rPr>
              <a:t> </a:t>
            </a:r>
            <a:r>
              <a:rPr lang="en-US" sz="1100" spc="50">
                <a:latin typeface="Arial Nova" panose="020B0504020202020204" pitchFamily="34" charset="0"/>
                <a:cs typeface="Arial Narrow"/>
              </a:rPr>
              <a:t>diversification,</a:t>
            </a:r>
            <a:r>
              <a:rPr lang="en-US" sz="1100" spc="45">
                <a:latin typeface="Arial Nova" panose="020B0504020202020204" pitchFamily="34" charset="0"/>
                <a:cs typeface="Arial Narrow"/>
              </a:rPr>
              <a:t> </a:t>
            </a:r>
            <a:r>
              <a:rPr lang="en-US" sz="1100" spc="75">
                <a:latin typeface="Arial Nova" panose="020B0504020202020204" pitchFamily="34" charset="0"/>
                <a:cs typeface="Arial Narrow"/>
              </a:rPr>
              <a:t>can</a:t>
            </a:r>
            <a:r>
              <a:rPr lang="en-US" sz="1100" spc="45">
                <a:latin typeface="Arial Nova" panose="020B0504020202020204" pitchFamily="34" charset="0"/>
                <a:cs typeface="Arial Narrow"/>
              </a:rPr>
              <a:t> </a:t>
            </a:r>
            <a:r>
              <a:rPr lang="en-US" sz="1100" spc="60">
                <a:latin typeface="Arial Nova" panose="020B0504020202020204" pitchFamily="34" charset="0"/>
                <a:cs typeface="Arial Narrow"/>
              </a:rPr>
              <a:t>guarantee</a:t>
            </a:r>
            <a:r>
              <a:rPr lang="en-US" sz="1100" spc="45">
                <a:latin typeface="Arial Nova" panose="020B0504020202020204" pitchFamily="34" charset="0"/>
                <a:cs typeface="Arial Narrow"/>
              </a:rPr>
              <a:t> </a:t>
            </a:r>
            <a:r>
              <a:rPr lang="en-US" sz="1100" spc="50">
                <a:latin typeface="Arial Nova" panose="020B0504020202020204" pitchFamily="34" charset="0"/>
                <a:cs typeface="Arial Narrow"/>
              </a:rPr>
              <a:t>a profit</a:t>
            </a:r>
            <a:r>
              <a:rPr lang="en-US" sz="1100" spc="45">
                <a:latin typeface="Arial Nova" panose="020B0504020202020204" pitchFamily="34" charset="0"/>
                <a:cs typeface="Arial Narrow"/>
              </a:rPr>
              <a:t> </a:t>
            </a:r>
            <a:r>
              <a:rPr lang="en-US" sz="1100" spc="70">
                <a:latin typeface="Arial Nova" panose="020B0504020202020204" pitchFamily="34" charset="0"/>
                <a:cs typeface="Arial Narrow"/>
              </a:rPr>
              <a:t>or</a:t>
            </a:r>
            <a:r>
              <a:rPr lang="en-US" sz="1100" spc="45">
                <a:latin typeface="Arial Nova" panose="020B0504020202020204" pitchFamily="34" charset="0"/>
                <a:cs typeface="Arial Narrow"/>
              </a:rPr>
              <a:t> </a:t>
            </a:r>
            <a:r>
              <a:rPr lang="en-US" sz="1100" spc="65">
                <a:latin typeface="Arial Nova" panose="020B0504020202020204" pitchFamily="34" charset="0"/>
                <a:cs typeface="Arial Narrow"/>
              </a:rPr>
              <a:t>protect</a:t>
            </a:r>
            <a:r>
              <a:rPr lang="en-US" sz="1100" spc="50">
                <a:latin typeface="Arial Nova" panose="020B0504020202020204" pitchFamily="34" charset="0"/>
                <a:cs typeface="Arial Narrow"/>
              </a:rPr>
              <a:t> </a:t>
            </a:r>
            <a:r>
              <a:rPr lang="en-US" sz="1100" spc="55">
                <a:latin typeface="Arial Nova" panose="020B0504020202020204" pitchFamily="34" charset="0"/>
                <a:cs typeface="Arial Narrow"/>
              </a:rPr>
              <a:t>against</a:t>
            </a:r>
            <a:r>
              <a:rPr lang="en-US" sz="1100" spc="45">
                <a:latin typeface="Arial Nova" panose="020B0504020202020204" pitchFamily="34" charset="0"/>
                <a:cs typeface="Arial Narrow"/>
              </a:rPr>
              <a:t> </a:t>
            </a:r>
            <a:r>
              <a:rPr lang="en-US" sz="1100" spc="50">
                <a:latin typeface="Arial Nova" panose="020B0504020202020204" pitchFamily="34" charset="0"/>
                <a:cs typeface="Arial Narrow"/>
              </a:rPr>
              <a:t>loss</a:t>
            </a:r>
            <a:r>
              <a:rPr lang="en-US" sz="1100" spc="45">
                <a:latin typeface="Arial Nova" panose="020B0504020202020204" pitchFamily="34" charset="0"/>
                <a:cs typeface="Arial Narrow"/>
              </a:rPr>
              <a:t> </a:t>
            </a:r>
            <a:r>
              <a:rPr lang="en-US" sz="1100" spc="55">
                <a:latin typeface="Arial Nova" panose="020B0504020202020204" pitchFamily="34" charset="0"/>
                <a:cs typeface="Arial Narrow"/>
              </a:rPr>
              <a:t>in</a:t>
            </a:r>
            <a:r>
              <a:rPr lang="en-US" sz="1100" spc="50">
                <a:latin typeface="Arial Nova" panose="020B0504020202020204" pitchFamily="34" charset="0"/>
                <a:cs typeface="Arial Narrow"/>
              </a:rPr>
              <a:t> </a:t>
            </a:r>
            <a:r>
              <a:rPr lang="en-US" sz="1100" spc="70">
                <a:latin typeface="Arial Nova" panose="020B0504020202020204" pitchFamily="34" charset="0"/>
                <a:cs typeface="Arial Narrow"/>
              </a:rPr>
              <a:t>periods</a:t>
            </a:r>
            <a:r>
              <a:rPr lang="en-US" sz="1100" spc="45">
                <a:latin typeface="Arial Nova" panose="020B0504020202020204" pitchFamily="34" charset="0"/>
                <a:cs typeface="Arial Narrow"/>
              </a:rPr>
              <a:t> </a:t>
            </a:r>
            <a:r>
              <a:rPr lang="en-US" sz="1100" spc="55">
                <a:latin typeface="Arial Nova" panose="020B0504020202020204" pitchFamily="34" charset="0"/>
                <a:cs typeface="Arial Narrow"/>
              </a:rPr>
              <a:t>of</a:t>
            </a:r>
            <a:r>
              <a:rPr lang="en-US" sz="1100" spc="45">
                <a:latin typeface="Arial Nova" panose="020B0504020202020204" pitchFamily="34" charset="0"/>
                <a:cs typeface="Arial Narrow"/>
              </a:rPr>
              <a:t> </a:t>
            </a:r>
            <a:r>
              <a:rPr lang="en-US" sz="1100" spc="65">
                <a:latin typeface="Arial Nova" panose="020B0504020202020204" pitchFamily="34" charset="0"/>
                <a:cs typeface="Arial Narrow"/>
              </a:rPr>
              <a:t>declining</a:t>
            </a:r>
            <a:r>
              <a:rPr lang="en-US" sz="1100" spc="45">
                <a:latin typeface="Arial Nova" panose="020B0504020202020204" pitchFamily="34" charset="0"/>
                <a:cs typeface="Arial Narrow"/>
              </a:rPr>
              <a:t> values.</a:t>
            </a:r>
            <a:r>
              <a:rPr lang="en-US" sz="1100" spc="50">
                <a:latin typeface="Arial Nova" panose="020B0504020202020204" pitchFamily="34" charset="0"/>
                <a:cs typeface="Arial Narrow"/>
              </a:rPr>
              <a:t> All</a:t>
            </a:r>
            <a:r>
              <a:rPr lang="en-US" sz="1100" spc="45">
                <a:latin typeface="Arial Nova" panose="020B0504020202020204" pitchFamily="34" charset="0"/>
                <a:cs typeface="Arial Narrow"/>
              </a:rPr>
              <a:t> </a:t>
            </a:r>
            <a:r>
              <a:rPr lang="en-US" sz="1100" spc="65">
                <a:latin typeface="Arial Nova" panose="020B0504020202020204" pitchFamily="34" charset="0"/>
                <a:cs typeface="Arial Narrow"/>
              </a:rPr>
              <a:t>investment</a:t>
            </a:r>
            <a:r>
              <a:rPr lang="en-US" sz="1100" spc="45">
                <a:latin typeface="Arial Nova" panose="020B0504020202020204" pitchFamily="34" charset="0"/>
                <a:cs typeface="Arial Narrow"/>
              </a:rPr>
              <a:t> </a:t>
            </a:r>
            <a:r>
              <a:rPr lang="en-US" sz="1100" spc="50">
                <a:latin typeface="Arial Nova" panose="020B0504020202020204" pitchFamily="34" charset="0"/>
                <a:cs typeface="Arial Narrow"/>
              </a:rPr>
              <a:t>strategies </a:t>
            </a:r>
            <a:r>
              <a:rPr lang="en-US" sz="1100" spc="55">
                <a:latin typeface="Arial Nova" panose="020B0504020202020204" pitchFamily="34" charset="0"/>
                <a:cs typeface="Arial Narrow"/>
              </a:rPr>
              <a:t>involve</a:t>
            </a:r>
            <a:r>
              <a:rPr lang="en-US" sz="1100" spc="45">
                <a:latin typeface="Arial Nova" panose="020B0504020202020204" pitchFamily="34" charset="0"/>
                <a:cs typeface="Arial Narrow"/>
              </a:rPr>
              <a:t> </a:t>
            </a:r>
            <a:r>
              <a:rPr lang="en-US" sz="1100" spc="55">
                <a:latin typeface="Arial Nova" panose="020B0504020202020204" pitchFamily="34" charset="0"/>
                <a:cs typeface="Arial Narrow"/>
              </a:rPr>
              <a:t>risk</a:t>
            </a:r>
            <a:r>
              <a:rPr lang="en-US" sz="1100" spc="45">
                <a:latin typeface="Arial Nova" panose="020B0504020202020204" pitchFamily="34" charset="0"/>
                <a:cs typeface="Arial Narrow"/>
              </a:rPr>
              <a:t> and </a:t>
            </a:r>
            <a:r>
              <a:rPr lang="en-US" sz="1100" spc="55">
                <a:latin typeface="Arial Nova" panose="020B0504020202020204" pitchFamily="34" charset="0"/>
                <a:cs typeface="Arial Narrow"/>
              </a:rPr>
              <a:t>have </a:t>
            </a:r>
            <a:r>
              <a:rPr lang="en-US" sz="1100" spc="65">
                <a:latin typeface="Arial Nova" panose="020B0504020202020204" pitchFamily="34" charset="0"/>
                <a:cs typeface="Arial Narrow"/>
              </a:rPr>
              <a:t>the</a:t>
            </a:r>
            <a:r>
              <a:rPr lang="en-US" sz="1100" spc="55">
                <a:latin typeface="Arial Nova" panose="020B0504020202020204" pitchFamily="34" charset="0"/>
                <a:cs typeface="Arial Narrow"/>
              </a:rPr>
              <a:t> potential for </a:t>
            </a:r>
            <a:r>
              <a:rPr lang="en-US" sz="1100" spc="50">
                <a:latin typeface="Arial Nova" panose="020B0504020202020204" pitchFamily="34" charset="0"/>
                <a:cs typeface="Arial Narrow"/>
              </a:rPr>
              <a:t>profit</a:t>
            </a:r>
            <a:r>
              <a:rPr lang="en-US" sz="1100" spc="55">
                <a:latin typeface="Arial Nova" panose="020B0504020202020204" pitchFamily="34" charset="0"/>
                <a:cs typeface="Arial Narrow"/>
              </a:rPr>
              <a:t> </a:t>
            </a:r>
            <a:r>
              <a:rPr lang="en-US" sz="1100" spc="70">
                <a:latin typeface="Arial Nova" panose="020B0504020202020204" pitchFamily="34" charset="0"/>
                <a:cs typeface="Arial Narrow"/>
              </a:rPr>
              <a:t>or</a:t>
            </a:r>
            <a:r>
              <a:rPr lang="en-US" sz="1100" spc="55">
                <a:latin typeface="Arial Nova" panose="020B0504020202020204" pitchFamily="34" charset="0"/>
                <a:cs typeface="Arial Narrow"/>
              </a:rPr>
              <a:t> </a:t>
            </a:r>
            <a:r>
              <a:rPr lang="en-US" sz="1100">
                <a:latin typeface="Arial Nova" panose="020B0504020202020204" pitchFamily="34" charset="0"/>
                <a:cs typeface="Arial Narrow"/>
              </a:rPr>
              <a:t>loss.</a:t>
            </a:r>
            <a:r>
              <a:rPr lang="en-US" sz="1100" spc="60">
                <a:latin typeface="Arial Nova" panose="020B0504020202020204" pitchFamily="34" charset="0"/>
                <a:cs typeface="Arial Narrow"/>
              </a:rPr>
              <a:t> </a:t>
            </a:r>
            <a:r>
              <a:rPr lang="en-US" sz="1100" spc="65">
                <a:latin typeface="Arial Nova" panose="020B0504020202020204" pitchFamily="34" charset="0"/>
                <a:cs typeface="Arial Narrow"/>
              </a:rPr>
              <a:t>Changes</a:t>
            </a:r>
            <a:r>
              <a:rPr lang="en-US" sz="1100" spc="55">
                <a:latin typeface="Arial Nova" panose="020B0504020202020204" pitchFamily="34" charset="0"/>
                <a:cs typeface="Arial Narrow"/>
              </a:rPr>
              <a:t> in </a:t>
            </a:r>
            <a:r>
              <a:rPr lang="en-US" sz="1100" spc="65">
                <a:latin typeface="Arial Nova" panose="020B0504020202020204" pitchFamily="34" charset="0"/>
                <a:cs typeface="Arial Narrow"/>
              </a:rPr>
              <a:t>investment</a:t>
            </a:r>
            <a:r>
              <a:rPr lang="en-US" sz="1100" spc="55">
                <a:latin typeface="Arial Nova" panose="020B0504020202020204" pitchFamily="34" charset="0"/>
                <a:cs typeface="Arial Narrow"/>
              </a:rPr>
              <a:t> </a:t>
            </a:r>
            <a:r>
              <a:rPr lang="en-US" sz="1100" spc="50">
                <a:latin typeface="Arial Nova" panose="020B0504020202020204" pitchFamily="34" charset="0"/>
                <a:cs typeface="Arial Narrow"/>
              </a:rPr>
              <a:t>strategies,</a:t>
            </a:r>
            <a:r>
              <a:rPr lang="en-US" sz="1100" spc="55">
                <a:latin typeface="Arial Nova" panose="020B0504020202020204" pitchFamily="34" charset="0"/>
                <a:cs typeface="Arial Narrow"/>
              </a:rPr>
              <a:t> </a:t>
            </a:r>
            <a:r>
              <a:rPr lang="en-US" sz="1100" spc="65">
                <a:latin typeface="Arial Nova" panose="020B0504020202020204" pitchFamily="34" charset="0"/>
                <a:cs typeface="Arial Narrow"/>
              </a:rPr>
              <a:t>contributions</a:t>
            </a:r>
            <a:r>
              <a:rPr lang="en-US" sz="1100" spc="55">
                <a:latin typeface="Arial Nova" panose="020B0504020202020204" pitchFamily="34" charset="0"/>
                <a:cs typeface="Arial Narrow"/>
              </a:rPr>
              <a:t> </a:t>
            </a:r>
            <a:r>
              <a:rPr lang="en-US" sz="1100" spc="70">
                <a:latin typeface="Arial Nova" panose="020B0504020202020204" pitchFamily="34" charset="0"/>
                <a:cs typeface="Arial Narrow"/>
              </a:rPr>
              <a:t>or</a:t>
            </a:r>
            <a:r>
              <a:rPr lang="en-US" sz="1100" spc="60">
                <a:latin typeface="Arial Nova" panose="020B0504020202020204" pitchFamily="34" charset="0"/>
                <a:cs typeface="Arial Narrow"/>
              </a:rPr>
              <a:t> </a:t>
            </a:r>
            <a:r>
              <a:rPr lang="en-US" sz="1100" spc="55">
                <a:latin typeface="Arial Nova" panose="020B0504020202020204" pitchFamily="34" charset="0"/>
                <a:cs typeface="Arial Narrow"/>
              </a:rPr>
              <a:t>withdrawals, </a:t>
            </a:r>
            <a:r>
              <a:rPr lang="en-US" sz="1100" spc="70">
                <a:latin typeface="Arial Nova" panose="020B0504020202020204" pitchFamily="34" charset="0"/>
                <a:cs typeface="Arial Narrow"/>
              </a:rPr>
              <a:t>and</a:t>
            </a:r>
            <a:r>
              <a:rPr lang="en-US" sz="1100" spc="55">
                <a:latin typeface="Arial Nova" panose="020B0504020202020204" pitchFamily="34" charset="0"/>
                <a:cs typeface="Arial Narrow"/>
              </a:rPr>
              <a:t> </a:t>
            </a:r>
            <a:r>
              <a:rPr lang="en-US" sz="1100" spc="80">
                <a:latin typeface="Arial Nova" panose="020B0504020202020204" pitchFamily="34" charset="0"/>
                <a:cs typeface="Arial Narrow"/>
              </a:rPr>
              <a:t>economic</a:t>
            </a:r>
            <a:r>
              <a:rPr lang="en-US" sz="1100" spc="55">
                <a:latin typeface="Arial Nova" panose="020B0504020202020204" pitchFamily="34" charset="0"/>
                <a:cs typeface="Arial Narrow"/>
              </a:rPr>
              <a:t> </a:t>
            </a:r>
            <a:r>
              <a:rPr lang="en-US" sz="1100" spc="65">
                <a:latin typeface="Arial Nova" panose="020B0504020202020204" pitchFamily="34" charset="0"/>
                <a:cs typeface="Arial Narrow"/>
              </a:rPr>
              <a:t>conditions</a:t>
            </a:r>
            <a:r>
              <a:rPr lang="en-US" sz="1100" spc="55">
                <a:latin typeface="Arial Nova" panose="020B0504020202020204" pitchFamily="34" charset="0"/>
                <a:cs typeface="Arial Narrow"/>
              </a:rPr>
              <a:t> </a:t>
            </a:r>
            <a:r>
              <a:rPr lang="en-US" sz="1100" spc="45">
                <a:latin typeface="Arial Nova" panose="020B0504020202020204" pitchFamily="34" charset="0"/>
                <a:cs typeface="Arial Narrow"/>
              </a:rPr>
              <a:t>may </a:t>
            </a:r>
            <a:r>
              <a:rPr lang="en-US" sz="1100" spc="-10">
                <a:latin typeface="Arial Nova" panose="020B0504020202020204" pitchFamily="34" charset="0"/>
                <a:cs typeface="Arial"/>
              </a:rPr>
              <a:t>materially</a:t>
            </a:r>
            <a:r>
              <a:rPr lang="en-US" sz="1100" spc="-15">
                <a:latin typeface="Arial Nova" panose="020B0504020202020204" pitchFamily="34" charset="0"/>
                <a:cs typeface="Arial"/>
              </a:rPr>
              <a:t> </a:t>
            </a:r>
            <a:r>
              <a:rPr lang="en-US" sz="1100">
                <a:latin typeface="Arial Nova" panose="020B0504020202020204" pitchFamily="34" charset="0"/>
                <a:cs typeface="Arial"/>
              </a:rPr>
              <a:t>affect</a:t>
            </a:r>
            <a:r>
              <a:rPr lang="en-US" sz="1100" spc="-10">
                <a:latin typeface="Arial Nova" panose="020B0504020202020204" pitchFamily="34" charset="0"/>
                <a:cs typeface="Arial"/>
              </a:rPr>
              <a:t> </a:t>
            </a:r>
            <a:r>
              <a:rPr lang="en-US" sz="1100">
                <a:latin typeface="Arial Nova" panose="020B0504020202020204" pitchFamily="34" charset="0"/>
                <a:cs typeface="Arial"/>
              </a:rPr>
              <a:t>the</a:t>
            </a:r>
            <a:r>
              <a:rPr lang="en-US" sz="1100" spc="-10">
                <a:latin typeface="Arial Nova" panose="020B0504020202020204" pitchFamily="34" charset="0"/>
                <a:cs typeface="Arial"/>
              </a:rPr>
              <a:t> </a:t>
            </a:r>
            <a:r>
              <a:rPr lang="en-US" sz="1100">
                <a:latin typeface="Arial Nova" panose="020B0504020202020204" pitchFamily="34" charset="0"/>
                <a:cs typeface="Arial"/>
              </a:rPr>
              <a:t>performance</a:t>
            </a:r>
            <a:r>
              <a:rPr lang="en-US" sz="1100" spc="-10">
                <a:latin typeface="Arial Nova" panose="020B0504020202020204" pitchFamily="34" charset="0"/>
                <a:cs typeface="Arial"/>
              </a:rPr>
              <a:t> </a:t>
            </a:r>
            <a:r>
              <a:rPr lang="en-US" sz="1100">
                <a:latin typeface="Arial Nova" panose="020B0504020202020204" pitchFamily="34" charset="0"/>
                <a:cs typeface="Arial"/>
              </a:rPr>
              <a:t>of</a:t>
            </a:r>
            <a:r>
              <a:rPr lang="en-US" sz="1100" spc="-10">
                <a:latin typeface="Arial Nova" panose="020B0504020202020204" pitchFamily="34" charset="0"/>
                <a:cs typeface="Arial"/>
              </a:rPr>
              <a:t> </a:t>
            </a:r>
            <a:r>
              <a:rPr lang="en-US" sz="1100">
                <a:latin typeface="Arial Nova" panose="020B0504020202020204" pitchFamily="34" charset="0"/>
                <a:cs typeface="Arial"/>
              </a:rPr>
              <a:t>your</a:t>
            </a:r>
            <a:r>
              <a:rPr lang="en-US" sz="1100" spc="-15">
                <a:latin typeface="Arial Nova" panose="020B0504020202020204" pitchFamily="34" charset="0"/>
                <a:cs typeface="Arial"/>
              </a:rPr>
              <a:t> </a:t>
            </a:r>
            <a:r>
              <a:rPr lang="en-US" sz="1100">
                <a:latin typeface="Arial Nova" panose="020B0504020202020204" pitchFamily="34" charset="0"/>
                <a:cs typeface="Arial"/>
              </a:rPr>
              <a:t>portfolio.</a:t>
            </a:r>
            <a:r>
              <a:rPr lang="en-US" sz="1100" spc="-10">
                <a:latin typeface="Arial Nova" panose="020B0504020202020204" pitchFamily="34" charset="0"/>
                <a:cs typeface="Arial"/>
              </a:rPr>
              <a:t> </a:t>
            </a:r>
            <a:r>
              <a:rPr lang="en-US" sz="1100">
                <a:latin typeface="Arial Nova" panose="020B0504020202020204" pitchFamily="34" charset="0"/>
                <a:cs typeface="Arial"/>
              </a:rPr>
              <a:t>There</a:t>
            </a:r>
            <a:r>
              <a:rPr lang="en-US" sz="1100" spc="-10">
                <a:latin typeface="Arial Nova" panose="020B0504020202020204" pitchFamily="34" charset="0"/>
                <a:cs typeface="Arial"/>
              </a:rPr>
              <a:t> </a:t>
            </a:r>
            <a:r>
              <a:rPr lang="en-US" sz="1100">
                <a:latin typeface="Arial Nova" panose="020B0504020202020204" pitchFamily="34" charset="0"/>
                <a:cs typeface="Arial"/>
              </a:rPr>
              <a:t>are</a:t>
            </a:r>
            <a:r>
              <a:rPr lang="en-US" sz="1100" spc="-10">
                <a:latin typeface="Arial Nova" panose="020B0504020202020204" pitchFamily="34" charset="0"/>
                <a:cs typeface="Arial"/>
              </a:rPr>
              <a:t> </a:t>
            </a:r>
            <a:r>
              <a:rPr lang="en-US" sz="1100">
                <a:latin typeface="Arial Nova" panose="020B0504020202020204" pitchFamily="34" charset="0"/>
                <a:cs typeface="Arial"/>
              </a:rPr>
              <a:t>no</a:t>
            </a:r>
            <a:r>
              <a:rPr lang="en-US" sz="1100" spc="-10">
                <a:latin typeface="Arial Nova" panose="020B0504020202020204" pitchFamily="34" charset="0"/>
                <a:cs typeface="Arial"/>
              </a:rPr>
              <a:t> </a:t>
            </a:r>
            <a:r>
              <a:rPr lang="en-US" sz="1100" spc="-20">
                <a:latin typeface="Arial Nova" panose="020B0504020202020204" pitchFamily="34" charset="0"/>
                <a:cs typeface="Arial"/>
              </a:rPr>
              <a:t>assurances</a:t>
            </a:r>
            <a:r>
              <a:rPr lang="en-US" sz="1100" spc="-10">
                <a:latin typeface="Arial Nova" panose="020B0504020202020204" pitchFamily="34" charset="0"/>
                <a:cs typeface="Arial"/>
              </a:rPr>
              <a:t> </a:t>
            </a:r>
            <a:r>
              <a:rPr lang="en-US" sz="1100">
                <a:latin typeface="Arial Nova" panose="020B0504020202020204" pitchFamily="34" charset="0"/>
                <a:cs typeface="Arial"/>
              </a:rPr>
              <a:t>that</a:t>
            </a:r>
            <a:r>
              <a:rPr lang="en-US" sz="1100" spc="-15">
                <a:latin typeface="Arial Nova" panose="020B0504020202020204" pitchFamily="34" charset="0"/>
                <a:cs typeface="Arial"/>
              </a:rPr>
              <a:t> </a:t>
            </a:r>
            <a:r>
              <a:rPr lang="en-US" sz="1100">
                <a:latin typeface="Arial Nova" panose="020B0504020202020204" pitchFamily="34" charset="0"/>
                <a:cs typeface="Arial"/>
              </a:rPr>
              <a:t>a</a:t>
            </a:r>
            <a:r>
              <a:rPr lang="en-US" sz="1100" spc="-10">
                <a:latin typeface="Arial Nova" panose="020B0504020202020204" pitchFamily="34" charset="0"/>
                <a:cs typeface="Arial"/>
              </a:rPr>
              <a:t> </a:t>
            </a:r>
            <a:r>
              <a:rPr lang="en-US" sz="1100">
                <a:latin typeface="Arial Nova" panose="020B0504020202020204" pitchFamily="34" charset="0"/>
                <a:cs typeface="Arial"/>
              </a:rPr>
              <a:t>portfolio</a:t>
            </a:r>
            <a:r>
              <a:rPr lang="en-US" sz="1100" spc="-10">
                <a:latin typeface="Arial Nova" panose="020B0504020202020204" pitchFamily="34" charset="0"/>
                <a:cs typeface="Arial"/>
              </a:rPr>
              <a:t> </a:t>
            </a:r>
            <a:r>
              <a:rPr lang="en-US" sz="1100">
                <a:latin typeface="Arial Nova" panose="020B0504020202020204" pitchFamily="34" charset="0"/>
                <a:cs typeface="Arial"/>
              </a:rPr>
              <a:t>will</a:t>
            </a:r>
            <a:r>
              <a:rPr lang="en-US" sz="1100" spc="-10">
                <a:latin typeface="Arial Nova" panose="020B0504020202020204" pitchFamily="34" charset="0"/>
                <a:cs typeface="Arial"/>
              </a:rPr>
              <a:t> </a:t>
            </a:r>
            <a:r>
              <a:rPr lang="en-US" sz="1100">
                <a:latin typeface="Arial Nova" panose="020B0504020202020204" pitchFamily="34" charset="0"/>
                <a:cs typeface="Arial"/>
              </a:rPr>
              <a:t>match</a:t>
            </a:r>
            <a:r>
              <a:rPr lang="en-US" sz="1100" spc="-10">
                <a:latin typeface="Arial Nova" panose="020B0504020202020204" pitchFamily="34" charset="0"/>
                <a:cs typeface="Arial"/>
              </a:rPr>
              <a:t> </a:t>
            </a:r>
            <a:r>
              <a:rPr lang="en-US" sz="1100">
                <a:latin typeface="Arial Nova" panose="020B0504020202020204" pitchFamily="34" charset="0"/>
                <a:cs typeface="Arial"/>
              </a:rPr>
              <a:t>or</a:t>
            </a:r>
            <a:r>
              <a:rPr lang="en-US" sz="1100" spc="-15">
                <a:latin typeface="Arial Nova" panose="020B0504020202020204" pitchFamily="34" charset="0"/>
                <a:cs typeface="Arial"/>
              </a:rPr>
              <a:t> </a:t>
            </a:r>
            <a:r>
              <a:rPr lang="en-US" sz="1100">
                <a:latin typeface="Arial Nova" panose="020B0504020202020204" pitchFamily="34" charset="0"/>
                <a:cs typeface="Arial"/>
              </a:rPr>
              <a:t>outperform</a:t>
            </a:r>
            <a:r>
              <a:rPr lang="en-US" sz="1100" spc="-10">
                <a:latin typeface="Arial Nova" panose="020B0504020202020204" pitchFamily="34" charset="0"/>
                <a:cs typeface="Arial"/>
              </a:rPr>
              <a:t> </a:t>
            </a:r>
            <a:r>
              <a:rPr lang="en-US" sz="1100">
                <a:latin typeface="Arial Nova" panose="020B0504020202020204" pitchFamily="34" charset="0"/>
                <a:cs typeface="Arial"/>
              </a:rPr>
              <a:t>any</a:t>
            </a:r>
            <a:r>
              <a:rPr lang="en-US" sz="1100" spc="-10">
                <a:latin typeface="Arial Nova" panose="020B0504020202020204" pitchFamily="34" charset="0"/>
                <a:cs typeface="Arial"/>
              </a:rPr>
              <a:t> particular </a:t>
            </a:r>
            <a:r>
              <a:rPr lang="en-US" sz="1100">
                <a:latin typeface="Arial Nova" panose="020B0504020202020204" pitchFamily="34" charset="0"/>
                <a:cs typeface="Arial"/>
              </a:rPr>
              <a:t>benchmark.</a:t>
            </a:r>
            <a:r>
              <a:rPr lang="en-US" sz="1100" spc="-20">
                <a:latin typeface="Arial Nova" panose="020B0504020202020204" pitchFamily="34" charset="0"/>
                <a:cs typeface="Arial"/>
              </a:rPr>
              <a:t> </a:t>
            </a:r>
            <a:r>
              <a:rPr lang="en-US" sz="1100" spc="-10">
                <a:latin typeface="Arial Nova" panose="020B0504020202020204" pitchFamily="34" charset="0"/>
                <a:cs typeface="Arial"/>
              </a:rPr>
              <a:t>Investors</a:t>
            </a:r>
            <a:r>
              <a:rPr lang="en-US" sz="1100" spc="-15">
                <a:latin typeface="Arial Nova" panose="020B0504020202020204" pitchFamily="34" charset="0"/>
                <a:cs typeface="Arial"/>
              </a:rPr>
              <a:t> </a:t>
            </a:r>
            <a:r>
              <a:rPr lang="en-US" sz="1100">
                <a:latin typeface="Arial Nova" panose="020B0504020202020204" pitchFamily="34" charset="0"/>
                <a:cs typeface="Arial"/>
              </a:rPr>
              <a:t>should</a:t>
            </a:r>
            <a:r>
              <a:rPr lang="en-US" sz="1100" spc="-15">
                <a:latin typeface="Arial Nova" panose="020B0504020202020204" pitchFamily="34" charset="0"/>
                <a:cs typeface="Arial"/>
              </a:rPr>
              <a:t> </a:t>
            </a:r>
            <a:r>
              <a:rPr lang="en-US" sz="1100">
                <a:latin typeface="Arial Nova" panose="020B0504020202020204" pitchFamily="34" charset="0"/>
                <a:cs typeface="Arial"/>
              </a:rPr>
              <a:t>carefully</a:t>
            </a:r>
            <a:r>
              <a:rPr lang="en-US" sz="1100" spc="-15">
                <a:latin typeface="Arial Nova" panose="020B0504020202020204" pitchFamily="34" charset="0"/>
                <a:cs typeface="Arial"/>
              </a:rPr>
              <a:t> </a:t>
            </a:r>
            <a:r>
              <a:rPr lang="en-US" sz="1100">
                <a:latin typeface="Arial Nova" panose="020B0504020202020204" pitchFamily="34" charset="0"/>
                <a:cs typeface="Arial"/>
              </a:rPr>
              <a:t>consider</a:t>
            </a:r>
            <a:r>
              <a:rPr lang="en-US" sz="1100" spc="-15">
                <a:latin typeface="Arial Nova" panose="020B0504020202020204" pitchFamily="34" charset="0"/>
                <a:cs typeface="Arial"/>
              </a:rPr>
              <a:t> </a:t>
            </a:r>
            <a:r>
              <a:rPr lang="en-US" sz="1100">
                <a:latin typeface="Arial Nova" panose="020B0504020202020204" pitchFamily="34" charset="0"/>
                <a:cs typeface="Arial"/>
              </a:rPr>
              <a:t>the</a:t>
            </a:r>
            <a:r>
              <a:rPr lang="en-US" sz="1100" spc="-15">
                <a:latin typeface="Arial Nova" panose="020B0504020202020204" pitchFamily="34" charset="0"/>
                <a:cs typeface="Arial"/>
              </a:rPr>
              <a:t> </a:t>
            </a:r>
            <a:r>
              <a:rPr lang="en-US" sz="1100" spc="-10">
                <a:latin typeface="Arial Nova" panose="020B0504020202020204" pitchFamily="34" charset="0"/>
                <a:cs typeface="Arial"/>
              </a:rPr>
              <a:t>investment</a:t>
            </a:r>
            <a:r>
              <a:rPr lang="en-US" sz="1100" spc="-15">
                <a:latin typeface="Arial Nova" panose="020B0504020202020204" pitchFamily="34" charset="0"/>
                <a:cs typeface="Arial"/>
              </a:rPr>
              <a:t> </a:t>
            </a:r>
            <a:r>
              <a:rPr lang="en-US" sz="1100" spc="-10">
                <a:latin typeface="Arial Nova" panose="020B0504020202020204" pitchFamily="34" charset="0"/>
                <a:cs typeface="Arial"/>
              </a:rPr>
              <a:t>objectives,</a:t>
            </a:r>
            <a:r>
              <a:rPr lang="en-US" sz="1100" spc="-15">
                <a:latin typeface="Arial Nova" panose="020B0504020202020204" pitchFamily="34" charset="0"/>
                <a:cs typeface="Arial"/>
              </a:rPr>
              <a:t> </a:t>
            </a:r>
            <a:r>
              <a:rPr lang="en-US" sz="1100">
                <a:latin typeface="Arial Nova" panose="020B0504020202020204" pitchFamily="34" charset="0"/>
                <a:cs typeface="Arial"/>
              </a:rPr>
              <a:t>risks,</a:t>
            </a:r>
            <a:r>
              <a:rPr lang="en-US" sz="1100" spc="-15">
                <a:latin typeface="Arial Nova" panose="020B0504020202020204" pitchFamily="34" charset="0"/>
                <a:cs typeface="Arial"/>
              </a:rPr>
              <a:t> </a:t>
            </a:r>
            <a:r>
              <a:rPr lang="en-US" sz="1100">
                <a:latin typeface="Arial Nova" panose="020B0504020202020204" pitchFamily="34" charset="0"/>
                <a:cs typeface="Arial"/>
              </a:rPr>
              <a:t>fees</a:t>
            </a:r>
            <a:r>
              <a:rPr lang="en-US" sz="1100" spc="-15">
                <a:latin typeface="Arial Nova" panose="020B0504020202020204" pitchFamily="34" charset="0"/>
                <a:cs typeface="Arial"/>
              </a:rPr>
              <a:t> </a:t>
            </a:r>
            <a:r>
              <a:rPr lang="en-US" sz="1100">
                <a:latin typeface="Arial Nova" panose="020B0504020202020204" pitchFamily="34" charset="0"/>
                <a:cs typeface="Arial"/>
              </a:rPr>
              <a:t>and</a:t>
            </a:r>
            <a:r>
              <a:rPr lang="en-US" sz="1100" spc="-15">
                <a:latin typeface="Arial Nova" panose="020B0504020202020204" pitchFamily="34" charset="0"/>
                <a:cs typeface="Arial"/>
              </a:rPr>
              <a:t> </a:t>
            </a:r>
            <a:r>
              <a:rPr lang="en-US" sz="1100" spc="-10">
                <a:latin typeface="Arial Nova" panose="020B0504020202020204" pitchFamily="34" charset="0"/>
                <a:cs typeface="Arial"/>
              </a:rPr>
              <a:t>expenses</a:t>
            </a:r>
            <a:r>
              <a:rPr lang="en-US" sz="1100" spc="-15">
                <a:latin typeface="Arial Nova" panose="020B0504020202020204" pitchFamily="34" charset="0"/>
                <a:cs typeface="Arial"/>
              </a:rPr>
              <a:t> </a:t>
            </a:r>
            <a:r>
              <a:rPr lang="en-US" sz="1100">
                <a:latin typeface="Arial Nova" panose="020B0504020202020204" pitchFamily="34" charset="0"/>
                <a:cs typeface="Arial"/>
              </a:rPr>
              <a:t>before</a:t>
            </a:r>
            <a:r>
              <a:rPr lang="en-US" sz="1100" spc="-15">
                <a:latin typeface="Arial Nova" panose="020B0504020202020204" pitchFamily="34" charset="0"/>
                <a:cs typeface="Arial"/>
              </a:rPr>
              <a:t> </a:t>
            </a:r>
            <a:r>
              <a:rPr lang="en-US" sz="1100" spc="-10">
                <a:latin typeface="Arial Nova" panose="020B0504020202020204" pitchFamily="34" charset="0"/>
                <a:cs typeface="Arial"/>
              </a:rPr>
              <a:t>investing.</a:t>
            </a:r>
            <a:r>
              <a:rPr lang="en-US" sz="1100" spc="-15">
                <a:latin typeface="Arial Nova" panose="020B0504020202020204" pitchFamily="34" charset="0"/>
                <a:cs typeface="Arial"/>
              </a:rPr>
              <a:t> </a:t>
            </a:r>
            <a:r>
              <a:rPr lang="en-US" sz="1100">
                <a:latin typeface="Arial Nova" panose="020B0504020202020204" pitchFamily="34" charset="0"/>
                <a:cs typeface="Arial"/>
              </a:rPr>
              <a:t>For</a:t>
            </a:r>
            <a:r>
              <a:rPr lang="en-US" sz="1100" spc="-15">
                <a:latin typeface="Arial Nova" panose="020B0504020202020204" pitchFamily="34" charset="0"/>
                <a:cs typeface="Arial"/>
              </a:rPr>
              <a:t> </a:t>
            </a:r>
            <a:r>
              <a:rPr lang="en-US" sz="1100">
                <a:latin typeface="Arial Nova" panose="020B0504020202020204" pitchFamily="34" charset="0"/>
                <a:cs typeface="Arial"/>
              </a:rPr>
              <a:t>this</a:t>
            </a:r>
            <a:r>
              <a:rPr lang="en-US" sz="1100" spc="-15">
                <a:latin typeface="Arial Nova" panose="020B0504020202020204" pitchFamily="34" charset="0"/>
                <a:cs typeface="Arial"/>
              </a:rPr>
              <a:t> </a:t>
            </a:r>
            <a:r>
              <a:rPr lang="en-US" sz="1100" spc="-25">
                <a:latin typeface="Arial Nova" panose="020B0504020202020204" pitchFamily="34" charset="0"/>
                <a:cs typeface="Arial"/>
              </a:rPr>
              <a:t>and</a:t>
            </a:r>
            <a:r>
              <a:rPr lang="en-US" sz="1100">
                <a:latin typeface="Arial Nova" panose="020B0504020202020204" pitchFamily="34" charset="0"/>
                <a:cs typeface="Arial"/>
              </a:rPr>
              <a:t> other</a:t>
            </a:r>
            <a:r>
              <a:rPr lang="en-US" sz="1100" spc="-10">
                <a:latin typeface="Arial Nova" panose="020B0504020202020204" pitchFamily="34" charset="0"/>
                <a:cs typeface="Arial"/>
              </a:rPr>
              <a:t> </a:t>
            </a:r>
            <a:r>
              <a:rPr lang="en-US" sz="1100">
                <a:latin typeface="Arial Nova" panose="020B0504020202020204" pitchFamily="34" charset="0"/>
                <a:cs typeface="Arial"/>
              </a:rPr>
              <a:t>important</a:t>
            </a:r>
            <a:r>
              <a:rPr lang="en-US" sz="1100" spc="-5">
                <a:latin typeface="Arial Nova" panose="020B0504020202020204" pitchFamily="34" charset="0"/>
                <a:cs typeface="Arial"/>
              </a:rPr>
              <a:t> </a:t>
            </a:r>
            <a:r>
              <a:rPr lang="en-US" sz="1100" spc="-10">
                <a:latin typeface="Arial Nova" panose="020B0504020202020204" pitchFamily="34" charset="0"/>
                <a:cs typeface="Arial"/>
              </a:rPr>
              <a:t>information</a:t>
            </a:r>
            <a:r>
              <a:rPr lang="en-US" sz="1100" spc="-5">
                <a:latin typeface="Arial Nova" panose="020B0504020202020204" pitchFamily="34" charset="0"/>
                <a:cs typeface="Arial"/>
              </a:rPr>
              <a:t> </a:t>
            </a:r>
            <a:r>
              <a:rPr lang="en-US" sz="1100" spc="-10">
                <a:latin typeface="Arial Nova" panose="020B0504020202020204" pitchFamily="34" charset="0"/>
                <a:cs typeface="Arial"/>
              </a:rPr>
              <a:t>please</a:t>
            </a:r>
            <a:r>
              <a:rPr lang="en-US" sz="1100" spc="-5">
                <a:latin typeface="Arial Nova" panose="020B0504020202020204" pitchFamily="34" charset="0"/>
                <a:cs typeface="Arial"/>
              </a:rPr>
              <a:t> </a:t>
            </a:r>
            <a:r>
              <a:rPr lang="en-US" sz="1100">
                <a:latin typeface="Arial Nova" panose="020B0504020202020204" pitchFamily="34" charset="0"/>
                <a:cs typeface="Arial"/>
              </a:rPr>
              <a:t>obtain</a:t>
            </a:r>
            <a:r>
              <a:rPr lang="en-US" sz="1100" spc="-10">
                <a:latin typeface="Arial Nova" panose="020B0504020202020204" pitchFamily="34" charset="0"/>
                <a:cs typeface="Arial"/>
              </a:rPr>
              <a:t> </a:t>
            </a:r>
            <a:r>
              <a:rPr lang="en-US" sz="1100">
                <a:latin typeface="Arial Nova" panose="020B0504020202020204" pitchFamily="34" charset="0"/>
                <a:cs typeface="Arial"/>
              </a:rPr>
              <a:t>the</a:t>
            </a:r>
            <a:r>
              <a:rPr lang="en-US" sz="1100" spc="-5">
                <a:latin typeface="Arial Nova" panose="020B0504020202020204" pitchFamily="34" charset="0"/>
                <a:cs typeface="Arial"/>
              </a:rPr>
              <a:t> </a:t>
            </a:r>
            <a:r>
              <a:rPr lang="en-US" sz="1100" spc="-10">
                <a:latin typeface="Arial Nova" panose="020B0504020202020204" pitchFamily="34" charset="0"/>
                <a:cs typeface="Arial"/>
              </a:rPr>
              <a:t>investment</a:t>
            </a:r>
            <a:r>
              <a:rPr lang="en-US" sz="1100" spc="-5">
                <a:latin typeface="Arial Nova" panose="020B0504020202020204" pitchFamily="34" charset="0"/>
                <a:cs typeface="Arial"/>
              </a:rPr>
              <a:t> </a:t>
            </a:r>
            <a:r>
              <a:rPr lang="en-US" sz="1100">
                <a:latin typeface="Arial Nova" panose="020B0504020202020204" pitchFamily="34" charset="0"/>
                <a:cs typeface="Arial"/>
              </a:rPr>
              <a:t>company</a:t>
            </a:r>
            <a:r>
              <a:rPr lang="en-US" sz="1100" spc="-5">
                <a:latin typeface="Arial Nova" panose="020B0504020202020204" pitchFamily="34" charset="0"/>
                <a:cs typeface="Arial"/>
              </a:rPr>
              <a:t> </a:t>
            </a:r>
            <a:r>
              <a:rPr lang="en-US" sz="1100">
                <a:latin typeface="Arial Nova" panose="020B0504020202020204" pitchFamily="34" charset="0"/>
                <a:cs typeface="Arial"/>
              </a:rPr>
              <a:t>fund</a:t>
            </a:r>
            <a:r>
              <a:rPr lang="en-US" sz="1100" spc="-10">
                <a:latin typeface="Arial Nova" panose="020B0504020202020204" pitchFamily="34" charset="0"/>
                <a:cs typeface="Arial"/>
              </a:rPr>
              <a:t> </a:t>
            </a:r>
            <a:r>
              <a:rPr lang="en-US" sz="1100">
                <a:latin typeface="Arial Nova" panose="020B0504020202020204" pitchFamily="34" charset="0"/>
                <a:cs typeface="Arial"/>
              </a:rPr>
              <a:t>prospectus</a:t>
            </a:r>
            <a:r>
              <a:rPr lang="en-US" sz="1100" spc="-5">
                <a:latin typeface="Arial Nova" panose="020B0504020202020204" pitchFamily="34" charset="0"/>
                <a:cs typeface="Arial"/>
              </a:rPr>
              <a:t> </a:t>
            </a:r>
            <a:r>
              <a:rPr lang="en-US" sz="1100">
                <a:latin typeface="Arial Nova" panose="020B0504020202020204" pitchFamily="34" charset="0"/>
                <a:cs typeface="Arial"/>
              </a:rPr>
              <a:t>and</a:t>
            </a:r>
            <a:r>
              <a:rPr lang="en-US" sz="1100" spc="-5">
                <a:latin typeface="Arial Nova" panose="020B0504020202020204" pitchFamily="34" charset="0"/>
                <a:cs typeface="Arial"/>
              </a:rPr>
              <a:t> </a:t>
            </a:r>
            <a:r>
              <a:rPr lang="en-US" sz="1100">
                <a:latin typeface="Arial Nova" panose="020B0504020202020204" pitchFamily="34" charset="0"/>
                <a:cs typeface="Arial"/>
              </a:rPr>
              <a:t>disclosure</a:t>
            </a:r>
            <a:r>
              <a:rPr lang="en-US" sz="1100" spc="-5">
                <a:latin typeface="Arial Nova" panose="020B0504020202020204" pitchFamily="34" charset="0"/>
                <a:cs typeface="Arial"/>
              </a:rPr>
              <a:t> </a:t>
            </a:r>
            <a:r>
              <a:rPr lang="en-US" sz="1100">
                <a:latin typeface="Arial Nova" panose="020B0504020202020204" pitchFamily="34" charset="0"/>
                <a:cs typeface="Arial"/>
              </a:rPr>
              <a:t>documents</a:t>
            </a:r>
            <a:r>
              <a:rPr lang="en-US" sz="1100" spc="-10">
                <a:latin typeface="Arial Nova" panose="020B0504020202020204" pitchFamily="34" charset="0"/>
                <a:cs typeface="Arial"/>
              </a:rPr>
              <a:t> </a:t>
            </a:r>
            <a:r>
              <a:rPr lang="en-US" sz="1100">
                <a:latin typeface="Arial Nova" panose="020B0504020202020204" pitchFamily="34" charset="0"/>
                <a:cs typeface="Arial"/>
              </a:rPr>
              <a:t>from</a:t>
            </a:r>
            <a:r>
              <a:rPr lang="en-US" sz="1100" spc="-5">
                <a:latin typeface="Arial Nova" panose="020B0504020202020204" pitchFamily="34" charset="0"/>
                <a:cs typeface="Arial"/>
              </a:rPr>
              <a:t> </a:t>
            </a:r>
            <a:r>
              <a:rPr lang="en-US" sz="1100">
                <a:latin typeface="Arial Nova" panose="020B0504020202020204" pitchFamily="34" charset="0"/>
                <a:cs typeface="Arial"/>
              </a:rPr>
              <a:t>your</a:t>
            </a:r>
            <a:r>
              <a:rPr lang="en-US" sz="1100" spc="-5">
                <a:latin typeface="Arial Nova" panose="020B0504020202020204" pitchFamily="34" charset="0"/>
                <a:cs typeface="Arial"/>
              </a:rPr>
              <a:t> </a:t>
            </a:r>
            <a:r>
              <a:rPr lang="en-US" sz="1100" spc="-10">
                <a:latin typeface="Arial Nova" panose="020B0504020202020204" pitchFamily="34" charset="0"/>
                <a:cs typeface="Arial"/>
              </a:rPr>
              <a:t>Advisor. </a:t>
            </a:r>
            <a:r>
              <a:rPr lang="en-US" sz="1100" spc="-20">
                <a:latin typeface="Arial Nova" panose="020B0504020202020204" pitchFamily="34" charset="0"/>
                <a:cs typeface="Arial"/>
              </a:rPr>
              <a:t>Read</a:t>
            </a:r>
            <a:r>
              <a:rPr lang="en-US" sz="1100" spc="-10">
                <a:latin typeface="Arial Nova" panose="020B0504020202020204" pitchFamily="34" charset="0"/>
                <a:cs typeface="Arial"/>
              </a:rPr>
              <a:t> </a:t>
            </a:r>
            <a:r>
              <a:rPr lang="en-US" sz="1100">
                <a:latin typeface="Arial Nova" panose="020B0504020202020204" pitchFamily="34" charset="0"/>
                <a:cs typeface="Arial"/>
              </a:rPr>
              <a:t>this</a:t>
            </a:r>
            <a:r>
              <a:rPr lang="en-US" sz="1100" spc="-10">
                <a:latin typeface="Arial Nova" panose="020B0504020202020204" pitchFamily="34" charset="0"/>
                <a:cs typeface="Arial"/>
              </a:rPr>
              <a:t> information </a:t>
            </a:r>
            <a:r>
              <a:rPr lang="en-US" sz="1100">
                <a:latin typeface="Arial Nova" panose="020B0504020202020204" pitchFamily="34" charset="0"/>
                <a:cs typeface="Arial"/>
              </a:rPr>
              <a:t>carefully</a:t>
            </a:r>
            <a:r>
              <a:rPr lang="en-US" sz="1100" spc="-10">
                <a:latin typeface="Arial Nova" panose="020B0504020202020204" pitchFamily="34" charset="0"/>
                <a:cs typeface="Arial"/>
              </a:rPr>
              <a:t> </a:t>
            </a:r>
            <a:r>
              <a:rPr lang="en-US" sz="1100">
                <a:latin typeface="Arial Nova" panose="020B0504020202020204" pitchFamily="34" charset="0"/>
                <a:cs typeface="Arial"/>
              </a:rPr>
              <a:t>before</a:t>
            </a:r>
            <a:r>
              <a:rPr lang="en-US" sz="1100" spc="-10">
                <a:latin typeface="Arial Nova" panose="020B0504020202020204" pitchFamily="34" charset="0"/>
                <a:cs typeface="Arial"/>
              </a:rPr>
              <a:t> investing.</a:t>
            </a:r>
          </a:p>
          <a:p>
            <a:pPr marL="12700" marR="9525" algn="just">
              <a:lnSpc>
                <a:spcPct val="104200"/>
              </a:lnSpc>
              <a:spcBef>
                <a:spcPts val="450"/>
              </a:spcBef>
            </a:pPr>
            <a:endParaRPr lang="en-US" sz="1100">
              <a:latin typeface="Arial Nova" panose="020B0504020202020204" pitchFamily="34" charset="0"/>
              <a:cs typeface="Arial"/>
            </a:endParaRPr>
          </a:p>
          <a:p>
            <a:pPr marL="12700" marR="11430" algn="just">
              <a:lnSpc>
                <a:spcPct val="104200"/>
              </a:lnSpc>
              <a:spcBef>
                <a:spcPts val="450"/>
              </a:spcBef>
            </a:pPr>
            <a:r>
              <a:rPr lang="en-US" sz="1100" spc="55">
                <a:latin typeface="Arial Nova" panose="020B0504020202020204" pitchFamily="34" charset="0"/>
                <a:cs typeface="Arial Narrow"/>
              </a:rPr>
              <a:t>Registration </a:t>
            </a:r>
            <a:r>
              <a:rPr lang="en-US" sz="1100" spc="60">
                <a:latin typeface="Arial Nova" panose="020B0504020202020204" pitchFamily="34" charset="0"/>
                <a:cs typeface="Arial Narrow"/>
              </a:rPr>
              <a:t>with </a:t>
            </a:r>
            <a:r>
              <a:rPr lang="en-US" sz="1100" spc="65">
                <a:latin typeface="Arial Nova" panose="020B0504020202020204" pitchFamily="34" charset="0"/>
                <a:cs typeface="Arial Narrow"/>
              </a:rPr>
              <a:t>the</a:t>
            </a:r>
            <a:r>
              <a:rPr lang="en-US" sz="1100" spc="60">
                <a:latin typeface="Arial Nova" panose="020B0504020202020204" pitchFamily="34" charset="0"/>
                <a:cs typeface="Arial Narrow"/>
              </a:rPr>
              <a:t> </a:t>
            </a:r>
            <a:r>
              <a:rPr lang="en-US" sz="1100" spc="70">
                <a:latin typeface="Arial Nova" panose="020B0504020202020204" pitchFamily="34" charset="0"/>
                <a:cs typeface="Arial Narrow"/>
              </a:rPr>
              <a:t>SEC</a:t>
            </a:r>
            <a:r>
              <a:rPr lang="en-US" sz="1100" spc="60">
                <a:latin typeface="Arial Nova" panose="020B0504020202020204" pitchFamily="34" charset="0"/>
                <a:cs typeface="Arial Narrow"/>
              </a:rPr>
              <a:t> </a:t>
            </a:r>
            <a:r>
              <a:rPr lang="en-US" sz="1100" spc="70">
                <a:latin typeface="Arial Nova" panose="020B0504020202020204" pitchFamily="34" charset="0"/>
                <a:cs typeface="Arial Narrow"/>
              </a:rPr>
              <a:t>or</a:t>
            </a:r>
            <a:r>
              <a:rPr lang="en-US" sz="1100" spc="60">
                <a:latin typeface="Arial Nova" panose="020B0504020202020204" pitchFamily="34" charset="0"/>
                <a:cs typeface="Arial Narrow"/>
              </a:rPr>
              <a:t> </a:t>
            </a:r>
            <a:r>
              <a:rPr lang="en-US" sz="1100">
                <a:latin typeface="Arial Nova" panose="020B0504020202020204" pitchFamily="34" charset="0"/>
                <a:cs typeface="Arial Narrow"/>
              </a:rPr>
              <a:t>state</a:t>
            </a:r>
            <a:r>
              <a:rPr lang="en-US" sz="1100" spc="60">
                <a:latin typeface="Arial Nova" panose="020B0504020202020204" pitchFamily="34" charset="0"/>
                <a:cs typeface="Arial Narrow"/>
              </a:rPr>
              <a:t> </a:t>
            </a:r>
            <a:r>
              <a:rPr lang="en-US" sz="1100" spc="70">
                <a:latin typeface="Arial Nova" panose="020B0504020202020204" pitchFamily="34" charset="0"/>
                <a:cs typeface="Arial Narrow"/>
              </a:rPr>
              <a:t>does</a:t>
            </a:r>
            <a:r>
              <a:rPr lang="en-US" sz="1100" spc="60">
                <a:latin typeface="Arial Nova" panose="020B0504020202020204" pitchFamily="34" charset="0"/>
                <a:cs typeface="Arial Narrow"/>
              </a:rPr>
              <a:t> not constitute </a:t>
            </a:r>
            <a:r>
              <a:rPr lang="en-US" sz="1100" spc="65">
                <a:latin typeface="Arial Nova" panose="020B0504020202020204" pitchFamily="34" charset="0"/>
                <a:cs typeface="Arial Narrow"/>
              </a:rPr>
              <a:t>an</a:t>
            </a:r>
            <a:r>
              <a:rPr lang="en-US" sz="1100" spc="60">
                <a:latin typeface="Arial Nova" panose="020B0504020202020204" pitchFamily="34" charset="0"/>
                <a:cs typeface="Arial Narrow"/>
              </a:rPr>
              <a:t> </a:t>
            </a:r>
            <a:r>
              <a:rPr lang="en-US" sz="1100" spc="75">
                <a:latin typeface="Arial Nova" panose="020B0504020202020204" pitchFamily="34" charset="0"/>
                <a:cs typeface="Arial Narrow"/>
              </a:rPr>
              <a:t>endorsement</a:t>
            </a:r>
            <a:r>
              <a:rPr lang="en-US" sz="1100" spc="60">
                <a:latin typeface="Arial Nova" panose="020B0504020202020204" pitchFamily="34" charset="0"/>
                <a:cs typeface="Arial Narrow"/>
              </a:rPr>
              <a:t> </a:t>
            </a:r>
            <a:r>
              <a:rPr lang="en-US" sz="1100" spc="55">
                <a:latin typeface="Arial Nova" panose="020B0504020202020204" pitchFamily="34" charset="0"/>
                <a:cs typeface="Arial Narrow"/>
              </a:rPr>
              <a:t>of</a:t>
            </a:r>
            <a:r>
              <a:rPr lang="en-US" sz="1100" spc="60">
                <a:latin typeface="Arial Nova" panose="020B0504020202020204" pitchFamily="34" charset="0"/>
                <a:cs typeface="Arial Narrow"/>
              </a:rPr>
              <a:t> </a:t>
            </a:r>
            <a:r>
              <a:rPr lang="en-US" sz="1100" spc="65">
                <a:latin typeface="Arial Nova" panose="020B0504020202020204" pitchFamily="34" charset="0"/>
                <a:cs typeface="Arial Narrow"/>
              </a:rPr>
              <a:t>the</a:t>
            </a:r>
            <a:r>
              <a:rPr lang="en-US" sz="1100" spc="60">
                <a:latin typeface="Arial Nova" panose="020B0504020202020204" pitchFamily="34" charset="0"/>
                <a:cs typeface="Arial Narrow"/>
              </a:rPr>
              <a:t> firm </a:t>
            </a:r>
            <a:r>
              <a:rPr lang="en-US" sz="1100" spc="70">
                <a:latin typeface="Arial Nova" panose="020B0504020202020204" pitchFamily="34" charset="0"/>
                <a:cs typeface="Arial Narrow"/>
              </a:rPr>
              <a:t>by</a:t>
            </a:r>
            <a:r>
              <a:rPr lang="en-US" sz="1100" spc="60">
                <a:latin typeface="Arial Nova" panose="020B0504020202020204" pitchFamily="34" charset="0"/>
                <a:cs typeface="Arial Narrow"/>
              </a:rPr>
              <a:t> </a:t>
            </a:r>
            <a:r>
              <a:rPr lang="en-US" sz="1100" spc="50">
                <a:latin typeface="Arial Nova" panose="020B0504020202020204" pitchFamily="34" charset="0"/>
                <a:cs typeface="Arial Narrow"/>
              </a:rPr>
              <a:t>regulators,</a:t>
            </a:r>
            <a:r>
              <a:rPr lang="en-US" sz="1100" spc="60">
                <a:latin typeface="Arial Nova" panose="020B0504020202020204" pitchFamily="34" charset="0"/>
                <a:cs typeface="Arial Narrow"/>
              </a:rPr>
              <a:t> </a:t>
            </a:r>
            <a:r>
              <a:rPr lang="en-US" sz="1100" spc="70">
                <a:latin typeface="Arial Nova" panose="020B0504020202020204" pitchFamily="34" charset="0"/>
                <a:cs typeface="Arial Narrow"/>
              </a:rPr>
              <a:t>nor</a:t>
            </a:r>
            <a:r>
              <a:rPr lang="en-US" sz="1100" spc="60">
                <a:latin typeface="Arial Nova" panose="020B0504020202020204" pitchFamily="34" charset="0"/>
                <a:cs typeface="Arial Narrow"/>
              </a:rPr>
              <a:t> </a:t>
            </a:r>
            <a:r>
              <a:rPr lang="en-US" sz="1100" spc="70">
                <a:latin typeface="Arial Nova" panose="020B0504020202020204" pitchFamily="34" charset="0"/>
                <a:cs typeface="Arial Narrow"/>
              </a:rPr>
              <a:t>does</a:t>
            </a:r>
            <a:r>
              <a:rPr lang="en-US" sz="1100" spc="60">
                <a:latin typeface="Arial Nova" panose="020B0504020202020204" pitchFamily="34" charset="0"/>
                <a:cs typeface="Arial Narrow"/>
              </a:rPr>
              <a:t> </a:t>
            </a:r>
            <a:r>
              <a:rPr lang="en-US" sz="1100">
                <a:latin typeface="Arial Nova" panose="020B0504020202020204" pitchFamily="34" charset="0"/>
                <a:cs typeface="Arial Narrow"/>
              </a:rPr>
              <a:t>it</a:t>
            </a:r>
            <a:r>
              <a:rPr lang="en-US" sz="1100" spc="60">
                <a:latin typeface="Arial Nova" panose="020B0504020202020204" pitchFamily="34" charset="0"/>
                <a:cs typeface="Arial Narrow"/>
              </a:rPr>
              <a:t> </a:t>
            </a:r>
            <a:r>
              <a:rPr lang="en-US" sz="1100" spc="55">
                <a:latin typeface="Arial Nova" panose="020B0504020202020204" pitchFamily="34" charset="0"/>
                <a:cs typeface="Arial Narrow"/>
              </a:rPr>
              <a:t>indicate</a:t>
            </a:r>
            <a:r>
              <a:rPr lang="en-US" sz="1100" spc="60">
                <a:latin typeface="Arial Nova" panose="020B0504020202020204" pitchFamily="34" charset="0"/>
                <a:cs typeface="Arial Narrow"/>
              </a:rPr>
              <a:t> </a:t>
            </a:r>
            <a:r>
              <a:rPr lang="en-US" sz="1100" spc="55">
                <a:latin typeface="Arial Nova" panose="020B0504020202020204" pitchFamily="34" charset="0"/>
                <a:cs typeface="Arial Narrow"/>
              </a:rPr>
              <a:t>that</a:t>
            </a:r>
            <a:r>
              <a:rPr lang="en-US" sz="1100" spc="60">
                <a:latin typeface="Arial Nova" panose="020B0504020202020204" pitchFamily="34" charset="0"/>
                <a:cs typeface="Arial Narrow"/>
              </a:rPr>
              <a:t> </a:t>
            </a:r>
            <a:r>
              <a:rPr lang="en-US" sz="1100" spc="65">
                <a:latin typeface="Arial Nova" panose="020B0504020202020204" pitchFamily="34" charset="0"/>
                <a:cs typeface="Arial Narrow"/>
              </a:rPr>
              <a:t>the</a:t>
            </a:r>
            <a:r>
              <a:rPr lang="en-US" sz="1100" spc="55">
                <a:latin typeface="Arial Nova" panose="020B0504020202020204" pitchFamily="34" charset="0"/>
                <a:cs typeface="Arial Narrow"/>
              </a:rPr>
              <a:t> </a:t>
            </a:r>
            <a:r>
              <a:rPr lang="en-US" sz="1100" spc="50">
                <a:latin typeface="Arial Nova" panose="020B0504020202020204" pitchFamily="34" charset="0"/>
                <a:cs typeface="Arial Narrow"/>
              </a:rPr>
              <a:t>adviser </a:t>
            </a:r>
            <a:r>
              <a:rPr lang="en-US" sz="1100" spc="-10">
                <a:latin typeface="Arial Nova" panose="020B0504020202020204" pitchFamily="34" charset="0"/>
                <a:cs typeface="Arial"/>
              </a:rPr>
              <a:t>has</a:t>
            </a:r>
            <a:r>
              <a:rPr lang="en-US" sz="1100" spc="-15">
                <a:latin typeface="Arial Nova" panose="020B0504020202020204" pitchFamily="34" charset="0"/>
                <a:cs typeface="Arial"/>
              </a:rPr>
              <a:t> </a:t>
            </a:r>
            <a:r>
              <a:rPr lang="en-US" sz="1100">
                <a:latin typeface="Arial Nova" panose="020B0504020202020204" pitchFamily="34" charset="0"/>
                <a:cs typeface="Arial"/>
              </a:rPr>
              <a:t>attained</a:t>
            </a:r>
            <a:r>
              <a:rPr lang="en-US" sz="1100" spc="-15">
                <a:latin typeface="Arial Nova" panose="020B0504020202020204" pitchFamily="34" charset="0"/>
                <a:cs typeface="Arial"/>
              </a:rPr>
              <a:t> </a:t>
            </a:r>
            <a:r>
              <a:rPr lang="en-US" sz="1100">
                <a:latin typeface="Arial Nova" panose="020B0504020202020204" pitchFamily="34" charset="0"/>
                <a:cs typeface="Arial"/>
              </a:rPr>
              <a:t>a</a:t>
            </a:r>
            <a:r>
              <a:rPr lang="en-US" sz="1100" spc="-15">
                <a:latin typeface="Arial Nova" panose="020B0504020202020204" pitchFamily="34" charset="0"/>
                <a:cs typeface="Arial"/>
              </a:rPr>
              <a:t> </a:t>
            </a:r>
            <a:r>
              <a:rPr lang="en-US" sz="1100">
                <a:latin typeface="Arial Nova" panose="020B0504020202020204" pitchFamily="34" charset="0"/>
                <a:cs typeface="Arial"/>
              </a:rPr>
              <a:t>particular</a:t>
            </a:r>
            <a:r>
              <a:rPr lang="en-US" sz="1100" spc="-15">
                <a:latin typeface="Arial Nova" panose="020B0504020202020204" pitchFamily="34" charset="0"/>
                <a:cs typeface="Arial"/>
              </a:rPr>
              <a:t> </a:t>
            </a:r>
            <a:r>
              <a:rPr lang="en-US" sz="1100">
                <a:latin typeface="Arial Nova" panose="020B0504020202020204" pitchFamily="34" charset="0"/>
                <a:cs typeface="Arial"/>
              </a:rPr>
              <a:t>level</a:t>
            </a:r>
            <a:r>
              <a:rPr lang="en-US" sz="1100" spc="-15">
                <a:latin typeface="Arial Nova" panose="020B0504020202020204" pitchFamily="34" charset="0"/>
                <a:cs typeface="Arial"/>
              </a:rPr>
              <a:t> </a:t>
            </a:r>
            <a:r>
              <a:rPr lang="en-US" sz="1100">
                <a:latin typeface="Arial Nova" panose="020B0504020202020204" pitchFamily="34" charset="0"/>
                <a:cs typeface="Arial"/>
              </a:rPr>
              <a:t>of</a:t>
            </a:r>
            <a:r>
              <a:rPr lang="en-US" sz="1100" spc="-15">
                <a:latin typeface="Arial Nova" panose="020B0504020202020204" pitchFamily="34" charset="0"/>
                <a:cs typeface="Arial"/>
              </a:rPr>
              <a:t> </a:t>
            </a:r>
            <a:r>
              <a:rPr lang="en-US" sz="1100">
                <a:latin typeface="Arial Nova" panose="020B0504020202020204" pitchFamily="34" charset="0"/>
                <a:cs typeface="Arial"/>
              </a:rPr>
              <a:t>skill</a:t>
            </a:r>
            <a:r>
              <a:rPr lang="en-US" sz="1100" spc="-15">
                <a:latin typeface="Arial Nova" panose="020B0504020202020204" pitchFamily="34" charset="0"/>
                <a:cs typeface="Arial"/>
              </a:rPr>
              <a:t> </a:t>
            </a:r>
            <a:r>
              <a:rPr lang="en-US" sz="1100">
                <a:latin typeface="Arial Nova" panose="020B0504020202020204" pitchFamily="34" charset="0"/>
                <a:cs typeface="Arial"/>
              </a:rPr>
              <a:t>or</a:t>
            </a:r>
            <a:r>
              <a:rPr lang="en-US" sz="1100" spc="-15">
                <a:latin typeface="Arial Nova" panose="020B0504020202020204" pitchFamily="34" charset="0"/>
                <a:cs typeface="Arial"/>
              </a:rPr>
              <a:t> </a:t>
            </a:r>
            <a:r>
              <a:rPr lang="en-US" sz="1100" spc="-10">
                <a:latin typeface="Arial Nova" panose="020B0504020202020204" pitchFamily="34" charset="0"/>
                <a:cs typeface="Arial"/>
              </a:rPr>
              <a:t>ability.</a:t>
            </a:r>
            <a:r>
              <a:rPr lang="en-US" sz="1100" spc="-15">
                <a:latin typeface="Arial Nova" panose="020B0504020202020204" pitchFamily="34" charset="0"/>
                <a:cs typeface="Arial"/>
              </a:rPr>
              <a:t> </a:t>
            </a:r>
            <a:r>
              <a:rPr lang="en-US" sz="1100">
                <a:latin typeface="Arial Nova" panose="020B0504020202020204" pitchFamily="34" charset="0"/>
                <a:cs typeface="Arial"/>
              </a:rPr>
              <a:t>This</a:t>
            </a:r>
            <a:r>
              <a:rPr lang="en-US" sz="1100" spc="-15">
                <a:latin typeface="Arial Nova" panose="020B0504020202020204" pitchFamily="34" charset="0"/>
                <a:cs typeface="Arial"/>
              </a:rPr>
              <a:t> </a:t>
            </a:r>
            <a:r>
              <a:rPr lang="en-US" sz="1100">
                <a:latin typeface="Arial Nova" panose="020B0504020202020204" pitchFamily="34" charset="0"/>
                <a:cs typeface="Arial"/>
              </a:rPr>
              <a:t>content</a:t>
            </a:r>
            <a:r>
              <a:rPr lang="en-US" sz="1100" spc="-15">
                <a:latin typeface="Arial Nova" panose="020B0504020202020204" pitchFamily="34" charset="0"/>
                <a:cs typeface="Arial"/>
              </a:rPr>
              <a:t> </a:t>
            </a:r>
            <a:r>
              <a:rPr lang="en-US" sz="1100">
                <a:latin typeface="Arial Nova" panose="020B0504020202020204" pitchFamily="34" charset="0"/>
                <a:cs typeface="Arial"/>
              </a:rPr>
              <a:t>is</a:t>
            </a:r>
            <a:r>
              <a:rPr lang="en-US" sz="1100" spc="-15">
                <a:latin typeface="Arial Nova" panose="020B0504020202020204" pitchFamily="34" charset="0"/>
                <a:cs typeface="Arial"/>
              </a:rPr>
              <a:t> </a:t>
            </a:r>
            <a:r>
              <a:rPr lang="en-US" sz="1100">
                <a:latin typeface="Arial Nova" panose="020B0504020202020204" pitchFamily="34" charset="0"/>
                <a:cs typeface="Arial"/>
              </a:rPr>
              <a:t>for</a:t>
            </a:r>
            <a:r>
              <a:rPr lang="en-US" sz="1100" spc="-15">
                <a:latin typeface="Arial Nova" panose="020B0504020202020204" pitchFamily="34" charset="0"/>
                <a:cs typeface="Arial"/>
              </a:rPr>
              <a:t> </a:t>
            </a:r>
            <a:r>
              <a:rPr lang="en-US" sz="1100" spc="-10">
                <a:latin typeface="Arial Nova" panose="020B0504020202020204" pitchFamily="34" charset="0"/>
                <a:cs typeface="Arial"/>
              </a:rPr>
              <a:t>informational</a:t>
            </a:r>
            <a:r>
              <a:rPr lang="en-US" sz="1100" spc="-15">
                <a:latin typeface="Arial Nova" panose="020B0504020202020204" pitchFamily="34" charset="0"/>
                <a:cs typeface="Arial"/>
              </a:rPr>
              <a:t> </a:t>
            </a:r>
            <a:r>
              <a:rPr lang="en-US" sz="1100">
                <a:latin typeface="Arial Nova" panose="020B0504020202020204" pitchFamily="34" charset="0"/>
                <a:cs typeface="Arial"/>
              </a:rPr>
              <a:t>purposes</a:t>
            </a:r>
            <a:r>
              <a:rPr lang="en-US" sz="1100" spc="-15">
                <a:latin typeface="Arial Nova" panose="020B0504020202020204" pitchFamily="34" charset="0"/>
                <a:cs typeface="Arial"/>
              </a:rPr>
              <a:t> </a:t>
            </a:r>
            <a:r>
              <a:rPr lang="en-US" sz="1100">
                <a:latin typeface="Arial Nova" panose="020B0504020202020204" pitchFamily="34" charset="0"/>
                <a:cs typeface="Arial"/>
              </a:rPr>
              <a:t>only</a:t>
            </a:r>
            <a:r>
              <a:rPr lang="en-US" sz="1100" spc="-15">
                <a:latin typeface="Arial Nova" panose="020B0504020202020204" pitchFamily="34" charset="0"/>
                <a:cs typeface="Arial"/>
              </a:rPr>
              <a:t> </a:t>
            </a:r>
            <a:r>
              <a:rPr lang="en-US" sz="1100">
                <a:latin typeface="Arial Nova" panose="020B0504020202020204" pitchFamily="34" charset="0"/>
                <a:cs typeface="Arial"/>
              </a:rPr>
              <a:t>and</a:t>
            </a:r>
            <a:r>
              <a:rPr lang="en-US" sz="1100" spc="-15">
                <a:latin typeface="Arial Nova" panose="020B0504020202020204" pitchFamily="34" charset="0"/>
                <a:cs typeface="Arial"/>
              </a:rPr>
              <a:t> </a:t>
            </a:r>
            <a:r>
              <a:rPr lang="en-US" sz="1100">
                <a:latin typeface="Arial Nova" panose="020B0504020202020204" pitchFamily="34" charset="0"/>
                <a:cs typeface="Arial"/>
              </a:rPr>
              <a:t>does</a:t>
            </a:r>
            <a:r>
              <a:rPr lang="en-US" sz="1100" spc="-15">
                <a:latin typeface="Arial Nova" panose="020B0504020202020204" pitchFamily="34" charset="0"/>
                <a:cs typeface="Arial"/>
              </a:rPr>
              <a:t> </a:t>
            </a:r>
            <a:r>
              <a:rPr lang="en-US" sz="1100">
                <a:latin typeface="Arial Nova" panose="020B0504020202020204" pitchFamily="34" charset="0"/>
                <a:cs typeface="Arial"/>
              </a:rPr>
              <a:t>not</a:t>
            </a:r>
            <a:r>
              <a:rPr lang="en-US" sz="1100" spc="-15">
                <a:latin typeface="Arial Nova" panose="020B0504020202020204" pitchFamily="34" charset="0"/>
                <a:cs typeface="Arial"/>
              </a:rPr>
              <a:t> </a:t>
            </a:r>
            <a:r>
              <a:rPr lang="en-US" sz="1100">
                <a:latin typeface="Arial Nova" panose="020B0504020202020204" pitchFamily="34" charset="0"/>
                <a:cs typeface="Arial"/>
              </a:rPr>
              <a:t>intend</a:t>
            </a:r>
            <a:r>
              <a:rPr lang="en-US" sz="1100" spc="-15">
                <a:latin typeface="Arial Nova" panose="020B0504020202020204" pitchFamily="34" charset="0"/>
                <a:cs typeface="Arial"/>
              </a:rPr>
              <a:t> </a:t>
            </a:r>
            <a:r>
              <a:rPr lang="en-US" sz="1100">
                <a:latin typeface="Arial Nova" panose="020B0504020202020204" pitchFamily="34" charset="0"/>
                <a:cs typeface="Arial"/>
              </a:rPr>
              <a:t>to</a:t>
            </a:r>
            <a:r>
              <a:rPr lang="en-US" sz="1100" spc="-15">
                <a:latin typeface="Arial Nova" panose="020B0504020202020204" pitchFamily="34" charset="0"/>
                <a:cs typeface="Arial"/>
              </a:rPr>
              <a:t> </a:t>
            </a:r>
            <a:r>
              <a:rPr lang="en-US" sz="1100" spc="-10">
                <a:latin typeface="Arial Nova" panose="020B0504020202020204" pitchFamily="34" charset="0"/>
                <a:cs typeface="Arial"/>
              </a:rPr>
              <a:t>make</a:t>
            </a:r>
            <a:r>
              <a:rPr lang="en-US" sz="1100" spc="-15">
                <a:latin typeface="Arial Nova" panose="020B0504020202020204" pitchFamily="34" charset="0"/>
                <a:cs typeface="Arial"/>
              </a:rPr>
              <a:t> </a:t>
            </a:r>
            <a:r>
              <a:rPr lang="en-US" sz="1100">
                <a:latin typeface="Arial Nova" panose="020B0504020202020204" pitchFamily="34" charset="0"/>
                <a:cs typeface="Arial"/>
              </a:rPr>
              <a:t>an</a:t>
            </a:r>
            <a:r>
              <a:rPr lang="en-US" sz="1100" spc="-15">
                <a:latin typeface="Arial Nova" panose="020B0504020202020204" pitchFamily="34" charset="0"/>
                <a:cs typeface="Arial"/>
              </a:rPr>
              <a:t> </a:t>
            </a:r>
            <a:r>
              <a:rPr lang="en-US" sz="1100" spc="-10">
                <a:latin typeface="Arial Nova" panose="020B0504020202020204" pitchFamily="34" charset="0"/>
                <a:cs typeface="Arial"/>
              </a:rPr>
              <a:t>offer</a:t>
            </a:r>
            <a:r>
              <a:rPr lang="en-US" sz="1100" spc="500">
                <a:latin typeface="Arial Nova" panose="020B0504020202020204" pitchFamily="34" charset="0"/>
                <a:cs typeface="Arial"/>
              </a:rPr>
              <a:t> </a:t>
            </a:r>
            <a:r>
              <a:rPr lang="en-US" sz="1100">
                <a:latin typeface="Arial Nova" panose="020B0504020202020204" pitchFamily="34" charset="0"/>
                <a:cs typeface="Arial"/>
              </a:rPr>
              <a:t>or</a:t>
            </a:r>
            <a:r>
              <a:rPr lang="en-US" sz="1100" spc="-15">
                <a:latin typeface="Arial Nova" panose="020B0504020202020204" pitchFamily="34" charset="0"/>
                <a:cs typeface="Arial"/>
              </a:rPr>
              <a:t> </a:t>
            </a:r>
            <a:r>
              <a:rPr lang="en-US" sz="1100" spc="-10">
                <a:latin typeface="Arial Nova" panose="020B0504020202020204" pitchFamily="34" charset="0"/>
                <a:cs typeface="Arial"/>
              </a:rPr>
              <a:t>solicitation</a:t>
            </a:r>
            <a:r>
              <a:rPr lang="en-US" sz="1100" spc="-15">
                <a:latin typeface="Arial Nova" panose="020B0504020202020204" pitchFamily="34" charset="0"/>
                <a:cs typeface="Arial"/>
              </a:rPr>
              <a:t> </a:t>
            </a:r>
            <a:r>
              <a:rPr lang="en-US" sz="1100">
                <a:latin typeface="Arial Nova" panose="020B0504020202020204" pitchFamily="34" charset="0"/>
                <a:cs typeface="Arial"/>
              </a:rPr>
              <a:t>for</a:t>
            </a:r>
            <a:r>
              <a:rPr lang="en-US" sz="1100" spc="-10">
                <a:latin typeface="Arial Nova" panose="020B0504020202020204" pitchFamily="34" charset="0"/>
                <a:cs typeface="Arial"/>
              </a:rPr>
              <a:t> sale</a:t>
            </a:r>
            <a:r>
              <a:rPr lang="en-US" sz="1100" spc="-15">
                <a:latin typeface="Arial Nova" panose="020B0504020202020204" pitchFamily="34" charset="0"/>
                <a:cs typeface="Arial"/>
              </a:rPr>
              <a:t> </a:t>
            </a:r>
            <a:r>
              <a:rPr lang="en-US" sz="1100">
                <a:latin typeface="Arial Nova" panose="020B0504020202020204" pitchFamily="34" charset="0"/>
                <a:cs typeface="Arial"/>
              </a:rPr>
              <a:t>or</a:t>
            </a:r>
            <a:r>
              <a:rPr lang="en-US" sz="1100" spc="-10">
                <a:latin typeface="Arial Nova" panose="020B0504020202020204" pitchFamily="34" charset="0"/>
                <a:cs typeface="Arial"/>
              </a:rPr>
              <a:t> </a:t>
            </a:r>
            <a:r>
              <a:rPr lang="en-US" sz="1100">
                <a:latin typeface="Arial Nova" panose="020B0504020202020204" pitchFamily="34" charset="0"/>
                <a:cs typeface="Arial"/>
              </a:rPr>
              <a:t>purchase</a:t>
            </a:r>
            <a:r>
              <a:rPr lang="en-US" sz="1100" spc="-15">
                <a:latin typeface="Arial Nova" panose="020B0504020202020204" pitchFamily="34" charset="0"/>
                <a:cs typeface="Arial"/>
              </a:rPr>
              <a:t> </a:t>
            </a:r>
            <a:r>
              <a:rPr lang="en-US" sz="1100">
                <a:latin typeface="Arial Nova" panose="020B0504020202020204" pitchFamily="34" charset="0"/>
                <a:cs typeface="Arial"/>
              </a:rPr>
              <a:t>of</a:t>
            </a:r>
            <a:r>
              <a:rPr lang="en-US" sz="1100" spc="-15">
                <a:latin typeface="Arial Nova" panose="020B0504020202020204" pitchFamily="34" charset="0"/>
                <a:cs typeface="Arial"/>
              </a:rPr>
              <a:t> </a:t>
            </a:r>
            <a:r>
              <a:rPr lang="en-US" sz="1100">
                <a:latin typeface="Arial Nova" panose="020B0504020202020204" pitchFamily="34" charset="0"/>
                <a:cs typeface="Arial"/>
              </a:rPr>
              <a:t>any</a:t>
            </a:r>
            <a:r>
              <a:rPr lang="en-US" sz="1100" spc="-10">
                <a:latin typeface="Arial Nova" panose="020B0504020202020204" pitchFamily="34" charset="0"/>
                <a:cs typeface="Arial"/>
              </a:rPr>
              <a:t> securities.</a:t>
            </a:r>
            <a:r>
              <a:rPr lang="en-US" sz="1100" spc="-15">
                <a:latin typeface="Arial Nova" panose="020B0504020202020204" pitchFamily="34" charset="0"/>
                <a:cs typeface="Arial"/>
              </a:rPr>
              <a:t> </a:t>
            </a:r>
            <a:r>
              <a:rPr lang="en-US" sz="1100" spc="-10">
                <a:latin typeface="Arial Nova" panose="020B0504020202020204" pitchFamily="34" charset="0"/>
                <a:cs typeface="Arial"/>
              </a:rPr>
              <a:t>Investing involves</a:t>
            </a:r>
            <a:r>
              <a:rPr lang="en-US" sz="1100" spc="-15">
                <a:latin typeface="Arial Nova" panose="020B0504020202020204" pitchFamily="34" charset="0"/>
                <a:cs typeface="Arial"/>
              </a:rPr>
              <a:t> </a:t>
            </a:r>
            <a:r>
              <a:rPr lang="en-US" sz="1100">
                <a:latin typeface="Arial Nova" panose="020B0504020202020204" pitchFamily="34" charset="0"/>
                <a:cs typeface="Arial"/>
              </a:rPr>
              <a:t>risk,</a:t>
            </a:r>
            <a:r>
              <a:rPr lang="en-US" sz="1100" spc="-10">
                <a:latin typeface="Arial Nova" panose="020B0504020202020204" pitchFamily="34" charset="0"/>
                <a:cs typeface="Arial"/>
              </a:rPr>
              <a:t> </a:t>
            </a:r>
            <a:r>
              <a:rPr lang="en-US" sz="1100">
                <a:latin typeface="Arial Nova" panose="020B0504020202020204" pitchFamily="34" charset="0"/>
                <a:cs typeface="Arial"/>
              </a:rPr>
              <a:t>including</a:t>
            </a:r>
            <a:r>
              <a:rPr lang="en-US" sz="1100" spc="-15">
                <a:latin typeface="Arial Nova" panose="020B0504020202020204" pitchFamily="34" charset="0"/>
                <a:cs typeface="Arial"/>
              </a:rPr>
              <a:t> </a:t>
            </a:r>
            <a:r>
              <a:rPr lang="en-US" sz="1100">
                <a:latin typeface="Arial Nova" panose="020B0504020202020204" pitchFamily="34" charset="0"/>
                <a:cs typeface="Arial"/>
              </a:rPr>
              <a:t>the</a:t>
            </a:r>
            <a:r>
              <a:rPr lang="en-US" sz="1100" spc="-15">
                <a:latin typeface="Arial Nova" panose="020B0504020202020204" pitchFamily="34" charset="0"/>
                <a:cs typeface="Arial"/>
              </a:rPr>
              <a:t> </a:t>
            </a:r>
            <a:r>
              <a:rPr lang="en-US" sz="1100">
                <a:latin typeface="Arial Nova" panose="020B0504020202020204" pitchFamily="34" charset="0"/>
                <a:cs typeface="Arial"/>
              </a:rPr>
              <a:t>potential</a:t>
            </a:r>
            <a:r>
              <a:rPr lang="en-US" sz="1100" spc="-10">
                <a:latin typeface="Arial Nova" panose="020B0504020202020204" pitchFamily="34" charset="0"/>
                <a:cs typeface="Arial"/>
              </a:rPr>
              <a:t> </a:t>
            </a:r>
            <a:r>
              <a:rPr lang="en-US" sz="1100">
                <a:latin typeface="Arial Nova" panose="020B0504020202020204" pitchFamily="34" charset="0"/>
                <a:cs typeface="Arial"/>
              </a:rPr>
              <a:t>loss</a:t>
            </a:r>
            <a:r>
              <a:rPr lang="en-US" sz="1100" spc="-15">
                <a:latin typeface="Arial Nova" panose="020B0504020202020204" pitchFamily="34" charset="0"/>
                <a:cs typeface="Arial"/>
              </a:rPr>
              <a:t> </a:t>
            </a:r>
            <a:r>
              <a:rPr lang="en-US" sz="1100">
                <a:latin typeface="Arial Nova" panose="020B0504020202020204" pitchFamily="34" charset="0"/>
                <a:cs typeface="Arial"/>
              </a:rPr>
              <a:t>of</a:t>
            </a:r>
            <a:r>
              <a:rPr lang="en-US" sz="1100" spc="-10">
                <a:latin typeface="Arial Nova" panose="020B0504020202020204" pitchFamily="34" charset="0"/>
                <a:cs typeface="Arial"/>
              </a:rPr>
              <a:t> </a:t>
            </a:r>
            <a:r>
              <a:rPr lang="en-US" sz="1100">
                <a:latin typeface="Arial Nova" panose="020B0504020202020204" pitchFamily="34" charset="0"/>
                <a:cs typeface="Arial"/>
              </a:rPr>
              <a:t>principal.</a:t>
            </a:r>
            <a:r>
              <a:rPr lang="en-US" sz="1100" spc="-15">
                <a:latin typeface="Arial Nova" panose="020B0504020202020204" pitchFamily="34" charset="0"/>
                <a:cs typeface="Arial"/>
              </a:rPr>
              <a:t> </a:t>
            </a:r>
            <a:r>
              <a:rPr lang="en-US" sz="1100">
                <a:latin typeface="Arial Nova" panose="020B0504020202020204" pitchFamily="34" charset="0"/>
                <a:cs typeface="Arial"/>
              </a:rPr>
              <a:t>No</a:t>
            </a:r>
            <a:r>
              <a:rPr lang="en-US" sz="1100" spc="-10">
                <a:latin typeface="Arial Nova" panose="020B0504020202020204" pitchFamily="34" charset="0"/>
                <a:cs typeface="Arial"/>
              </a:rPr>
              <a:t> investment </a:t>
            </a:r>
            <a:r>
              <a:rPr lang="en-US" sz="1100" spc="45">
                <a:latin typeface="Arial Nova" panose="020B0504020202020204" pitchFamily="34" charset="0"/>
                <a:cs typeface="Arial Narrow"/>
              </a:rPr>
              <a:t>strategy,</a:t>
            </a:r>
            <a:r>
              <a:rPr lang="en-US" sz="1100" spc="60">
                <a:latin typeface="Arial Nova" panose="020B0504020202020204" pitchFamily="34" charset="0"/>
                <a:cs typeface="Arial Narrow"/>
              </a:rPr>
              <a:t> </a:t>
            </a:r>
            <a:r>
              <a:rPr lang="en-US" sz="1100" spc="65">
                <a:latin typeface="Arial Nova" panose="020B0504020202020204" pitchFamily="34" charset="0"/>
                <a:cs typeface="Arial Narrow"/>
              </a:rPr>
              <a:t>such </a:t>
            </a:r>
            <a:r>
              <a:rPr lang="en-US" sz="1100">
                <a:latin typeface="Arial Nova" panose="020B0504020202020204" pitchFamily="34" charset="0"/>
                <a:cs typeface="Arial Narrow"/>
              </a:rPr>
              <a:t>as</a:t>
            </a:r>
            <a:r>
              <a:rPr lang="en-US" sz="1100" spc="60">
                <a:latin typeface="Arial Nova" panose="020B0504020202020204" pitchFamily="34" charset="0"/>
                <a:cs typeface="Arial Narrow"/>
              </a:rPr>
              <a:t> </a:t>
            </a:r>
            <a:r>
              <a:rPr lang="en-US" sz="1100">
                <a:latin typeface="Arial Nova" panose="020B0504020202020204" pitchFamily="34" charset="0"/>
                <a:cs typeface="Arial Narrow"/>
              </a:rPr>
              <a:t>asset</a:t>
            </a:r>
            <a:r>
              <a:rPr lang="en-US" sz="1100" spc="65">
                <a:latin typeface="Arial Nova" panose="020B0504020202020204" pitchFamily="34" charset="0"/>
                <a:cs typeface="Arial Narrow"/>
              </a:rPr>
              <a:t> </a:t>
            </a:r>
            <a:r>
              <a:rPr lang="en-US" sz="1100" spc="55">
                <a:latin typeface="Arial Nova" panose="020B0504020202020204" pitchFamily="34" charset="0"/>
                <a:cs typeface="Arial Narrow"/>
              </a:rPr>
              <a:t>allocation</a:t>
            </a:r>
            <a:r>
              <a:rPr lang="en-US" sz="1100" spc="60">
                <a:latin typeface="Arial Nova" panose="020B0504020202020204" pitchFamily="34" charset="0"/>
                <a:cs typeface="Arial Narrow"/>
              </a:rPr>
              <a:t> </a:t>
            </a:r>
            <a:r>
              <a:rPr lang="en-US" sz="1100" spc="70">
                <a:latin typeface="Arial Nova" panose="020B0504020202020204" pitchFamily="34" charset="0"/>
                <a:cs typeface="Arial Narrow"/>
              </a:rPr>
              <a:t>or</a:t>
            </a:r>
            <a:r>
              <a:rPr lang="en-US" sz="1100" spc="65">
                <a:latin typeface="Arial Nova" panose="020B0504020202020204" pitchFamily="34" charset="0"/>
                <a:cs typeface="Arial Narrow"/>
              </a:rPr>
              <a:t> </a:t>
            </a:r>
            <a:r>
              <a:rPr lang="en-US" sz="1100" spc="50">
                <a:latin typeface="Arial Nova" panose="020B0504020202020204" pitchFamily="34" charset="0"/>
                <a:cs typeface="Arial Narrow"/>
              </a:rPr>
              <a:t>diversification,</a:t>
            </a:r>
            <a:r>
              <a:rPr lang="en-US" sz="1100" spc="60">
                <a:latin typeface="Arial Nova" panose="020B0504020202020204" pitchFamily="34" charset="0"/>
                <a:cs typeface="Arial Narrow"/>
              </a:rPr>
              <a:t> </a:t>
            </a:r>
            <a:r>
              <a:rPr lang="en-US" sz="1100" spc="75">
                <a:latin typeface="Arial Nova" panose="020B0504020202020204" pitchFamily="34" charset="0"/>
                <a:cs typeface="Arial Narrow"/>
              </a:rPr>
              <a:t>can</a:t>
            </a:r>
            <a:r>
              <a:rPr lang="en-US" sz="1100" spc="65">
                <a:latin typeface="Arial Nova" panose="020B0504020202020204" pitchFamily="34" charset="0"/>
                <a:cs typeface="Arial Narrow"/>
              </a:rPr>
              <a:t> </a:t>
            </a:r>
            <a:r>
              <a:rPr lang="en-US" sz="1100" spc="60">
                <a:latin typeface="Arial Nova" panose="020B0504020202020204" pitchFamily="34" charset="0"/>
                <a:cs typeface="Arial Narrow"/>
              </a:rPr>
              <a:t>guarantee</a:t>
            </a:r>
            <a:r>
              <a:rPr lang="en-US" sz="1100" spc="65">
                <a:latin typeface="Arial Nova" panose="020B0504020202020204" pitchFamily="34" charset="0"/>
                <a:cs typeface="Arial Narrow"/>
              </a:rPr>
              <a:t> </a:t>
            </a:r>
            <a:r>
              <a:rPr lang="en-US" sz="1100" spc="50">
                <a:latin typeface="Arial Nova" panose="020B0504020202020204" pitchFamily="34" charset="0"/>
                <a:cs typeface="Arial Narrow"/>
              </a:rPr>
              <a:t>a</a:t>
            </a:r>
            <a:r>
              <a:rPr lang="en-US" sz="1100" spc="60">
                <a:latin typeface="Arial Nova" panose="020B0504020202020204" pitchFamily="34" charset="0"/>
                <a:cs typeface="Arial Narrow"/>
              </a:rPr>
              <a:t> </a:t>
            </a:r>
            <a:r>
              <a:rPr lang="en-US" sz="1100" spc="50">
                <a:latin typeface="Arial Nova" panose="020B0504020202020204" pitchFamily="34" charset="0"/>
                <a:cs typeface="Arial Narrow"/>
              </a:rPr>
              <a:t>profit</a:t>
            </a:r>
            <a:r>
              <a:rPr lang="en-US" sz="1100" spc="65">
                <a:latin typeface="Arial Nova" panose="020B0504020202020204" pitchFamily="34" charset="0"/>
                <a:cs typeface="Arial Narrow"/>
              </a:rPr>
              <a:t> </a:t>
            </a:r>
            <a:r>
              <a:rPr lang="en-US" sz="1100" spc="70">
                <a:latin typeface="Arial Nova" panose="020B0504020202020204" pitchFamily="34" charset="0"/>
                <a:cs typeface="Arial Narrow"/>
              </a:rPr>
              <a:t>or</a:t>
            </a:r>
            <a:r>
              <a:rPr lang="en-US" sz="1100" spc="60">
                <a:latin typeface="Arial Nova" panose="020B0504020202020204" pitchFamily="34" charset="0"/>
                <a:cs typeface="Arial Narrow"/>
              </a:rPr>
              <a:t> </a:t>
            </a:r>
            <a:r>
              <a:rPr lang="en-US" sz="1100" spc="65">
                <a:latin typeface="Arial Nova" panose="020B0504020202020204" pitchFamily="34" charset="0"/>
                <a:cs typeface="Arial Narrow"/>
              </a:rPr>
              <a:t>protect </a:t>
            </a:r>
            <a:r>
              <a:rPr lang="en-US" sz="1100" spc="55">
                <a:latin typeface="Arial Nova" panose="020B0504020202020204" pitchFamily="34" charset="0"/>
                <a:cs typeface="Arial Narrow"/>
              </a:rPr>
              <a:t>against</a:t>
            </a:r>
            <a:r>
              <a:rPr lang="en-US" sz="1100" spc="60">
                <a:latin typeface="Arial Nova" panose="020B0504020202020204" pitchFamily="34" charset="0"/>
                <a:cs typeface="Arial Narrow"/>
              </a:rPr>
              <a:t> </a:t>
            </a:r>
            <a:r>
              <a:rPr lang="en-US" sz="1100" spc="50">
                <a:latin typeface="Arial Nova" panose="020B0504020202020204" pitchFamily="34" charset="0"/>
                <a:cs typeface="Arial Narrow"/>
              </a:rPr>
              <a:t>loss</a:t>
            </a:r>
            <a:r>
              <a:rPr lang="en-US" sz="1100" spc="65">
                <a:latin typeface="Arial Nova" panose="020B0504020202020204" pitchFamily="34" charset="0"/>
                <a:cs typeface="Arial Narrow"/>
              </a:rPr>
              <a:t> </a:t>
            </a:r>
            <a:r>
              <a:rPr lang="en-US" sz="1100" spc="55">
                <a:latin typeface="Arial Nova" panose="020B0504020202020204" pitchFamily="34" charset="0"/>
                <a:cs typeface="Arial Narrow"/>
              </a:rPr>
              <a:t>in</a:t>
            </a:r>
            <a:r>
              <a:rPr lang="en-US" sz="1100" spc="65">
                <a:latin typeface="Arial Nova" panose="020B0504020202020204" pitchFamily="34" charset="0"/>
                <a:cs typeface="Arial Narrow"/>
              </a:rPr>
              <a:t> </a:t>
            </a:r>
            <a:r>
              <a:rPr lang="en-US" sz="1100" spc="70">
                <a:latin typeface="Arial Nova" panose="020B0504020202020204" pitchFamily="34" charset="0"/>
                <a:cs typeface="Arial Narrow"/>
              </a:rPr>
              <a:t>periods</a:t>
            </a:r>
            <a:r>
              <a:rPr lang="en-US" sz="1100" spc="60">
                <a:latin typeface="Arial Nova" panose="020B0504020202020204" pitchFamily="34" charset="0"/>
                <a:cs typeface="Arial Narrow"/>
              </a:rPr>
              <a:t> </a:t>
            </a:r>
            <a:r>
              <a:rPr lang="en-US" sz="1100" spc="55">
                <a:latin typeface="Arial Nova" panose="020B0504020202020204" pitchFamily="34" charset="0"/>
                <a:cs typeface="Arial Narrow"/>
              </a:rPr>
              <a:t>of</a:t>
            </a:r>
            <a:r>
              <a:rPr lang="en-US" sz="1100" spc="65">
                <a:latin typeface="Arial Nova" panose="020B0504020202020204" pitchFamily="34" charset="0"/>
                <a:cs typeface="Arial Narrow"/>
              </a:rPr>
              <a:t> declining</a:t>
            </a:r>
            <a:r>
              <a:rPr lang="en-US" sz="1100" spc="60">
                <a:latin typeface="Arial Nova" panose="020B0504020202020204" pitchFamily="34" charset="0"/>
                <a:cs typeface="Arial Narrow"/>
              </a:rPr>
              <a:t> </a:t>
            </a:r>
            <a:r>
              <a:rPr lang="en-US" sz="1100" spc="35">
                <a:latin typeface="Arial Nova" panose="020B0504020202020204" pitchFamily="34" charset="0"/>
                <a:cs typeface="Arial Narrow"/>
              </a:rPr>
              <a:t>values.</a:t>
            </a:r>
          </a:p>
          <a:p>
            <a:pPr marL="12700" marR="11430" algn="just">
              <a:lnSpc>
                <a:spcPct val="104200"/>
              </a:lnSpc>
              <a:spcBef>
                <a:spcPts val="450"/>
              </a:spcBef>
            </a:pPr>
            <a:endParaRPr lang="en-US" sz="1100">
              <a:latin typeface="Arial Nova" panose="020B0504020202020204" pitchFamily="34" charset="0"/>
              <a:cs typeface="Arial Narrow"/>
            </a:endParaRPr>
          </a:p>
          <a:p>
            <a:pPr marL="12700" marR="212725" algn="just">
              <a:lnSpc>
                <a:spcPct val="104200"/>
              </a:lnSpc>
            </a:pPr>
            <a:r>
              <a:rPr lang="en-US" sz="1100" spc="50">
                <a:latin typeface="Arial Nova" panose="020B0504020202020204" pitchFamily="34" charset="0"/>
                <a:cs typeface="Arial Narrow"/>
              </a:rPr>
              <a:t>All</a:t>
            </a:r>
            <a:r>
              <a:rPr lang="en-US" sz="1100" spc="55">
                <a:latin typeface="Arial Nova" panose="020B0504020202020204" pitchFamily="34" charset="0"/>
                <a:cs typeface="Arial Narrow"/>
              </a:rPr>
              <a:t> </a:t>
            </a:r>
            <a:r>
              <a:rPr lang="en-US" sz="1100" spc="65">
                <a:latin typeface="Arial Nova" panose="020B0504020202020204" pitchFamily="34" charset="0"/>
                <a:cs typeface="Arial Narrow"/>
              </a:rPr>
              <a:t>investment</a:t>
            </a:r>
            <a:r>
              <a:rPr lang="en-US" sz="1100" spc="60">
                <a:latin typeface="Arial Nova" panose="020B0504020202020204" pitchFamily="34" charset="0"/>
                <a:cs typeface="Arial Narrow"/>
              </a:rPr>
              <a:t> </a:t>
            </a:r>
            <a:r>
              <a:rPr lang="en-US" sz="1100" spc="50">
                <a:latin typeface="Arial Nova" panose="020B0504020202020204" pitchFamily="34" charset="0"/>
                <a:cs typeface="Arial Narrow"/>
              </a:rPr>
              <a:t>strategies</a:t>
            </a:r>
            <a:r>
              <a:rPr lang="en-US" sz="1100" spc="55">
                <a:latin typeface="Arial Nova" panose="020B0504020202020204" pitchFamily="34" charset="0"/>
                <a:cs typeface="Arial Narrow"/>
              </a:rPr>
              <a:t> involve</a:t>
            </a:r>
            <a:r>
              <a:rPr lang="en-US" sz="1100" spc="60">
                <a:latin typeface="Arial Nova" panose="020B0504020202020204" pitchFamily="34" charset="0"/>
                <a:cs typeface="Arial Narrow"/>
              </a:rPr>
              <a:t> </a:t>
            </a:r>
            <a:r>
              <a:rPr lang="en-US" sz="1100" spc="55">
                <a:latin typeface="Arial Nova" panose="020B0504020202020204" pitchFamily="34" charset="0"/>
                <a:cs typeface="Arial Narrow"/>
              </a:rPr>
              <a:t>risk </a:t>
            </a:r>
            <a:r>
              <a:rPr lang="en-US" sz="1100" spc="70">
                <a:latin typeface="Arial Nova" panose="020B0504020202020204" pitchFamily="34" charset="0"/>
                <a:cs typeface="Arial Narrow"/>
              </a:rPr>
              <a:t>and</a:t>
            </a:r>
            <a:r>
              <a:rPr lang="en-US" sz="1100" spc="60">
                <a:latin typeface="Arial Nova" panose="020B0504020202020204" pitchFamily="34" charset="0"/>
                <a:cs typeface="Arial Narrow"/>
              </a:rPr>
              <a:t> </a:t>
            </a:r>
            <a:r>
              <a:rPr lang="en-US" sz="1100" spc="55">
                <a:latin typeface="Arial Nova" panose="020B0504020202020204" pitchFamily="34" charset="0"/>
                <a:cs typeface="Arial Narrow"/>
              </a:rPr>
              <a:t>have </a:t>
            </a:r>
            <a:r>
              <a:rPr lang="en-US" sz="1100" spc="65">
                <a:latin typeface="Arial Nova" panose="020B0504020202020204" pitchFamily="34" charset="0"/>
                <a:cs typeface="Arial Narrow"/>
              </a:rPr>
              <a:t>the</a:t>
            </a:r>
            <a:r>
              <a:rPr lang="en-US" sz="1100" spc="60">
                <a:latin typeface="Arial Nova" panose="020B0504020202020204" pitchFamily="34" charset="0"/>
                <a:cs typeface="Arial Narrow"/>
              </a:rPr>
              <a:t> </a:t>
            </a:r>
            <a:r>
              <a:rPr lang="en-US" sz="1100" spc="55">
                <a:latin typeface="Arial Nova" panose="020B0504020202020204" pitchFamily="34" charset="0"/>
                <a:cs typeface="Arial Narrow"/>
              </a:rPr>
              <a:t>potential for</a:t>
            </a:r>
            <a:r>
              <a:rPr lang="en-US" sz="1100" spc="60">
                <a:latin typeface="Arial Nova" panose="020B0504020202020204" pitchFamily="34" charset="0"/>
                <a:cs typeface="Arial Narrow"/>
              </a:rPr>
              <a:t> </a:t>
            </a:r>
            <a:r>
              <a:rPr lang="en-US" sz="1100" spc="50">
                <a:latin typeface="Arial Nova" panose="020B0504020202020204" pitchFamily="34" charset="0"/>
                <a:cs typeface="Arial Narrow"/>
              </a:rPr>
              <a:t>profit</a:t>
            </a:r>
            <a:r>
              <a:rPr lang="en-US" sz="1100" spc="55">
                <a:latin typeface="Arial Nova" panose="020B0504020202020204" pitchFamily="34" charset="0"/>
                <a:cs typeface="Arial Narrow"/>
              </a:rPr>
              <a:t> </a:t>
            </a:r>
            <a:r>
              <a:rPr lang="en-US" sz="1100" spc="70">
                <a:latin typeface="Arial Nova" panose="020B0504020202020204" pitchFamily="34" charset="0"/>
                <a:cs typeface="Arial Narrow"/>
              </a:rPr>
              <a:t>or</a:t>
            </a:r>
            <a:r>
              <a:rPr lang="en-US" sz="1100" spc="60">
                <a:latin typeface="Arial Nova" panose="020B0504020202020204" pitchFamily="34" charset="0"/>
                <a:cs typeface="Arial Narrow"/>
              </a:rPr>
              <a:t> </a:t>
            </a:r>
            <a:r>
              <a:rPr lang="en-US" sz="1100">
                <a:latin typeface="Arial Nova" panose="020B0504020202020204" pitchFamily="34" charset="0"/>
                <a:cs typeface="Arial Narrow"/>
              </a:rPr>
              <a:t>loss.</a:t>
            </a:r>
            <a:r>
              <a:rPr lang="en-US" sz="1100" spc="55">
                <a:latin typeface="Arial Nova" panose="020B0504020202020204" pitchFamily="34" charset="0"/>
                <a:cs typeface="Arial Narrow"/>
              </a:rPr>
              <a:t> </a:t>
            </a:r>
            <a:r>
              <a:rPr lang="en-US" sz="1100" spc="65">
                <a:latin typeface="Arial Nova" panose="020B0504020202020204" pitchFamily="34" charset="0"/>
                <a:cs typeface="Arial Narrow"/>
              </a:rPr>
              <a:t>Changes</a:t>
            </a:r>
            <a:r>
              <a:rPr lang="en-US" sz="1100" spc="60">
                <a:latin typeface="Arial Nova" panose="020B0504020202020204" pitchFamily="34" charset="0"/>
                <a:cs typeface="Arial Narrow"/>
              </a:rPr>
              <a:t> </a:t>
            </a:r>
            <a:r>
              <a:rPr lang="en-US" sz="1100" spc="55">
                <a:latin typeface="Arial Nova" panose="020B0504020202020204" pitchFamily="34" charset="0"/>
                <a:cs typeface="Arial Narrow"/>
              </a:rPr>
              <a:t>in</a:t>
            </a:r>
            <a:r>
              <a:rPr lang="en-US" sz="1100" spc="60">
                <a:latin typeface="Arial Nova" panose="020B0504020202020204" pitchFamily="34" charset="0"/>
                <a:cs typeface="Arial Narrow"/>
              </a:rPr>
              <a:t> </a:t>
            </a:r>
            <a:r>
              <a:rPr lang="en-US" sz="1100" spc="65">
                <a:latin typeface="Arial Nova" panose="020B0504020202020204" pitchFamily="34" charset="0"/>
                <a:cs typeface="Arial Narrow"/>
              </a:rPr>
              <a:t>investment</a:t>
            </a:r>
            <a:r>
              <a:rPr lang="en-US" sz="1100" spc="55">
                <a:latin typeface="Arial Nova" panose="020B0504020202020204" pitchFamily="34" charset="0"/>
                <a:cs typeface="Arial Narrow"/>
              </a:rPr>
              <a:t> </a:t>
            </a:r>
            <a:r>
              <a:rPr lang="en-US" sz="1100" spc="50">
                <a:latin typeface="Arial Nova" panose="020B0504020202020204" pitchFamily="34" charset="0"/>
                <a:cs typeface="Arial Narrow"/>
              </a:rPr>
              <a:t>strategies,</a:t>
            </a:r>
            <a:r>
              <a:rPr lang="en-US" sz="1100" spc="60">
                <a:latin typeface="Arial Nova" panose="020B0504020202020204" pitchFamily="34" charset="0"/>
                <a:cs typeface="Arial Narrow"/>
              </a:rPr>
              <a:t> </a:t>
            </a:r>
            <a:r>
              <a:rPr lang="en-US" sz="1100" spc="65">
                <a:latin typeface="Arial Nova" panose="020B0504020202020204" pitchFamily="34" charset="0"/>
                <a:cs typeface="Arial Narrow"/>
              </a:rPr>
              <a:t>contributions</a:t>
            </a:r>
            <a:r>
              <a:rPr lang="en-US" sz="1100" spc="55">
                <a:latin typeface="Arial Nova" panose="020B0504020202020204" pitchFamily="34" charset="0"/>
                <a:cs typeface="Arial Narrow"/>
              </a:rPr>
              <a:t> </a:t>
            </a:r>
            <a:r>
              <a:rPr lang="en-US" sz="1100" spc="40">
                <a:latin typeface="Arial Nova" panose="020B0504020202020204" pitchFamily="34" charset="0"/>
                <a:cs typeface="Arial Narrow"/>
              </a:rPr>
              <a:t>or </a:t>
            </a:r>
            <a:r>
              <a:rPr lang="en-US" sz="1100" spc="-10">
                <a:latin typeface="Arial Nova" panose="020B0504020202020204" pitchFamily="34" charset="0"/>
                <a:cs typeface="Arial"/>
              </a:rPr>
              <a:t>withdrawals,</a:t>
            </a:r>
            <a:r>
              <a:rPr lang="en-US" sz="1100" spc="-15">
                <a:latin typeface="Arial Nova" panose="020B0504020202020204" pitchFamily="34" charset="0"/>
                <a:cs typeface="Arial"/>
              </a:rPr>
              <a:t> </a:t>
            </a:r>
            <a:r>
              <a:rPr lang="en-US" sz="1100">
                <a:latin typeface="Arial Nova" panose="020B0504020202020204" pitchFamily="34" charset="0"/>
                <a:cs typeface="Arial"/>
              </a:rPr>
              <a:t>and</a:t>
            </a:r>
            <a:r>
              <a:rPr lang="en-US" sz="1100" spc="-10">
                <a:latin typeface="Arial Nova" panose="020B0504020202020204" pitchFamily="34" charset="0"/>
                <a:cs typeface="Arial"/>
              </a:rPr>
              <a:t> </a:t>
            </a:r>
            <a:r>
              <a:rPr lang="en-US" sz="1100">
                <a:latin typeface="Arial Nova" panose="020B0504020202020204" pitchFamily="34" charset="0"/>
                <a:cs typeface="Arial"/>
              </a:rPr>
              <a:t>economic</a:t>
            </a:r>
            <a:r>
              <a:rPr lang="en-US" sz="1100" spc="-10">
                <a:latin typeface="Arial Nova" panose="020B0504020202020204" pitchFamily="34" charset="0"/>
                <a:cs typeface="Arial"/>
              </a:rPr>
              <a:t> </a:t>
            </a:r>
            <a:r>
              <a:rPr lang="en-US" sz="1100">
                <a:latin typeface="Arial Nova" panose="020B0504020202020204" pitchFamily="34" charset="0"/>
                <a:cs typeface="Arial"/>
              </a:rPr>
              <a:t>conditions</a:t>
            </a:r>
            <a:r>
              <a:rPr lang="en-US" sz="1100" spc="-10">
                <a:latin typeface="Arial Nova" panose="020B0504020202020204" pitchFamily="34" charset="0"/>
                <a:cs typeface="Arial"/>
              </a:rPr>
              <a:t> may materially </a:t>
            </a:r>
            <a:r>
              <a:rPr lang="en-US" sz="1100">
                <a:latin typeface="Arial Nova" panose="020B0504020202020204" pitchFamily="34" charset="0"/>
                <a:cs typeface="Arial"/>
              </a:rPr>
              <a:t>affect</a:t>
            </a:r>
            <a:r>
              <a:rPr lang="en-US" sz="1100" spc="-10">
                <a:latin typeface="Arial Nova" panose="020B0504020202020204" pitchFamily="34" charset="0"/>
                <a:cs typeface="Arial"/>
              </a:rPr>
              <a:t> </a:t>
            </a:r>
            <a:r>
              <a:rPr lang="en-US" sz="1100">
                <a:latin typeface="Arial Nova" panose="020B0504020202020204" pitchFamily="34" charset="0"/>
                <a:cs typeface="Arial"/>
              </a:rPr>
              <a:t>the</a:t>
            </a:r>
            <a:r>
              <a:rPr lang="en-US" sz="1100" spc="-10">
                <a:latin typeface="Arial Nova" panose="020B0504020202020204" pitchFamily="34" charset="0"/>
                <a:cs typeface="Arial"/>
              </a:rPr>
              <a:t> </a:t>
            </a:r>
            <a:r>
              <a:rPr lang="en-US" sz="1100">
                <a:latin typeface="Arial Nova" panose="020B0504020202020204" pitchFamily="34" charset="0"/>
                <a:cs typeface="Arial"/>
              </a:rPr>
              <a:t>performance</a:t>
            </a:r>
            <a:r>
              <a:rPr lang="en-US" sz="1100" spc="-10">
                <a:latin typeface="Arial Nova" panose="020B0504020202020204" pitchFamily="34" charset="0"/>
                <a:cs typeface="Arial"/>
              </a:rPr>
              <a:t> </a:t>
            </a:r>
            <a:r>
              <a:rPr lang="en-US" sz="1100">
                <a:latin typeface="Arial Nova" panose="020B0504020202020204" pitchFamily="34" charset="0"/>
                <a:cs typeface="Arial"/>
              </a:rPr>
              <a:t>of</a:t>
            </a:r>
            <a:r>
              <a:rPr lang="en-US" sz="1100" spc="-10">
                <a:latin typeface="Arial Nova" panose="020B0504020202020204" pitchFamily="34" charset="0"/>
                <a:cs typeface="Arial"/>
              </a:rPr>
              <a:t> </a:t>
            </a:r>
            <a:r>
              <a:rPr lang="en-US" sz="1100">
                <a:latin typeface="Arial Nova" panose="020B0504020202020204" pitchFamily="34" charset="0"/>
                <a:cs typeface="Arial"/>
              </a:rPr>
              <a:t>your</a:t>
            </a:r>
            <a:r>
              <a:rPr lang="en-US" sz="1100" spc="-10">
                <a:latin typeface="Arial Nova" panose="020B0504020202020204" pitchFamily="34" charset="0"/>
                <a:cs typeface="Arial"/>
              </a:rPr>
              <a:t> </a:t>
            </a:r>
            <a:r>
              <a:rPr lang="en-US" sz="1100">
                <a:latin typeface="Arial Nova" panose="020B0504020202020204" pitchFamily="34" charset="0"/>
                <a:cs typeface="Arial"/>
              </a:rPr>
              <a:t>portfolio.</a:t>
            </a:r>
            <a:r>
              <a:rPr lang="en-US" sz="1100" spc="-10">
                <a:latin typeface="Arial Nova" panose="020B0504020202020204" pitchFamily="34" charset="0"/>
                <a:cs typeface="Arial"/>
              </a:rPr>
              <a:t> </a:t>
            </a:r>
            <a:r>
              <a:rPr lang="en-US" sz="1100">
                <a:latin typeface="Arial Nova" panose="020B0504020202020204" pitchFamily="34" charset="0"/>
                <a:cs typeface="Arial"/>
              </a:rPr>
              <a:t>There</a:t>
            </a:r>
            <a:r>
              <a:rPr lang="en-US" sz="1100" spc="-10">
                <a:latin typeface="Arial Nova" panose="020B0504020202020204" pitchFamily="34" charset="0"/>
                <a:cs typeface="Arial"/>
              </a:rPr>
              <a:t> </a:t>
            </a:r>
            <a:r>
              <a:rPr lang="en-US" sz="1100">
                <a:latin typeface="Arial Nova" panose="020B0504020202020204" pitchFamily="34" charset="0"/>
                <a:cs typeface="Arial"/>
              </a:rPr>
              <a:t>are</a:t>
            </a:r>
            <a:r>
              <a:rPr lang="en-US" sz="1100" spc="-10">
                <a:latin typeface="Arial Nova" panose="020B0504020202020204" pitchFamily="34" charset="0"/>
                <a:cs typeface="Arial"/>
              </a:rPr>
              <a:t> </a:t>
            </a:r>
            <a:r>
              <a:rPr lang="en-US" sz="1100">
                <a:latin typeface="Arial Nova" panose="020B0504020202020204" pitchFamily="34" charset="0"/>
                <a:cs typeface="Arial"/>
              </a:rPr>
              <a:t>no</a:t>
            </a:r>
            <a:r>
              <a:rPr lang="en-US" sz="1100" spc="-10">
                <a:latin typeface="Arial Nova" panose="020B0504020202020204" pitchFamily="34" charset="0"/>
                <a:cs typeface="Arial"/>
              </a:rPr>
              <a:t> </a:t>
            </a:r>
            <a:r>
              <a:rPr lang="en-US" sz="1100" spc="-20">
                <a:latin typeface="Arial Nova" panose="020B0504020202020204" pitchFamily="34" charset="0"/>
                <a:cs typeface="Arial"/>
              </a:rPr>
              <a:t>assurances</a:t>
            </a:r>
            <a:r>
              <a:rPr lang="en-US" sz="1100" spc="-10">
                <a:latin typeface="Arial Nova" panose="020B0504020202020204" pitchFamily="34" charset="0"/>
                <a:cs typeface="Arial"/>
              </a:rPr>
              <a:t> </a:t>
            </a:r>
            <a:r>
              <a:rPr lang="en-US" sz="1100">
                <a:latin typeface="Arial Nova" panose="020B0504020202020204" pitchFamily="34" charset="0"/>
                <a:cs typeface="Arial"/>
              </a:rPr>
              <a:t>that</a:t>
            </a:r>
            <a:r>
              <a:rPr lang="en-US" sz="1100" spc="-10">
                <a:latin typeface="Arial Nova" panose="020B0504020202020204" pitchFamily="34" charset="0"/>
                <a:cs typeface="Arial"/>
              </a:rPr>
              <a:t> </a:t>
            </a:r>
            <a:r>
              <a:rPr lang="en-US" sz="1100" spc="-50">
                <a:latin typeface="Arial Nova" panose="020B0504020202020204" pitchFamily="34" charset="0"/>
                <a:cs typeface="Arial"/>
              </a:rPr>
              <a:t>a</a:t>
            </a:r>
            <a:r>
              <a:rPr lang="en-US" sz="1100">
                <a:latin typeface="Arial Nova" panose="020B0504020202020204" pitchFamily="34" charset="0"/>
                <a:cs typeface="Arial"/>
              </a:rPr>
              <a:t> portfolio</a:t>
            </a:r>
            <a:r>
              <a:rPr lang="en-US" sz="1100" spc="-5">
                <a:latin typeface="Arial Nova" panose="020B0504020202020204" pitchFamily="34" charset="0"/>
                <a:cs typeface="Arial"/>
              </a:rPr>
              <a:t> </a:t>
            </a:r>
            <a:r>
              <a:rPr lang="en-US" sz="1100">
                <a:latin typeface="Arial Nova" panose="020B0504020202020204" pitchFamily="34" charset="0"/>
                <a:cs typeface="Arial"/>
              </a:rPr>
              <a:t>will</a:t>
            </a:r>
            <a:r>
              <a:rPr lang="en-US" sz="1100" spc="-5">
                <a:latin typeface="Arial Nova" panose="020B0504020202020204" pitchFamily="34" charset="0"/>
                <a:cs typeface="Arial"/>
              </a:rPr>
              <a:t> </a:t>
            </a:r>
            <a:r>
              <a:rPr lang="en-US" sz="1100">
                <a:latin typeface="Arial Nova" panose="020B0504020202020204" pitchFamily="34" charset="0"/>
                <a:cs typeface="Arial"/>
              </a:rPr>
              <a:t>match or</a:t>
            </a:r>
            <a:r>
              <a:rPr lang="en-US" sz="1100" spc="-5">
                <a:latin typeface="Arial Nova" panose="020B0504020202020204" pitchFamily="34" charset="0"/>
                <a:cs typeface="Arial"/>
              </a:rPr>
              <a:t> </a:t>
            </a:r>
            <a:r>
              <a:rPr lang="en-US" sz="1100">
                <a:latin typeface="Arial Nova" panose="020B0504020202020204" pitchFamily="34" charset="0"/>
                <a:cs typeface="Arial"/>
              </a:rPr>
              <a:t>outperform</a:t>
            </a:r>
            <a:r>
              <a:rPr lang="en-US" sz="1100" spc="-5">
                <a:latin typeface="Arial Nova" panose="020B0504020202020204" pitchFamily="34" charset="0"/>
                <a:cs typeface="Arial"/>
              </a:rPr>
              <a:t> </a:t>
            </a:r>
            <a:r>
              <a:rPr lang="en-US" sz="1100">
                <a:latin typeface="Arial Nova" panose="020B0504020202020204" pitchFamily="34" charset="0"/>
                <a:cs typeface="Arial"/>
              </a:rPr>
              <a:t>any particular</a:t>
            </a:r>
            <a:r>
              <a:rPr lang="en-US" sz="1100" spc="-5">
                <a:latin typeface="Arial Nova" panose="020B0504020202020204" pitchFamily="34" charset="0"/>
                <a:cs typeface="Arial"/>
              </a:rPr>
              <a:t> </a:t>
            </a:r>
            <a:r>
              <a:rPr lang="en-US" sz="1100" spc="-10">
                <a:latin typeface="Arial Nova" panose="020B0504020202020204" pitchFamily="34" charset="0"/>
                <a:cs typeface="Arial"/>
              </a:rPr>
              <a:t>benchmark.</a:t>
            </a:r>
          </a:p>
          <a:p>
            <a:pPr marL="12700" marR="212725" algn="just">
              <a:lnSpc>
                <a:spcPct val="104200"/>
              </a:lnSpc>
            </a:pPr>
            <a:r>
              <a:rPr lang="en-US" sz="1100" b="0" i="0" err="1">
                <a:solidFill>
                  <a:srgbClr val="222222"/>
                </a:solidFill>
                <a:effectLst/>
                <a:latin typeface="Arial" panose="020B0604020202020204" pitchFamily="34" charset="0"/>
              </a:rPr>
              <a:t>V</a:t>
            </a:r>
            <a:r>
              <a:rPr lang="en-US" sz="1100" b="0" i="0" err="1">
                <a:solidFill>
                  <a:srgbClr val="242424"/>
                </a:solidFill>
                <a:effectLst/>
                <a:latin typeface="Arial" panose="020B0604020202020204" pitchFamily="34" charset="0"/>
              </a:rPr>
              <a:t>aR</a:t>
            </a:r>
            <a:r>
              <a:rPr lang="en-US" sz="1100" b="0" i="0">
                <a:solidFill>
                  <a:srgbClr val="242424"/>
                </a:solidFill>
                <a:effectLst/>
                <a:latin typeface="Arial" panose="020B0604020202020204" pitchFamily="34" charset="0"/>
              </a:rPr>
              <a:t> (Value at Risk) is used to calculate risk associated with an investment or a group of investments. The </a:t>
            </a:r>
            <a:r>
              <a:rPr lang="en-US" sz="1100" b="0" i="0">
                <a:solidFill>
                  <a:srgbClr val="222222"/>
                </a:solidFill>
                <a:effectLst/>
                <a:latin typeface="Arial" panose="020B0604020202020204" pitchFamily="34" charset="0"/>
              </a:rPr>
              <a:t>Performance data is generated by using a trailing 5-year blended benchmark in which multiple indexes’ historical performance are combined in order to reflect the investment style’s desired allocations. Past performance is not indicative of future results. Performance projections are hypothetical and reflect figures that are gross of fees.  Projections reflected are not guaranteed. Actual results may be higher or lower than projections.  All data used in this analysis is believed to be accurate at the time of publication.</a:t>
            </a:r>
            <a:endParaRPr lang="en-US" sz="1100" spc="-10">
              <a:latin typeface="Arial Nova" panose="020B0504020202020204" pitchFamily="34" charset="0"/>
              <a:cs typeface="Arial"/>
            </a:endParaRPr>
          </a:p>
          <a:p>
            <a:pPr marL="12700" marR="212725" algn="just">
              <a:lnSpc>
                <a:spcPct val="104200"/>
              </a:lnSpc>
            </a:pPr>
            <a:endParaRPr lang="en-US" sz="1100">
              <a:latin typeface="Arial Nova" panose="020B0504020202020204" pitchFamily="34" charset="0"/>
              <a:cs typeface="Arial"/>
            </a:endParaRPr>
          </a:p>
          <a:p>
            <a:pPr marL="12700" marR="5080" algn="just">
              <a:lnSpc>
                <a:spcPct val="104200"/>
              </a:lnSpc>
              <a:spcBef>
                <a:spcPts val="445"/>
              </a:spcBef>
            </a:pPr>
            <a:r>
              <a:rPr lang="en-US" sz="1100">
                <a:latin typeface="Arial Nova" panose="020B0504020202020204" pitchFamily="34" charset="0"/>
                <a:cs typeface="Arial"/>
              </a:rPr>
              <a:t>Links</a:t>
            </a:r>
            <a:r>
              <a:rPr lang="en-US" sz="1100" spc="-10">
                <a:latin typeface="Arial Nova" panose="020B0504020202020204" pitchFamily="34" charset="0"/>
                <a:cs typeface="Arial"/>
              </a:rPr>
              <a:t> </a:t>
            </a:r>
            <a:r>
              <a:rPr lang="en-US" sz="1100">
                <a:latin typeface="Arial Nova" panose="020B0504020202020204" pitchFamily="34" charset="0"/>
                <a:cs typeface="Arial"/>
              </a:rPr>
              <a:t>and</a:t>
            </a:r>
            <a:r>
              <a:rPr lang="en-US" sz="1100" spc="-10">
                <a:latin typeface="Arial Nova" panose="020B0504020202020204" pitchFamily="34" charset="0"/>
                <a:cs typeface="Arial"/>
              </a:rPr>
              <a:t> </a:t>
            </a:r>
            <a:r>
              <a:rPr lang="en-US" sz="1100">
                <a:latin typeface="Arial Nova" panose="020B0504020202020204" pitchFamily="34" charset="0"/>
                <a:cs typeface="Arial"/>
              </a:rPr>
              <a:t>references</a:t>
            </a:r>
            <a:r>
              <a:rPr lang="en-US" sz="1100" spc="-5">
                <a:latin typeface="Arial Nova" panose="020B0504020202020204" pitchFamily="34" charset="0"/>
                <a:cs typeface="Arial"/>
              </a:rPr>
              <a:t> </a:t>
            </a:r>
            <a:r>
              <a:rPr lang="en-US" sz="1100">
                <a:latin typeface="Arial Nova" panose="020B0504020202020204" pitchFamily="34" charset="0"/>
                <a:cs typeface="Arial"/>
              </a:rPr>
              <a:t>to</a:t>
            </a:r>
            <a:r>
              <a:rPr lang="en-US" sz="1100" spc="-10">
                <a:latin typeface="Arial Nova" panose="020B0504020202020204" pitchFamily="34" charset="0"/>
                <a:cs typeface="Arial"/>
              </a:rPr>
              <a:t> </a:t>
            </a:r>
            <a:r>
              <a:rPr lang="en-US" sz="1100">
                <a:latin typeface="Arial Nova" panose="020B0504020202020204" pitchFamily="34" charset="0"/>
                <a:cs typeface="Arial"/>
              </a:rPr>
              <a:t>other</a:t>
            </a:r>
            <a:r>
              <a:rPr lang="en-US" sz="1100" spc="-5">
                <a:latin typeface="Arial Nova" panose="020B0504020202020204" pitchFamily="34" charset="0"/>
                <a:cs typeface="Arial"/>
              </a:rPr>
              <a:t> </a:t>
            </a:r>
            <a:r>
              <a:rPr lang="en-US" sz="1100" spc="-10">
                <a:latin typeface="Arial Nova" panose="020B0504020202020204" pitchFamily="34" charset="0"/>
                <a:cs typeface="Arial"/>
              </a:rPr>
              <a:t>websites </a:t>
            </a:r>
            <a:r>
              <a:rPr lang="en-US" sz="1100">
                <a:latin typeface="Arial Nova" panose="020B0504020202020204" pitchFamily="34" charset="0"/>
                <a:cs typeface="Arial"/>
              </a:rPr>
              <a:t>and</a:t>
            </a:r>
            <a:r>
              <a:rPr lang="en-US" sz="1100" spc="-10">
                <a:latin typeface="Arial Nova" panose="020B0504020202020204" pitchFamily="34" charset="0"/>
                <a:cs typeface="Arial"/>
              </a:rPr>
              <a:t> </a:t>
            </a:r>
            <a:r>
              <a:rPr lang="en-US" sz="1100">
                <a:latin typeface="Arial Nova" panose="020B0504020202020204" pitchFamily="34" charset="0"/>
                <a:cs typeface="Arial"/>
              </a:rPr>
              <a:t>third-party</a:t>
            </a:r>
            <a:r>
              <a:rPr lang="en-US" sz="1100" spc="-5">
                <a:latin typeface="Arial Nova" panose="020B0504020202020204" pitchFamily="34" charset="0"/>
                <a:cs typeface="Arial"/>
              </a:rPr>
              <a:t> </a:t>
            </a:r>
            <a:r>
              <a:rPr lang="en-US" sz="1100">
                <a:latin typeface="Arial Nova" panose="020B0504020202020204" pitchFamily="34" charset="0"/>
                <a:cs typeface="Arial"/>
              </a:rPr>
              <a:t>content</a:t>
            </a:r>
            <a:r>
              <a:rPr lang="en-US" sz="1100" spc="-10">
                <a:latin typeface="Arial Nova" panose="020B0504020202020204" pitchFamily="34" charset="0"/>
                <a:cs typeface="Arial"/>
              </a:rPr>
              <a:t> </a:t>
            </a:r>
            <a:r>
              <a:rPr lang="en-US" sz="1100">
                <a:latin typeface="Arial Nova" panose="020B0504020202020204" pitchFamily="34" charset="0"/>
                <a:cs typeface="Arial"/>
              </a:rPr>
              <a:t>providers</a:t>
            </a:r>
            <a:r>
              <a:rPr lang="en-US" sz="1100" spc="-5">
                <a:latin typeface="Arial Nova" panose="020B0504020202020204" pitchFamily="34" charset="0"/>
                <a:cs typeface="Arial"/>
              </a:rPr>
              <a:t> </a:t>
            </a:r>
            <a:r>
              <a:rPr lang="en-US" sz="1100">
                <a:latin typeface="Arial Nova" panose="020B0504020202020204" pitchFamily="34" charset="0"/>
                <a:cs typeface="Arial"/>
              </a:rPr>
              <a:t>are</a:t>
            </a:r>
            <a:r>
              <a:rPr lang="en-US" sz="1100" spc="-10">
                <a:latin typeface="Arial Nova" panose="020B0504020202020204" pitchFamily="34" charset="0"/>
                <a:cs typeface="Arial"/>
              </a:rPr>
              <a:t> </a:t>
            </a:r>
            <a:r>
              <a:rPr lang="en-US" sz="1100">
                <a:latin typeface="Arial Nova" panose="020B0504020202020204" pitchFamily="34" charset="0"/>
                <a:cs typeface="Arial"/>
              </a:rPr>
              <a:t>offered</a:t>
            </a:r>
            <a:r>
              <a:rPr lang="en-US" sz="1100" spc="-5">
                <a:latin typeface="Arial Nova" panose="020B0504020202020204" pitchFamily="34" charset="0"/>
                <a:cs typeface="Arial"/>
              </a:rPr>
              <a:t> </a:t>
            </a:r>
            <a:r>
              <a:rPr lang="en-US" sz="1100">
                <a:latin typeface="Arial Nova" panose="020B0504020202020204" pitchFamily="34" charset="0"/>
                <a:cs typeface="Arial"/>
              </a:rPr>
              <a:t>for</a:t>
            </a:r>
            <a:r>
              <a:rPr lang="en-US" sz="1100" spc="-10">
                <a:latin typeface="Arial Nova" panose="020B0504020202020204" pitchFamily="34" charset="0"/>
                <a:cs typeface="Arial"/>
              </a:rPr>
              <a:t> </a:t>
            </a:r>
            <a:r>
              <a:rPr lang="en-US" sz="1100">
                <a:latin typeface="Arial Nova" panose="020B0504020202020204" pitchFamily="34" charset="0"/>
                <a:cs typeface="Arial"/>
              </a:rPr>
              <a:t>your</a:t>
            </a:r>
            <a:r>
              <a:rPr lang="en-US" sz="1100" spc="-10">
                <a:latin typeface="Arial Nova" panose="020B0504020202020204" pitchFamily="34" charset="0"/>
                <a:cs typeface="Arial"/>
              </a:rPr>
              <a:t> convenience.</a:t>
            </a:r>
            <a:r>
              <a:rPr lang="en-US" sz="1100" spc="-5">
                <a:latin typeface="Arial Nova" panose="020B0504020202020204" pitchFamily="34" charset="0"/>
                <a:cs typeface="Arial"/>
              </a:rPr>
              <a:t> </a:t>
            </a:r>
            <a:r>
              <a:rPr lang="en-US" sz="1100" spc="-30">
                <a:latin typeface="Arial Nova" panose="020B0504020202020204" pitchFamily="34" charset="0"/>
                <a:cs typeface="Arial"/>
              </a:rPr>
              <a:t>We</a:t>
            </a:r>
            <a:r>
              <a:rPr lang="en-US" sz="1100" spc="-10">
                <a:latin typeface="Arial Nova" panose="020B0504020202020204" pitchFamily="34" charset="0"/>
                <a:cs typeface="Arial"/>
              </a:rPr>
              <a:t> </a:t>
            </a:r>
            <a:r>
              <a:rPr lang="en-US" sz="1100">
                <a:latin typeface="Arial Nova" panose="020B0504020202020204" pitchFamily="34" charset="0"/>
                <a:cs typeface="Arial"/>
              </a:rPr>
              <a:t>do</a:t>
            </a:r>
            <a:r>
              <a:rPr lang="en-US" sz="1100" spc="-5">
                <a:latin typeface="Arial Nova" panose="020B0504020202020204" pitchFamily="34" charset="0"/>
                <a:cs typeface="Arial"/>
              </a:rPr>
              <a:t> </a:t>
            </a:r>
            <a:r>
              <a:rPr lang="en-US" sz="1100">
                <a:latin typeface="Arial Nova" panose="020B0504020202020204" pitchFamily="34" charset="0"/>
                <a:cs typeface="Arial"/>
              </a:rPr>
              <a:t>not</a:t>
            </a:r>
            <a:r>
              <a:rPr lang="en-US" sz="1100" spc="-10">
                <a:latin typeface="Arial Nova" panose="020B0504020202020204" pitchFamily="34" charset="0"/>
                <a:cs typeface="Arial"/>
              </a:rPr>
              <a:t> necessarily </a:t>
            </a:r>
            <a:r>
              <a:rPr lang="en-US" sz="1100">
                <a:latin typeface="Arial Nova" panose="020B0504020202020204" pitchFamily="34" charset="0"/>
                <a:cs typeface="Arial"/>
              </a:rPr>
              <a:t>prepare,</a:t>
            </a:r>
            <a:r>
              <a:rPr lang="en-US" sz="1100" spc="-5">
                <a:latin typeface="Arial Nova" panose="020B0504020202020204" pitchFamily="34" charset="0"/>
                <a:cs typeface="Arial"/>
              </a:rPr>
              <a:t> </a:t>
            </a:r>
            <a:r>
              <a:rPr lang="en-US" sz="1100" spc="-10">
                <a:latin typeface="Arial Nova" panose="020B0504020202020204" pitchFamily="34" charset="0"/>
                <a:cs typeface="Arial"/>
              </a:rPr>
              <a:t>monitor,</a:t>
            </a:r>
            <a:r>
              <a:rPr lang="en-US" sz="1100">
                <a:latin typeface="Arial Nova" panose="020B0504020202020204" pitchFamily="34" charset="0"/>
                <a:cs typeface="Arial"/>
              </a:rPr>
              <a:t> </a:t>
            </a:r>
            <a:r>
              <a:rPr lang="en-US" sz="1100" spc="-10">
                <a:latin typeface="Arial Nova" panose="020B0504020202020204" pitchFamily="34" charset="0"/>
                <a:cs typeface="Arial"/>
              </a:rPr>
              <a:t>review</a:t>
            </a:r>
            <a:r>
              <a:rPr lang="en-US" sz="1100">
                <a:latin typeface="Arial Nova" panose="020B0504020202020204" pitchFamily="34" charset="0"/>
                <a:cs typeface="Arial"/>
              </a:rPr>
              <a:t> or </a:t>
            </a:r>
            <a:r>
              <a:rPr lang="en-US" sz="1100" spc="-10">
                <a:latin typeface="Arial Nova" panose="020B0504020202020204" pitchFamily="34" charset="0"/>
                <a:cs typeface="Arial"/>
              </a:rPr>
              <a:t>update</a:t>
            </a:r>
            <a:r>
              <a:rPr lang="en-US" sz="1100" spc="-5">
                <a:latin typeface="Arial Nova" panose="020B0504020202020204" pitchFamily="34" charset="0"/>
                <a:cs typeface="Arial"/>
              </a:rPr>
              <a:t> </a:t>
            </a:r>
            <a:r>
              <a:rPr lang="en-US" sz="1100">
                <a:latin typeface="Arial Nova" panose="020B0504020202020204" pitchFamily="34" charset="0"/>
                <a:cs typeface="Arial"/>
              </a:rPr>
              <a:t>the </a:t>
            </a:r>
            <a:r>
              <a:rPr lang="en-US" sz="1100" spc="-10">
                <a:latin typeface="Arial Nova" panose="020B0504020202020204" pitchFamily="34" charset="0"/>
                <a:cs typeface="Arial"/>
              </a:rPr>
              <a:t>information</a:t>
            </a:r>
            <a:r>
              <a:rPr lang="en-US" sz="1100">
                <a:latin typeface="Arial Nova" panose="020B0504020202020204" pitchFamily="34" charset="0"/>
                <a:cs typeface="Arial"/>
              </a:rPr>
              <a:t> provided by third</a:t>
            </a:r>
            <a:r>
              <a:rPr lang="en-US" sz="1100" spc="-5">
                <a:latin typeface="Arial Nova" panose="020B0504020202020204" pitchFamily="34" charset="0"/>
                <a:cs typeface="Arial"/>
              </a:rPr>
              <a:t> </a:t>
            </a:r>
            <a:r>
              <a:rPr lang="en-US" sz="1100">
                <a:latin typeface="Arial Nova" panose="020B0504020202020204" pitchFamily="34" charset="0"/>
                <a:cs typeface="Arial"/>
              </a:rPr>
              <a:t>parties. </a:t>
            </a:r>
            <a:r>
              <a:rPr lang="en-US" sz="1100" spc="-30">
                <a:latin typeface="Arial Nova" panose="020B0504020202020204" pitchFamily="34" charset="0"/>
                <a:cs typeface="Arial"/>
              </a:rPr>
              <a:t>We</a:t>
            </a:r>
            <a:r>
              <a:rPr lang="en-US" sz="1100">
                <a:latin typeface="Arial Nova" panose="020B0504020202020204" pitchFamily="34" charset="0"/>
                <a:cs typeface="Arial"/>
              </a:rPr>
              <a:t> </a:t>
            </a:r>
            <a:r>
              <a:rPr lang="en-US" sz="1100" spc="-10">
                <a:latin typeface="Arial Nova" panose="020B0504020202020204" pitchFamily="34" charset="0"/>
                <a:cs typeface="Arial"/>
              </a:rPr>
              <a:t>make</a:t>
            </a:r>
            <a:r>
              <a:rPr lang="en-US" sz="1100">
                <a:latin typeface="Arial Nova" panose="020B0504020202020204" pitchFamily="34" charset="0"/>
                <a:cs typeface="Arial"/>
              </a:rPr>
              <a:t> no</a:t>
            </a:r>
            <a:r>
              <a:rPr lang="en-US" sz="1100" spc="-5">
                <a:latin typeface="Arial Nova" panose="020B0504020202020204" pitchFamily="34" charset="0"/>
                <a:cs typeface="Arial"/>
              </a:rPr>
              <a:t> </a:t>
            </a:r>
            <a:r>
              <a:rPr lang="en-US" sz="1100" spc="-10">
                <a:latin typeface="Arial Nova" panose="020B0504020202020204" pitchFamily="34" charset="0"/>
                <a:cs typeface="Arial"/>
              </a:rPr>
              <a:t>representation</a:t>
            </a:r>
            <a:r>
              <a:rPr lang="en-US" sz="1100">
                <a:latin typeface="Arial Nova" panose="020B0504020202020204" pitchFamily="34" charset="0"/>
                <a:cs typeface="Arial"/>
              </a:rPr>
              <a:t> or warranty with respect</a:t>
            </a:r>
            <a:r>
              <a:rPr lang="en-US" sz="1100" spc="-5">
                <a:latin typeface="Arial Nova" panose="020B0504020202020204" pitchFamily="34" charset="0"/>
                <a:cs typeface="Arial"/>
              </a:rPr>
              <a:t> </a:t>
            </a:r>
            <a:r>
              <a:rPr lang="en-US" sz="1100" spc="-25">
                <a:latin typeface="Arial Nova" panose="020B0504020202020204" pitchFamily="34" charset="0"/>
                <a:cs typeface="Arial"/>
              </a:rPr>
              <a:t>to</a:t>
            </a:r>
            <a:r>
              <a:rPr lang="en-US" sz="1100">
                <a:latin typeface="Arial Nova" panose="020B0504020202020204" pitchFamily="34" charset="0"/>
                <a:cs typeface="Arial"/>
              </a:rPr>
              <a:t> the </a:t>
            </a:r>
            <a:r>
              <a:rPr lang="en-US" sz="1100" spc="-10">
                <a:latin typeface="Arial Nova" panose="020B0504020202020204" pitchFamily="34" charset="0"/>
                <a:cs typeface="Arial"/>
              </a:rPr>
              <a:t>completeness,</a:t>
            </a:r>
            <a:r>
              <a:rPr lang="en-US" sz="1100">
                <a:latin typeface="Arial Nova" panose="020B0504020202020204" pitchFamily="34" charset="0"/>
                <a:cs typeface="Arial"/>
              </a:rPr>
              <a:t> </a:t>
            </a:r>
            <a:r>
              <a:rPr lang="en-US" sz="1100" spc="-10">
                <a:latin typeface="Arial Nova" panose="020B0504020202020204" pitchFamily="34" charset="0"/>
                <a:cs typeface="Arial"/>
              </a:rPr>
              <a:t>timeliness,</a:t>
            </a:r>
            <a:r>
              <a:rPr lang="en-US" sz="1100">
                <a:latin typeface="Arial Nova" panose="020B0504020202020204" pitchFamily="34" charset="0"/>
                <a:cs typeface="Arial"/>
              </a:rPr>
              <a:t> </a:t>
            </a:r>
            <a:r>
              <a:rPr lang="en-US" sz="1100" spc="-10">
                <a:latin typeface="Arial Nova" panose="020B0504020202020204" pitchFamily="34" charset="0"/>
                <a:cs typeface="Arial"/>
              </a:rPr>
              <a:t>suitability,</a:t>
            </a:r>
            <a:r>
              <a:rPr lang="en-US" sz="1100">
                <a:latin typeface="Arial Nova" panose="020B0504020202020204" pitchFamily="34" charset="0"/>
                <a:cs typeface="Arial"/>
              </a:rPr>
              <a:t> or reliability of the</a:t>
            </a:r>
            <a:r>
              <a:rPr lang="en-US" sz="1100" spc="5">
                <a:latin typeface="Arial Nova" panose="020B0504020202020204" pitchFamily="34" charset="0"/>
                <a:cs typeface="Arial"/>
              </a:rPr>
              <a:t> </a:t>
            </a:r>
            <a:r>
              <a:rPr lang="en-US" sz="1100">
                <a:latin typeface="Arial Nova" panose="020B0504020202020204" pitchFamily="34" charset="0"/>
                <a:cs typeface="Arial"/>
              </a:rPr>
              <a:t>referenced </a:t>
            </a:r>
            <a:r>
              <a:rPr lang="en-US" sz="1100" spc="-10">
                <a:latin typeface="Arial Nova" panose="020B0504020202020204" pitchFamily="34" charset="0"/>
                <a:cs typeface="Arial"/>
              </a:rPr>
              <a:t>content.</a:t>
            </a:r>
            <a:endParaRPr lang="en-US" sz="1100">
              <a:latin typeface="Arial Nova" panose="020B0504020202020204" pitchFamily="34" charset="0"/>
              <a:cs typeface="Arial"/>
            </a:endParaRPr>
          </a:p>
        </p:txBody>
      </p:sp>
      <p:sp>
        <p:nvSpPr>
          <p:cNvPr id="5" name="Title Placeholder 1">
            <a:extLst>
              <a:ext uri="{FF2B5EF4-FFF2-40B4-BE49-F238E27FC236}">
                <a16:creationId xmlns:a16="http://schemas.microsoft.com/office/drawing/2014/main" id="{CDDA455B-C5E4-8044-8600-396B08BF6950}"/>
              </a:ext>
            </a:extLst>
          </p:cNvPr>
          <p:cNvSpPr txBox="1">
            <a:spLocks/>
          </p:cNvSpPr>
          <p:nvPr/>
        </p:nvSpPr>
        <p:spPr>
          <a:xfrm>
            <a:off x="381000" y="320676"/>
            <a:ext cx="10972800" cy="805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500" kern="1200">
                <a:solidFill>
                  <a:schemeClr val="bg1"/>
                </a:solidFill>
                <a:latin typeface="Arial Nova" panose="020B0504020202020204" pitchFamily="34" charset="0"/>
                <a:ea typeface="+mj-ea"/>
                <a:cs typeface="+mj-cs"/>
              </a:defRPr>
            </a:lvl1pPr>
          </a:lstStyle>
          <a:p>
            <a:r>
              <a:rPr lang="en-US"/>
              <a:t>Disclosures</a:t>
            </a:r>
          </a:p>
        </p:txBody>
      </p:sp>
      <p:sp>
        <p:nvSpPr>
          <p:cNvPr id="6" name="Slide Number Placeholder 5">
            <a:extLst>
              <a:ext uri="{FF2B5EF4-FFF2-40B4-BE49-F238E27FC236}">
                <a16:creationId xmlns:a16="http://schemas.microsoft.com/office/drawing/2014/main" id="{7B29AA11-22EF-D947-0025-A22D2D86A5B1}"/>
              </a:ext>
            </a:extLst>
          </p:cNvPr>
          <p:cNvSpPr>
            <a:spLocks noGrp="1"/>
          </p:cNvSpPr>
          <p:nvPr>
            <p:ph type="sldNum" sz="quarter" idx="12"/>
          </p:nvPr>
        </p:nvSpPr>
        <p:spPr>
          <a:xfrm>
            <a:off x="11137875" y="6474139"/>
            <a:ext cx="936171" cy="365125"/>
          </a:xfrm>
        </p:spPr>
        <p:txBody>
          <a:bodyPr/>
          <a:lstStyle/>
          <a:p>
            <a:fld id="{0BEE2622-EFFF-4E7E-94C0-83A4CBABECBA}" type="slidenum">
              <a:rPr lang="en-US" smtClean="0">
                <a:solidFill>
                  <a:schemeClr val="bg1">
                    <a:lumMod val="75000"/>
                  </a:schemeClr>
                </a:solidFill>
                <a:latin typeface="Arial Nova" panose="020B0504020202020204" pitchFamily="34" charset="0"/>
              </a:rPr>
              <a:t>33</a:t>
            </a:fld>
            <a:endParaRPr lang="en-US" dirty="0">
              <a:solidFill>
                <a:schemeClr val="bg1">
                  <a:lumMod val="75000"/>
                </a:schemeClr>
              </a:solidFill>
              <a:latin typeface="Arial Nova" panose="020B0504020202020204" pitchFamily="34" charset="0"/>
            </a:endParaRPr>
          </a:p>
        </p:txBody>
      </p:sp>
      <p:sp>
        <p:nvSpPr>
          <p:cNvPr id="7" name="Footer Placeholder 4">
            <a:extLst>
              <a:ext uri="{FF2B5EF4-FFF2-40B4-BE49-F238E27FC236}">
                <a16:creationId xmlns:a16="http://schemas.microsoft.com/office/drawing/2014/main" id="{FD857DD5-3214-38C6-4084-08AC84566D85}"/>
              </a:ext>
            </a:extLst>
          </p:cNvPr>
          <p:cNvSpPr>
            <a:spLocks noGrp="1"/>
          </p:cNvSpPr>
          <p:nvPr>
            <p:ph type="ftr" sz="quarter" idx="11"/>
          </p:nvPr>
        </p:nvSpPr>
        <p:spPr>
          <a:xfrm>
            <a:off x="82504" y="6474139"/>
            <a:ext cx="10341430" cy="365125"/>
          </a:xfrm>
        </p:spPr>
        <p:txBody>
          <a:bodyPr/>
          <a:lstStyle>
            <a:lvl1pPr algn="l">
              <a:defRPr/>
            </a:lvl1pPr>
          </a:lstStyle>
          <a:p>
            <a:r>
              <a:rPr lang="en-US" dirty="0">
                <a:solidFill>
                  <a:schemeClr val="bg1">
                    <a:lumMod val="75000"/>
                  </a:schemeClr>
                </a:solidFill>
                <a:latin typeface="Arial Nova" panose="020B0504020202020204" pitchFamily="34" charset="0"/>
              </a:rPr>
              <a:t>©2025 Simplicity Wealth. All Rights Reserved. SWG 4633875-0725</a:t>
            </a:r>
          </a:p>
        </p:txBody>
      </p:sp>
    </p:spTree>
    <p:extLst>
      <p:ext uri="{BB962C8B-B14F-4D97-AF65-F5344CB8AC3E}">
        <p14:creationId xmlns:p14="http://schemas.microsoft.com/office/powerpoint/2010/main" val="10799191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1665</TotalTime>
  <Words>5224</Words>
  <Application>Microsoft Office PowerPoint</Application>
  <PresentationFormat>Widescreen</PresentationFormat>
  <Paragraphs>526</Paragraphs>
  <Slides>33</Slides>
  <Notes>29</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33</vt:i4>
      </vt:variant>
    </vt:vector>
  </HeadingPairs>
  <TitlesOfParts>
    <vt:vector size="48" baseType="lpstr">
      <vt:lpstr>adobe-clean</vt:lpstr>
      <vt:lpstr>Arial</vt:lpstr>
      <vt:lpstr>Arial Narrow</vt:lpstr>
      <vt:lpstr>Arial Nova</vt:lpstr>
      <vt:lpstr>Arial Nova Cond</vt:lpstr>
      <vt:lpstr>Arial-BoldMT</vt:lpstr>
      <vt:lpstr>ArialMT</vt:lpstr>
      <vt:lpstr>ArialNova</vt:lpstr>
      <vt:lpstr>Calibri</vt:lpstr>
      <vt:lpstr>Courier New</vt:lpstr>
      <vt:lpstr>Noto Sans ExtraLight</vt:lpstr>
      <vt:lpstr>Open Sans</vt:lpstr>
      <vt:lpstr>Wingdings</vt:lpstr>
      <vt:lpstr>Office Theme</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Alex Timeus</cp:lastModifiedBy>
  <cp:revision>82</cp:revision>
  <dcterms:created xsi:type="dcterms:W3CDTF">2023-05-08T17:46:58Z</dcterms:created>
  <dcterms:modified xsi:type="dcterms:W3CDTF">2026-03-25T14:10:51Z</dcterms:modified>
</cp:coreProperties>
</file>